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FF"/>
                </a:solidFill>
              </a:defRPr>
            </a:pPr>
            <a:r>
              <a:t>Inteligencia Artificial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Búsqueda y Optimización en Almacenes</a:t>
            </a:r>
            <a:br/>
            <a:r>
              <a:t>Exposición de Algoritmos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00D4FF"/>
                </a:solidFill>
              </a:defRPr>
            </a:pPr>
            <a:r>
              <a:t>1. Búsqueda A* (A-Star)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</a:defRPr>
            </a:pPr>
            <a:r>
              <a:t>Concepto: Navegación esquivando obstáculos fijos de forma óptima.</a:t>
            </a:r>
          </a:p>
        </p:txBody>
      </p:sp>
      <p:pic>
        <p:nvPicPr>
          <p:cNvPr id="5" name="Picture 4" descr="warehouse_robots_17738406611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7744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0D4FF"/>
                </a:solidFill>
              </a:defRPr>
            </a:pPr>
            <a:r>
              <a:t>A*: Implementación y Resultado</a:t>
            </a:r>
          </a:p>
        </p:txBody>
      </p:sp>
      <p:pic>
        <p:nvPicPr>
          <p:cNvPr id="4" name="Picture 3" descr="img_a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245326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22860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Algoritmo guiado por heurística (Distancia Manhattan).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Garantiza encontrar el camino más corto.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Base para algoritmos más complejos.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00D4FF"/>
                </a:solidFill>
              </a:defRPr>
            </a:pPr>
            <a:r>
              <a:t>2. Sistema Multi-Agente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</a:defRPr>
            </a:pPr>
            <a:r>
              <a:t>Concepto: Coordinación cooperativa sin colisiones.</a:t>
            </a:r>
          </a:p>
        </p:txBody>
      </p:sp>
      <p:pic>
        <p:nvPicPr>
          <p:cNvPr id="5" name="Picture 4" descr="abstract_multiagent_17738407529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7744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0D4FF"/>
                </a:solidFill>
              </a:defRPr>
            </a:pPr>
            <a:r>
              <a:t>Multi-Agente: Resultado</a:t>
            </a:r>
          </a:p>
        </p:txBody>
      </p:sp>
      <p:pic>
        <p:nvPicPr>
          <p:cNvPr id="4" name="Picture 3" descr="img_do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8085941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22860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Múltiples robots operando simultáneamente.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Resolución de colisiones re-evaluando rutas dinámicamente.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Alta escalabilidad para flotas de picking.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00D4FF"/>
                </a:solidFill>
              </a:defRPr>
            </a:pPr>
            <a:r>
              <a:t>3. Temple Simulado (Simulated Annealing)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</a:defRPr>
            </a:pPr>
            <a:r>
              <a:t>Concepto: Optimización de la ruta de picking (metaheurística).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0D4FF"/>
                </a:solidFill>
              </a:defRPr>
            </a:pPr>
            <a:r>
              <a:t>Temple Simulado: Convergencia</a:t>
            </a:r>
          </a:p>
        </p:txBody>
      </p:sp>
      <p:pic>
        <p:nvPicPr>
          <p:cNvPr id="4" name="Picture 3" descr="img_te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005071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22860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Encuentra el recorrido más rápido entre múltiples estanterías.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Evita estancarse en óptimos locales aceptando probabilísticamente peores soluciones al inicio.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00D4FF"/>
                </a:solidFill>
              </a:defRPr>
            </a:pPr>
            <a:r>
              <a:t>4. Algoritmo Genético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</a:defRPr>
            </a:pPr>
            <a:r>
              <a:t>Concepto: Evolución de las mejores distribuciones del almacén.</a:t>
            </a:r>
          </a:p>
        </p:txBody>
      </p:sp>
      <p:pic>
        <p:nvPicPr>
          <p:cNvPr id="5" name="Picture 4" descr="abstract_genetic_1773840817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7744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0D4FF"/>
                </a:solidFill>
              </a:defRPr>
            </a:pPr>
            <a:r>
              <a:t>Genético: Ubicación por Frecuencia</a:t>
            </a:r>
          </a:p>
        </p:txBody>
      </p:sp>
      <p:pic>
        <p:nvPicPr>
          <p:cNvPr id="4" name="Picture 3" descr="img_gene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734802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22860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Intercambia productos buscando que los más pedidos queden cerca.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Cruce y mutación aseguran diversidad de configuraciones.</a:t>
            </a:r>
          </a:p>
          <a:p>
            <a:pPr>
              <a:spcAft>
                <a:spcPts val="2400"/>
              </a:spcAft>
              <a:defRPr sz="3200">
                <a:solidFill>
                  <a:srgbClr val="FFFFFF"/>
                </a:solidFill>
              </a:defRPr>
            </a:pPr>
            <a:r>
              <a:t>• Reduce drásticamente el tiempo promedio de picking.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