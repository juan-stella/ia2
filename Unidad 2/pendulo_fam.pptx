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8673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A9E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" y="0"/>
            <a:ext cx="36576" cy="51435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3200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890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Inteligencia Artificial II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91440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Inferencia Difusa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74320" y="1691640"/>
            <a:ext cx="8595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4A9E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para el Control de un Péndulo Invertido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74320" y="2468880"/>
            <a:ext cx="4114800" cy="27432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 7×7  ·  </a:t>
            </a:r>
            <a:r>
              <a:rPr lang="en-US" sz="1300" dirty="0">
                <a:solidFill>
                  <a:srgbClr val="88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Mamdani  ·  Defuzzificación COG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0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Ingeniería en Mecatrónica  —  2025</a:t>
            </a:r>
            <a:endParaRPr lang="en-US" sz="11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457200"/>
            <a:ext cx="274320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A9EF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¿Por qué usar inferencia lógica en lugar de búsqueda?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651760" cy="3474720"/>
          </a:xfrm>
          <a:prstGeom prst="rect">
            <a:avLst/>
          </a:prstGeom>
          <a:solidFill>
            <a:srgbClr val="1A2035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60120"/>
            <a:ext cx="2651760" cy="54864"/>
          </a:xfrm>
          <a:prstGeom prst="rect">
            <a:avLst/>
          </a:prstGeom>
          <a:solidFill>
            <a:srgbClr val="4A9EF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972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Costo computacional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237744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requiere explorar todos los estados del espacio. La inferencia deduce directamente sin expansión exhaustiva.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960120"/>
            <a:ext cx="2651760" cy="3474720"/>
          </a:xfrm>
          <a:prstGeom prst="rect">
            <a:avLst/>
          </a:prstGeom>
          <a:solidFill>
            <a:srgbClr val="1A2035"/>
          </a:solidFill>
          <a:ln w="12700">
            <a:solidFill>
              <a:srgbClr val="52C4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960120"/>
            <a:ext cx="2651760" cy="54864"/>
          </a:xfrm>
          <a:prstGeom prst="rect">
            <a:avLst/>
          </a:prstGeom>
          <a:solidFill>
            <a:srgbClr val="52C47A"/>
          </a:solidFill>
          <a:ln/>
        </p:spPr>
      </p:sp>
      <p:sp>
        <p:nvSpPr>
          <p:cNvPr id="10" name="Text 8"/>
          <p:cNvSpPr/>
          <p:nvPr/>
        </p:nvSpPr>
        <p:spPr>
          <a:xfrm>
            <a:off x="3337560" y="10972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2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 Menor uso de memoria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37560" y="1691640"/>
            <a:ext cx="237744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es necesario almacenar ni mantener en memoria todos los estados posibles del problema.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0760" y="960120"/>
            <a:ext cx="2651760" cy="3474720"/>
          </a:xfrm>
          <a:prstGeom prst="rect">
            <a:avLst/>
          </a:prstGeom>
          <a:solidFill>
            <a:srgbClr val="1A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960120"/>
            <a:ext cx="2651760" cy="54864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10972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Adaptabilidad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1691640"/>
            <a:ext cx="237744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 las condiciones del problema cambian, solo se actualiza la base de conocimientos. El motor de inferencia permanece igual.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46177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90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sistemas de control y razonamiento, los algoritmos de inferencia escalan mejor que la búsqueda exhaustiva.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2C47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&amp; 3.  Base de conocimiento, ground truth y valores inferidos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023360" cy="3931920"/>
          </a:xfrm>
          <a:prstGeom prst="rect">
            <a:avLst/>
          </a:prstGeom>
          <a:solidFill>
            <a:srgbClr val="1A2035"/>
          </a:solidFill>
          <a:ln w="12700">
            <a:solidFill>
              <a:srgbClr val="52C4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868680"/>
            <a:ext cx="4023360" cy="54864"/>
          </a:xfrm>
          <a:prstGeom prst="rect">
            <a:avLst/>
          </a:prstGeom>
          <a:solidFill>
            <a:srgbClr val="52C47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2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— valor percibido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Valores iniciales </a:t>
            </a:r>
            <a:r>
              <a:rPr lang="en-US" sz="1200" b="1" dirty="0">
                <a:solidFill>
                  <a:srgbClr val="52C47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sensados o conocidos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que se cargan en la base de conocimientos.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Ejemplo: θ = 15° medido por el encoder del péndulo.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 el valor cambia, solo se actualiza ese dato — el algoritmo de inferencia no se modifica.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868680"/>
            <a:ext cx="4023360" cy="3931920"/>
          </a:xfrm>
          <a:prstGeom prst="rect">
            <a:avLst/>
          </a:prstGeom>
          <a:solidFill>
            <a:srgbClr val="1A2035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868680"/>
            <a:ext cx="4023360" cy="54864"/>
          </a:xfrm>
          <a:prstGeom prst="rect">
            <a:avLst/>
          </a:prstGeom>
          <a:solidFill>
            <a:srgbClr val="4A9EFF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0058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inferido — valor deducido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0" y="1508760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Valor </a:t>
            </a:r>
            <a:r>
              <a:rPr lang="en-US" sz="1200" b="1" dirty="0">
                <a:solidFill>
                  <a:srgbClr val="4A9E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derivado lógicamente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a partir de otros valores y reglas de la base de conocimientos.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Ejemplo: a partir de θ y θ', el motor de inferencia deduce F sin haberla medido directamente.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proviene del entorno: es consecuencia del razonamiento.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D4C84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&amp; 5.  Lógica proposicional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8595360" cy="1874520"/>
          </a:xfrm>
          <a:prstGeom prst="rect">
            <a:avLst/>
          </a:prstGeom>
          <a:solidFill>
            <a:srgbClr val="1A2035"/>
          </a:solidFill>
          <a:ln w="12700">
            <a:solidFill>
              <a:srgbClr val="D4C8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C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Oraciones atómicas y modelo de "A entre 0 y 9"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Valores posibles: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Verdadero (1) o Falso (0)  — sin valores intermedios.
</a:t>
            </a:r>
            <a:r>
              <a:rPr lang="en-US" sz="1200" b="1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Modelado de A ∈ [0,9]:  </a:t>
            </a:r>
            <a:r>
              <a:rPr lang="en-US" sz="1200" dirty="0">
                <a:solidFill>
                  <a:srgbClr val="D4C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A₀ ∨ A₁ ∨ A₂ ∨ A₃ ∨ A₄ ∨ A₅ ∨ A₆ ∨ A₇ ∨ A₈ ∨ A₉
</a:t>
            </a:r>
            <a:r>
              <a:rPr lang="en-US" sz="1200" dirty="0">
                <a:solidFill>
                  <a:srgbClr val="8890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Cada Aᵢ es una variable proposicional que indica si A toma el valor i. Requiere enumerar todos los casos discretos.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2834640"/>
            <a:ext cx="8595360" cy="2011680"/>
          </a:xfrm>
          <a:prstGeom prst="rect">
            <a:avLst/>
          </a:prstGeom>
          <a:solidFill>
            <a:srgbClr val="1A2035"/>
          </a:solidFill>
          <a:ln w="12700">
            <a:solidFill>
              <a:srgbClr val="E08C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8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Algoritmos para lógica proposicional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08C5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Tablas de verdad: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enumeración exhaustiva de todas las asignaciones posibles.
</a:t>
            </a:r>
            <a:r>
              <a:rPr lang="en-US" sz="1200" b="1" dirty="0">
                <a:solidFill>
                  <a:srgbClr val="E08C5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Cláusulas de Horn + Encadenamiento: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reglas con un único consecuente; permiten encadenamiento hacia adelante (modus ponens) y hacia atrás.
</a:t>
            </a:r>
            <a:r>
              <a:rPr lang="en-US" sz="1200" b="1" dirty="0">
                <a:solidFill>
                  <a:srgbClr val="E08C5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Resolución: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algoritmo completo para SAT sobre cláusulas en FNC.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&amp; 7.  Lógica de primer orden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8595360" cy="2240280"/>
          </a:xfrm>
          <a:prstGeom prst="rect">
            <a:avLst/>
          </a:prstGeom>
          <a:solidFill>
            <a:srgbClr val="1A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Oraciones atómicas y modelo de "A entre 0 y 9"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Valores posibles: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Comparaciones, cuantificación, relaciones — permite trabajar con dominios continuos.
</a:t>
            </a:r>
            <a:r>
              <a:rPr lang="en-US" sz="1200" b="1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Modelado de A ∈ [0,9]:  </a:t>
            </a: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≥ 0 ∧ A ≤ 9   |   ∃A ∈ [0, 9]
</a:t>
            </a:r>
            <a:r>
              <a:rPr lang="en-US" sz="1200" dirty="0">
                <a:solidFill>
                  <a:srgbClr val="8890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Ventajas: simplifica la sentencia, no requiere enumerar cada valor, permite grados de confianza y relaciones entre variables, trabaja con valores no discretos.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3200400"/>
            <a:ext cx="8595360" cy="1691640"/>
          </a:xfrm>
          <a:prstGeom prst="rect">
            <a:avLst/>
          </a:prstGeom>
          <a:solidFill>
            <a:srgbClr val="1A2035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Algoritmos para lógica de primer orden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703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A9E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Motores de inferencia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(Prolog, sistemas expertos): representan reglas y hechos, aplican unificación y resolución.
• Cualquier motor de inferencia está basado internamente en un algoritmo de búsqueda </a:t>
            </a:r>
            <a:r>
              <a:rPr lang="en-US" sz="1200" dirty="0">
                <a:solidFill>
                  <a:srgbClr val="8890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(encadenamiento hacia adelante/atrás, A*, BFS, etc.).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0525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Planificadores y algoritmos de búsqueda global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502920" cy="594360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869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841248"/>
            <a:ext cx="7955280" cy="594360"/>
          </a:xfrm>
          <a:prstGeom prst="rect">
            <a:avLst/>
          </a:prstGeom>
          <a:solidFill>
            <a:srgbClr val="1A2035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896112"/>
            <a:ext cx="76809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E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Definir estados: 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 estado = valores actuales de todas las variables lógicas del problema.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502920" cy="594360"/>
          </a:xfrm>
          <a:prstGeom prst="rect">
            <a:avLst/>
          </a:prstGeom>
          <a:solidFill>
            <a:srgbClr val="52C47A"/>
          </a:solidFill>
          <a:ln w="12700">
            <a:solidFill>
              <a:srgbClr val="52C4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1645920"/>
            <a:ext cx="7955280" cy="594360"/>
          </a:xfrm>
          <a:prstGeom prst="rect">
            <a:avLst/>
          </a:prstGeom>
          <a:solidFill>
            <a:srgbClr val="1A2035"/>
          </a:solidFill>
          <a:ln w="12700">
            <a:solidFill>
              <a:srgbClr val="52C4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1700784"/>
            <a:ext cx="76809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2C47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Definir frontera: 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Conjunto inicial de todos los estados posibles (nodos del grafo de búsqueda).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2450592"/>
            <a:ext cx="502920" cy="594360"/>
          </a:xfrm>
          <a:prstGeom prst="rect">
            <a:avLst/>
          </a:prstGeom>
          <a:solidFill>
            <a:srgbClr val="D4C84A"/>
          </a:solidFill>
          <a:ln w="12700">
            <a:solidFill>
              <a:srgbClr val="D4C8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24963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2450592"/>
            <a:ext cx="7955280" cy="594360"/>
          </a:xfrm>
          <a:prstGeom prst="rect">
            <a:avLst/>
          </a:prstGeom>
          <a:solidFill>
            <a:srgbClr val="1A2035"/>
          </a:solidFill>
          <a:ln w="12700">
            <a:solidFill>
              <a:srgbClr val="D4C8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2505456"/>
            <a:ext cx="76809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C8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Podar según precondiciones: 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 eliminan los estados que no cumplen las precondiciones de las acciones disponibles.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255264"/>
            <a:ext cx="502920" cy="594360"/>
          </a:xfrm>
          <a:prstGeom prst="rect">
            <a:avLst/>
          </a:prstGeom>
          <a:solidFill>
            <a:srgbClr val="E08C52"/>
          </a:solidFill>
          <a:ln w="12700">
            <a:solidFill>
              <a:srgbClr val="E08C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33009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4400" y="3255264"/>
            <a:ext cx="7955280" cy="594360"/>
          </a:xfrm>
          <a:prstGeom prst="rect">
            <a:avLst/>
          </a:prstGeom>
          <a:solidFill>
            <a:srgbClr val="1A2035"/>
          </a:solidFill>
          <a:ln w="12700">
            <a:solidFill>
              <a:srgbClr val="E08C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310128"/>
            <a:ext cx="76809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8C5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Función de costo + heurística: 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 evalúa cada nodo con f(n) = g(n) + h(n) para decidir qué camino explorar primero.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4320" y="4059936"/>
            <a:ext cx="502920" cy="59436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10565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4059936"/>
            <a:ext cx="7955280" cy="594360"/>
          </a:xfrm>
          <a:prstGeom prst="rect">
            <a:avLst/>
          </a:prstGeom>
          <a:solidFill>
            <a:srgbClr val="1A2035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4114800"/>
            <a:ext cx="76809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5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Expandir sucesores: 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Los estados sucesores tienen las mismas variables pero con valores actualizados tras aplicar una acción.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A9EF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 control del péndulo invertido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3990342" y="777240"/>
            <a:ext cx="4846320" cy="4201668"/>
          </a:xfrm>
          <a:prstGeom prst="rect">
            <a:avLst/>
          </a:prstGeom>
          <a:solidFill>
            <a:srgbClr val="1A2035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136390" y="86868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Ecuación de movimiento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206240" y="2240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52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206240" y="3246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8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del sistema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206240" y="36118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θ  </a:t>
            </a:r>
            <a:r>
              <a:rPr lang="en-US" sz="11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Ángulo del péndulo  [°]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394106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θ'  </a:t>
            </a:r>
            <a:r>
              <a:rPr lang="en-US" sz="11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Velocidad angular  [°/s]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206240" y="427024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 </a:t>
            </a:r>
            <a:r>
              <a:rPr lang="en-US" sz="11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Fuerza sobre el carro  [N]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206240" y="459943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M=3 kg, m=1 kg, l=1 m  </a:t>
            </a:r>
            <a:r>
              <a:rPr lang="en-US" sz="11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Parámetros físicos</a:t>
            </a:r>
            <a:endParaRPr lang="en-US" sz="1100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780EDC87-7C86-4AF8-B2CD-BB0DD0B2D7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848" y="843280"/>
            <a:ext cx="3772072" cy="2962325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D4729F8D-E25C-4FF5-8C59-739D33AB6A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608" y="1195669"/>
            <a:ext cx="2849295" cy="1080227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ACA203B9-830F-4CD4-AD71-8BBC983E9A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2450" y="2524089"/>
            <a:ext cx="2743553" cy="6240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sistema de inferencia difusa</a:t>
            </a:r>
            <a:endParaRPr lang="en-US" sz="2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8595360" cy="2103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301752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difusas definidas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274320" y="3429000"/>
            <a:ext cx="4206240" cy="548640"/>
          </a:xfrm>
          <a:prstGeom prst="rect">
            <a:avLst/>
          </a:prstGeom>
          <a:solidFill>
            <a:srgbClr val="1A2035"/>
          </a:solidFill>
          <a:ln w="12700">
            <a:solidFill>
              <a:srgbClr val="52C47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3520440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2C47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Conjunción (∧):  </a:t>
            </a:r>
            <a:r>
              <a:rPr lang="en-US" sz="11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min(a, b)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09160" y="3429000"/>
            <a:ext cx="4206240" cy="548640"/>
          </a:xfrm>
          <a:prstGeom prst="rect">
            <a:avLst/>
          </a:prstGeom>
          <a:solidFill>
            <a:srgbClr val="1A2035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818888" y="3520440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E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Disyunción (∨):  </a:t>
            </a:r>
            <a:r>
              <a:rPr lang="en-US" sz="11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max(a, b)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74320" y="4087368"/>
            <a:ext cx="4206240" cy="548640"/>
          </a:xfrm>
          <a:prstGeom prst="rect">
            <a:avLst/>
          </a:prstGeom>
          <a:solidFill>
            <a:srgbClr val="1A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84048" y="4178808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Implicación:  </a:t>
            </a:r>
            <a:r>
              <a:rPr lang="en-US" sz="11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min(α, μ_consecuente)  — Mamdani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09160" y="4087368"/>
            <a:ext cx="4206240" cy="548640"/>
          </a:xfrm>
          <a:prstGeom prst="rect">
            <a:avLst/>
          </a:prstGeom>
          <a:solidFill>
            <a:srgbClr val="1A2035"/>
          </a:solidFill>
          <a:ln w="12700">
            <a:solidFill>
              <a:srgbClr val="E08C5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18888" y="4178808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8C5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Defuzzificación:  </a:t>
            </a:r>
            <a:r>
              <a:rPr lang="en-US" sz="11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COG = ∫ F·μ(F)dF / ∫ μ(F)dF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2C47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lingüísticas — particiones borrosas</a:t>
            </a:r>
            <a:endParaRPr lang="en-US" sz="2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8595360" cy="2743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3657600"/>
            <a:ext cx="2651760" cy="1234440"/>
          </a:xfrm>
          <a:prstGeom prst="rect">
            <a:avLst/>
          </a:prstGeom>
          <a:solidFill>
            <a:srgbClr val="1A2035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84048" y="373075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 (ángulo)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84048" y="4096512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8890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Rango: </a:t>
            </a:r>
            <a:r>
              <a:rPr lang="en-US" sz="10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[−180°, 180°]
</a:t>
            </a:r>
            <a:r>
              <a:rPr lang="en-US" sz="1000" dirty="0">
                <a:solidFill>
                  <a:srgbClr val="8890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Triangulares + trapezoidales en extremos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154680" y="3657600"/>
            <a:ext cx="2651760" cy="1234440"/>
          </a:xfrm>
          <a:prstGeom prst="rect">
            <a:avLst/>
          </a:prstGeom>
          <a:solidFill>
            <a:srgbClr val="1A2035"/>
          </a:solidFill>
          <a:ln w="12700">
            <a:solidFill>
              <a:srgbClr val="52C47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64408" y="373075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2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θ'  (vel. angular)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64408" y="4096512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8890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Rango: </a:t>
            </a:r>
            <a:r>
              <a:rPr lang="en-US" sz="10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[−90, 90] °/s
</a:t>
            </a:r>
            <a:r>
              <a:rPr lang="en-US" sz="1000" dirty="0">
                <a:solidFill>
                  <a:srgbClr val="8890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Triangulares + trapezoidales en extremos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035040" y="3657600"/>
            <a:ext cx="2651760" cy="1234440"/>
          </a:xfrm>
          <a:prstGeom prst="rect">
            <a:avLst/>
          </a:prstGeom>
          <a:solidFill>
            <a:srgbClr val="1A2035"/>
          </a:solidFill>
          <a:ln w="12700">
            <a:solidFill>
              <a:srgbClr val="E08C5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44768" y="373075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8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 (fuerza)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144768" y="4096512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8890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Rango: </a:t>
            </a:r>
            <a:r>
              <a:rPr lang="en-US" sz="10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[−300, 300] N
</a:t>
            </a:r>
            <a:r>
              <a:rPr lang="en-US" sz="1000" dirty="0">
                <a:solidFill>
                  <a:srgbClr val="8890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Triangulares + trapezoidales en extremos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283681" y="306324"/>
            <a:ext cx="32842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 conjuntos: NGG — NG — NP — Z — PP — PG — PGG</a:t>
            </a:r>
            <a:endParaRPr lang="en-US" sz="11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08C5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FAM 7×7 — base de reglas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6858000" y="777240"/>
            <a:ext cx="2103120" cy="4114800"/>
          </a:xfrm>
          <a:prstGeom prst="rect">
            <a:avLst/>
          </a:prstGeom>
          <a:solidFill>
            <a:srgbClr val="1A2035"/>
          </a:solidFill>
          <a:ln w="12700">
            <a:solidFill>
              <a:srgbClr val="E08C5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967728" y="868680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8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de la tabla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967728" y="132588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52C47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Diagonal → Z
</a:t>
            </a:r>
            <a:r>
              <a:rPr lang="en-US" sz="95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Sistema en equilibrio: no aplicar fuerza.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967728" y="210312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E0525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θ&gt;0, θ'&lt;0
</a:t>
            </a:r>
            <a:r>
              <a:rPr lang="en-US" sz="95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Cae a la derecha: F negativa grande.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967728" y="288036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4A9E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θ&lt;0, θ'&gt;0
</a:t>
            </a:r>
            <a:r>
              <a:rPr lang="en-US" sz="95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Cae a la izquierda: F positiva grande.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967728" y="365760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D4C8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θ y θ' mismo signo
</a:t>
            </a:r>
            <a:r>
              <a:rPr lang="en-US" sz="95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Vuelve solo: frenar suavemente.</a:t>
            </a:r>
            <a:endParaRPr lang="en-US" sz="950" dirty="0"/>
          </a:p>
        </p:txBody>
      </p:sp>
      <p:graphicFrame>
        <p:nvGraphicFramePr>
          <p:cNvPr id="13" name="Tabla 13">
            <a:extLst>
              <a:ext uri="{FF2B5EF4-FFF2-40B4-BE49-F238E27FC236}">
                <a16:creationId xmlns:a16="http://schemas.microsoft.com/office/drawing/2014/main" id="{02C5A225-8B2D-4D8E-9A93-3CC20FD0A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2162974"/>
              </p:ext>
            </p:extLst>
          </p:nvPr>
        </p:nvGraphicFramePr>
        <p:xfrm>
          <a:off x="182880" y="1038860"/>
          <a:ext cx="6096000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19135800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2327234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90569918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83808657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7355598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23922434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9311384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708918034"/>
                    </a:ext>
                  </a:extLst>
                </a:gridCol>
              </a:tblGrid>
              <a:tr h="261620">
                <a:tc>
                  <a:txBody>
                    <a:bodyPr/>
                    <a:lstStyle/>
                    <a:p>
                      <a:r>
                        <a:rPr lang="el-GR" sz="1800" dirty="0">
                          <a:solidFill>
                            <a:schemeClr val="bg1"/>
                          </a:solidFill>
                        </a:rPr>
                        <a:t>θ̇</a:t>
                      </a:r>
                      <a:r>
                        <a:rPr lang="es-MX" sz="1800" dirty="0">
                          <a:solidFill>
                            <a:schemeClr val="bg1"/>
                          </a:solidFill>
                        </a:rPr>
                        <a:t>´</a:t>
                      </a:r>
                      <a:r>
                        <a:rPr lang="el-GR" sz="1800" dirty="0">
                          <a:solidFill>
                            <a:schemeClr val="bg1"/>
                          </a:solidFill>
                        </a:rPr>
                        <a:t> \ 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 dirty="0">
                          <a:solidFill>
                            <a:schemeClr val="bg1"/>
                          </a:solidFill>
                        </a:rPr>
                        <a:t>NGG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bg1"/>
                          </a:solidFill>
                        </a:rPr>
                        <a:t>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bg1"/>
                          </a:solidFill>
                        </a:rPr>
                        <a:t>NP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bg1"/>
                          </a:solidFill>
                        </a:rPr>
                        <a:t>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bg1"/>
                          </a:solidFill>
                        </a:rPr>
                        <a:t>PP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bg1"/>
                          </a:solidFill>
                        </a:rPr>
                        <a:t>PG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bg1"/>
                          </a:solidFill>
                        </a:rPr>
                        <a:t>PGG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0071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AR" sz="1800" b="1">
                          <a:solidFill>
                            <a:schemeClr val="tx1"/>
                          </a:solidFill>
                        </a:rPr>
                        <a:t>NGG</a:t>
                      </a:r>
                      <a:endParaRPr lang="es-AR" sz="180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 dirty="0">
                          <a:solidFill>
                            <a:schemeClr val="tx1"/>
                          </a:solidFill>
                        </a:rPr>
                        <a:t>PGG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PGG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PGG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NP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NP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87576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AR" sz="1800" b="1">
                          <a:solidFill>
                            <a:schemeClr val="tx1"/>
                          </a:solidFill>
                        </a:rPr>
                        <a:t>NG</a:t>
                      </a:r>
                      <a:endParaRPr lang="es-AR" sz="180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PGG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PGG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NP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669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AR" sz="1800" b="1">
                          <a:solidFill>
                            <a:schemeClr val="tx1"/>
                          </a:solidFill>
                        </a:rPr>
                        <a:t>NP</a:t>
                      </a:r>
                      <a:endParaRPr lang="es-AR" sz="180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PGG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PGG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NP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NP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NGG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2868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AR" sz="1800" b="1">
                          <a:solidFill>
                            <a:schemeClr val="tx1"/>
                          </a:solidFill>
                        </a:rPr>
                        <a:t>Z</a:t>
                      </a:r>
                      <a:endParaRPr lang="es-AR" sz="180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 dirty="0">
                          <a:solidFill>
                            <a:schemeClr val="tx1"/>
                          </a:solidFill>
                        </a:rPr>
                        <a:t>PGG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NP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NGG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5027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AR" sz="1800" b="1">
                          <a:solidFill>
                            <a:schemeClr val="tx1"/>
                          </a:solidFill>
                        </a:rPr>
                        <a:t>PP</a:t>
                      </a:r>
                      <a:endParaRPr lang="es-AR" sz="180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 dirty="0">
                          <a:solidFill>
                            <a:schemeClr val="tx1"/>
                          </a:solidFill>
                        </a:rPr>
                        <a:t>PGG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NP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NP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NGG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NGG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9270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AR" sz="1800" b="1">
                          <a:solidFill>
                            <a:schemeClr val="tx1"/>
                          </a:solidFill>
                        </a:rPr>
                        <a:t>PG</a:t>
                      </a:r>
                      <a:endParaRPr lang="es-AR" sz="180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NP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NGG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NGG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48624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AR" sz="1800" b="1">
                          <a:solidFill>
                            <a:schemeClr val="tx1"/>
                          </a:solidFill>
                        </a:rPr>
                        <a:t>PGG</a:t>
                      </a:r>
                      <a:endParaRPr lang="es-AR" sz="180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>
                          <a:solidFill>
                            <a:schemeClr val="tx1"/>
                          </a:solidFill>
                        </a:rPr>
                        <a:t>PP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 dirty="0">
                          <a:solidFill>
                            <a:schemeClr val="tx1"/>
                          </a:solidFill>
                        </a:rPr>
                        <a:t>NP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 dirty="0">
                          <a:solidFill>
                            <a:schemeClr val="tx1"/>
                          </a:solidFill>
                        </a:rPr>
                        <a:t>NP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 dirty="0">
                          <a:solidFill>
                            <a:schemeClr val="tx1"/>
                          </a:solidFill>
                        </a:rPr>
                        <a:t>NGG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 dirty="0">
                          <a:solidFill>
                            <a:schemeClr val="tx1"/>
                          </a:solidFill>
                        </a:rPr>
                        <a:t>NGG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AR" sz="1800" dirty="0">
                          <a:solidFill>
                            <a:schemeClr val="tx1"/>
                          </a:solidFill>
                        </a:rPr>
                        <a:t>NGG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19338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A9EF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y resultados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206240" cy="1737360"/>
          </a:xfrm>
          <a:prstGeom prst="rect">
            <a:avLst/>
          </a:prstGeom>
          <a:solidFill>
            <a:srgbClr val="1A2035"/>
          </a:solidFill>
          <a:ln w="12700">
            <a:solidFill>
              <a:srgbClr val="52C4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822960"/>
            <a:ext cx="4206240" cy="45720"/>
          </a:xfrm>
          <a:prstGeom prst="rect">
            <a:avLst/>
          </a:prstGeom>
          <a:solidFill>
            <a:srgbClr val="52C47A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93268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2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Convergencia verificada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θ₀ = 170° (desde abajo) → converge a ±0° en &lt; 2 s desde cualquier ángulo inicial.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822960"/>
            <a:ext cx="4206240" cy="1737360"/>
          </a:xfrm>
          <a:prstGeom prst="rect">
            <a:avLst/>
          </a:prstGeom>
          <a:solidFill>
            <a:srgbClr val="1A2035"/>
          </a:solidFill>
          <a:ln w="12700">
            <a:solidFill>
              <a:srgbClr val="D4C8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09160" y="822960"/>
            <a:ext cx="4206240" cy="45720"/>
          </a:xfrm>
          <a:prstGeom prst="rect">
            <a:avLst/>
          </a:prstGeom>
          <a:solidFill>
            <a:srgbClr val="D4C84A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93268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C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Zona muerta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137160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 = 0 cuando |θ| &lt; 0.5° y |θ'| &lt; 2°/s. Elimina el ciclo límite cerca del equilibrio.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2743200"/>
            <a:ext cx="4206240" cy="1737360"/>
          </a:xfrm>
          <a:prstGeom prst="rect">
            <a:avLst/>
          </a:prstGeom>
          <a:solidFill>
            <a:srgbClr val="1A2035"/>
          </a:solidFill>
          <a:ln w="12700">
            <a:solidFill>
              <a:srgbClr val="E08C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2743200"/>
            <a:ext cx="4206240" cy="45720"/>
          </a:xfrm>
          <a:prstGeom prst="rect">
            <a:avLst/>
          </a:prstGeom>
          <a:solidFill>
            <a:srgbClr val="E08C52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85292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8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🖱️  Botones de perturbación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" y="329184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Empuje izquierda/derecha (250 N × 0.2 s). El controlador recupera el equilibrio automáticamente.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2743200"/>
            <a:ext cx="4206240" cy="1737360"/>
          </a:xfrm>
          <a:prstGeom prst="rect">
            <a:avLst/>
          </a:prstGeom>
          <a:solidFill>
            <a:srgbClr val="1A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2743200"/>
            <a:ext cx="4206240" cy="457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285292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Visualización en tiempo real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329184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Gráficos de θ(t) y F(t) + insets de membresía μ activa en cada instante.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890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Implementado en Python con matplotlib.animation — simulación en tiempo real con Δt = 0.001 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548640" cy="594360"/>
          </a:xfrm>
          <a:prstGeom prst="rect">
            <a:avLst/>
          </a:prstGeom>
          <a:solidFill>
            <a:srgbClr val="4A9EF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7840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0058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 inferencia difusa permite controlar sistemas continuos sin modelado matemático exacto — solo reglas lingüísticas.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14400" y="1463040"/>
            <a:ext cx="7955280" cy="13716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709928"/>
            <a:ext cx="548640" cy="594360"/>
          </a:xfrm>
          <a:prstGeom prst="rect">
            <a:avLst/>
          </a:prstGeom>
          <a:solidFill>
            <a:srgbClr val="52C47A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77393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1801368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solapamiento entre conjuntos determina la precisión del equilibrio. Mayor solapamiento → mayor resolución en la zona de control.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14400" y="2258568"/>
            <a:ext cx="7955280" cy="13716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2505456"/>
            <a:ext cx="548640" cy="594360"/>
          </a:xfrm>
          <a:prstGeom prst="rect">
            <a:avLst/>
          </a:prstGeom>
          <a:solidFill>
            <a:srgbClr val="D4C84A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256946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596896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 tabla FAM codifica el conocimiento experto. Los errores en la tabla son errores de diseño, no de algoritmo.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14400" y="3054096"/>
            <a:ext cx="7955280" cy="13716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16" name="Shape 14"/>
          <p:cNvSpPr/>
          <p:nvPr/>
        </p:nvSpPr>
        <p:spPr>
          <a:xfrm>
            <a:off x="274320" y="3300984"/>
            <a:ext cx="548640" cy="594360"/>
          </a:xfrm>
          <a:prstGeom prst="rect">
            <a:avLst/>
          </a:prstGeom>
          <a:solidFill>
            <a:srgbClr val="E08C52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336499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3392424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controlador Mamdani con COG es robusto a perturbaciones: recupera el equilibrio desde cualquier ángulo inicial.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4400" y="3849624"/>
            <a:ext cx="7955280" cy="13716"/>
          </a:xfrm>
          <a:prstGeom prst="rect">
            <a:avLst/>
          </a:prstGeom>
          <a:solidFill>
            <a:srgbClr val="1A2035"/>
          </a:solidFill>
          <a:ln/>
        </p:spPr>
      </p:sp>
      <p:sp>
        <p:nvSpPr>
          <p:cNvPr id="20" name="Shape 18"/>
          <p:cNvSpPr/>
          <p:nvPr/>
        </p:nvSpPr>
        <p:spPr>
          <a:xfrm>
            <a:off x="274320" y="4096512"/>
            <a:ext cx="548640" cy="59436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41605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05840" y="4187952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 zona muerta elimina el ciclo límite inherente a los controladores difusos, logrando convergencia práctica a 0°.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14400" y="4645152"/>
            <a:ext cx="7955280" cy="13716"/>
          </a:xfrm>
          <a:prstGeom prst="rect">
            <a:avLst/>
          </a:prstGeom>
          <a:solidFill>
            <a:srgbClr val="1A2035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</TotalTime>
  <Words>1217</Words>
  <Application>Microsoft Office PowerPoint</Application>
  <PresentationFormat>Presentación en pantalla (16:9)</PresentationFormat>
  <Paragraphs>172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Inferencia Difusa — Péndulo Invertido</dc:title>
  <dc:subject>PptxGenJS Presentation</dc:subject>
  <dc:creator>PptxGenJS</dc:creator>
  <cp:lastModifiedBy>juan stella</cp:lastModifiedBy>
  <cp:revision>4</cp:revision>
  <dcterms:created xsi:type="dcterms:W3CDTF">2026-04-22T00:44:53Z</dcterms:created>
  <dcterms:modified xsi:type="dcterms:W3CDTF">2026-04-22T04:40:44Z</dcterms:modified>
</cp:coreProperties>
</file>