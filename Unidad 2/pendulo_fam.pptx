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4A9EFF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" y="0"/>
            <a:ext cx="36576" cy="514350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32004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890A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Inteligencia Artificial II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74320" y="914400"/>
            <a:ext cx="8595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8E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Inferencia Difusa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274320" y="1691640"/>
            <a:ext cx="8595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4A9E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para el Control de un Péndulo Invertido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274320" y="2468880"/>
            <a:ext cx="4114800" cy="27432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8" name="Text 6"/>
          <p:cNvSpPr/>
          <p:nvPr/>
        </p:nvSpPr>
        <p:spPr>
          <a:xfrm>
            <a:off x="274320" y="26060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 7×7  ·  </a:t>
            </a:r>
            <a:pPr indent="0" marL="0">
              <a:buNone/>
            </a:pPr>
            <a:r>
              <a:rPr lang="en-US" sz="1300" dirty="0">
                <a:solidFill>
                  <a:srgbClr val="88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Mamdani  ·  </a:t>
            </a:r>
            <a:pPr indent="0" marL="0">
              <a:buNone/>
            </a:pPr>
            <a:r>
              <a:rPr lang="en-US" sz="1300" dirty="0">
                <a:solidFill>
                  <a:srgbClr val="88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Defuzzificación COG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74320" y="4663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0A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Ingeniería en Mecatrónica  —  2025</a:t>
            </a:r>
            <a:endParaRPr lang="en-US" sz="11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0" y="457200"/>
            <a:ext cx="2743200" cy="24688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4A9EF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E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¿Por qué usar inferencia lógica en lugar de búsqueda?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2651760" cy="3474720"/>
          </a:xfrm>
          <a:prstGeom prst="rect">
            <a:avLst/>
          </a:prstGeom>
          <a:solidFill>
            <a:srgbClr val="1A2035"/>
          </a:solidFill>
          <a:ln w="12700">
            <a:solidFill>
              <a:srgbClr val="4A9E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960120"/>
            <a:ext cx="2651760" cy="54864"/>
          </a:xfrm>
          <a:prstGeom prst="rect">
            <a:avLst/>
          </a:prstGeom>
          <a:solidFill>
            <a:srgbClr val="4A9EFF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09728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9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Costo computacional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691640"/>
            <a:ext cx="237744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8D0E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No requiere explorar todos los estados del espacio. La inferencia deduce directamente sin expansión exhaustiva.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00400" y="960120"/>
            <a:ext cx="2651760" cy="3474720"/>
          </a:xfrm>
          <a:prstGeom prst="rect">
            <a:avLst/>
          </a:prstGeom>
          <a:solidFill>
            <a:srgbClr val="1A2035"/>
          </a:solidFill>
          <a:ln w="12700">
            <a:solidFill>
              <a:srgbClr val="52C47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0" y="960120"/>
            <a:ext cx="2651760" cy="54864"/>
          </a:xfrm>
          <a:prstGeom prst="rect">
            <a:avLst/>
          </a:prstGeom>
          <a:solidFill>
            <a:srgbClr val="52C47A"/>
          </a:solidFill>
          <a:ln/>
        </p:spPr>
      </p:sp>
      <p:sp>
        <p:nvSpPr>
          <p:cNvPr id="10" name="Text 8"/>
          <p:cNvSpPr/>
          <p:nvPr/>
        </p:nvSpPr>
        <p:spPr>
          <a:xfrm>
            <a:off x="3337560" y="109728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2C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💾  Menor uso de memoria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337560" y="1691640"/>
            <a:ext cx="237744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8D0E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No es necesario almacenar ni mantener en memoria todos los estados posibles del problema.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080760" y="960120"/>
            <a:ext cx="2651760" cy="3474720"/>
          </a:xfrm>
          <a:prstGeom prst="rect">
            <a:avLst/>
          </a:prstGeom>
          <a:solidFill>
            <a:srgbClr val="1A2035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080760" y="960120"/>
            <a:ext cx="2651760" cy="54864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/>
          <p:nvPr/>
        </p:nvSpPr>
        <p:spPr>
          <a:xfrm>
            <a:off x="6217920" y="109728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 Adaptabilidad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217920" y="1691640"/>
            <a:ext cx="237744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8D0E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Si las condiciones del problema cambian, solo se actualiza la base de conocimientos. El motor de inferencia permanece igual.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65760" y="461772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890A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En sistemas de control y razonamiento, los algoritmos de inferencia escalan mejor que la búsqueda exhaustiva.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52C47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8E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&amp; 3.  Base de conocimiento, ground truth y valores inferidos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4023360" cy="3931920"/>
          </a:xfrm>
          <a:prstGeom prst="rect">
            <a:avLst/>
          </a:prstGeom>
          <a:solidFill>
            <a:srgbClr val="1A2035"/>
          </a:solidFill>
          <a:ln w="12700">
            <a:solidFill>
              <a:srgbClr val="52C47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868680"/>
            <a:ext cx="4023360" cy="54864"/>
          </a:xfrm>
          <a:prstGeom prst="rect">
            <a:avLst/>
          </a:prstGeom>
          <a:solidFill>
            <a:srgbClr val="52C47A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00584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2C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 Truth — valor percibido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508760"/>
            <a:ext cx="365760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8D0E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Valores iniciales </a:t>
            </a:r>
            <a:pPr indent="0" marL="0">
              <a:buNone/>
            </a:pPr>
            <a:r>
              <a:rPr lang="en-US" sz="1200" b="1" dirty="0">
                <a:solidFill>
                  <a:srgbClr val="52C47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sensados o conocidos</a:t>
            </a:r>
            <a:pPr indent="0" marL="0">
              <a:buNone/>
            </a:pPr>
            <a:r>
              <a:rPr lang="en-US" sz="1200" dirty="0">
                <a:solidFill>
                  <a:srgbClr val="C8D0E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que se cargan en la base de conocimientos.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8D0E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Ejemplo: θ = 15° medido por el encoder del péndulo.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8D0E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Si el valor cambia, solo se actualiza ese dato — el algoritmo de inferencia no se modifica.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846320" y="868680"/>
            <a:ext cx="4023360" cy="3931920"/>
          </a:xfrm>
          <a:prstGeom prst="rect">
            <a:avLst/>
          </a:prstGeom>
          <a:solidFill>
            <a:srgbClr val="1A2035"/>
          </a:solidFill>
          <a:ln w="12700">
            <a:solidFill>
              <a:srgbClr val="4A9E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846320" y="868680"/>
            <a:ext cx="4023360" cy="54864"/>
          </a:xfrm>
          <a:prstGeom prst="rect">
            <a:avLst/>
          </a:prstGeom>
          <a:solidFill>
            <a:srgbClr val="4A9EFF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0" y="100584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9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 inferido — valor deducido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029200" y="1508760"/>
            <a:ext cx="365760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8D0E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Valor </a:t>
            </a:r>
            <a:pPr indent="0" marL="0">
              <a:buNone/>
            </a:pPr>
            <a:r>
              <a:rPr lang="en-US" sz="1200" b="1" dirty="0">
                <a:solidFill>
                  <a:srgbClr val="4A9E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derivado lógicamente</a:t>
            </a:r>
            <a:pPr indent="0" marL="0">
              <a:buNone/>
            </a:pPr>
            <a:r>
              <a:rPr lang="en-US" sz="1200" dirty="0">
                <a:solidFill>
                  <a:srgbClr val="C8D0E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a partir de otros valores y reglas de la base de conocimientos.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8D0E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Ejemplo: a partir de θ y θ', el motor de inferencia deduce F sin haberla medido directamente.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8D0E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No proviene del entorno: es consecuencia del razonamiento.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D4C84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E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&amp; 5.  Lógica proposicional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8595360" cy="1874520"/>
          </a:xfrm>
          <a:prstGeom prst="rect">
            <a:avLst/>
          </a:prstGeom>
          <a:solidFill>
            <a:srgbClr val="1A2035"/>
          </a:solidFill>
          <a:ln w="12700">
            <a:solidFill>
              <a:srgbClr val="D4C8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C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Oraciones atómicas y modelo de "A entre 0 y 9"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371600"/>
            <a:ext cx="82296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8D0E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Valores posibles: </a:t>
            </a:r>
            <a:pPr indent="0" marL="0">
              <a:buNone/>
            </a:pPr>
            <a:r>
              <a:rPr lang="en-US" sz="1200" dirty="0">
                <a:solidFill>
                  <a:srgbClr val="C8D0E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Verdadero (1) o Falso (0)  — sin valores intermedios.
</a:t>
            </a:r>
            <a:pPr indent="0" marL="0">
              <a:buNone/>
            </a:pPr>
            <a:r>
              <a:rPr lang="en-US" sz="1200" b="1" dirty="0">
                <a:solidFill>
                  <a:srgbClr val="C8D0E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Modelado de A ∈ [0,9]:  </a:t>
            </a:r>
            <a:pPr indent="0" marL="0">
              <a:buNone/>
            </a:pPr>
            <a:r>
              <a:rPr lang="en-US" sz="1200" dirty="0">
                <a:solidFill>
                  <a:srgbClr val="D4C8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A₀ ∨ A₁ ∨ A₂ ∨ A₃ ∨ A₄ ∨ A₅ ∨ A₆ ∨ A₇ ∨ A₈ ∨ A₉
</a:t>
            </a:r>
            <a:pPr indent="0" marL="0">
              <a:buNone/>
            </a:pPr>
            <a:r>
              <a:rPr lang="en-US" sz="1200" dirty="0">
                <a:solidFill>
                  <a:srgbClr val="8890A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Cada Aᵢ es una variable proposicional que indica si A toma el valor i. Requiere enumerar todos los casos discretos.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74320" y="2834640"/>
            <a:ext cx="8595360" cy="2011680"/>
          </a:xfrm>
          <a:prstGeom prst="rect">
            <a:avLst/>
          </a:prstGeom>
          <a:solidFill>
            <a:srgbClr val="1A2035"/>
          </a:solidFill>
          <a:ln w="12700">
            <a:solidFill>
              <a:srgbClr val="E08C5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9260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8C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Algoritmos para lógica proposicional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333756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E08C52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• Tablas de verdad: </a:t>
            </a:r>
            <a:pPr indent="0" marL="0">
              <a:buNone/>
            </a:pPr>
            <a:r>
              <a:rPr lang="en-US" sz="1200" dirty="0">
                <a:solidFill>
                  <a:srgbClr val="C8D0E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enumeración exhaustiva de todas las asignaciones posibles.
</a:t>
            </a:r>
            <a:pPr indent="0" marL="0">
              <a:buNone/>
            </a:pPr>
            <a:r>
              <a:rPr lang="en-US" sz="1200" b="1" dirty="0">
                <a:solidFill>
                  <a:srgbClr val="E08C52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• Cláusulas de Horn + Encadenamiento: </a:t>
            </a:r>
            <a:pPr indent="0" marL="0">
              <a:buNone/>
            </a:pPr>
            <a:r>
              <a:rPr lang="en-US" sz="1200" dirty="0">
                <a:solidFill>
                  <a:srgbClr val="C8D0E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reglas con un único consecuente; permiten encadenamiento hacia adelante (modus ponens) y hacia atrás.
</a:t>
            </a:r>
            <a:pPr indent="0" marL="0">
              <a:buNone/>
            </a:pPr>
            <a:r>
              <a:rPr lang="en-US" sz="1200" b="1" dirty="0">
                <a:solidFill>
                  <a:srgbClr val="E08C52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• Resolución: </a:t>
            </a:r>
            <a:pPr indent="0" marL="0">
              <a:buNone/>
            </a:pPr>
            <a:r>
              <a:rPr lang="en-US" sz="1200" dirty="0">
                <a:solidFill>
                  <a:srgbClr val="C8D0E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algoritmo completo para SAT sobre cláusulas en FNC.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E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&amp; 7.  Lógica de primer orden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8595360" cy="2240280"/>
          </a:xfrm>
          <a:prstGeom prst="rect">
            <a:avLst/>
          </a:prstGeom>
          <a:solidFill>
            <a:srgbClr val="1A2035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 Oraciones atómicas y modelo de "A entre 0 y 9"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371600"/>
            <a:ext cx="822960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8D0E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Valores posibles: </a:t>
            </a:r>
            <a:pPr indent="0" marL="0">
              <a:buNone/>
            </a:pPr>
            <a:r>
              <a:rPr lang="en-US" sz="1200" dirty="0">
                <a:solidFill>
                  <a:srgbClr val="C8D0E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Comparaciones, cuantificación, relaciones — permite trabajar con dominios continuos.
</a:t>
            </a:r>
            <a:pPr indent="0" marL="0">
              <a:buNone/>
            </a:pPr>
            <a:r>
              <a:rPr lang="en-US" sz="1200" b="1" dirty="0">
                <a:solidFill>
                  <a:srgbClr val="C8D0E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Modelado de A ∈ [0,9]:  </a:t>
            </a:r>
            <a:pPr indent="0" marL="0">
              <a:buNone/>
            </a:pPr>
            <a:r>
              <a:rPr lang="en-US" sz="120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≥ 0 ∧ A ≤ 9   |   ∃A ∈ [0, 9]
</a:t>
            </a:r>
            <a:pPr indent="0" marL="0">
              <a:buNone/>
            </a:pPr>
            <a:r>
              <a:rPr lang="en-US" sz="1200" dirty="0">
                <a:solidFill>
                  <a:srgbClr val="8890A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Ventajas: simplifica la sentencia, no requiere enumerar cada valor, permite grados de confianza y relaciones entre variables, trabaja con valores no discretos.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74320" y="3200400"/>
            <a:ext cx="8595360" cy="1691640"/>
          </a:xfrm>
          <a:prstGeom prst="rect">
            <a:avLst/>
          </a:prstGeom>
          <a:solidFill>
            <a:srgbClr val="1A2035"/>
          </a:solidFill>
          <a:ln w="12700">
            <a:solidFill>
              <a:srgbClr val="4A9E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291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9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 Algoritmos para lógica de primer orden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370332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4A9E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• Motores de inferencia </a:t>
            </a:r>
            <a:pPr indent="0" marL="0">
              <a:buNone/>
            </a:pPr>
            <a:r>
              <a:rPr lang="en-US" sz="1200" dirty="0">
                <a:solidFill>
                  <a:srgbClr val="C8D0E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(Prolog, sistemas expertos): representan reglas y hechos, aplican unificación y resolución.
</a:t>
            </a:r>
            <a:pPr indent="0" marL="0">
              <a:buNone/>
            </a:pPr>
            <a:r>
              <a:rPr lang="en-US" sz="1200" dirty="0">
                <a:solidFill>
                  <a:srgbClr val="C8D0E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• Cualquier motor de inferencia está basado internamente en un algoritmo de búsqueda </a:t>
            </a:r>
            <a:pPr indent="0" marL="0">
              <a:buNone/>
            </a:pPr>
            <a:r>
              <a:rPr lang="en-US" sz="1200" dirty="0">
                <a:solidFill>
                  <a:srgbClr val="8890A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(encadenamiento hacia adelante/atrás, A*, BFS, etc.).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E0525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E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 Planificadores y algoritmos de búsqueda global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841248"/>
            <a:ext cx="502920" cy="594360"/>
          </a:xfrm>
          <a:prstGeom prst="rect">
            <a:avLst/>
          </a:prstGeom>
          <a:solidFill>
            <a:srgbClr val="4A9EFF"/>
          </a:solidFill>
          <a:ln w="12700">
            <a:solidFill>
              <a:srgbClr val="4A9E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88696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0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914400" y="841248"/>
            <a:ext cx="7955280" cy="594360"/>
          </a:xfrm>
          <a:prstGeom prst="rect">
            <a:avLst/>
          </a:prstGeom>
          <a:solidFill>
            <a:srgbClr val="1A2035"/>
          </a:solidFill>
          <a:ln w="12700">
            <a:solidFill>
              <a:srgbClr val="4A9E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51560" y="896112"/>
            <a:ext cx="768096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9E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Definir estados:  </a:t>
            </a:r>
            <a:pPr indent="0" marL="0">
              <a:buNone/>
            </a:pPr>
            <a:r>
              <a:rPr lang="en-US" sz="1200" dirty="0">
                <a:solidFill>
                  <a:srgbClr val="C8D0E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Un estado = valores actuales de todas las variables lógicas del problema.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74320" y="1645920"/>
            <a:ext cx="502920" cy="594360"/>
          </a:xfrm>
          <a:prstGeom prst="rect">
            <a:avLst/>
          </a:prstGeom>
          <a:solidFill>
            <a:srgbClr val="52C47A"/>
          </a:solidFill>
          <a:ln w="12700">
            <a:solidFill>
              <a:srgbClr val="52C47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16916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0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914400" y="1645920"/>
            <a:ext cx="7955280" cy="594360"/>
          </a:xfrm>
          <a:prstGeom prst="rect">
            <a:avLst/>
          </a:prstGeom>
          <a:solidFill>
            <a:srgbClr val="1A2035"/>
          </a:solidFill>
          <a:ln w="12700">
            <a:solidFill>
              <a:srgbClr val="52C47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51560" y="1700784"/>
            <a:ext cx="768096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2C47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Definir frontera:  </a:t>
            </a:r>
            <a:pPr indent="0" marL="0">
              <a:buNone/>
            </a:pPr>
            <a:r>
              <a:rPr lang="en-US" sz="1200" dirty="0">
                <a:solidFill>
                  <a:srgbClr val="C8D0E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Conjunto inicial de todos los estados posibles (nodos del grafo de búsqueda).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" y="2450592"/>
            <a:ext cx="502920" cy="594360"/>
          </a:xfrm>
          <a:prstGeom prst="rect">
            <a:avLst/>
          </a:prstGeom>
          <a:solidFill>
            <a:srgbClr val="D4C84A"/>
          </a:solidFill>
          <a:ln w="12700">
            <a:solidFill>
              <a:srgbClr val="D4C8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249631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0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914400" y="2450592"/>
            <a:ext cx="7955280" cy="594360"/>
          </a:xfrm>
          <a:prstGeom prst="rect">
            <a:avLst/>
          </a:prstGeom>
          <a:solidFill>
            <a:srgbClr val="1A2035"/>
          </a:solidFill>
          <a:ln w="12700">
            <a:solidFill>
              <a:srgbClr val="D4C8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51560" y="2505456"/>
            <a:ext cx="768096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C84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Podar según precondiciones:  </a:t>
            </a:r>
            <a:pPr indent="0" marL="0">
              <a:buNone/>
            </a:pPr>
            <a:r>
              <a:rPr lang="en-US" sz="1200" dirty="0">
                <a:solidFill>
                  <a:srgbClr val="C8D0E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Se eliminan los estados que no cumplen las precondiciones de las acciones disponibles.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74320" y="3255264"/>
            <a:ext cx="502920" cy="594360"/>
          </a:xfrm>
          <a:prstGeom prst="rect">
            <a:avLst/>
          </a:prstGeom>
          <a:solidFill>
            <a:srgbClr val="E08C52"/>
          </a:solidFill>
          <a:ln w="12700">
            <a:solidFill>
              <a:srgbClr val="E08C5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" y="330098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0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914400" y="3255264"/>
            <a:ext cx="7955280" cy="594360"/>
          </a:xfrm>
          <a:prstGeom prst="rect">
            <a:avLst/>
          </a:prstGeom>
          <a:solidFill>
            <a:srgbClr val="1A2035"/>
          </a:solidFill>
          <a:ln w="12700">
            <a:solidFill>
              <a:srgbClr val="E08C5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51560" y="3310128"/>
            <a:ext cx="768096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8C52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Función de costo + heurística:  </a:t>
            </a:r>
            <a:pPr indent="0" marL="0">
              <a:buNone/>
            </a:pPr>
            <a:r>
              <a:rPr lang="en-US" sz="1200" dirty="0">
                <a:solidFill>
                  <a:srgbClr val="C8D0E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Se evalúa cada nodo con f(n) = g(n) + h(n) para decidir qué camino explorar primero.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274320" y="4059936"/>
            <a:ext cx="502920" cy="594360"/>
          </a:xfrm>
          <a:prstGeom prst="rect">
            <a:avLst/>
          </a:prstGeom>
          <a:solidFill>
            <a:srgbClr val="E05252"/>
          </a:solidFill>
          <a:ln w="12700">
            <a:solidFill>
              <a:srgbClr val="E0525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4320" y="410565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0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914400" y="4059936"/>
            <a:ext cx="7955280" cy="594360"/>
          </a:xfrm>
          <a:prstGeom prst="rect">
            <a:avLst/>
          </a:prstGeom>
          <a:solidFill>
            <a:srgbClr val="1A2035"/>
          </a:solidFill>
          <a:ln w="12700">
            <a:solidFill>
              <a:srgbClr val="E0525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51560" y="4114800"/>
            <a:ext cx="768096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5252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Expandir sucesores:  </a:t>
            </a:r>
            <a:pPr indent="0" marL="0">
              <a:buNone/>
            </a:pPr>
            <a:r>
              <a:rPr lang="en-US" sz="1200" dirty="0">
                <a:solidFill>
                  <a:srgbClr val="C8D0E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Los estados sucesores tienen las mismas variables pero con valores actualizados tras aplicar una acción.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4A9EF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E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Problema: control del péndulo invertido</a:t>
            </a:r>
            <a:endParaRPr lang="en-US" sz="20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777240"/>
            <a:ext cx="3474720" cy="32004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023360" y="777240"/>
            <a:ext cx="4846320" cy="3200400"/>
          </a:xfrm>
          <a:prstGeom prst="rect">
            <a:avLst/>
          </a:prstGeom>
          <a:solidFill>
            <a:srgbClr val="1A2035"/>
          </a:solidFill>
          <a:ln w="12700">
            <a:solidFill>
              <a:srgbClr val="4A9EFF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206240" y="868680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9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Ecuación de movimiento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4206240" y="1280160"/>
            <a:ext cx="44805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D4C8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θ'' = [ g·sin(θ) + cos(θ)·(−F − m·l·θ'²·sin(θ)) / (M+m) ]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4C8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────────────────────────────────────────────────────────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4C8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l · [ 4/3 − m·cos²(θ) / (M+m) ]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4206240" y="22402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2C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Integración (Euler mejorado)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4206240" y="260604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C4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θ' ← θ' + θ''·Δt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2C4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θ  ← θ + θ'·Δt + (θ''·Δt²)/2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4206240" y="32461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8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del sistema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4206240" y="3611880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9E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θ  </a:t>
            </a:r>
            <a:pPr indent="0" marL="0">
              <a:buNone/>
            </a:pPr>
            <a:r>
              <a:rPr lang="en-US" sz="1100" dirty="0">
                <a:solidFill>
                  <a:srgbClr val="C8D0E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Ángulo del péndulo  [°]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4206240" y="3941064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9E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θ'  </a:t>
            </a:r>
            <a:pPr indent="0" marL="0">
              <a:buNone/>
            </a:pPr>
            <a:r>
              <a:rPr lang="en-US" sz="1100" dirty="0">
                <a:solidFill>
                  <a:srgbClr val="C8D0E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Velocidad angular  [°/s]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4206240" y="4270248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9E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  </a:t>
            </a:r>
            <a:pPr indent="0" marL="0">
              <a:buNone/>
            </a:pPr>
            <a:r>
              <a:rPr lang="en-US" sz="1100" dirty="0">
                <a:solidFill>
                  <a:srgbClr val="C8D0E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Fuerza sobre el carro  [N]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4206240" y="4599432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9E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M=3 kg, m=1 kg, l=1 m  </a:t>
            </a:r>
            <a:pPr indent="0" marL="0">
              <a:buNone/>
            </a:pPr>
            <a:r>
              <a:rPr lang="en-US" sz="1100" dirty="0">
                <a:solidFill>
                  <a:srgbClr val="C8D0E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Parámetros físicos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274320" y="4709160"/>
            <a:ext cx="8595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890A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Δt = 0.001 s  |  Carro sin espacio restringido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E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del sistema de inferencia difusa</a:t>
            </a:r>
            <a:endParaRPr lang="en-US" sz="20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777240"/>
            <a:ext cx="8595360" cy="21031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65760" y="301752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E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Operaciones difusas definidas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274320" y="3429000"/>
            <a:ext cx="4206240" cy="548640"/>
          </a:xfrm>
          <a:prstGeom prst="rect">
            <a:avLst/>
          </a:prstGeom>
          <a:solidFill>
            <a:srgbClr val="1A2035"/>
          </a:solidFill>
          <a:ln w="12700">
            <a:solidFill>
              <a:srgbClr val="52C47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84048" y="3520440"/>
            <a:ext cx="3977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2C47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Conjunción (∧):  </a:t>
            </a:r>
            <a:pPr indent="0" marL="0">
              <a:buNone/>
            </a:pPr>
            <a:r>
              <a:rPr lang="en-US" sz="1100" dirty="0">
                <a:solidFill>
                  <a:srgbClr val="C8D0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min(a, b)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709160" y="3429000"/>
            <a:ext cx="4206240" cy="548640"/>
          </a:xfrm>
          <a:prstGeom prst="rect">
            <a:avLst/>
          </a:prstGeom>
          <a:solidFill>
            <a:srgbClr val="1A2035"/>
          </a:solidFill>
          <a:ln w="12700">
            <a:solidFill>
              <a:srgbClr val="4A9EF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818888" y="3520440"/>
            <a:ext cx="3977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9E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Disyunción (∨):  </a:t>
            </a:r>
            <a:pPr indent="0" marL="0">
              <a:buNone/>
            </a:pPr>
            <a:r>
              <a:rPr lang="en-US" sz="1100" dirty="0">
                <a:solidFill>
                  <a:srgbClr val="C8D0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max(a, b)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274320" y="4087368"/>
            <a:ext cx="4206240" cy="548640"/>
          </a:xfrm>
          <a:prstGeom prst="rect">
            <a:avLst/>
          </a:prstGeom>
          <a:solidFill>
            <a:srgbClr val="1A2035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84048" y="4178808"/>
            <a:ext cx="3977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Implicación:  </a:t>
            </a:r>
            <a:pPr indent="0" marL="0">
              <a:buNone/>
            </a:pPr>
            <a:r>
              <a:rPr lang="en-US" sz="1100" dirty="0">
                <a:solidFill>
                  <a:srgbClr val="C8D0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min(α, μ_consecuente)  — Mamdani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709160" y="4087368"/>
            <a:ext cx="4206240" cy="548640"/>
          </a:xfrm>
          <a:prstGeom prst="rect">
            <a:avLst/>
          </a:prstGeom>
          <a:solidFill>
            <a:srgbClr val="1A2035"/>
          </a:solidFill>
          <a:ln w="12700">
            <a:solidFill>
              <a:srgbClr val="E08C52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818888" y="4178808"/>
            <a:ext cx="3977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08C52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Defuzzificación:  </a:t>
            </a:r>
            <a:pPr indent="0" marL="0">
              <a:buNone/>
            </a:pPr>
            <a:r>
              <a:rPr lang="en-US" sz="1100" dirty="0">
                <a:solidFill>
                  <a:srgbClr val="C8D0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COG = ∫ F·μ(F)dF / ∫ μ(F)dF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52C47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E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lingüísticas — particiones borrosas</a:t>
            </a:r>
            <a:endParaRPr lang="en-US" sz="20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777240"/>
            <a:ext cx="8595360" cy="27432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274320" y="3657600"/>
            <a:ext cx="2651760" cy="1234440"/>
          </a:xfrm>
          <a:prstGeom prst="rect">
            <a:avLst/>
          </a:prstGeom>
          <a:solidFill>
            <a:srgbClr val="1A2035"/>
          </a:solidFill>
          <a:ln w="12700">
            <a:solidFill>
              <a:srgbClr val="4A9EFF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384048" y="3730752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9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θ  (ángulo)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384048" y="4096512"/>
            <a:ext cx="24231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8890A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Rango: </a:t>
            </a:r>
            <a:pPr indent="0" marL="0">
              <a:buNone/>
            </a:pPr>
            <a:r>
              <a:rPr lang="en-US" sz="1000" dirty="0">
                <a:solidFill>
                  <a:srgbClr val="C8D0E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[−180°, 180°]
</a:t>
            </a:r>
            <a:pPr indent="0" marL="0">
              <a:buNone/>
            </a:pPr>
            <a:r>
              <a:rPr lang="en-US" sz="1000" dirty="0">
                <a:solidFill>
                  <a:srgbClr val="8890A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Triangulares + trapezoidales en extremos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3154680" y="3657600"/>
            <a:ext cx="2651760" cy="1234440"/>
          </a:xfrm>
          <a:prstGeom prst="rect">
            <a:avLst/>
          </a:prstGeom>
          <a:solidFill>
            <a:srgbClr val="1A2035"/>
          </a:solidFill>
          <a:ln w="12700">
            <a:solidFill>
              <a:srgbClr val="52C47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264408" y="3730752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2C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θ'  (vel. angular)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3264408" y="4096512"/>
            <a:ext cx="24231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8890A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Rango: </a:t>
            </a:r>
            <a:pPr indent="0" marL="0">
              <a:buNone/>
            </a:pPr>
            <a:r>
              <a:rPr lang="en-US" sz="1000" dirty="0">
                <a:solidFill>
                  <a:srgbClr val="C8D0E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[−90, 90] °/s
</a:t>
            </a:r>
            <a:pPr indent="0" marL="0">
              <a:buNone/>
            </a:pPr>
            <a:r>
              <a:rPr lang="en-US" sz="1000" dirty="0">
                <a:solidFill>
                  <a:srgbClr val="8890A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Triangulares + trapezoidales en extremos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6035040" y="3657600"/>
            <a:ext cx="2651760" cy="1234440"/>
          </a:xfrm>
          <a:prstGeom prst="rect">
            <a:avLst/>
          </a:prstGeom>
          <a:solidFill>
            <a:srgbClr val="1A2035"/>
          </a:solidFill>
          <a:ln w="12700">
            <a:solidFill>
              <a:srgbClr val="E08C5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144768" y="3730752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8C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  (fuerza)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6144768" y="4096512"/>
            <a:ext cx="24231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8890A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Rango: </a:t>
            </a:r>
            <a:pPr indent="0" marL="0">
              <a:buNone/>
            </a:pPr>
            <a:r>
              <a:rPr lang="en-US" sz="1000" dirty="0">
                <a:solidFill>
                  <a:srgbClr val="C8D0E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[−300, 300] N
</a:t>
            </a:r>
            <a:pPr indent="0" marL="0">
              <a:buNone/>
            </a:pPr>
            <a:r>
              <a:rPr lang="en-US" sz="1000" dirty="0">
                <a:solidFill>
                  <a:srgbClr val="8890A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Triangulares + trapezoidales en extremos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274320" y="4828032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90A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7 conjuntos: NGG — NG — NP — Z — PP — PG — PGG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E08C5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E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Tabla FAM 7×7 — base de reglas</a:t>
            </a:r>
            <a:endParaRPr lang="en-US" sz="20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" y="777240"/>
            <a:ext cx="5303520" cy="33832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858000" y="777240"/>
            <a:ext cx="2103120" cy="4114800"/>
          </a:xfrm>
          <a:prstGeom prst="rect">
            <a:avLst/>
          </a:prstGeom>
          <a:solidFill>
            <a:srgbClr val="1A2035"/>
          </a:solidFill>
          <a:ln w="12700">
            <a:solidFill>
              <a:srgbClr val="E08C52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967728" y="868680"/>
            <a:ext cx="1874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08C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Lógica de la tabla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6967728" y="1325880"/>
            <a:ext cx="19202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52C47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Diagonal → Z
</a:t>
            </a:r>
            <a:pPr indent="0" marL="0">
              <a:buNone/>
            </a:pPr>
            <a:r>
              <a:rPr lang="en-US" sz="950" dirty="0">
                <a:solidFill>
                  <a:srgbClr val="C8D0E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Sistema en equilibrio: no aplicar fuerza.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6967728" y="2103120"/>
            <a:ext cx="19202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E05252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θ&gt;0, θ'&lt;0
</a:t>
            </a:r>
            <a:pPr indent="0" marL="0">
              <a:buNone/>
            </a:pPr>
            <a:r>
              <a:rPr lang="en-US" sz="950" dirty="0">
                <a:solidFill>
                  <a:srgbClr val="C8D0E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Cae a la derecha: F negativa grande.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6967728" y="2880360"/>
            <a:ext cx="19202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4A9E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θ&lt;0, θ'&gt;0
</a:t>
            </a:r>
            <a:pPr indent="0" marL="0">
              <a:buNone/>
            </a:pPr>
            <a:r>
              <a:rPr lang="en-US" sz="950" dirty="0">
                <a:solidFill>
                  <a:srgbClr val="C8D0E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Cae a la izquierda: F positiva grande.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6967728" y="3657600"/>
            <a:ext cx="19202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D4C84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θ y θ' mismo signo
</a:t>
            </a:r>
            <a:pPr indent="0" marL="0">
              <a:buNone/>
            </a:pPr>
            <a:r>
              <a:rPr lang="en-US" sz="950" dirty="0">
                <a:solidFill>
                  <a:srgbClr val="C8D0E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Vuelve solo: frenar suavemente.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274320" y="475488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890A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 &gt; 0 → hacia la izquierda  |  F &lt; 0 → hacia la derecha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4A9EF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E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Implementación y resultados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4206240" cy="1737360"/>
          </a:xfrm>
          <a:prstGeom prst="rect">
            <a:avLst/>
          </a:prstGeom>
          <a:solidFill>
            <a:srgbClr val="1A2035"/>
          </a:solidFill>
          <a:ln w="12700">
            <a:solidFill>
              <a:srgbClr val="52C47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822960"/>
            <a:ext cx="4206240" cy="45720"/>
          </a:xfrm>
          <a:prstGeom prst="rect">
            <a:avLst/>
          </a:prstGeom>
          <a:solidFill>
            <a:srgbClr val="52C47A"/>
          </a:solidFill>
          <a:ln/>
        </p:spPr>
      </p:sp>
      <p:sp>
        <p:nvSpPr>
          <p:cNvPr id="6" name="Text 4"/>
          <p:cNvSpPr/>
          <p:nvPr/>
        </p:nvSpPr>
        <p:spPr>
          <a:xfrm>
            <a:off x="411480" y="932688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2C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Convergencia verificada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11480" y="1371600"/>
            <a:ext cx="39319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8D0E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θ₀ = 170° (desde abajo) → converge a ±0° en &lt; 2 s desde cualquier ángulo inicial.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09160" y="822960"/>
            <a:ext cx="4206240" cy="1737360"/>
          </a:xfrm>
          <a:prstGeom prst="rect">
            <a:avLst/>
          </a:prstGeom>
          <a:solidFill>
            <a:srgbClr val="1A2035"/>
          </a:solidFill>
          <a:ln w="12700">
            <a:solidFill>
              <a:srgbClr val="D4C84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709160" y="822960"/>
            <a:ext cx="4206240" cy="45720"/>
          </a:xfrm>
          <a:prstGeom prst="rect">
            <a:avLst/>
          </a:prstGeom>
          <a:solidFill>
            <a:srgbClr val="D4C84A"/>
          </a:solidFill>
          <a:ln/>
        </p:spPr>
      </p:sp>
      <p:sp>
        <p:nvSpPr>
          <p:cNvPr id="10" name="Text 8"/>
          <p:cNvSpPr/>
          <p:nvPr/>
        </p:nvSpPr>
        <p:spPr>
          <a:xfrm>
            <a:off x="4846320" y="932688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C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Zona muerta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846320" y="1371600"/>
            <a:ext cx="39319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8D0E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 = 0 cuando |θ| &lt; 0.5° y |θ'| &lt; 2°/s. Elimina el ciclo límite cerca del equilibrio.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" y="2743200"/>
            <a:ext cx="4206240" cy="1737360"/>
          </a:xfrm>
          <a:prstGeom prst="rect">
            <a:avLst/>
          </a:prstGeom>
          <a:solidFill>
            <a:srgbClr val="1A2035"/>
          </a:solidFill>
          <a:ln w="12700">
            <a:solidFill>
              <a:srgbClr val="E08C5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2743200"/>
            <a:ext cx="4206240" cy="45720"/>
          </a:xfrm>
          <a:prstGeom prst="rect">
            <a:avLst/>
          </a:prstGeom>
          <a:solidFill>
            <a:srgbClr val="E08C52"/>
          </a:solidFill>
          <a:ln/>
        </p:spPr>
      </p:sp>
      <p:sp>
        <p:nvSpPr>
          <p:cNvPr id="14" name="Text 12"/>
          <p:cNvSpPr/>
          <p:nvPr/>
        </p:nvSpPr>
        <p:spPr>
          <a:xfrm>
            <a:off x="411480" y="2852928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8C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🖱️  Botones de perturbación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11480" y="3291840"/>
            <a:ext cx="39319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8D0E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Empuje izquierda/derecha (250 N × 0.2 s). El controlador recupera el equilibrio automáticamente.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709160" y="2743200"/>
            <a:ext cx="4206240" cy="1737360"/>
          </a:xfrm>
          <a:prstGeom prst="rect">
            <a:avLst/>
          </a:prstGeom>
          <a:solidFill>
            <a:srgbClr val="1A2035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09160" y="2743200"/>
            <a:ext cx="4206240" cy="4572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8" name="Text 16"/>
          <p:cNvSpPr/>
          <p:nvPr/>
        </p:nvSpPr>
        <p:spPr>
          <a:xfrm>
            <a:off x="4846320" y="2852928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Visualización en tiempo real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846320" y="3291840"/>
            <a:ext cx="39319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8D0E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Gráficos de θ(t) y F(t) + insets de membresía μ activa en cada instante.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74320" y="475488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890A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Implementado en Python con matplotlib.animation — simulación en tiempo real con Δt = 0.001 s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8E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548640" cy="594360"/>
          </a:xfrm>
          <a:prstGeom prst="rect">
            <a:avLst/>
          </a:prstGeom>
          <a:solidFill>
            <a:srgbClr val="4A9EFF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978408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0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05840" y="100584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8D0E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La inferencia difusa permite controlar sistemas continuos sin modelado matemático exacto — solo reglas lingüísticas.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914400" y="1463040"/>
            <a:ext cx="7955280" cy="13716"/>
          </a:xfrm>
          <a:prstGeom prst="rect">
            <a:avLst/>
          </a:prstGeom>
          <a:solidFill>
            <a:srgbClr val="1A2035"/>
          </a:solidFill>
          <a:ln/>
        </p:spPr>
      </p:sp>
      <p:sp>
        <p:nvSpPr>
          <p:cNvPr id="8" name="Shape 6"/>
          <p:cNvSpPr/>
          <p:nvPr/>
        </p:nvSpPr>
        <p:spPr>
          <a:xfrm>
            <a:off x="274320" y="1709928"/>
            <a:ext cx="548640" cy="594360"/>
          </a:xfrm>
          <a:prstGeom prst="rect">
            <a:avLst/>
          </a:prstGeom>
          <a:solidFill>
            <a:srgbClr val="52C47A"/>
          </a:solidFill>
          <a:ln/>
        </p:spPr>
      </p:sp>
      <p:sp>
        <p:nvSpPr>
          <p:cNvPr id="9" name="Text 7"/>
          <p:cNvSpPr/>
          <p:nvPr/>
        </p:nvSpPr>
        <p:spPr>
          <a:xfrm>
            <a:off x="274320" y="1773936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0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05840" y="1801368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8D0E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El solapamiento entre conjuntos determina la precisión del equilibrio. Mayor solapamiento → mayor resolución en la zona de control.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914400" y="2258568"/>
            <a:ext cx="7955280" cy="13716"/>
          </a:xfrm>
          <a:prstGeom prst="rect">
            <a:avLst/>
          </a:prstGeom>
          <a:solidFill>
            <a:srgbClr val="1A2035"/>
          </a:solidFill>
          <a:ln/>
        </p:spPr>
      </p:sp>
      <p:sp>
        <p:nvSpPr>
          <p:cNvPr id="12" name="Shape 10"/>
          <p:cNvSpPr/>
          <p:nvPr/>
        </p:nvSpPr>
        <p:spPr>
          <a:xfrm>
            <a:off x="274320" y="2505456"/>
            <a:ext cx="548640" cy="594360"/>
          </a:xfrm>
          <a:prstGeom prst="rect">
            <a:avLst/>
          </a:prstGeom>
          <a:solidFill>
            <a:srgbClr val="D4C84A"/>
          </a:solidFill>
          <a:ln/>
        </p:spPr>
      </p:sp>
      <p:sp>
        <p:nvSpPr>
          <p:cNvPr id="13" name="Text 11"/>
          <p:cNvSpPr/>
          <p:nvPr/>
        </p:nvSpPr>
        <p:spPr>
          <a:xfrm>
            <a:off x="274320" y="2569464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0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05840" y="2596896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8D0E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La tabla FAM codifica el conocimiento experto. Los errores en la tabla son errores de diseño, no de algoritmo.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914400" y="3054096"/>
            <a:ext cx="7955280" cy="13716"/>
          </a:xfrm>
          <a:prstGeom prst="rect">
            <a:avLst/>
          </a:prstGeom>
          <a:solidFill>
            <a:srgbClr val="1A2035"/>
          </a:solidFill>
          <a:ln/>
        </p:spPr>
      </p:sp>
      <p:sp>
        <p:nvSpPr>
          <p:cNvPr id="16" name="Shape 14"/>
          <p:cNvSpPr/>
          <p:nvPr/>
        </p:nvSpPr>
        <p:spPr>
          <a:xfrm>
            <a:off x="274320" y="3300984"/>
            <a:ext cx="548640" cy="594360"/>
          </a:xfrm>
          <a:prstGeom prst="rect">
            <a:avLst/>
          </a:prstGeom>
          <a:solidFill>
            <a:srgbClr val="E08C52"/>
          </a:solidFill>
          <a:ln/>
        </p:spPr>
      </p:sp>
      <p:sp>
        <p:nvSpPr>
          <p:cNvPr id="17" name="Text 15"/>
          <p:cNvSpPr/>
          <p:nvPr/>
        </p:nvSpPr>
        <p:spPr>
          <a:xfrm>
            <a:off x="274320" y="3364992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0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05840" y="3392424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8D0E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El controlador Mamdani con COG es robusto a perturbaciones: recupera el equilibrio desde cualquier ángulo inicial.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914400" y="3849624"/>
            <a:ext cx="7955280" cy="13716"/>
          </a:xfrm>
          <a:prstGeom prst="rect">
            <a:avLst/>
          </a:prstGeom>
          <a:solidFill>
            <a:srgbClr val="1A2035"/>
          </a:solidFill>
          <a:ln/>
        </p:spPr>
      </p:sp>
      <p:sp>
        <p:nvSpPr>
          <p:cNvPr id="20" name="Shape 18"/>
          <p:cNvSpPr/>
          <p:nvPr/>
        </p:nvSpPr>
        <p:spPr>
          <a:xfrm>
            <a:off x="274320" y="4096512"/>
            <a:ext cx="548640" cy="59436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21" name="Text 19"/>
          <p:cNvSpPr/>
          <p:nvPr/>
        </p:nvSpPr>
        <p:spPr>
          <a:xfrm>
            <a:off x="274320" y="416052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0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005840" y="4187952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8D0E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La zona muerta elimina el ciclo límite inherente a los controladores difusos, logrando convergencia práctica a 0°.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914400" y="4645152"/>
            <a:ext cx="7955280" cy="13716"/>
          </a:xfrm>
          <a:prstGeom prst="rect">
            <a:avLst/>
          </a:prstGeom>
          <a:solidFill>
            <a:srgbClr val="1A2035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Inferencia Difusa — Péndulo Invertido</dc:title>
  <dc:subject>PptxGenJS Presentation</dc:subject>
  <dc:creator>PptxGenJS</dc:creator>
  <cp:lastModifiedBy>PptxGenJS</cp:lastModifiedBy>
  <cp:revision>1</cp:revision>
  <dcterms:created xsi:type="dcterms:W3CDTF">2026-04-22T00:44:53Z</dcterms:created>
  <dcterms:modified xsi:type="dcterms:W3CDTF">2026-04-22T00:44:53Z</dcterms:modified>
</cp:coreProperties>
</file>