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0" d="100"/>
          <a:sy n="150" d="100"/>
        </p:scale>
        <p:origin x="47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8673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" y="0"/>
            <a:ext cx="36576" cy="51435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32004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Inteligencia Artificial II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274320" y="914400"/>
            <a:ext cx="8595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</a:t>
            </a:r>
            <a:r>
              <a:rPr lang="en-US" sz="32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200" b="1" dirty="0" err="1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Práctico</a:t>
            </a:r>
            <a:r>
              <a:rPr lang="en-US" sz="32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N°2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27432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Ingeniería en Mecatrónica  — 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¿Por qué usar inferencia lógica en lugar de búsqueda?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4864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 Costo computacional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requiere explorar todos los estados del espacio. La inferencia deduce directamente sin expansión exhaustiva.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960120"/>
            <a:ext cx="2651760" cy="54864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 Menor uso de memoria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es necesario almacenar ni mantener en memoria todos los estados posibles del problema.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960120"/>
            <a:ext cx="2651760" cy="347472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09728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Adaptabilidad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217920" y="1691640"/>
            <a:ext cx="237744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 las condiciones del problema cambian, solo se actualiza la base de conocimientos. El motor de inferencia permanece igual.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6177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 sistemas de control y razonamiento, los algoritmos de inferencia escalan mejor que la búsqueda exhaustiva.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&amp; 3.  Base de conocimiento, ground truth y valores inferidos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4023360" cy="393192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4023360" cy="54864"/>
          </a:xfrm>
          <a:prstGeom prst="rect">
            <a:avLst/>
          </a:prstGeom>
          <a:solidFill>
            <a:srgbClr val="52C47A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2C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— valor percibido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iniciales </a:t>
            </a:r>
            <a:r>
              <a:rPr lang="en-US" sz="120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sensados o conocidos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que se cargan en la base de conocimientos.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Ejemplo: θ = 15° medido por el encoder del péndulo.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 el valor cambia, solo se actualiza ese dato — el algoritmo de inferencia no se modifica.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46320" y="868680"/>
            <a:ext cx="4023360" cy="393192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868680"/>
            <a:ext cx="4023360" cy="54864"/>
          </a:xfrm>
          <a:prstGeom prst="rect">
            <a:avLst/>
          </a:prstGeom>
          <a:solidFill>
            <a:srgbClr val="4A9EFF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100584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inferido — valor deducido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0" y="1508760"/>
            <a:ext cx="3657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 </a:t>
            </a: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derivado lógicamente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a partir de otros valores y reglas de la base de conocimientos.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Ejemplo: a partir de θ y θ', el motor de inferencia deduce F sin haberla medido directamente.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proviene del entorno: es consecuencia del razonamiento.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4C84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&amp; 5.  Lógica proposicional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1874520"/>
          </a:xfrm>
          <a:prstGeom prst="rect">
            <a:avLst/>
          </a:prstGeom>
          <a:solidFill>
            <a:srgbClr val="1A2035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C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Oraciones atómicas y modelo de "A entre 0 y 9"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posibles: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Verdadero (1) o Falso (0)  — sin valores intermedios.
</a:t>
            </a: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Modelado de A ∈ [0,9]:  </a:t>
            </a:r>
            <a:r>
              <a:rPr lang="en-US" sz="1200" dirty="0">
                <a:solidFill>
                  <a:srgbClr val="D4C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A₀ ∨ A₁ ∨ A₂ ∨ A₃ ∨ A₄ ∨ A₅ ∨ A₆ ∨ A₇ ∨ A₈ ∨ A₉
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Cada Aᵢ es una variable proposicional que indica si A toma el valor i. Requiere enumerar todos los casos discretos.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2834640"/>
            <a:ext cx="8595360" cy="201168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8C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Algoritmos para lógica proposicional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Tablas de verdad: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enumeración exhaustiva de todas las asignaciones posibles.
</a:t>
            </a: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Cláusulas de Horn + Encadenamiento: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reglas con un único consecuente; permiten encadenamiento hacia adelante (modus ponens) y hacia atrás.
</a:t>
            </a: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Resolución: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algoritmo completo para SAT sobre cláusulas en FNC.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&amp; 7.  Lógica de primer orden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8595360" cy="2240280"/>
          </a:xfrm>
          <a:prstGeom prst="rect">
            <a:avLst/>
          </a:prstGeom>
          <a:solidFill>
            <a:srgbClr val="1A20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Oraciones atómicas y modelo de "A entre 0 y 9"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Valores posibles: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Comparaciones, cuantificación, relaciones — permite trabajar con dominios continuos.
</a:t>
            </a:r>
            <a:r>
              <a:rPr lang="en-US" sz="1200" b="1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Modelado de A ∈ [0,9]:  </a:t>
            </a:r>
            <a:r>
              <a:rPr lang="en-US" sz="1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≥ 0 ∧ A ≤ 9   |   ∃A ∈ [0, 9]
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Ventajas: simplifica la sentencia, no requiere enumerar cada valor, permite grados de confianza y relaciones entre variables, trabaja con valores no discretos.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3200400"/>
            <a:ext cx="8595360" cy="169164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A9E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Algoritmos para lógica de primer orden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7033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• Motores de inferencia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(Prolog, sistemas expertos): representan reglas y hechos, aplican unificación y resolución.
• Cualquier motor de inferencia está basado internamente en un algoritmo de búsqueda </a:t>
            </a:r>
            <a:r>
              <a:rPr lang="en-US" sz="1200" dirty="0">
                <a:solidFill>
                  <a:srgbClr val="8890A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(encadenamiento hacia adelante/atrás, A*, BFS, etc.).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E0525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E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Planificadores y algoritmos de búsqueda global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41248"/>
            <a:ext cx="502920" cy="594360"/>
          </a:xfrm>
          <a:prstGeom prst="rect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869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14400" y="841248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896112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9E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Definir estados: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Un estado = valores actuales de todas las variables lógicas del problema.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1645920"/>
            <a:ext cx="502920" cy="594360"/>
          </a:xfrm>
          <a:prstGeom prst="rect">
            <a:avLst/>
          </a:prstGeom>
          <a:solidFill>
            <a:srgbClr val="52C47A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916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1645920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52C4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51560" y="1700784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2C47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Definir frontera: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Conjunto inicial de todos los estados posibles (nodos del grafo de búsqueda).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" y="2450592"/>
            <a:ext cx="502920" cy="594360"/>
          </a:xfrm>
          <a:prstGeom prst="rect">
            <a:avLst/>
          </a:prstGeom>
          <a:solidFill>
            <a:srgbClr val="D4C84A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" y="24963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2450592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D4C8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2505456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C84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Podar según precondiciones: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 eliminan los estados que no cumplen las precondiciones de las acciones disponibles.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55264"/>
            <a:ext cx="502920" cy="594360"/>
          </a:xfrm>
          <a:prstGeom prst="rect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330098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3255264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" y="3310128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8C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Función de costo + heurística: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 evalúa cada nodo con f(n) = g(n) + h(n) para decidir qué camino explorar primero.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4320" y="4059936"/>
            <a:ext cx="502920" cy="594360"/>
          </a:xfrm>
          <a:prstGeom prst="rect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4105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0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14400" y="4059936"/>
            <a:ext cx="7955280" cy="594360"/>
          </a:xfrm>
          <a:prstGeom prst="rect">
            <a:avLst/>
          </a:prstGeom>
          <a:solidFill>
            <a:srgbClr val="1A2035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51560" y="4114800"/>
            <a:ext cx="768096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05252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Expandir sucesores:  </a:t>
            </a:r>
            <a:r>
              <a:rPr lang="en-US" sz="1200" dirty="0">
                <a:solidFill>
                  <a:srgbClr val="C8D0E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Los estados sucesores tienen las mismas variables pero con valores actualizados tras aplicar una acción.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</TotalTime>
  <Words>643</Words>
  <Application>Microsoft Office PowerPoint</Application>
  <PresentationFormat>Presentación en pantalla (16:9)</PresentationFormat>
  <Paragraphs>51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Inferencia Difusa — Péndulo Invertido</dc:title>
  <dc:subject>PptxGenJS Presentation</dc:subject>
  <dc:creator>PptxGenJS</dc:creator>
  <cp:lastModifiedBy>juan stella</cp:lastModifiedBy>
  <cp:revision>5</cp:revision>
  <dcterms:created xsi:type="dcterms:W3CDTF">2026-04-22T00:44:53Z</dcterms:created>
  <dcterms:modified xsi:type="dcterms:W3CDTF">2026-04-22T21:00:11Z</dcterms:modified>
</cp:coreProperties>
</file>