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56" r:id="rId10"/>
    <p:sldId id="257" r:id="rId11"/>
    <p:sldId id="266" r:id="rId12"/>
    <p:sldId id="258" r:id="rId13"/>
    <p:sldId id="260" r:id="rId14"/>
    <p:sldId id="259" r:id="rId15"/>
    <p:sldId id="261" r:id="rId16"/>
    <p:sldId id="262" r:id="rId17"/>
    <p:sldId id="263" r:id="rId18"/>
    <p:sldId id="264" r:id="rId19"/>
    <p:sldId id="265" r:id="rId20"/>
    <p:sldId id="267" r:id="rId21"/>
    <p:sldId id="268" r:id="rId22"/>
    <p:sldId id="269" r:id="rId23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97A53-E312-4987-A1CC-ABC7FFAED944}" type="datetimeFigureOut">
              <a:rPr lang="es-AR" smtClean="0"/>
              <a:t>23/4/2026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61B7D-C668-4B90-93FC-EDF4697D9C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7364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8b86553e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d8b86553e6_0_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d8b86553e6_0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8bc8b23f6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d8bc8b23f6_1_8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d8bc8b23f6_1_8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2050" y="0"/>
            <a:ext cx="53244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61B7D-C668-4B90-93FC-EDF4697D9C1D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1277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01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0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136" y="299785"/>
            <a:ext cx="6439534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6724" y="1502462"/>
            <a:ext cx="8409940" cy="3315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3175"/>
            <a:ext cx="73152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73152" y="3175"/>
            <a:ext cx="36576" cy="514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274320" y="323215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8890A8"/>
              </a:buClr>
              <a:buSzPts val="1300"/>
            </a:pPr>
            <a:r>
              <a:rPr lang="en-US" sz="1300" i="1">
                <a:solidFill>
                  <a:srgbClr val="8890A8"/>
                </a:solidFill>
                <a:latin typeface="Calibri"/>
                <a:ea typeface="Calibri"/>
                <a:cs typeface="Calibri"/>
                <a:sym typeface="Calibri"/>
              </a:rPr>
              <a:t>Inteligencia Artificial II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74320" y="917575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3200"/>
            </a:pPr>
            <a:r>
              <a:rPr lang="en-US" sz="32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Trabajo Práctico N°2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74320" y="4666615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8890A8"/>
              </a:buClr>
              <a:buSzPts val="1100"/>
            </a:pPr>
            <a:r>
              <a:rPr lang="en-US" sz="1100">
                <a:solidFill>
                  <a:srgbClr val="8890A8"/>
                </a:solidFill>
                <a:latin typeface="Calibri"/>
                <a:ea typeface="Calibri"/>
                <a:cs typeface="Calibri"/>
                <a:sym typeface="Calibri"/>
              </a:rPr>
              <a:t>Ingeniería en Mecatrónica  —  2025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918050" y="3506375"/>
            <a:ext cx="17220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/>
            <a: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Lucía Muñiz</a:t>
            </a:r>
            <a:b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Juan Meza</a:t>
            </a:r>
            <a:b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Juan Cruz Paredes</a:t>
            </a:r>
            <a:b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Florencia Prado</a:t>
            </a:r>
            <a:b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Juan Stella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3175"/>
            <a:ext cx="9144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65760" y="186055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2000"/>
            </a:pPr>
            <a:r>
              <a:rPr lang="en-US" sz="20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1. ¿Por qué usar inferencia lógica en lugar de algoritmos de búsqueda?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320050" y="963297"/>
            <a:ext cx="2651700" cy="1673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320040" y="963295"/>
            <a:ext cx="2651760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1100455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300"/>
            </a:pPr>
            <a:r>
              <a:rPr lang="en-US" sz="13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Costo computacional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1533868"/>
            <a:ext cx="2377500" cy="8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No requiere explorar todos los estados del espacio. La inferencia deduce directamente sin expansión exhaustiva.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172150" y="2865650"/>
            <a:ext cx="2651700" cy="1805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52C4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172150" y="2865645"/>
            <a:ext cx="2651700" cy="54900"/>
          </a:xfrm>
          <a:prstGeom prst="rect">
            <a:avLst/>
          </a:prstGeom>
          <a:solidFill>
            <a:srgbClr val="52C4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309310" y="3002805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52C47A"/>
              </a:buClr>
              <a:buSzPts val="1300"/>
            </a:pPr>
            <a:r>
              <a:rPr lang="en-US" sz="1300" b="1">
                <a:solidFill>
                  <a:srgbClr val="52C47A"/>
                </a:solidFill>
                <a:latin typeface="Calibri"/>
                <a:ea typeface="Calibri"/>
                <a:cs typeface="Calibri"/>
                <a:sym typeface="Calibri"/>
              </a:rPr>
              <a:t>Menor uso de memoria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309300" y="3436268"/>
            <a:ext cx="23775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No es necesario almacenar ni mantener en memoria todos los estados posibles del problema.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46113" y="963297"/>
            <a:ext cx="2651700" cy="1673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246123" y="963295"/>
            <a:ext cx="2651700" cy="549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383282" y="1100455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A78BFA"/>
              </a:buClr>
              <a:buSzPts val="1300"/>
            </a:pPr>
            <a:r>
              <a:rPr lang="en-US" sz="1300" b="1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Flexibilidad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383300" y="1630200"/>
            <a:ext cx="23775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Si las condiciones del problema cambian, solo se actualiza la base de conocimientos.</a:t>
            </a:r>
            <a:endParaRPr sz="1200">
              <a:solidFill>
                <a:srgbClr val="C8D0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46250" y="2865600"/>
            <a:ext cx="2651700" cy="1805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46248" y="2865595"/>
            <a:ext cx="2651700" cy="549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383232" y="3002755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A78BFA"/>
              </a:buClr>
              <a:buSzPts val="1300"/>
            </a:pPr>
            <a:r>
              <a:rPr lang="en-US" sz="1300" b="1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Representación Declarativa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350" y="3436225"/>
            <a:ext cx="25146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El dominio se representa a través de reglas y no como una serie de pasos(representación procedural), lo cual es mejor si se necesita razonamiento fundamentado y trazable.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172150" y="963324"/>
            <a:ext cx="2651700" cy="1673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52C4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172150" y="963308"/>
            <a:ext cx="2651700" cy="54900"/>
          </a:xfrm>
          <a:prstGeom prst="rect">
            <a:avLst/>
          </a:prstGeom>
          <a:solidFill>
            <a:srgbClr val="52C4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309310" y="1100468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52C47A"/>
              </a:buClr>
              <a:buSzPts val="1300"/>
            </a:pPr>
            <a:r>
              <a:rPr lang="en-US" sz="1300" b="1">
                <a:solidFill>
                  <a:srgbClr val="52C47A"/>
                </a:solidFill>
                <a:latin typeface="Calibri"/>
                <a:ea typeface="Calibri"/>
                <a:cs typeface="Calibri"/>
                <a:sym typeface="Calibri"/>
              </a:rPr>
              <a:t>Automatización (Inferencia)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309300" y="1533922"/>
            <a:ext cx="2377500" cy="11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Se puede deducir nueva información a partir de la base de conocimiento, encontrando soluciones no pensadas explícitamente.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0360" y="2865603"/>
            <a:ext cx="2651700" cy="1805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20350" y="2865600"/>
            <a:ext cx="2651700" cy="59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57509" y="3013578"/>
            <a:ext cx="23775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300"/>
            </a:pPr>
            <a:r>
              <a:rPr lang="en-US" sz="13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500" y="3481175"/>
            <a:ext cx="23775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Se puede explicar cómo se llegó a una conclusión debido a que el razonamiento sigue reglas visibles. Facilidad para auditorías o mantenimiento.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3175"/>
            <a:ext cx="9144000" cy="64008"/>
          </a:xfrm>
          <a:prstGeom prst="rect">
            <a:avLst/>
          </a:prstGeom>
          <a:solidFill>
            <a:srgbClr val="52C4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65760" y="167767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1900"/>
            </a:pPr>
            <a:r>
              <a:rPr lang="en-US" sz="19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2 .  Diferencia entre Base de conocimiento y ground truth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74320" y="871855"/>
            <a:ext cx="4023360" cy="393192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52C4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74320" y="871855"/>
            <a:ext cx="4023360" cy="54864"/>
          </a:xfrm>
          <a:prstGeom prst="rect">
            <a:avLst/>
          </a:prstGeom>
          <a:solidFill>
            <a:srgbClr val="52C4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1009015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52C47A"/>
              </a:buClr>
              <a:buSzPts val="1300"/>
            </a:pPr>
            <a:r>
              <a:rPr lang="en-US" sz="1300" b="1">
                <a:solidFill>
                  <a:srgbClr val="52C47A"/>
                </a:solidFill>
                <a:latin typeface="Calibri"/>
                <a:ea typeface="Calibri"/>
                <a:cs typeface="Calibri"/>
                <a:sym typeface="Calibri"/>
              </a:rPr>
              <a:t>Base de Conocimientos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1511935"/>
            <a:ext cx="36576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Es el conjunto de sentencias (axiomas y hechos) que el agente "cree" o conoce sobre el mundo. </a:t>
            </a:r>
            <a:endParaRPr sz="1200">
              <a:solidFill>
                <a:srgbClr val="C8D0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200">
              <a:solidFill>
                <a:srgbClr val="C8D0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200">
              <a:solidFill>
                <a:srgbClr val="C8D0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Se construye, actualiza y mantiene</a:t>
            </a:r>
            <a:endParaRPr sz="1200">
              <a:solidFill>
                <a:srgbClr val="C8D0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200">
              <a:solidFill>
                <a:srgbClr val="C8D0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Puede ser incompleta o incluso contener errores si la información cargada es falsa.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846320" y="871855"/>
            <a:ext cx="4023360" cy="393192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846320" y="871855"/>
            <a:ext cx="4023360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029200" y="1009015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300"/>
            </a:pPr>
            <a:r>
              <a:rPr lang="en-US" sz="13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0" y="1511935"/>
            <a:ext cx="36576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100">
                <a:solidFill>
                  <a:srgbClr val="C8D0E8"/>
                </a:solidFill>
              </a:rPr>
              <a:t>Representa la realidad objetiva y absoluta del entorno. Es el "patrón de oro". </a:t>
            </a: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100">
                <a:solidFill>
                  <a:srgbClr val="C8D0E8"/>
                </a:solidFill>
              </a:rPr>
              <a:t>Se usa para evaluar precisión o desempeño.</a:t>
            </a: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100">
                <a:solidFill>
                  <a:srgbClr val="C8D0E8"/>
                </a:solidFill>
              </a:rPr>
              <a:t>Es factico, no está sujeto a interpretación</a:t>
            </a: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100">
              <a:solidFill>
                <a:srgbClr val="C8D0E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endParaRPr sz="1100">
              <a:solidFill>
                <a:srgbClr val="C8D0E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b86553e6_0_3"/>
          <p:cNvSpPr/>
          <p:nvPr/>
        </p:nvSpPr>
        <p:spPr>
          <a:xfrm>
            <a:off x="0" y="3175"/>
            <a:ext cx="9144000" cy="63900"/>
          </a:xfrm>
          <a:prstGeom prst="rect">
            <a:avLst/>
          </a:prstGeom>
          <a:solidFill>
            <a:srgbClr val="52C4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70" name="Google Shape;70;g3d8b86553e6_0_3"/>
          <p:cNvSpPr/>
          <p:nvPr/>
        </p:nvSpPr>
        <p:spPr>
          <a:xfrm>
            <a:off x="365760" y="167767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1900"/>
            </a:pPr>
            <a:r>
              <a:rPr lang="en-US" sz="19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3.  Diferencia entre valores inferidos y valores percibidos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d8b86553e6_0_3"/>
          <p:cNvSpPr/>
          <p:nvPr/>
        </p:nvSpPr>
        <p:spPr>
          <a:xfrm>
            <a:off x="274320" y="871855"/>
            <a:ext cx="4023300" cy="39318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52C4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72" name="Google Shape;72;g3d8b86553e6_0_3"/>
          <p:cNvSpPr/>
          <p:nvPr/>
        </p:nvSpPr>
        <p:spPr>
          <a:xfrm>
            <a:off x="274320" y="871855"/>
            <a:ext cx="4023300" cy="54900"/>
          </a:xfrm>
          <a:prstGeom prst="rect">
            <a:avLst/>
          </a:prstGeom>
          <a:solidFill>
            <a:srgbClr val="52C4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73" name="Google Shape;73;g3d8b86553e6_0_3"/>
          <p:cNvSpPr/>
          <p:nvPr/>
        </p:nvSpPr>
        <p:spPr>
          <a:xfrm>
            <a:off x="457200" y="1009015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52C47A"/>
              </a:buClr>
              <a:buSzPts val="1300"/>
            </a:pPr>
            <a:r>
              <a:rPr lang="en-US" sz="1300" b="1">
                <a:solidFill>
                  <a:srgbClr val="52C47A"/>
                </a:solidFill>
                <a:latin typeface="Calibri"/>
                <a:ea typeface="Calibri"/>
                <a:cs typeface="Calibri"/>
                <a:sym typeface="Calibri"/>
              </a:rPr>
              <a:t>Valor percibido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8b86553e6_0_3"/>
          <p:cNvSpPr/>
          <p:nvPr/>
        </p:nvSpPr>
        <p:spPr>
          <a:xfrm>
            <a:off x="457200" y="1511935"/>
            <a:ext cx="3657600" cy="3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Valores iniciales </a:t>
            </a:r>
            <a:r>
              <a:rPr lang="en-US" sz="1200" b="1">
                <a:solidFill>
                  <a:srgbClr val="52C47A"/>
                </a:solidFill>
                <a:latin typeface="Calibri"/>
                <a:ea typeface="Calibri"/>
                <a:cs typeface="Calibri"/>
                <a:sym typeface="Calibri"/>
              </a:rPr>
              <a:t>sensados o conocidos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 que se cargan en la base de conocimientos.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chemeClr val="dk1"/>
              </a:buClr>
              <a:buSzPts val="12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Ejemplo: θ = 15° medido por el encoder del péndulo.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chemeClr val="dk1"/>
              </a:buClr>
              <a:buSzPts val="12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Si el valor cambia, solo se actualiza ese dato — el algoritmo de inferencia no se modifica.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d8b86553e6_0_3"/>
          <p:cNvSpPr/>
          <p:nvPr/>
        </p:nvSpPr>
        <p:spPr>
          <a:xfrm>
            <a:off x="4846320" y="871855"/>
            <a:ext cx="4023300" cy="39318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76" name="Google Shape;76;g3d8b86553e6_0_3"/>
          <p:cNvSpPr/>
          <p:nvPr/>
        </p:nvSpPr>
        <p:spPr>
          <a:xfrm>
            <a:off x="4846320" y="871855"/>
            <a:ext cx="4023300" cy="549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77" name="Google Shape;77;g3d8b86553e6_0_3"/>
          <p:cNvSpPr/>
          <p:nvPr/>
        </p:nvSpPr>
        <p:spPr>
          <a:xfrm>
            <a:off x="5029200" y="1009015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300"/>
            </a:pPr>
            <a:r>
              <a:rPr lang="en-US" sz="13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Valor inferido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d8b86553e6_0_3"/>
          <p:cNvSpPr/>
          <p:nvPr/>
        </p:nvSpPr>
        <p:spPr>
          <a:xfrm>
            <a:off x="5029200" y="1511935"/>
            <a:ext cx="3657600" cy="3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Valor </a:t>
            </a:r>
            <a:r>
              <a:rPr lang="en-US" sz="12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derivado lógicamente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 a partir de otros valores y reglas de la base de conocimientos.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chemeClr val="dk1"/>
              </a:buClr>
              <a:buSzPts val="12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Ejemplo: a partir de θ y θ', el motor de inferencia deduce F sin haberla medido directamente.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chemeClr val="dk1"/>
              </a:buClr>
              <a:buSzPts val="12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No proviene del entorno: es consecuencia del razonamiento.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3175"/>
            <a:ext cx="9144000" cy="64008"/>
          </a:xfrm>
          <a:prstGeom prst="rect">
            <a:avLst/>
          </a:prstGeom>
          <a:solidFill>
            <a:srgbClr val="D4C8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65760" y="167767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2000"/>
            </a:pPr>
            <a:r>
              <a:rPr lang="en-US" sz="20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4 &amp; 5.  Lógica proposicional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74320" y="826135"/>
            <a:ext cx="8595360" cy="187452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D4C8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57200" y="917575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D4C84A"/>
              </a:buClr>
              <a:buSzPts val="1300"/>
            </a:pPr>
            <a:r>
              <a:rPr lang="en-US" sz="1300" b="1">
                <a:solidFill>
                  <a:srgbClr val="D4C84A"/>
                </a:solidFill>
                <a:latin typeface="Calibri"/>
                <a:ea typeface="Calibri"/>
                <a:cs typeface="Calibri"/>
                <a:sym typeface="Calibri"/>
              </a:rPr>
              <a:t>4.  Oraciones atómicas y modelo de "A entre 0 y 9"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1374775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 b="1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Valores posibles: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Verdadero (1) o Falso (0)  — sin valores intermedios.</a:t>
            </a:r>
            <a:b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Modelado de A ∈ [0,9]:  </a:t>
            </a:r>
            <a:r>
              <a:rPr lang="en-US" sz="1200">
                <a:solidFill>
                  <a:srgbClr val="D4C84A"/>
                </a:solidFill>
                <a:latin typeface="Consolas"/>
                <a:ea typeface="Consolas"/>
                <a:cs typeface="Consolas"/>
                <a:sym typeface="Consolas"/>
              </a:rPr>
              <a:t>A₀ ∨ A₁ ∨ A₂ ∨ A₃ ∨ A₄ ∨ A₅ ∨ A₆ ∨ A₇ ∨ A₈ ∨ A₉</a:t>
            </a:r>
            <a:br>
              <a:rPr lang="en-US" sz="1200">
                <a:solidFill>
                  <a:srgbClr val="D4C84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8890A8"/>
                </a:solidFill>
                <a:latin typeface="Calibri"/>
                <a:ea typeface="Calibri"/>
                <a:cs typeface="Calibri"/>
                <a:sym typeface="Calibri"/>
              </a:rPr>
              <a:t>Cada Aᵢ es una variable proposicional que indica si A toma el valor i. Requiere enumerar todos los casos discretos.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2837815"/>
            <a:ext cx="8595360" cy="201168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E08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57200" y="2929255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08C52"/>
              </a:buClr>
              <a:buSzPts val="1300"/>
            </a:pPr>
            <a:r>
              <a:rPr lang="en-US" sz="1300" b="1">
                <a:solidFill>
                  <a:srgbClr val="E08C52"/>
                </a:solidFill>
                <a:latin typeface="Calibri"/>
                <a:ea typeface="Calibri"/>
                <a:cs typeface="Calibri"/>
                <a:sym typeface="Calibri"/>
              </a:rPr>
              <a:t>5.  Algoritmos para lógica proposicional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3340735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E08C52"/>
              </a:buClr>
              <a:buSzPts val="1200"/>
            </a:pPr>
            <a:r>
              <a:rPr lang="en-US" sz="1200" b="1">
                <a:solidFill>
                  <a:srgbClr val="E08C52"/>
                </a:solidFill>
                <a:latin typeface="Calibri"/>
                <a:ea typeface="Calibri"/>
                <a:cs typeface="Calibri"/>
                <a:sym typeface="Calibri"/>
              </a:rPr>
              <a:t>• Tablas de verdad: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enumeración exhaustiva de todas las asignaciones posibles.</a:t>
            </a:r>
            <a:b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>
                <a:solidFill>
                  <a:srgbClr val="E08C52"/>
                </a:solidFill>
                <a:latin typeface="Calibri"/>
                <a:ea typeface="Calibri"/>
                <a:cs typeface="Calibri"/>
                <a:sym typeface="Calibri"/>
              </a:rPr>
              <a:t>• Cláusulas de Horn + Encadenamiento: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reglas con un único consecuente; permiten encadenamiento hacia adelante (modus ponens) y hacia atrás.</a:t>
            </a:r>
            <a:b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>
                <a:solidFill>
                  <a:srgbClr val="E08C52"/>
                </a:solidFill>
                <a:latin typeface="Calibri"/>
                <a:ea typeface="Calibri"/>
                <a:cs typeface="Calibri"/>
                <a:sym typeface="Calibri"/>
              </a:rPr>
              <a:t>• Resolución: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algoritmo completo para SAT sobre cláusulas en FNC.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0" y="3175"/>
            <a:ext cx="91440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65760" y="167767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2000"/>
            </a:pPr>
            <a:r>
              <a:rPr lang="en-US" sz="20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6. Lógica de primer orden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74325" y="826127"/>
            <a:ext cx="8595300" cy="18051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57200" y="917575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A78BFA"/>
              </a:buClr>
              <a:buSzPts val="1300"/>
            </a:pPr>
            <a:r>
              <a:rPr lang="en-US" sz="1700" b="1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¿Qué valores puede tomar una oración atómica de acuerdo a la lógica de primer orden?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1374775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chemeClr val="dk1"/>
              </a:buClr>
              <a:buSzPts val="1100"/>
            </a:pPr>
            <a:r>
              <a:rPr lang="en-US" sz="1600">
                <a:solidFill>
                  <a:srgbClr val="E8EDF8"/>
                </a:solidFill>
              </a:rPr>
              <a:t>En la Lógica de Primer Orden una oración atómica no toma un valor en sí misma, sino que se evalúa como Verdadera o Falsa dependiendo de si la relación que describe se cumple en el modelo definido</a:t>
            </a:r>
            <a:endParaRPr sz="1600">
              <a:solidFill>
                <a:srgbClr val="E8EDF8"/>
              </a:solidFill>
            </a:endParaRPr>
          </a:p>
          <a:p>
            <a:pPr algn="l" rtl="0">
              <a:buClr>
                <a:srgbClr val="C8D0E8"/>
              </a:buClr>
              <a:buSzPts val="1200"/>
            </a:pPr>
            <a:endParaRPr>
              <a:solidFill>
                <a:srgbClr val="E8EDF8"/>
              </a:solidFill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74320" y="3020700"/>
            <a:ext cx="8595300" cy="1691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57200" y="31121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300"/>
            </a:pPr>
            <a:r>
              <a:rPr lang="en-US" sz="16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¿Cómo se modela la frase “Los valores de A comprendidos entre 0 y 9” de acuerdo a esta sintaxis?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352362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4A9EFF"/>
              </a:buClr>
              <a:buSzPts val="1200"/>
            </a:pPr>
            <a:r>
              <a:rPr lang="en-US" sz="1600">
                <a:solidFill>
                  <a:srgbClr val="E8EDF8"/>
                </a:solidFill>
              </a:rPr>
              <a:t>De acuerdo a la sintaxis de la Lógica de Primer Orden podemos modelar la frase como:</a:t>
            </a:r>
            <a:endParaRPr sz="1600">
              <a:solidFill>
                <a:srgbClr val="E8EDF8"/>
              </a:solidFill>
            </a:endParaRPr>
          </a:p>
          <a:p>
            <a:pPr algn="l" rtl="0">
              <a:buClr>
                <a:srgbClr val="4A9EFF"/>
              </a:buClr>
              <a:buSzPts val="1200"/>
            </a:pPr>
            <a:r>
              <a:rPr lang="en-US" sz="1600">
                <a:solidFill>
                  <a:srgbClr val="E8EDF8"/>
                </a:solidFill>
              </a:rPr>
              <a:t>(A≥0) ⋀ (A≤9)</a:t>
            </a:r>
            <a:endParaRPr>
              <a:solidFill>
                <a:srgbClr val="E8E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8bc8b23f6_1_83"/>
          <p:cNvSpPr/>
          <p:nvPr/>
        </p:nvSpPr>
        <p:spPr>
          <a:xfrm>
            <a:off x="0" y="3175"/>
            <a:ext cx="9144000" cy="639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11" name="Google Shape;111;g3d8bc8b23f6_1_83"/>
          <p:cNvSpPr/>
          <p:nvPr/>
        </p:nvSpPr>
        <p:spPr>
          <a:xfrm>
            <a:off x="365760" y="186055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2000"/>
            </a:pPr>
            <a:r>
              <a:rPr lang="en-US" sz="20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7. ¿Qué algoritmos se utilizan para resolver problemas modelados con lógica de primer orden?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8bc8b23f6_1_83"/>
          <p:cNvSpPr/>
          <p:nvPr/>
        </p:nvSpPr>
        <p:spPr>
          <a:xfrm>
            <a:off x="1783100" y="974772"/>
            <a:ext cx="2651700" cy="1673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13" name="Google Shape;113;g3d8bc8b23f6_1_83"/>
          <p:cNvSpPr/>
          <p:nvPr/>
        </p:nvSpPr>
        <p:spPr>
          <a:xfrm>
            <a:off x="1783090" y="974770"/>
            <a:ext cx="2651700" cy="549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14" name="Google Shape;114;g3d8bc8b23f6_1_83"/>
          <p:cNvSpPr/>
          <p:nvPr/>
        </p:nvSpPr>
        <p:spPr>
          <a:xfrm>
            <a:off x="1920250" y="1111926"/>
            <a:ext cx="22227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300"/>
            </a:pPr>
            <a:r>
              <a:rPr lang="en-US" sz="13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Unificación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8bc8b23f6_1_83"/>
          <p:cNvSpPr/>
          <p:nvPr/>
        </p:nvSpPr>
        <p:spPr>
          <a:xfrm>
            <a:off x="1920250" y="1545343"/>
            <a:ext cx="2377500" cy="8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El proceso de encontrar una sustitución de variables que haga que dos oraciones se vean iguales.</a:t>
            </a:r>
            <a:endParaRPr sz="1200">
              <a:solidFill>
                <a:srgbClr val="E8E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d8bc8b23f6_1_83"/>
          <p:cNvSpPr/>
          <p:nvPr/>
        </p:nvSpPr>
        <p:spPr>
          <a:xfrm>
            <a:off x="4709163" y="974772"/>
            <a:ext cx="2651700" cy="1673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17" name="Google Shape;117;g3d8bc8b23f6_1_83"/>
          <p:cNvSpPr/>
          <p:nvPr/>
        </p:nvSpPr>
        <p:spPr>
          <a:xfrm>
            <a:off x="4709172" y="974770"/>
            <a:ext cx="2651700" cy="549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18" name="Google Shape;118;g3d8bc8b23f6_1_83"/>
          <p:cNvSpPr/>
          <p:nvPr/>
        </p:nvSpPr>
        <p:spPr>
          <a:xfrm>
            <a:off x="4883475" y="1041275"/>
            <a:ext cx="2303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A78BFA"/>
              </a:buClr>
              <a:buSzPts val="1300"/>
            </a:pPr>
            <a:r>
              <a:rPr lang="en-US" sz="1300" b="1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Encadenamiento hacia adelante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8bc8b23f6_1_83"/>
          <p:cNvSpPr/>
          <p:nvPr/>
        </p:nvSpPr>
        <p:spPr>
          <a:xfrm>
            <a:off x="4846400" y="1535338"/>
            <a:ext cx="23775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1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Comienza con los hechos conocidos en la Base de Conocimientos (KB) y aplica reglas de inferencia para generar nuevos hechos hasta alcanzar el objetivo.</a:t>
            </a:r>
            <a:endParaRPr sz="1200">
              <a:solidFill>
                <a:srgbClr val="E8E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8bc8b23f6_1_83"/>
          <p:cNvSpPr/>
          <p:nvPr/>
        </p:nvSpPr>
        <p:spPr>
          <a:xfrm>
            <a:off x="4709300" y="2877075"/>
            <a:ext cx="2651700" cy="1805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21" name="Google Shape;121;g3d8bc8b23f6_1_83"/>
          <p:cNvSpPr/>
          <p:nvPr/>
        </p:nvSpPr>
        <p:spPr>
          <a:xfrm>
            <a:off x="4709297" y="2877070"/>
            <a:ext cx="2651700" cy="549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22" name="Google Shape;122;g3d8bc8b23f6_1_83"/>
          <p:cNvSpPr/>
          <p:nvPr/>
        </p:nvSpPr>
        <p:spPr>
          <a:xfrm>
            <a:off x="4846275" y="3014226"/>
            <a:ext cx="22227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A78BFA"/>
              </a:buClr>
              <a:buSzPts val="1300"/>
            </a:pPr>
            <a:r>
              <a:rPr lang="en-US" sz="1300" b="1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Representación Declarativa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8bc8b23f6_1_83"/>
          <p:cNvSpPr/>
          <p:nvPr/>
        </p:nvSpPr>
        <p:spPr>
          <a:xfrm>
            <a:off x="4846400" y="3447700"/>
            <a:ext cx="25146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Utiliza la unificación y la regla de resolución para demostrar que una sentencia es consecuencia de la KB mediante una prueba por contradicción</a:t>
            </a:r>
            <a:endParaRPr sz="1200">
              <a:solidFill>
                <a:srgbClr val="E8E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8bc8b23f6_1_83"/>
          <p:cNvSpPr/>
          <p:nvPr/>
        </p:nvSpPr>
        <p:spPr>
          <a:xfrm>
            <a:off x="1783410" y="2877078"/>
            <a:ext cx="2651700" cy="180570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25" name="Google Shape;125;g3d8bc8b23f6_1_83"/>
          <p:cNvSpPr/>
          <p:nvPr/>
        </p:nvSpPr>
        <p:spPr>
          <a:xfrm>
            <a:off x="1783400" y="2877075"/>
            <a:ext cx="2651700" cy="59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26" name="Google Shape;126;g3d8bc8b23f6_1_83"/>
          <p:cNvSpPr/>
          <p:nvPr/>
        </p:nvSpPr>
        <p:spPr>
          <a:xfrm>
            <a:off x="1920551" y="3025051"/>
            <a:ext cx="22227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300"/>
            </a:pPr>
            <a:r>
              <a:rPr lang="en-US" sz="13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Encadenamiento hacia atrás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8bc8b23f6_1_83"/>
          <p:cNvSpPr/>
          <p:nvPr/>
        </p:nvSpPr>
        <p:spPr>
          <a:xfrm>
            <a:off x="1920550" y="3492650"/>
            <a:ext cx="23775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buClr>
                <a:srgbClr val="C8D0E8"/>
              </a:buClr>
              <a:buSzPts val="1200"/>
            </a:pPr>
            <a:r>
              <a:rPr lang="en-US" sz="12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Comienza desde el objetivo o consulta (query) e intenta encontrar hechos y reglas que lo sustenten, trabajando hacia atrás</a:t>
            </a:r>
            <a:endParaRPr sz="1200">
              <a:solidFill>
                <a:srgbClr val="E8E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0" y="3175"/>
            <a:ext cx="9144000" cy="64008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65760" y="167767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8EDF8"/>
              </a:buClr>
              <a:buSzPts val="2000"/>
            </a:pPr>
            <a:r>
              <a:rPr lang="en-US" sz="2000" b="1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8.  Planificadores y algoritmos de búsqueda global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74320" y="844423"/>
            <a:ext cx="502920" cy="594360"/>
          </a:xfrm>
          <a:prstGeom prst="rect">
            <a:avLst/>
          </a:prstGeom>
          <a:solidFill>
            <a:srgbClr val="4A9EFF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274320" y="890143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rtl="0">
              <a:buClr>
                <a:srgbClr val="0B0F1A"/>
              </a:buClr>
              <a:buSzPts val="1800"/>
            </a:pPr>
            <a:r>
              <a:rPr lang="en-US" b="1">
                <a:solidFill>
                  <a:srgbClr val="0B0F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914400" y="844423"/>
            <a:ext cx="7955280" cy="59436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4A9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051560" y="899287"/>
            <a:ext cx="76809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4A9EFF"/>
              </a:buClr>
              <a:buSzPts val="1200"/>
            </a:pPr>
            <a:r>
              <a:rPr lang="en-US" sz="1200" b="1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Definir estados: 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Un estado = valores actuales de todas las variables lógicas del problema.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74320" y="1649095"/>
            <a:ext cx="502920" cy="594360"/>
          </a:xfrm>
          <a:prstGeom prst="rect">
            <a:avLst/>
          </a:prstGeom>
          <a:solidFill>
            <a:srgbClr val="52C47A"/>
          </a:solidFill>
          <a:ln w="12700" cap="flat" cmpd="sng">
            <a:solidFill>
              <a:srgbClr val="52C4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274320" y="1694815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rtl="0">
              <a:buClr>
                <a:srgbClr val="0B0F1A"/>
              </a:buClr>
              <a:buSzPts val="1800"/>
            </a:pPr>
            <a:r>
              <a:rPr lang="en-US" b="1">
                <a:solidFill>
                  <a:srgbClr val="0B0F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14400" y="1649095"/>
            <a:ext cx="7955280" cy="59436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52C4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051560" y="1703959"/>
            <a:ext cx="76809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52C47A"/>
              </a:buClr>
              <a:buSzPts val="1200"/>
            </a:pPr>
            <a:r>
              <a:rPr lang="en-US" sz="1200" b="1">
                <a:solidFill>
                  <a:srgbClr val="52C47A"/>
                </a:solidFill>
                <a:latin typeface="Calibri"/>
                <a:ea typeface="Calibri"/>
                <a:cs typeface="Calibri"/>
                <a:sym typeface="Calibri"/>
              </a:rPr>
              <a:t>Definir frontera: 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Conjunto inicial de todos los estados posibles (nodos del grafo de búsqueda).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74320" y="2453767"/>
            <a:ext cx="502920" cy="594360"/>
          </a:xfrm>
          <a:prstGeom prst="rect">
            <a:avLst/>
          </a:prstGeom>
          <a:solidFill>
            <a:srgbClr val="D4C84A"/>
          </a:solidFill>
          <a:ln w="12700" cap="flat" cmpd="sng">
            <a:solidFill>
              <a:srgbClr val="D4C8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274320" y="2499487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rtl="0">
              <a:buClr>
                <a:srgbClr val="0B0F1A"/>
              </a:buClr>
              <a:buSzPts val="1800"/>
            </a:pPr>
            <a:r>
              <a:rPr lang="en-US" b="1">
                <a:solidFill>
                  <a:srgbClr val="0B0F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14400" y="2453767"/>
            <a:ext cx="7955280" cy="59436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D4C8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051560" y="2508631"/>
            <a:ext cx="76809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D4C84A"/>
              </a:buClr>
              <a:buSzPts val="1200"/>
            </a:pPr>
            <a:r>
              <a:rPr lang="en-US" sz="1200" b="1">
                <a:solidFill>
                  <a:srgbClr val="D4C84A"/>
                </a:solidFill>
                <a:latin typeface="Calibri"/>
                <a:ea typeface="Calibri"/>
                <a:cs typeface="Calibri"/>
                <a:sym typeface="Calibri"/>
              </a:rPr>
              <a:t>Podar según precondiciones: 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Se eliminan los estados que no cumplen las precondiciones de las acciones disponibles.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74320" y="3258439"/>
            <a:ext cx="502920" cy="594360"/>
          </a:xfrm>
          <a:prstGeom prst="rect">
            <a:avLst/>
          </a:prstGeom>
          <a:solidFill>
            <a:srgbClr val="E08C52"/>
          </a:solidFill>
          <a:ln w="12700" cap="flat" cmpd="sng">
            <a:solidFill>
              <a:srgbClr val="E08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274320" y="330415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rtl="0">
              <a:buClr>
                <a:srgbClr val="0B0F1A"/>
              </a:buClr>
              <a:buSzPts val="1800"/>
            </a:pPr>
            <a:r>
              <a:rPr lang="en-US" b="1">
                <a:solidFill>
                  <a:srgbClr val="0B0F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14400" y="3258439"/>
            <a:ext cx="7955280" cy="59436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E08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051560" y="3313303"/>
            <a:ext cx="76809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08C52"/>
              </a:buClr>
              <a:buSzPts val="1200"/>
            </a:pPr>
            <a:r>
              <a:rPr lang="en-US" sz="1200" b="1">
                <a:solidFill>
                  <a:srgbClr val="E08C52"/>
                </a:solidFill>
                <a:latin typeface="Calibri"/>
                <a:ea typeface="Calibri"/>
                <a:cs typeface="Calibri"/>
                <a:sym typeface="Calibri"/>
              </a:rPr>
              <a:t>Función de costo + heurística: 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Se evalúa cada nodo con f(n) = g(n) + h(n) para decidir qué camino explorar primero.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74320" y="4063111"/>
            <a:ext cx="502920" cy="594360"/>
          </a:xfrm>
          <a:prstGeom prst="rect">
            <a:avLst/>
          </a:prstGeom>
          <a:solidFill>
            <a:srgbClr val="E05252"/>
          </a:solidFill>
          <a:ln w="12700" cap="flat" cmpd="sng">
            <a:solidFill>
              <a:srgbClr val="E052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274320" y="4108831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rtl="0">
              <a:buClr>
                <a:srgbClr val="0B0F1A"/>
              </a:buClr>
              <a:buSzPts val="1800"/>
            </a:pPr>
            <a:r>
              <a:rPr lang="en-US" b="1">
                <a:solidFill>
                  <a:srgbClr val="0B0F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914400" y="4063111"/>
            <a:ext cx="7955280" cy="594360"/>
          </a:xfrm>
          <a:prstGeom prst="rect">
            <a:avLst/>
          </a:prstGeom>
          <a:solidFill>
            <a:srgbClr val="1A2035"/>
          </a:solidFill>
          <a:ln w="12700" cap="flat" cmpd="sng">
            <a:solidFill>
              <a:srgbClr val="E052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051560" y="4117975"/>
            <a:ext cx="76809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rtl="0">
              <a:buClr>
                <a:srgbClr val="E05252"/>
              </a:buClr>
              <a:buSzPts val="1200"/>
            </a:pPr>
            <a:r>
              <a:rPr lang="en-US" sz="1200" b="1">
                <a:solidFill>
                  <a:srgbClr val="E05252"/>
                </a:solidFill>
                <a:latin typeface="Calibri"/>
                <a:ea typeface="Calibri"/>
                <a:cs typeface="Calibri"/>
                <a:sym typeface="Calibri"/>
              </a:rPr>
              <a:t>Expandir sucesores:  </a:t>
            </a:r>
            <a:r>
              <a:rPr lang="en-US" sz="1200">
                <a:solidFill>
                  <a:srgbClr val="C8D0E8"/>
                </a:solidFill>
                <a:latin typeface="Calibri"/>
                <a:ea typeface="Calibri"/>
                <a:cs typeface="Calibri"/>
                <a:sym typeface="Calibri"/>
              </a:rPr>
              <a:t>Los estados sucesores tienen las mismas variables pero con valores actualizados tras aplicar una acción.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55" y="1639266"/>
            <a:ext cx="9156700" cy="2207260"/>
            <a:chOff x="-6655" y="1639266"/>
            <a:chExt cx="9156700" cy="2207260"/>
          </a:xfrm>
        </p:grpSpPr>
        <p:sp>
          <p:nvSpPr>
            <p:cNvPr id="3" name="object 3"/>
            <p:cNvSpPr/>
            <p:nvPr/>
          </p:nvSpPr>
          <p:spPr>
            <a:xfrm>
              <a:off x="-355" y="1645566"/>
              <a:ext cx="9144000" cy="2194560"/>
            </a:xfrm>
            <a:custGeom>
              <a:avLst/>
              <a:gdLst/>
              <a:ahLst/>
              <a:cxnLst/>
              <a:rect l="l" t="t" r="r" b="b"/>
              <a:pathLst>
                <a:path w="9144000" h="2194560">
                  <a:moveTo>
                    <a:pt x="9143631" y="0"/>
                  </a:moveTo>
                  <a:lnTo>
                    <a:pt x="0" y="0"/>
                  </a:lnTo>
                  <a:lnTo>
                    <a:pt x="0" y="2194191"/>
                  </a:lnTo>
                  <a:lnTo>
                    <a:pt x="4572000" y="2194191"/>
                  </a:lnTo>
                  <a:lnTo>
                    <a:pt x="9143631" y="219419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1645566"/>
              <a:ext cx="9144000" cy="2194560"/>
            </a:xfrm>
            <a:custGeom>
              <a:avLst/>
              <a:gdLst/>
              <a:ahLst/>
              <a:cxnLst/>
              <a:rect l="l" t="t" r="r" b="b"/>
              <a:pathLst>
                <a:path w="9144000" h="2194560">
                  <a:moveTo>
                    <a:pt x="4572000" y="2194191"/>
                  </a:moveTo>
                  <a:lnTo>
                    <a:pt x="0" y="2194191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194191"/>
                  </a:lnTo>
                  <a:lnTo>
                    <a:pt x="4572000" y="2194191"/>
                  </a:lnTo>
                  <a:close/>
                </a:path>
              </a:pathLst>
            </a:custGeom>
            <a:ln w="12599">
              <a:solidFill>
                <a:srgbClr val="0E10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50544" y="541986"/>
            <a:ext cx="8242300" cy="29209"/>
            <a:chOff x="450544" y="541986"/>
            <a:chExt cx="8242300" cy="29209"/>
          </a:xfrm>
        </p:grpSpPr>
        <p:sp>
          <p:nvSpPr>
            <p:cNvPr id="6" name="object 6"/>
            <p:cNvSpPr/>
            <p:nvPr/>
          </p:nvSpPr>
          <p:spPr>
            <a:xfrm>
              <a:off x="456844" y="548286"/>
              <a:ext cx="8229600" cy="16510"/>
            </a:xfrm>
            <a:custGeom>
              <a:avLst/>
              <a:gdLst/>
              <a:ahLst/>
              <a:cxnLst/>
              <a:rect l="l" t="t" r="r" b="b"/>
              <a:pathLst>
                <a:path w="8229600" h="16509">
                  <a:moveTo>
                    <a:pt x="8229231" y="0"/>
                  </a:moveTo>
                  <a:lnTo>
                    <a:pt x="0" y="0"/>
                  </a:lnTo>
                  <a:lnTo>
                    <a:pt x="0" y="16192"/>
                  </a:lnTo>
                  <a:lnTo>
                    <a:pt x="4114800" y="16192"/>
                  </a:lnTo>
                  <a:lnTo>
                    <a:pt x="8229231" y="1619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499D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6844" y="548286"/>
              <a:ext cx="8229600" cy="16510"/>
            </a:xfrm>
            <a:custGeom>
              <a:avLst/>
              <a:gdLst/>
              <a:ahLst/>
              <a:cxnLst/>
              <a:rect l="l" t="t" r="r" b="b"/>
              <a:pathLst>
                <a:path w="8229600" h="16509">
                  <a:moveTo>
                    <a:pt x="4114800" y="16192"/>
                  </a:moveTo>
                  <a:lnTo>
                    <a:pt x="0" y="1619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16192"/>
                  </a:lnTo>
                  <a:lnTo>
                    <a:pt x="4114800" y="16192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0544" y="4291026"/>
            <a:ext cx="8242300" cy="29209"/>
            <a:chOff x="450544" y="4291026"/>
            <a:chExt cx="8242300" cy="29209"/>
          </a:xfrm>
        </p:grpSpPr>
        <p:sp>
          <p:nvSpPr>
            <p:cNvPr id="9" name="object 9"/>
            <p:cNvSpPr/>
            <p:nvPr/>
          </p:nvSpPr>
          <p:spPr>
            <a:xfrm>
              <a:off x="456844" y="4297326"/>
              <a:ext cx="8229600" cy="16510"/>
            </a:xfrm>
            <a:custGeom>
              <a:avLst/>
              <a:gdLst/>
              <a:ahLst/>
              <a:cxnLst/>
              <a:rect l="l" t="t" r="r" b="b"/>
              <a:pathLst>
                <a:path w="8229600" h="16510">
                  <a:moveTo>
                    <a:pt x="8229231" y="0"/>
                  </a:moveTo>
                  <a:lnTo>
                    <a:pt x="0" y="0"/>
                  </a:lnTo>
                  <a:lnTo>
                    <a:pt x="0" y="16192"/>
                  </a:lnTo>
                  <a:lnTo>
                    <a:pt x="4114800" y="16192"/>
                  </a:lnTo>
                  <a:lnTo>
                    <a:pt x="8229231" y="1619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499D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6844" y="4297326"/>
              <a:ext cx="8229600" cy="16510"/>
            </a:xfrm>
            <a:custGeom>
              <a:avLst/>
              <a:gdLst/>
              <a:ahLst/>
              <a:cxnLst/>
              <a:rect l="l" t="t" r="r" b="b"/>
              <a:pathLst>
                <a:path w="8229600" h="16510">
                  <a:moveTo>
                    <a:pt x="4114800" y="16192"/>
                  </a:moveTo>
                  <a:lnTo>
                    <a:pt x="0" y="1619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16192"/>
                  </a:lnTo>
                  <a:lnTo>
                    <a:pt x="4114800" y="16192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46945" y="642139"/>
            <a:ext cx="30467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499DFF"/>
                </a:solidFill>
              </a:rPr>
              <a:t>Control</a:t>
            </a:r>
            <a:r>
              <a:rPr sz="4000" spc="-170" dirty="0">
                <a:solidFill>
                  <a:srgbClr val="499DFF"/>
                </a:solidFill>
              </a:rPr>
              <a:t> </a:t>
            </a:r>
            <a:r>
              <a:rPr sz="4000" spc="-10" dirty="0">
                <a:solidFill>
                  <a:srgbClr val="499DFF"/>
                </a:solidFill>
              </a:rPr>
              <a:t>Difuso</a:t>
            </a:r>
            <a:endParaRPr sz="4000" dirty="0"/>
          </a:p>
        </p:txBody>
      </p:sp>
      <p:sp>
        <p:nvSpPr>
          <p:cNvPr id="12" name="object 12"/>
          <p:cNvSpPr txBox="1"/>
          <p:nvPr/>
        </p:nvSpPr>
        <p:spPr>
          <a:xfrm>
            <a:off x="3504983" y="1332130"/>
            <a:ext cx="397700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 err="1">
                <a:solidFill>
                  <a:srgbClr val="C7CFE7"/>
                </a:solidFill>
                <a:latin typeface="Calibri"/>
                <a:cs typeface="Calibri"/>
              </a:rPr>
              <a:t>Péndulo</a:t>
            </a:r>
            <a:r>
              <a:rPr sz="2000" spc="-5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2000" spc="-10" dirty="0" err="1">
                <a:solidFill>
                  <a:srgbClr val="C7CFE7"/>
                </a:solidFill>
                <a:latin typeface="Calibri"/>
                <a:cs typeface="Calibri"/>
              </a:rPr>
              <a:t>Invertido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0062" y="1960462"/>
            <a:ext cx="5695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Entradas: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2976" y="1960462"/>
            <a:ext cx="20161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θ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(ángulo)</a:t>
            </a:r>
            <a:r>
              <a:rPr sz="1100" spc="2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|</a:t>
            </a:r>
            <a:r>
              <a:rPr sz="1100" spc="229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θ'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(velocidad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angular)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53664" y="1959306"/>
            <a:ext cx="26034" cy="195580"/>
            <a:chOff x="2553664" y="1959306"/>
            <a:chExt cx="26034" cy="195580"/>
          </a:xfrm>
        </p:grpSpPr>
        <p:sp>
          <p:nvSpPr>
            <p:cNvPr id="16" name="object 16"/>
            <p:cNvSpPr/>
            <p:nvPr/>
          </p:nvSpPr>
          <p:spPr>
            <a:xfrm>
              <a:off x="2559964" y="1965606"/>
              <a:ext cx="13335" cy="182880"/>
            </a:xfrm>
            <a:custGeom>
              <a:avLst/>
              <a:gdLst/>
              <a:ahLst/>
              <a:cxnLst/>
              <a:rect l="l" t="t" r="r" b="b"/>
              <a:pathLst>
                <a:path w="13335" h="182880">
                  <a:moveTo>
                    <a:pt x="13309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6832" y="182511"/>
                  </a:lnTo>
                  <a:lnTo>
                    <a:pt x="13309" y="182511"/>
                  </a:lnTo>
                  <a:lnTo>
                    <a:pt x="13309" y="0"/>
                  </a:lnTo>
                  <a:close/>
                </a:path>
              </a:pathLst>
            </a:custGeom>
            <a:solidFill>
              <a:srgbClr val="49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59964" y="1965606"/>
              <a:ext cx="13335" cy="182880"/>
            </a:xfrm>
            <a:custGeom>
              <a:avLst/>
              <a:gdLst/>
              <a:ahLst/>
              <a:cxnLst/>
              <a:rect l="l" t="t" r="r" b="b"/>
              <a:pathLst>
                <a:path w="13335" h="182880">
                  <a:moveTo>
                    <a:pt x="6832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13309" y="0"/>
                  </a:lnTo>
                  <a:lnTo>
                    <a:pt x="13309" y="182511"/>
                  </a:lnTo>
                  <a:lnTo>
                    <a:pt x="6832" y="182511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78825" y="2417662"/>
            <a:ext cx="4114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Salida: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2976" y="2417662"/>
            <a:ext cx="20053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F</a:t>
            </a:r>
            <a:r>
              <a:rPr sz="1100" spc="19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(fuerza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horizontal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sobre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carro)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53664" y="2416506"/>
            <a:ext cx="26034" cy="195580"/>
            <a:chOff x="2553664" y="2416506"/>
            <a:chExt cx="26034" cy="195580"/>
          </a:xfrm>
        </p:grpSpPr>
        <p:sp>
          <p:nvSpPr>
            <p:cNvPr id="21" name="object 21"/>
            <p:cNvSpPr/>
            <p:nvPr/>
          </p:nvSpPr>
          <p:spPr>
            <a:xfrm>
              <a:off x="2559964" y="2422806"/>
              <a:ext cx="13335" cy="182880"/>
            </a:xfrm>
            <a:custGeom>
              <a:avLst/>
              <a:gdLst/>
              <a:ahLst/>
              <a:cxnLst/>
              <a:rect l="l" t="t" r="r" b="b"/>
              <a:pathLst>
                <a:path w="13335" h="182880">
                  <a:moveTo>
                    <a:pt x="13309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6832" y="182511"/>
                  </a:lnTo>
                  <a:lnTo>
                    <a:pt x="13309" y="182511"/>
                  </a:lnTo>
                  <a:lnTo>
                    <a:pt x="13309" y="0"/>
                  </a:lnTo>
                  <a:close/>
                </a:path>
              </a:pathLst>
            </a:custGeom>
            <a:solidFill>
              <a:srgbClr val="49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9964" y="2422806"/>
              <a:ext cx="13335" cy="182880"/>
            </a:xfrm>
            <a:custGeom>
              <a:avLst/>
              <a:gdLst/>
              <a:ahLst/>
              <a:cxnLst/>
              <a:rect l="l" t="t" r="r" b="b"/>
              <a:pathLst>
                <a:path w="13335" h="182880">
                  <a:moveTo>
                    <a:pt x="6832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13309" y="0"/>
                  </a:lnTo>
                  <a:lnTo>
                    <a:pt x="13309" y="182511"/>
                  </a:lnTo>
                  <a:lnTo>
                    <a:pt x="6832" y="182511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97114" y="2779689"/>
            <a:ext cx="7010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Simulación: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89276" y="2779689"/>
            <a:ext cx="16440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AR" sz="1100" dirty="0">
                <a:solidFill>
                  <a:srgbClr val="C7CFE7"/>
                </a:solidFill>
                <a:latin typeface="Calibri"/>
                <a:cs typeface="Calibri"/>
              </a:rPr>
              <a:t>Euler</a:t>
            </a:r>
            <a:r>
              <a:rPr lang="es-AR"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lang="es-AR" sz="1100" dirty="0">
                <a:solidFill>
                  <a:srgbClr val="C7CFE7"/>
                </a:solidFill>
                <a:latin typeface="Calibri"/>
                <a:cs typeface="Calibri"/>
              </a:rPr>
              <a:t>orden</a:t>
            </a:r>
            <a:r>
              <a:rPr lang="es-AR"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lang="es-AR" sz="1100" dirty="0">
                <a:solidFill>
                  <a:srgbClr val="C7CFE7"/>
                </a:solidFill>
                <a:latin typeface="Calibri"/>
                <a:cs typeface="Calibri"/>
              </a:rPr>
              <a:t>2</a:t>
            </a:r>
            <a:r>
              <a:rPr lang="es-AR" sz="1100" spc="2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lang="es-AR" sz="1100" dirty="0">
                <a:solidFill>
                  <a:srgbClr val="C7CFE7"/>
                </a:solidFill>
                <a:latin typeface="Calibri"/>
                <a:cs typeface="Calibri"/>
              </a:rPr>
              <a:t>|</a:t>
            </a:r>
            <a:r>
              <a:rPr lang="es-AR" sz="1100" spc="2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C7CFE7"/>
                </a:solidFill>
                <a:latin typeface="Calibri"/>
                <a:cs typeface="Calibri"/>
              </a:rPr>
              <a:t>Δt</a:t>
            </a:r>
            <a:r>
              <a:rPr sz="11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0.005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C7CFE7"/>
                </a:solidFill>
                <a:latin typeface="Calibri"/>
                <a:cs typeface="Calibri"/>
              </a:rPr>
              <a:t>s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559964" y="2778533"/>
            <a:ext cx="26034" cy="195580"/>
            <a:chOff x="2553664" y="3330906"/>
            <a:chExt cx="26034" cy="195580"/>
          </a:xfrm>
        </p:grpSpPr>
        <p:sp>
          <p:nvSpPr>
            <p:cNvPr id="31" name="object 31"/>
            <p:cNvSpPr/>
            <p:nvPr/>
          </p:nvSpPr>
          <p:spPr>
            <a:xfrm>
              <a:off x="2559964" y="3337206"/>
              <a:ext cx="13335" cy="182880"/>
            </a:xfrm>
            <a:custGeom>
              <a:avLst/>
              <a:gdLst/>
              <a:ahLst/>
              <a:cxnLst/>
              <a:rect l="l" t="t" r="r" b="b"/>
              <a:pathLst>
                <a:path w="13335" h="182879">
                  <a:moveTo>
                    <a:pt x="13309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6832" y="182511"/>
                  </a:lnTo>
                  <a:lnTo>
                    <a:pt x="13309" y="182511"/>
                  </a:lnTo>
                  <a:lnTo>
                    <a:pt x="13309" y="0"/>
                  </a:lnTo>
                  <a:close/>
                </a:path>
              </a:pathLst>
            </a:custGeom>
            <a:solidFill>
              <a:srgbClr val="49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59964" y="3337206"/>
              <a:ext cx="13335" cy="182880"/>
            </a:xfrm>
            <a:custGeom>
              <a:avLst/>
              <a:gdLst/>
              <a:ahLst/>
              <a:cxnLst/>
              <a:rect l="l" t="t" r="r" b="b"/>
              <a:pathLst>
                <a:path w="13335" h="182879">
                  <a:moveTo>
                    <a:pt x="6832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13309" y="0"/>
                  </a:lnTo>
                  <a:lnTo>
                    <a:pt x="13309" y="182511"/>
                  </a:lnTo>
                  <a:lnTo>
                    <a:pt x="6832" y="182511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174022" y="4604666"/>
            <a:ext cx="27965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FA7"/>
                </a:solidFill>
                <a:latin typeface="Calibri"/>
                <a:cs typeface="Calibri"/>
              </a:rPr>
              <a:t>FING</a:t>
            </a:r>
            <a:r>
              <a:rPr sz="900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FA7"/>
                </a:solidFill>
                <a:latin typeface="Calibri"/>
                <a:cs typeface="Calibri"/>
              </a:rPr>
              <a:t>—</a:t>
            </a:r>
            <a:r>
              <a:rPr sz="900" spc="-2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FA7"/>
                </a:solidFill>
                <a:latin typeface="Calibri"/>
                <a:cs typeface="Calibri"/>
              </a:rPr>
              <a:t>UNCUYO</a:t>
            </a:r>
            <a:r>
              <a:rPr sz="900" spc="18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FA7"/>
                </a:solidFill>
                <a:latin typeface="Calibri"/>
                <a:cs typeface="Calibri"/>
              </a:rPr>
              <a:t>|</a:t>
            </a:r>
            <a:r>
              <a:rPr sz="900" spc="17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878FA7"/>
                </a:solidFill>
                <a:latin typeface="Calibri"/>
                <a:cs typeface="Calibri"/>
              </a:rPr>
              <a:t>Inteligencia</a:t>
            </a:r>
            <a:r>
              <a:rPr sz="900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FA7"/>
                </a:solidFill>
                <a:latin typeface="Calibri"/>
                <a:cs typeface="Calibri"/>
              </a:rPr>
              <a:t>Artificial</a:t>
            </a:r>
            <a:r>
              <a:rPr sz="900" spc="18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FA7"/>
                </a:solidFill>
                <a:latin typeface="Calibri"/>
                <a:cs typeface="Calibri"/>
              </a:rPr>
              <a:t>|</a:t>
            </a:r>
            <a:r>
              <a:rPr sz="900" spc="18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FA7"/>
                </a:solidFill>
                <a:latin typeface="Calibri"/>
                <a:cs typeface="Calibri"/>
              </a:rPr>
              <a:t>Hernán</a:t>
            </a:r>
            <a:r>
              <a:rPr sz="900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878FA7"/>
                </a:solidFill>
                <a:latin typeface="Calibri"/>
                <a:cs typeface="Calibri"/>
              </a:rPr>
              <a:t>Garrido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49272DB2-FE5B-4F32-A202-799B7C70C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392" y="1811047"/>
            <a:ext cx="2852073" cy="2346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-80" dirty="0"/>
              <a:t> </a:t>
            </a:r>
            <a:r>
              <a:rPr dirty="0"/>
              <a:t>Dinámico</a:t>
            </a:r>
            <a:r>
              <a:rPr spc="-75" dirty="0"/>
              <a:t> </a:t>
            </a:r>
            <a:r>
              <a:rPr dirty="0"/>
              <a:t>del</a:t>
            </a:r>
            <a:r>
              <a:rPr spc="-70" dirty="0"/>
              <a:t> </a:t>
            </a:r>
            <a:r>
              <a:rPr spc="-10" dirty="0"/>
              <a:t>Sistema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544" y="743218"/>
            <a:ext cx="8242300" cy="35560"/>
            <a:chOff x="450544" y="743218"/>
            <a:chExt cx="8242300" cy="3556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4136" y="854902"/>
            <a:ext cx="78727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sistema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consiste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en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un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carro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deslizante</a:t>
            </a:r>
            <a:r>
              <a:rPr sz="11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sobre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una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pista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horizontal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sobre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que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está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articulado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un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péndulo.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objetivo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del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controlador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es 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mantener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péndulo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en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equilibrio</a:t>
            </a:r>
            <a:r>
              <a:rPr sz="11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vertical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superior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(θ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180°)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aplicando una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fuerza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horizontal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F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sobre</a:t>
            </a:r>
            <a:r>
              <a:rPr sz="11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1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C7CFE7"/>
                </a:solidFill>
                <a:latin typeface="Calibri"/>
                <a:cs typeface="Calibri"/>
              </a:rPr>
              <a:t>carro.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9763" y="1418744"/>
            <a:ext cx="5336540" cy="1495425"/>
            <a:chOff x="239763" y="1418744"/>
            <a:chExt cx="5336540" cy="14954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63" y="1418744"/>
              <a:ext cx="5335917" cy="14950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5404" y="1508406"/>
              <a:ext cx="5120640" cy="1280160"/>
            </a:xfrm>
            <a:custGeom>
              <a:avLst/>
              <a:gdLst/>
              <a:ahLst/>
              <a:cxnLst/>
              <a:rect l="l" t="t" r="r" b="b"/>
              <a:pathLst>
                <a:path w="5120640" h="1280160">
                  <a:moveTo>
                    <a:pt x="5120271" y="0"/>
                  </a:moveTo>
                  <a:lnTo>
                    <a:pt x="0" y="0"/>
                  </a:lnTo>
                  <a:lnTo>
                    <a:pt x="0" y="1279791"/>
                  </a:lnTo>
                  <a:lnTo>
                    <a:pt x="2560320" y="1279791"/>
                  </a:lnTo>
                  <a:lnTo>
                    <a:pt x="5120271" y="1279791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5404" y="1508406"/>
            <a:ext cx="5120640" cy="128016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19"/>
              </a:spcBef>
            </a:pP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Aceleración</a:t>
            </a:r>
            <a:r>
              <a:rPr sz="110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angular</a:t>
            </a:r>
            <a:r>
              <a:rPr sz="110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del</a:t>
            </a:r>
            <a:r>
              <a:rPr sz="110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péndulo</a:t>
            </a:r>
            <a:r>
              <a:rPr sz="1100" b="1" spc="2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499DFF"/>
                </a:solidFill>
                <a:latin typeface="Calibri"/>
                <a:cs typeface="Calibri"/>
              </a:rPr>
              <a:t>(θ'')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tabLst>
                <a:tab pos="864235" algn="l"/>
                <a:tab pos="1659889" algn="l"/>
                <a:tab pos="1898650" algn="l"/>
              </a:tabLst>
            </a:pPr>
            <a:r>
              <a:rPr sz="1050" spc="260" dirty="0">
                <a:solidFill>
                  <a:srgbClr val="FFFFFF"/>
                </a:solidFill>
                <a:latin typeface="Cambria"/>
                <a:cs typeface="Cambria"/>
              </a:rPr>
              <a:t>θ''</a:t>
            </a:r>
            <a:r>
              <a:rPr sz="1050" spc="3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-5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50" spc="170" dirty="0">
                <a:solidFill>
                  <a:srgbClr val="FFFFFF"/>
                </a:solidFill>
                <a:latin typeface="Cambria"/>
                <a:cs typeface="Cambria"/>
              </a:rPr>
              <a:t>g·sin(θ)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50" spc="-50" dirty="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50" spc="155" dirty="0">
                <a:solidFill>
                  <a:srgbClr val="FFFFFF"/>
                </a:solidFill>
                <a:latin typeface="Cambria"/>
                <a:cs typeface="Cambria"/>
              </a:rPr>
              <a:t>cos(θ)·[−F</a:t>
            </a:r>
            <a:r>
              <a:rPr sz="1050" spc="4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105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95" dirty="0">
                <a:solidFill>
                  <a:srgbClr val="FFFFFF"/>
                </a:solidFill>
                <a:latin typeface="Cambria"/>
                <a:cs typeface="Cambria"/>
              </a:rPr>
              <a:t>m·l·θ'²·sin(θ)]</a:t>
            </a:r>
            <a:r>
              <a:rPr sz="1050" spc="4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14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1050" spc="4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mbria"/>
                <a:cs typeface="Cambria"/>
              </a:rPr>
              <a:t>(M+m)</a:t>
            </a:r>
            <a:endParaRPr sz="10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Cambria"/>
              <a:cs typeface="Cambria"/>
            </a:endParaRPr>
          </a:p>
          <a:p>
            <a:pPr marL="1184275" marR="662305" indent="-957580">
              <a:lnSpc>
                <a:spcPct val="100000"/>
              </a:lnSpc>
              <a:tabLst>
                <a:tab pos="2059939" algn="l"/>
                <a:tab pos="2299335" algn="l"/>
              </a:tabLst>
            </a:pPr>
            <a:r>
              <a:rPr sz="1050" spc="-70" dirty="0">
                <a:solidFill>
                  <a:srgbClr val="FFFFFF"/>
                </a:solidFill>
                <a:latin typeface="Cambria"/>
                <a:cs typeface="Cambria"/>
              </a:rPr>
              <a:t>─────────────────────────────────────────────────────</a:t>
            </a:r>
            <a:r>
              <a:rPr sz="1050" spc="340" dirty="0">
                <a:solidFill>
                  <a:srgbClr val="FFFFFF"/>
                </a:solidFill>
                <a:latin typeface="Cambria"/>
                <a:cs typeface="Cambria"/>
              </a:rPr>
              <a:t> l</a:t>
            </a:r>
            <a:r>
              <a:rPr sz="105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330" dirty="0">
                <a:solidFill>
                  <a:srgbClr val="FFFFFF"/>
                </a:solidFill>
                <a:latin typeface="Cambria"/>
                <a:cs typeface="Cambria"/>
              </a:rPr>
              <a:t>·</a:t>
            </a:r>
            <a:r>
              <a:rPr sz="105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265" dirty="0">
                <a:solidFill>
                  <a:srgbClr val="FFFFFF"/>
                </a:solidFill>
                <a:latin typeface="Cambria"/>
                <a:cs typeface="Cambria"/>
              </a:rPr>
              <a:t>[</a:t>
            </a:r>
            <a:r>
              <a:rPr sz="1050" spc="3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35" dirty="0">
                <a:solidFill>
                  <a:srgbClr val="FFFFFF"/>
                </a:solidFill>
                <a:latin typeface="Cambria"/>
                <a:cs typeface="Cambria"/>
              </a:rPr>
              <a:t>4/3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50" spc="-5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50" spc="125" dirty="0">
                <a:solidFill>
                  <a:srgbClr val="FFFFFF"/>
                </a:solidFill>
                <a:latin typeface="Cambria"/>
                <a:cs typeface="Cambria"/>
              </a:rPr>
              <a:t>m·cos²(θ)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14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1050" spc="3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(M+m)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215" dirty="0">
                <a:solidFill>
                  <a:srgbClr val="FFFFFF"/>
                </a:solidFill>
                <a:latin typeface="Cambria"/>
                <a:cs typeface="Cambria"/>
              </a:rPr>
              <a:t>]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763" y="2762988"/>
            <a:ext cx="5336540" cy="1221105"/>
            <a:chOff x="239763" y="2762988"/>
            <a:chExt cx="5336540" cy="12211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763" y="2762988"/>
              <a:ext cx="5335917" cy="12207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65404" y="2852638"/>
              <a:ext cx="5120640" cy="1005840"/>
            </a:xfrm>
            <a:custGeom>
              <a:avLst/>
              <a:gdLst/>
              <a:ahLst/>
              <a:cxnLst/>
              <a:rect l="l" t="t" r="r" b="b"/>
              <a:pathLst>
                <a:path w="5120640" h="1005839">
                  <a:moveTo>
                    <a:pt x="5120271" y="0"/>
                  </a:moveTo>
                  <a:lnTo>
                    <a:pt x="0" y="0"/>
                  </a:lnTo>
                  <a:lnTo>
                    <a:pt x="0" y="1005484"/>
                  </a:lnTo>
                  <a:lnTo>
                    <a:pt x="2560320" y="1005484"/>
                  </a:lnTo>
                  <a:lnTo>
                    <a:pt x="5120271" y="1005484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404" y="2852638"/>
              <a:ext cx="5120640" cy="1005840"/>
            </a:xfrm>
            <a:custGeom>
              <a:avLst/>
              <a:gdLst/>
              <a:ahLst/>
              <a:cxnLst/>
              <a:rect l="l" t="t" r="r" b="b"/>
              <a:pathLst>
                <a:path w="5120640" h="1005839">
                  <a:moveTo>
                    <a:pt x="2560320" y="1005484"/>
                  </a:moveTo>
                  <a:lnTo>
                    <a:pt x="0" y="1005484"/>
                  </a:lnTo>
                  <a:lnTo>
                    <a:pt x="0" y="0"/>
                  </a:lnTo>
                  <a:lnTo>
                    <a:pt x="5120271" y="0"/>
                  </a:lnTo>
                  <a:lnTo>
                    <a:pt x="5120271" y="1005484"/>
                  </a:lnTo>
                  <a:lnTo>
                    <a:pt x="2560320" y="1005484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9856" y="2957311"/>
            <a:ext cx="4647565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Aceleración</a:t>
            </a:r>
            <a:r>
              <a:rPr sz="1100" b="1" spc="-2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lineal</a:t>
            </a:r>
            <a:r>
              <a:rPr sz="1100" b="1" spc="-3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del</a:t>
            </a:r>
            <a:r>
              <a:rPr sz="1100" b="1" spc="-1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carro</a:t>
            </a:r>
            <a:r>
              <a:rPr sz="1100" b="1" spc="19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7CD2FB"/>
                </a:solidFill>
                <a:latin typeface="Calibri"/>
                <a:cs typeface="Calibri"/>
              </a:rPr>
              <a:t>(x'')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ts val="1260"/>
              </a:lnSpc>
              <a:spcBef>
                <a:spcPts val="975"/>
              </a:spcBef>
              <a:tabLst>
                <a:tab pos="568960" algn="l"/>
              </a:tabLst>
            </a:pPr>
            <a:r>
              <a:rPr sz="1050" spc="285" dirty="0">
                <a:solidFill>
                  <a:srgbClr val="FFFFFF"/>
                </a:solidFill>
                <a:latin typeface="Cambria"/>
                <a:cs typeface="Cambria"/>
              </a:rPr>
              <a:t>x''</a:t>
            </a:r>
            <a:r>
              <a:rPr sz="105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-5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50" spc="265" dirty="0">
                <a:solidFill>
                  <a:srgbClr val="FFFFFF"/>
                </a:solidFill>
                <a:latin typeface="Cambria"/>
                <a:cs typeface="Cambria"/>
              </a:rPr>
              <a:t>[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1050" spc="3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60" dirty="0">
                <a:solidFill>
                  <a:srgbClr val="FFFFFF"/>
                </a:solidFill>
                <a:latin typeface="Cambria"/>
                <a:cs typeface="Cambria"/>
              </a:rPr>
              <a:t>b·ẋ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sz="105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95" dirty="0">
                <a:solidFill>
                  <a:srgbClr val="FFFFFF"/>
                </a:solidFill>
                <a:latin typeface="Cambria"/>
                <a:cs typeface="Cambria"/>
              </a:rPr>
              <a:t>m·l·(θ'²·sin(θ)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105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200" dirty="0">
                <a:solidFill>
                  <a:srgbClr val="FFFFFF"/>
                </a:solidFill>
                <a:latin typeface="Cambria"/>
                <a:cs typeface="Cambria"/>
              </a:rPr>
              <a:t>θ''·cos(θ))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265" dirty="0">
                <a:solidFill>
                  <a:srgbClr val="FFFFFF"/>
                </a:solidFill>
                <a:latin typeface="Cambria"/>
                <a:cs typeface="Cambria"/>
              </a:rPr>
              <a:t>]</a:t>
            </a:r>
            <a:r>
              <a:rPr sz="105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14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105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mbria"/>
                <a:cs typeface="Cambria"/>
              </a:rPr>
              <a:t>(M+m)</a:t>
            </a:r>
            <a:endParaRPr sz="1050" dirty="0">
              <a:latin typeface="Cambria"/>
              <a:cs typeface="Cambria"/>
            </a:endParaRPr>
          </a:p>
          <a:p>
            <a:pPr marL="12700" marR="722630" indent="158115">
              <a:lnSpc>
                <a:spcPct val="100000"/>
              </a:lnSpc>
              <a:tabLst>
                <a:tab pos="1126490" algn="l"/>
              </a:tabLst>
            </a:pPr>
            <a:r>
              <a:rPr sz="1050" spc="80" dirty="0">
                <a:solidFill>
                  <a:srgbClr val="FFFFFF"/>
                </a:solidFill>
                <a:latin typeface="Cambria"/>
                <a:cs typeface="Cambria"/>
              </a:rPr>
              <a:t>Fv</a:t>
            </a:r>
            <a:r>
              <a:rPr sz="105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1050" spc="3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35" dirty="0">
                <a:solidFill>
                  <a:srgbClr val="FFFFFF"/>
                </a:solidFill>
                <a:latin typeface="Cambria"/>
                <a:cs typeface="Cambria"/>
              </a:rPr>
              <a:t>b·ẋ</a:t>
            </a:r>
            <a:r>
              <a:rPr sz="10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50" spc="200" dirty="0">
                <a:solidFill>
                  <a:srgbClr val="FFFFFF"/>
                </a:solidFill>
                <a:latin typeface="Cambria"/>
                <a:cs typeface="Cambria"/>
              </a:rPr>
              <a:t>(fricción</a:t>
            </a:r>
            <a:r>
              <a:rPr sz="1050" spc="4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55" dirty="0">
                <a:solidFill>
                  <a:srgbClr val="FFFFFF"/>
                </a:solidFill>
                <a:latin typeface="Cambria"/>
                <a:cs typeface="Cambria"/>
              </a:rPr>
              <a:t>viscosa</a:t>
            </a:r>
            <a:r>
              <a:rPr sz="1050" spc="4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30" dirty="0">
                <a:solidFill>
                  <a:srgbClr val="FFFFFF"/>
                </a:solidFill>
                <a:latin typeface="Cambria"/>
                <a:cs typeface="Cambria"/>
              </a:rPr>
              <a:t>proporcional</a:t>
            </a:r>
            <a:r>
              <a:rPr sz="1050" spc="4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114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050" spc="4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50" spc="200" dirty="0">
                <a:solidFill>
                  <a:srgbClr val="FFFFFF"/>
                </a:solidFill>
                <a:latin typeface="Cambria"/>
                <a:cs typeface="Cambria"/>
              </a:rPr>
              <a:t>la </a:t>
            </a:r>
            <a:r>
              <a:rPr sz="1050" spc="140" dirty="0">
                <a:solidFill>
                  <a:srgbClr val="FFFFFF"/>
                </a:solidFill>
                <a:latin typeface="Cambria"/>
                <a:cs typeface="Cambria"/>
              </a:rPr>
              <a:t>velocidad)</a:t>
            </a:r>
            <a:endParaRPr sz="1050" dirty="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9763" y="3823908"/>
            <a:ext cx="5336540" cy="1083945"/>
            <a:chOff x="239763" y="3823908"/>
            <a:chExt cx="5336540" cy="108394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763" y="3823908"/>
              <a:ext cx="5335917" cy="108361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5404" y="3913557"/>
              <a:ext cx="5120640" cy="868680"/>
            </a:xfrm>
            <a:custGeom>
              <a:avLst/>
              <a:gdLst/>
              <a:ahLst/>
              <a:cxnLst/>
              <a:rect l="l" t="t" r="r" b="b"/>
              <a:pathLst>
                <a:path w="5120640" h="868679">
                  <a:moveTo>
                    <a:pt x="5120271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2560320" y="868324"/>
                  </a:lnTo>
                  <a:lnTo>
                    <a:pt x="5120271" y="868324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5404" y="3913558"/>
            <a:ext cx="5120640" cy="86868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850"/>
              </a:spcBef>
            </a:pP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Integración</a:t>
            </a:r>
            <a:r>
              <a:rPr sz="11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Numérica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—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Euler</a:t>
            </a:r>
            <a:r>
              <a:rPr sz="11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orden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F49D0A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35"/>
              </a:spcBef>
            </a:pPr>
            <a:r>
              <a:rPr sz="1000" spc="140" dirty="0">
                <a:solidFill>
                  <a:srgbClr val="FFFFFF"/>
                </a:solidFill>
                <a:latin typeface="Cambria"/>
                <a:cs typeface="Cambria"/>
              </a:rPr>
              <a:t>θ(t+Δt)</a:t>
            </a:r>
            <a:r>
              <a:rPr sz="10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10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80" dirty="0">
                <a:solidFill>
                  <a:srgbClr val="FFFFFF"/>
                </a:solidFill>
                <a:latin typeface="Cambria"/>
                <a:cs typeface="Cambria"/>
              </a:rPr>
              <a:t>θ(t)</a:t>
            </a:r>
            <a:r>
              <a:rPr sz="10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sz="10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90" dirty="0">
                <a:solidFill>
                  <a:srgbClr val="FFFFFF"/>
                </a:solidFill>
                <a:latin typeface="Cambria"/>
                <a:cs typeface="Cambria"/>
              </a:rPr>
              <a:t>θ'·Δt</a:t>
            </a:r>
            <a:r>
              <a:rPr sz="10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sz="10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55" dirty="0">
                <a:solidFill>
                  <a:srgbClr val="FFFFFF"/>
                </a:solidFill>
                <a:latin typeface="Cambria"/>
                <a:cs typeface="Cambria"/>
              </a:rPr>
              <a:t>½·θ''·Δt²</a:t>
            </a:r>
            <a:endParaRPr sz="1000">
              <a:latin typeface="Cambria"/>
              <a:cs typeface="Cambria"/>
            </a:endParaRPr>
          </a:p>
          <a:p>
            <a:pPr marL="226695">
              <a:lnSpc>
                <a:spcPct val="100000"/>
              </a:lnSpc>
              <a:tabLst>
                <a:tab pos="2665095" algn="l"/>
              </a:tabLst>
            </a:pPr>
            <a:r>
              <a:rPr sz="1000" spc="170" dirty="0">
                <a:solidFill>
                  <a:srgbClr val="FFFFFF"/>
                </a:solidFill>
                <a:latin typeface="Cambria"/>
                <a:cs typeface="Cambria"/>
              </a:rPr>
              <a:t>θ'(t+Δt)</a:t>
            </a:r>
            <a:r>
              <a:rPr sz="1000" spc="4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10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215" dirty="0">
                <a:solidFill>
                  <a:srgbClr val="FFFFFF"/>
                </a:solidFill>
                <a:latin typeface="Cambria"/>
                <a:cs typeface="Cambria"/>
              </a:rPr>
              <a:t>θ'(t)</a:t>
            </a:r>
            <a:r>
              <a:rPr sz="1000" spc="4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sz="10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210" dirty="0">
                <a:solidFill>
                  <a:srgbClr val="FFFFFF"/>
                </a:solidFill>
                <a:latin typeface="Cambria"/>
                <a:cs typeface="Cambria"/>
              </a:rPr>
              <a:t>θ''·Δt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00" spc="80" dirty="0">
                <a:solidFill>
                  <a:srgbClr val="FFFFFF"/>
                </a:solidFill>
                <a:latin typeface="Cambria"/>
                <a:cs typeface="Cambria"/>
              </a:rPr>
              <a:t>(ídem</a:t>
            </a:r>
            <a:r>
              <a:rPr sz="100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10" dirty="0">
                <a:solidFill>
                  <a:srgbClr val="FFFFFF"/>
                </a:solidFill>
                <a:latin typeface="Cambria"/>
                <a:cs typeface="Cambria"/>
              </a:rPr>
              <a:t>para</a:t>
            </a:r>
            <a:r>
              <a:rPr sz="100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250" dirty="0">
                <a:solidFill>
                  <a:srgbClr val="FFFFFF"/>
                </a:solidFill>
                <a:latin typeface="Cambria"/>
                <a:cs typeface="Cambria"/>
              </a:rPr>
              <a:t>x,</a:t>
            </a:r>
            <a:r>
              <a:rPr sz="100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35" dirty="0">
                <a:solidFill>
                  <a:srgbClr val="FFFFFF"/>
                </a:solidFill>
                <a:latin typeface="Cambria"/>
                <a:cs typeface="Cambria"/>
              </a:rPr>
              <a:t>ẋ)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97563" y="1418744"/>
            <a:ext cx="3324860" cy="3507104"/>
            <a:chOff x="5497563" y="1418744"/>
            <a:chExt cx="3324860" cy="3507104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97563" y="1418744"/>
              <a:ext cx="3324237" cy="35067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623204" y="1508406"/>
              <a:ext cx="3108960" cy="3291840"/>
            </a:xfrm>
            <a:custGeom>
              <a:avLst/>
              <a:gdLst/>
              <a:ahLst/>
              <a:cxnLst/>
              <a:rect l="l" t="t" r="r" b="b"/>
              <a:pathLst>
                <a:path w="3108959" h="3291840">
                  <a:moveTo>
                    <a:pt x="3108591" y="0"/>
                  </a:moveTo>
                  <a:lnTo>
                    <a:pt x="0" y="0"/>
                  </a:lnTo>
                  <a:lnTo>
                    <a:pt x="0" y="3291471"/>
                  </a:lnTo>
                  <a:lnTo>
                    <a:pt x="1554480" y="3291471"/>
                  </a:lnTo>
                  <a:lnTo>
                    <a:pt x="3108591" y="3291471"/>
                  </a:lnTo>
                  <a:lnTo>
                    <a:pt x="310859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23204" y="1508406"/>
              <a:ext cx="3108960" cy="3291840"/>
            </a:xfrm>
            <a:custGeom>
              <a:avLst/>
              <a:gdLst/>
              <a:ahLst/>
              <a:cxnLst/>
              <a:rect l="l" t="t" r="r" b="b"/>
              <a:pathLst>
                <a:path w="3108959" h="3291840">
                  <a:moveTo>
                    <a:pt x="1554480" y="3291471"/>
                  </a:moveTo>
                  <a:lnTo>
                    <a:pt x="0" y="3291471"/>
                  </a:lnTo>
                  <a:lnTo>
                    <a:pt x="0" y="0"/>
                  </a:lnTo>
                  <a:lnTo>
                    <a:pt x="3108591" y="0"/>
                  </a:lnTo>
                  <a:lnTo>
                    <a:pt x="3108591" y="3291471"/>
                  </a:lnTo>
                  <a:lnTo>
                    <a:pt x="1554480" y="3291471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04636" y="1613067"/>
            <a:ext cx="13684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7CFE7"/>
                </a:solidFill>
                <a:latin typeface="Calibri"/>
                <a:cs typeface="Calibri"/>
              </a:rPr>
              <a:t>Parámetros </a:t>
            </a:r>
            <a:r>
              <a:rPr sz="1100" b="1" dirty="0">
                <a:solidFill>
                  <a:srgbClr val="C7CFE7"/>
                </a:solidFill>
                <a:latin typeface="Calibri"/>
                <a:cs typeface="Calibri"/>
              </a:rPr>
              <a:t>del </a:t>
            </a:r>
            <a:r>
              <a:rPr sz="1100" b="1" spc="-10" dirty="0">
                <a:solidFill>
                  <a:srgbClr val="C7CFE7"/>
                </a:solidFill>
                <a:latin typeface="Calibri"/>
                <a:cs typeface="Calibri"/>
              </a:rPr>
              <a:t>sistema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08650" y="1913536"/>
            <a:ext cx="2893060" cy="415290"/>
            <a:chOff x="5708650" y="1913536"/>
            <a:chExt cx="2893060" cy="415290"/>
          </a:xfrm>
        </p:grpSpPr>
        <p:sp>
          <p:nvSpPr>
            <p:cNvPr id="26" name="object 26"/>
            <p:cNvSpPr/>
            <p:nvPr/>
          </p:nvSpPr>
          <p:spPr>
            <a:xfrm>
              <a:off x="5715000" y="1919886"/>
              <a:ext cx="2880360" cy="402590"/>
            </a:xfrm>
            <a:custGeom>
              <a:avLst/>
              <a:gdLst/>
              <a:ahLst/>
              <a:cxnLst/>
              <a:rect l="l" t="t" r="r" b="b"/>
              <a:pathLst>
                <a:path w="2880359" h="402589">
                  <a:moveTo>
                    <a:pt x="2880004" y="0"/>
                  </a:moveTo>
                  <a:lnTo>
                    <a:pt x="0" y="0"/>
                  </a:lnTo>
                  <a:lnTo>
                    <a:pt x="0" y="402120"/>
                  </a:lnTo>
                  <a:lnTo>
                    <a:pt x="1440002" y="402120"/>
                  </a:lnTo>
                  <a:lnTo>
                    <a:pt x="2880004" y="402120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D21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15000" y="1919886"/>
              <a:ext cx="2880360" cy="402590"/>
            </a:xfrm>
            <a:custGeom>
              <a:avLst/>
              <a:gdLst/>
              <a:ahLst/>
              <a:cxnLst/>
              <a:rect l="l" t="t" r="r" b="b"/>
              <a:pathLst>
                <a:path w="2880359" h="402589">
                  <a:moveTo>
                    <a:pt x="1440002" y="402120"/>
                  </a:moveTo>
                  <a:lnTo>
                    <a:pt x="0" y="402120"/>
                  </a:lnTo>
                  <a:lnTo>
                    <a:pt x="0" y="0"/>
                  </a:lnTo>
                  <a:lnTo>
                    <a:pt x="2880004" y="0"/>
                  </a:lnTo>
                  <a:lnTo>
                    <a:pt x="2880004" y="402120"/>
                  </a:lnTo>
                  <a:lnTo>
                    <a:pt x="1440002" y="402120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832005" y="2032103"/>
            <a:ext cx="895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360" dirty="0">
                <a:solidFill>
                  <a:srgbClr val="499DFF"/>
                </a:solidFill>
                <a:latin typeface="Segoe UI Symbol"/>
                <a:cs typeface="Segoe UI Symbol"/>
              </a:rPr>
              <a:t>M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5920" y="2036066"/>
            <a:ext cx="5200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114" dirty="0">
                <a:solidFill>
                  <a:srgbClr val="FFFFFF"/>
                </a:solidFill>
                <a:latin typeface="Cambria"/>
                <a:cs typeface="Cambria"/>
              </a:rPr>
              <a:t>20.0</a:t>
            </a:r>
            <a:r>
              <a:rPr sz="95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60" dirty="0">
                <a:solidFill>
                  <a:srgbClr val="FFFFFF"/>
                </a:solidFill>
                <a:latin typeface="Cambria"/>
                <a:cs typeface="Cambria"/>
              </a:rPr>
              <a:t>kg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59116" y="2043622"/>
            <a:ext cx="6623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78FA7"/>
                </a:solidFill>
                <a:latin typeface="Calibri"/>
                <a:cs typeface="Calibri"/>
              </a:rPr>
              <a:t>Masa</a:t>
            </a:r>
            <a:r>
              <a:rPr sz="850" spc="-3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8FA7"/>
                </a:solidFill>
                <a:latin typeface="Calibri"/>
                <a:cs typeface="Calibri"/>
              </a:rPr>
              <a:t>del</a:t>
            </a:r>
            <a:r>
              <a:rPr sz="850" spc="-3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8FA7"/>
                </a:solidFill>
                <a:latin typeface="Calibri"/>
                <a:cs typeface="Calibri"/>
              </a:rPr>
              <a:t>carro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708650" y="2389087"/>
            <a:ext cx="2893060" cy="415290"/>
            <a:chOff x="5708650" y="2389087"/>
            <a:chExt cx="2893060" cy="415290"/>
          </a:xfrm>
        </p:grpSpPr>
        <p:sp>
          <p:nvSpPr>
            <p:cNvPr id="32" name="object 32"/>
            <p:cNvSpPr/>
            <p:nvPr/>
          </p:nvSpPr>
          <p:spPr>
            <a:xfrm>
              <a:off x="5715000" y="2395437"/>
              <a:ext cx="2880360" cy="402590"/>
            </a:xfrm>
            <a:custGeom>
              <a:avLst/>
              <a:gdLst/>
              <a:ahLst/>
              <a:cxnLst/>
              <a:rect l="l" t="t" r="r" b="b"/>
              <a:pathLst>
                <a:path w="2880359" h="402589">
                  <a:moveTo>
                    <a:pt x="2880004" y="0"/>
                  </a:moveTo>
                  <a:lnTo>
                    <a:pt x="0" y="0"/>
                  </a:lnTo>
                  <a:lnTo>
                    <a:pt x="0" y="402120"/>
                  </a:lnTo>
                  <a:lnTo>
                    <a:pt x="1440002" y="402120"/>
                  </a:lnTo>
                  <a:lnTo>
                    <a:pt x="2880004" y="402120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15000" y="2395437"/>
              <a:ext cx="2880360" cy="402590"/>
            </a:xfrm>
            <a:custGeom>
              <a:avLst/>
              <a:gdLst/>
              <a:ahLst/>
              <a:cxnLst/>
              <a:rect l="l" t="t" r="r" b="b"/>
              <a:pathLst>
                <a:path w="2880359" h="402589">
                  <a:moveTo>
                    <a:pt x="1440002" y="402120"/>
                  </a:moveTo>
                  <a:lnTo>
                    <a:pt x="0" y="402120"/>
                  </a:lnTo>
                  <a:lnTo>
                    <a:pt x="0" y="0"/>
                  </a:lnTo>
                  <a:lnTo>
                    <a:pt x="2880004" y="0"/>
                  </a:lnTo>
                  <a:lnTo>
                    <a:pt x="2880004" y="402120"/>
                  </a:lnTo>
                  <a:lnTo>
                    <a:pt x="1440002" y="402120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32005" y="2507299"/>
            <a:ext cx="940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93395" algn="l"/>
              </a:tabLst>
            </a:pPr>
            <a:r>
              <a:rPr sz="1000" spc="-320" dirty="0">
                <a:solidFill>
                  <a:srgbClr val="499DFF"/>
                </a:solidFill>
                <a:latin typeface="Segoe UI Symbol"/>
                <a:cs typeface="Segoe UI Symbol"/>
              </a:rPr>
              <a:t>m</a:t>
            </a:r>
            <a:r>
              <a:rPr sz="1000" dirty="0">
                <a:solidFill>
                  <a:srgbClr val="499DFF"/>
                </a:solidFill>
                <a:latin typeface="Segoe UI Symbol"/>
                <a:cs typeface="Segoe UI Symbol"/>
              </a:rPr>
              <a:t>	</a:t>
            </a:r>
            <a:r>
              <a:rPr sz="950" spc="145" dirty="0">
                <a:solidFill>
                  <a:srgbClr val="FFFFFF"/>
                </a:solidFill>
                <a:latin typeface="Cambria"/>
                <a:cs typeface="Cambria"/>
              </a:rPr>
              <a:t>3.0</a:t>
            </a:r>
            <a:r>
              <a:rPr sz="95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50" dirty="0">
                <a:solidFill>
                  <a:srgbClr val="FFFFFF"/>
                </a:solidFill>
                <a:latin typeface="Cambria"/>
                <a:cs typeface="Cambria"/>
              </a:rPr>
              <a:t>kg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59116" y="2518818"/>
            <a:ext cx="7981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78FA7"/>
                </a:solidFill>
                <a:latin typeface="Calibri"/>
                <a:cs typeface="Calibri"/>
              </a:rPr>
              <a:t>Masa</a:t>
            </a:r>
            <a:r>
              <a:rPr sz="850" spc="-3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8FA7"/>
                </a:solidFill>
                <a:latin typeface="Calibri"/>
                <a:cs typeface="Calibri"/>
              </a:rPr>
              <a:t>del</a:t>
            </a:r>
            <a:r>
              <a:rPr sz="850" spc="-3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8FA7"/>
                </a:solidFill>
                <a:latin typeface="Calibri"/>
                <a:cs typeface="Calibri"/>
              </a:rPr>
              <a:t>péndulo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15000" y="2871002"/>
            <a:ext cx="2880360" cy="402590"/>
          </a:xfrm>
          <a:custGeom>
            <a:avLst/>
            <a:gdLst/>
            <a:ahLst/>
            <a:cxnLst/>
            <a:rect l="l" t="t" r="r" b="b"/>
            <a:pathLst>
              <a:path w="2880359" h="402589">
                <a:moveTo>
                  <a:pt x="2880004" y="0"/>
                </a:moveTo>
                <a:lnTo>
                  <a:pt x="0" y="0"/>
                </a:lnTo>
                <a:lnTo>
                  <a:pt x="0" y="402120"/>
                </a:lnTo>
                <a:lnTo>
                  <a:pt x="1440002" y="402120"/>
                </a:lnTo>
                <a:lnTo>
                  <a:pt x="2880004" y="402120"/>
                </a:lnTo>
                <a:lnTo>
                  <a:pt x="2880004" y="0"/>
                </a:lnTo>
                <a:close/>
              </a:path>
            </a:pathLst>
          </a:custGeom>
          <a:solidFill>
            <a:srgbClr val="1D21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715000" y="2871002"/>
            <a:ext cx="2880360" cy="40259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tabLst>
                <a:tab pos="610235" algn="l"/>
                <a:tab pos="1644014" algn="l"/>
              </a:tabLst>
            </a:pPr>
            <a:r>
              <a:rPr sz="1000" spc="310" dirty="0">
                <a:solidFill>
                  <a:srgbClr val="499DFF"/>
                </a:solidFill>
                <a:latin typeface="Segoe UI Symbol"/>
                <a:cs typeface="Segoe UI Symbol"/>
              </a:rPr>
              <a:t>l</a:t>
            </a:r>
            <a:r>
              <a:rPr sz="1000" dirty="0">
                <a:solidFill>
                  <a:srgbClr val="499DFF"/>
                </a:solidFill>
                <a:latin typeface="Segoe UI Symbol"/>
                <a:cs typeface="Segoe UI Symbol"/>
              </a:rPr>
              <a:t>	</a:t>
            </a:r>
            <a:r>
              <a:rPr sz="950" spc="145" dirty="0">
                <a:solidFill>
                  <a:srgbClr val="FFFFFF"/>
                </a:solidFill>
                <a:latin typeface="Cambria"/>
                <a:cs typeface="Cambria"/>
              </a:rPr>
              <a:t>1.0</a:t>
            </a:r>
            <a:r>
              <a:rPr sz="95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-50" dirty="0">
                <a:solidFill>
                  <a:srgbClr val="FFFFFF"/>
                </a:solidFill>
                <a:latin typeface="Cambria"/>
                <a:cs typeface="Cambria"/>
              </a:rPr>
              <a:t>m</a:t>
            </a:r>
            <a:r>
              <a:rPr sz="9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275" spc="-15" baseline="3267" dirty="0">
                <a:solidFill>
                  <a:srgbClr val="878FA7"/>
                </a:solidFill>
                <a:latin typeface="Calibri"/>
                <a:cs typeface="Calibri"/>
              </a:rPr>
              <a:t>Longitud</a:t>
            </a:r>
            <a:r>
              <a:rPr sz="1275" baseline="3267" dirty="0">
                <a:solidFill>
                  <a:srgbClr val="878FA7"/>
                </a:solidFill>
                <a:latin typeface="Calibri"/>
                <a:cs typeface="Calibri"/>
              </a:rPr>
              <a:t> del</a:t>
            </a:r>
            <a:r>
              <a:rPr sz="1275" spc="-7" baseline="3267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1275" spc="-15" baseline="3267" dirty="0">
                <a:solidFill>
                  <a:srgbClr val="878FA7"/>
                </a:solidFill>
                <a:latin typeface="Calibri"/>
                <a:cs typeface="Calibri"/>
              </a:rPr>
              <a:t>péndulo</a:t>
            </a:r>
            <a:endParaRPr sz="1275" baseline="3267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15000" y="3346198"/>
            <a:ext cx="2880360" cy="402590"/>
          </a:xfrm>
          <a:custGeom>
            <a:avLst/>
            <a:gdLst/>
            <a:ahLst/>
            <a:cxnLst/>
            <a:rect l="l" t="t" r="r" b="b"/>
            <a:pathLst>
              <a:path w="2880359" h="402589">
                <a:moveTo>
                  <a:pt x="2880004" y="0"/>
                </a:moveTo>
                <a:lnTo>
                  <a:pt x="0" y="0"/>
                </a:lnTo>
                <a:lnTo>
                  <a:pt x="0" y="402120"/>
                </a:lnTo>
                <a:lnTo>
                  <a:pt x="1440002" y="402120"/>
                </a:lnTo>
                <a:lnTo>
                  <a:pt x="2880004" y="402120"/>
                </a:lnTo>
                <a:lnTo>
                  <a:pt x="2880004" y="0"/>
                </a:lnTo>
                <a:close/>
              </a:path>
            </a:pathLst>
          </a:custGeom>
          <a:solidFill>
            <a:srgbClr val="191C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715000" y="3346198"/>
            <a:ext cx="2880360" cy="40259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985"/>
              </a:spcBef>
              <a:tabLst>
                <a:tab pos="610235" algn="l"/>
                <a:tab pos="1644014" algn="l"/>
              </a:tabLst>
            </a:pPr>
            <a:r>
              <a:rPr sz="1000" spc="-50" dirty="0">
                <a:solidFill>
                  <a:srgbClr val="499DFF"/>
                </a:solidFill>
                <a:latin typeface="Segoe UI Symbol"/>
                <a:cs typeface="Segoe UI Symbol"/>
              </a:rPr>
              <a:t>g</a:t>
            </a:r>
            <a:r>
              <a:rPr sz="1000" dirty="0">
                <a:solidFill>
                  <a:srgbClr val="499DFF"/>
                </a:solidFill>
                <a:latin typeface="Segoe UI Symbol"/>
                <a:cs typeface="Segoe UI Symbol"/>
              </a:rPr>
              <a:t>	</a:t>
            </a:r>
            <a:r>
              <a:rPr sz="950" spc="100" dirty="0">
                <a:solidFill>
                  <a:srgbClr val="FFFFFF"/>
                </a:solidFill>
                <a:latin typeface="Cambria"/>
                <a:cs typeface="Cambria"/>
              </a:rPr>
              <a:t>9.807</a:t>
            </a:r>
            <a:r>
              <a:rPr sz="95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30" dirty="0">
                <a:solidFill>
                  <a:srgbClr val="FFFFFF"/>
                </a:solidFill>
                <a:latin typeface="Cambria"/>
                <a:cs typeface="Cambria"/>
              </a:rPr>
              <a:t>m/s²</a:t>
            </a:r>
            <a:r>
              <a:rPr sz="9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275" spc="-15" baseline="3267" dirty="0">
                <a:solidFill>
                  <a:srgbClr val="878FA7"/>
                </a:solidFill>
                <a:latin typeface="Calibri"/>
                <a:cs typeface="Calibri"/>
              </a:rPr>
              <a:t>Gravedad</a:t>
            </a:r>
            <a:endParaRPr sz="1275" baseline="3267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715000" y="3821762"/>
            <a:ext cx="2880360" cy="402590"/>
          </a:xfrm>
          <a:custGeom>
            <a:avLst/>
            <a:gdLst/>
            <a:ahLst/>
            <a:cxnLst/>
            <a:rect l="l" t="t" r="r" b="b"/>
            <a:pathLst>
              <a:path w="2880359" h="402589">
                <a:moveTo>
                  <a:pt x="2880004" y="0"/>
                </a:moveTo>
                <a:lnTo>
                  <a:pt x="0" y="0"/>
                </a:lnTo>
                <a:lnTo>
                  <a:pt x="0" y="402120"/>
                </a:lnTo>
                <a:lnTo>
                  <a:pt x="1440002" y="402120"/>
                </a:lnTo>
                <a:lnTo>
                  <a:pt x="2880004" y="402120"/>
                </a:lnTo>
                <a:lnTo>
                  <a:pt x="2880004" y="0"/>
                </a:lnTo>
                <a:close/>
              </a:path>
            </a:pathLst>
          </a:custGeom>
          <a:solidFill>
            <a:srgbClr val="1D21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715000" y="3821762"/>
            <a:ext cx="2880360" cy="40259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tabLst>
                <a:tab pos="610235" algn="l"/>
                <a:tab pos="1644014" algn="l"/>
              </a:tabLst>
            </a:pPr>
            <a:r>
              <a:rPr sz="1000" spc="-50" dirty="0">
                <a:solidFill>
                  <a:srgbClr val="499DFF"/>
                </a:solidFill>
                <a:latin typeface="Segoe UI Symbol"/>
                <a:cs typeface="Segoe UI Symbol"/>
              </a:rPr>
              <a:t>b</a:t>
            </a:r>
            <a:r>
              <a:rPr sz="1000" dirty="0">
                <a:solidFill>
                  <a:srgbClr val="499DFF"/>
                </a:solidFill>
                <a:latin typeface="Segoe UI Symbol"/>
                <a:cs typeface="Segoe UI Symbol"/>
              </a:rPr>
              <a:t>	</a:t>
            </a:r>
            <a:r>
              <a:rPr sz="950" spc="114" dirty="0">
                <a:solidFill>
                  <a:srgbClr val="FFFFFF"/>
                </a:solidFill>
                <a:latin typeface="Cambria"/>
                <a:cs typeface="Cambria"/>
              </a:rPr>
              <a:t>30.0</a:t>
            </a:r>
            <a:r>
              <a:rPr sz="95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30" dirty="0">
                <a:solidFill>
                  <a:srgbClr val="FFFFFF"/>
                </a:solidFill>
                <a:latin typeface="Cambria"/>
                <a:cs typeface="Cambria"/>
              </a:rPr>
              <a:t>N·s/m</a:t>
            </a:r>
            <a:r>
              <a:rPr sz="9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275" spc="-30" baseline="3267" dirty="0">
                <a:solidFill>
                  <a:srgbClr val="878FA7"/>
                </a:solidFill>
                <a:latin typeface="Calibri"/>
                <a:cs typeface="Calibri"/>
              </a:rPr>
              <a:t>Coef.</a:t>
            </a:r>
            <a:r>
              <a:rPr sz="1275" spc="7" baseline="3267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1275" spc="-15" baseline="3267" dirty="0">
                <a:solidFill>
                  <a:srgbClr val="878FA7"/>
                </a:solidFill>
                <a:latin typeface="Calibri"/>
                <a:cs typeface="Calibri"/>
              </a:rPr>
              <a:t>viscoso</a:t>
            </a:r>
            <a:endParaRPr sz="1275" baseline="3267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715000" y="4297326"/>
            <a:ext cx="2880360" cy="402590"/>
          </a:xfrm>
          <a:custGeom>
            <a:avLst/>
            <a:gdLst/>
            <a:ahLst/>
            <a:cxnLst/>
            <a:rect l="l" t="t" r="r" b="b"/>
            <a:pathLst>
              <a:path w="2880359" h="402589">
                <a:moveTo>
                  <a:pt x="2880004" y="0"/>
                </a:moveTo>
                <a:lnTo>
                  <a:pt x="0" y="0"/>
                </a:lnTo>
                <a:lnTo>
                  <a:pt x="0" y="402120"/>
                </a:lnTo>
                <a:lnTo>
                  <a:pt x="1440002" y="402120"/>
                </a:lnTo>
                <a:lnTo>
                  <a:pt x="2880004" y="402120"/>
                </a:lnTo>
                <a:lnTo>
                  <a:pt x="2880004" y="0"/>
                </a:lnTo>
                <a:close/>
              </a:path>
            </a:pathLst>
          </a:custGeom>
          <a:solidFill>
            <a:srgbClr val="191C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715000" y="4297326"/>
            <a:ext cx="2880360" cy="40259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tabLst>
                <a:tab pos="610235" algn="l"/>
                <a:tab pos="1644014" algn="l"/>
              </a:tabLst>
            </a:pPr>
            <a:r>
              <a:rPr sz="1000" spc="70" dirty="0">
                <a:solidFill>
                  <a:srgbClr val="499DFF"/>
                </a:solidFill>
                <a:latin typeface="Segoe UI Symbol"/>
                <a:cs typeface="Segoe UI Symbol"/>
              </a:rPr>
              <a:t>Δt</a:t>
            </a:r>
            <a:r>
              <a:rPr sz="1000" dirty="0">
                <a:solidFill>
                  <a:srgbClr val="499DFF"/>
                </a:solidFill>
                <a:latin typeface="Segoe UI Symbol"/>
                <a:cs typeface="Segoe UI Symbol"/>
              </a:rPr>
              <a:t>	</a:t>
            </a:r>
            <a:r>
              <a:rPr sz="950" spc="100" dirty="0">
                <a:solidFill>
                  <a:srgbClr val="FFFFFF"/>
                </a:solidFill>
                <a:latin typeface="Cambria"/>
                <a:cs typeface="Cambria"/>
              </a:rPr>
              <a:t>0.005</a:t>
            </a:r>
            <a:r>
              <a:rPr sz="95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105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9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275" spc="-15" baseline="3267" dirty="0">
                <a:solidFill>
                  <a:srgbClr val="878FA7"/>
                </a:solidFill>
                <a:latin typeface="Calibri"/>
                <a:cs typeface="Calibri"/>
              </a:rPr>
              <a:t>Paso integración</a:t>
            </a:r>
            <a:endParaRPr sz="1275" baseline="3267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42696" y="4860773"/>
            <a:ext cx="63379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878FA7"/>
                </a:solidFill>
                <a:latin typeface="MingLiU_HKSCS-ExtB"/>
                <a:cs typeface="MingLiU_HKSCS-ExtB"/>
              </a:rPr>
              <a:t>⚡</a:t>
            </a:r>
            <a:r>
              <a:rPr sz="1050" spc="-145" dirty="0">
                <a:solidFill>
                  <a:srgbClr val="878FA7"/>
                </a:solidFill>
                <a:latin typeface="MingLiU_HKSCS-ExtB"/>
                <a:cs typeface="MingLiU_HKSCS-ExtB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Kick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inicial: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si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θ₀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=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±180°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y</a:t>
            </a:r>
            <a:r>
              <a:rPr sz="85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ω₀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=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0,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se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aplica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un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impulso de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120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N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durante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0.15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s para romper la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singularidad</a:t>
            </a:r>
            <a:r>
              <a:rPr sz="85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del 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punto</a:t>
            </a:r>
            <a:r>
              <a:rPr sz="85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de</a:t>
            </a:r>
            <a:r>
              <a:rPr sz="85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equilibrio</a:t>
            </a:r>
            <a:r>
              <a:rPr sz="850" i="1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850" i="1" spc="-10" dirty="0">
                <a:solidFill>
                  <a:srgbClr val="878FA7"/>
                </a:solidFill>
                <a:latin typeface="Calibri"/>
                <a:cs typeface="Calibri"/>
              </a:rPr>
              <a:t>inestable.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Supuestos,</a:t>
            </a:r>
            <a:r>
              <a:rPr spc="-70" dirty="0"/>
              <a:t> </a:t>
            </a:r>
            <a:r>
              <a:rPr spc="-10" dirty="0"/>
              <a:t>Convenciones</a:t>
            </a:r>
            <a:r>
              <a:rPr spc="-65" dirty="0"/>
              <a:t> </a:t>
            </a:r>
            <a:r>
              <a:rPr dirty="0"/>
              <a:t>y</a:t>
            </a:r>
            <a:r>
              <a:rPr spc="-70" dirty="0"/>
              <a:t> </a:t>
            </a:r>
            <a:r>
              <a:rPr dirty="0"/>
              <a:t>Detalles</a:t>
            </a:r>
            <a:r>
              <a:rPr spc="-5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Implementación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544" y="743218"/>
            <a:ext cx="8242300" cy="35560"/>
            <a:chOff x="450544" y="743218"/>
            <a:chExt cx="8242300" cy="3556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460" y="981177"/>
            <a:ext cx="332740" cy="332740"/>
            <a:chOff x="359460" y="981177"/>
            <a:chExt cx="332740" cy="332740"/>
          </a:xfrm>
        </p:grpSpPr>
        <p:sp>
          <p:nvSpPr>
            <p:cNvPr id="7" name="object 7"/>
            <p:cNvSpPr/>
            <p:nvPr/>
          </p:nvSpPr>
          <p:spPr>
            <a:xfrm>
              <a:off x="365760" y="98747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160197" y="0"/>
                  </a:moveTo>
                  <a:lnTo>
                    <a:pt x="118573" y="5356"/>
                  </a:lnTo>
                  <a:lnTo>
                    <a:pt x="79921" y="21247"/>
                  </a:lnTo>
                  <a:lnTo>
                    <a:pt x="46980" y="46669"/>
                  </a:lnTo>
                  <a:lnTo>
                    <a:pt x="21602" y="79921"/>
                  </a:lnTo>
                  <a:lnTo>
                    <a:pt x="5534" y="118395"/>
                  </a:lnTo>
                  <a:lnTo>
                    <a:pt x="0" y="159842"/>
                  </a:lnTo>
                  <a:lnTo>
                    <a:pt x="1400" y="180784"/>
                  </a:lnTo>
                  <a:lnTo>
                    <a:pt x="12301" y="221049"/>
                  </a:lnTo>
                  <a:lnTo>
                    <a:pt x="33243" y="257287"/>
                  </a:lnTo>
                  <a:lnTo>
                    <a:pt x="62607" y="286797"/>
                  </a:lnTo>
                  <a:lnTo>
                    <a:pt x="98790" y="307743"/>
                  </a:lnTo>
                  <a:lnTo>
                    <a:pt x="139099" y="318640"/>
                  </a:lnTo>
                  <a:lnTo>
                    <a:pt x="160197" y="320039"/>
                  </a:lnTo>
                  <a:lnTo>
                    <a:pt x="181090" y="318640"/>
                  </a:lnTo>
                  <a:lnTo>
                    <a:pt x="221255" y="307743"/>
                  </a:lnTo>
                  <a:lnTo>
                    <a:pt x="257432" y="286797"/>
                  </a:lnTo>
                  <a:lnTo>
                    <a:pt x="286796" y="257287"/>
                  </a:lnTo>
                  <a:lnTo>
                    <a:pt x="307738" y="221049"/>
                  </a:lnTo>
                  <a:lnTo>
                    <a:pt x="318639" y="180784"/>
                  </a:lnTo>
                  <a:lnTo>
                    <a:pt x="320040" y="159842"/>
                  </a:lnTo>
                  <a:lnTo>
                    <a:pt x="318639" y="138899"/>
                  </a:lnTo>
                  <a:lnTo>
                    <a:pt x="307738" y="98634"/>
                  </a:lnTo>
                  <a:lnTo>
                    <a:pt x="286796" y="62402"/>
                  </a:lnTo>
                  <a:lnTo>
                    <a:pt x="257432" y="32893"/>
                  </a:lnTo>
                  <a:lnTo>
                    <a:pt x="221255" y="12001"/>
                  </a:lnTo>
                  <a:lnTo>
                    <a:pt x="181090" y="1344"/>
                  </a:lnTo>
                  <a:lnTo>
                    <a:pt x="160197" y="0"/>
                  </a:lnTo>
                  <a:close/>
                </a:path>
              </a:pathLst>
            </a:custGeom>
            <a:solidFill>
              <a:srgbClr val="499D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760" y="98747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59842"/>
                  </a:moveTo>
                  <a:lnTo>
                    <a:pt x="1400" y="138899"/>
                  </a:lnTo>
                  <a:lnTo>
                    <a:pt x="5534" y="118395"/>
                  </a:lnTo>
                  <a:lnTo>
                    <a:pt x="21602" y="79921"/>
                  </a:lnTo>
                  <a:lnTo>
                    <a:pt x="46980" y="46669"/>
                  </a:lnTo>
                  <a:lnTo>
                    <a:pt x="79921" y="21247"/>
                  </a:lnTo>
                  <a:lnTo>
                    <a:pt x="118573" y="5356"/>
                  </a:lnTo>
                  <a:lnTo>
                    <a:pt x="160197" y="0"/>
                  </a:lnTo>
                  <a:lnTo>
                    <a:pt x="201510" y="5356"/>
                  </a:lnTo>
                  <a:lnTo>
                    <a:pt x="240118" y="21247"/>
                  </a:lnTo>
                  <a:lnTo>
                    <a:pt x="273059" y="46669"/>
                  </a:lnTo>
                  <a:lnTo>
                    <a:pt x="298437" y="79921"/>
                  </a:lnTo>
                  <a:lnTo>
                    <a:pt x="314505" y="118395"/>
                  </a:lnTo>
                  <a:lnTo>
                    <a:pt x="320040" y="159842"/>
                  </a:lnTo>
                  <a:lnTo>
                    <a:pt x="318639" y="180784"/>
                  </a:lnTo>
                  <a:lnTo>
                    <a:pt x="314505" y="201288"/>
                  </a:lnTo>
                  <a:lnTo>
                    <a:pt x="298437" y="239763"/>
                  </a:lnTo>
                  <a:lnTo>
                    <a:pt x="273059" y="273021"/>
                  </a:lnTo>
                  <a:lnTo>
                    <a:pt x="240118" y="298450"/>
                  </a:lnTo>
                  <a:lnTo>
                    <a:pt x="201510" y="314507"/>
                  </a:lnTo>
                  <a:lnTo>
                    <a:pt x="160197" y="320039"/>
                  </a:lnTo>
                  <a:lnTo>
                    <a:pt x="118573" y="314507"/>
                  </a:lnTo>
                  <a:lnTo>
                    <a:pt x="79921" y="298450"/>
                  </a:lnTo>
                  <a:lnTo>
                    <a:pt x="46980" y="273021"/>
                  </a:lnTo>
                  <a:lnTo>
                    <a:pt x="21602" y="239763"/>
                  </a:lnTo>
                  <a:lnTo>
                    <a:pt x="5534" y="201288"/>
                  </a:lnTo>
                  <a:lnTo>
                    <a:pt x="1400" y="180784"/>
                  </a:lnTo>
                  <a:lnTo>
                    <a:pt x="0" y="159842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8345" y="1065862"/>
            <a:ext cx="946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ymbol"/>
                <a:cs typeface="Segoe UI Symbol"/>
              </a:rPr>
              <a:t>θ</a:t>
            </a:r>
            <a:endParaRPr sz="9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176" y="971552"/>
            <a:ext cx="10795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99DFF"/>
                </a:solidFill>
                <a:latin typeface="Calibri"/>
                <a:cs typeface="Calibri"/>
              </a:rPr>
              <a:t>Ángulo</a:t>
            </a:r>
            <a:r>
              <a:rPr sz="1000" b="1" spc="-6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99DFF"/>
                </a:solidFill>
                <a:latin typeface="Calibri"/>
                <a:cs typeface="Calibri"/>
              </a:rPr>
              <a:t>normalizado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4176" y="1271424"/>
            <a:ext cx="745299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θ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mapea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siempre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al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intervalo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 (−180°,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+180°]. 0°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 err="1">
                <a:solidFill>
                  <a:srgbClr val="C7CFE7"/>
                </a:solidFill>
                <a:latin typeface="Calibri"/>
                <a:cs typeface="Calibri"/>
              </a:rPr>
              <a:t>posición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vertical</a:t>
            </a:r>
            <a:r>
              <a:rPr lang="es-AR" sz="900" spc="-10" dirty="0">
                <a:solidFill>
                  <a:srgbClr val="C7CFE7"/>
                </a:solidFill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5759" y="1663918"/>
            <a:ext cx="8412480" cy="635"/>
          </a:xfrm>
          <a:custGeom>
            <a:avLst/>
            <a:gdLst/>
            <a:ahLst/>
            <a:cxnLst/>
            <a:rect l="l" t="t" r="r" b="b"/>
            <a:pathLst>
              <a:path w="8412480" h="635">
                <a:moveTo>
                  <a:pt x="0" y="0"/>
                </a:moveTo>
                <a:lnTo>
                  <a:pt x="8412480" y="368"/>
                </a:lnTo>
              </a:path>
            </a:pathLst>
          </a:custGeom>
          <a:ln w="12599">
            <a:solidFill>
              <a:srgbClr val="292C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59460" y="1758417"/>
            <a:ext cx="332740" cy="332740"/>
            <a:chOff x="359460" y="1758417"/>
            <a:chExt cx="332740" cy="332740"/>
          </a:xfrm>
        </p:grpSpPr>
        <p:sp>
          <p:nvSpPr>
            <p:cNvPr id="14" name="object 14"/>
            <p:cNvSpPr/>
            <p:nvPr/>
          </p:nvSpPr>
          <p:spPr>
            <a:xfrm>
              <a:off x="365760" y="176471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197" y="0"/>
                  </a:moveTo>
                  <a:lnTo>
                    <a:pt x="118573" y="5356"/>
                  </a:lnTo>
                  <a:lnTo>
                    <a:pt x="79921" y="21247"/>
                  </a:lnTo>
                  <a:lnTo>
                    <a:pt x="46980" y="46669"/>
                  </a:lnTo>
                  <a:lnTo>
                    <a:pt x="21602" y="79921"/>
                  </a:lnTo>
                  <a:lnTo>
                    <a:pt x="5534" y="118395"/>
                  </a:lnTo>
                  <a:lnTo>
                    <a:pt x="0" y="159842"/>
                  </a:lnTo>
                  <a:lnTo>
                    <a:pt x="1400" y="180784"/>
                  </a:lnTo>
                  <a:lnTo>
                    <a:pt x="12301" y="221049"/>
                  </a:lnTo>
                  <a:lnTo>
                    <a:pt x="33243" y="257287"/>
                  </a:lnTo>
                  <a:lnTo>
                    <a:pt x="62607" y="286797"/>
                  </a:lnTo>
                  <a:lnTo>
                    <a:pt x="98790" y="307743"/>
                  </a:lnTo>
                  <a:lnTo>
                    <a:pt x="139099" y="318640"/>
                  </a:lnTo>
                  <a:lnTo>
                    <a:pt x="160197" y="320039"/>
                  </a:lnTo>
                  <a:lnTo>
                    <a:pt x="181090" y="318640"/>
                  </a:lnTo>
                  <a:lnTo>
                    <a:pt x="221255" y="307743"/>
                  </a:lnTo>
                  <a:lnTo>
                    <a:pt x="257432" y="286797"/>
                  </a:lnTo>
                  <a:lnTo>
                    <a:pt x="286796" y="257287"/>
                  </a:lnTo>
                  <a:lnTo>
                    <a:pt x="307738" y="221049"/>
                  </a:lnTo>
                  <a:lnTo>
                    <a:pt x="318639" y="180784"/>
                  </a:lnTo>
                  <a:lnTo>
                    <a:pt x="320040" y="159842"/>
                  </a:lnTo>
                  <a:lnTo>
                    <a:pt x="318639" y="138899"/>
                  </a:lnTo>
                  <a:lnTo>
                    <a:pt x="307738" y="98634"/>
                  </a:lnTo>
                  <a:lnTo>
                    <a:pt x="286796" y="62402"/>
                  </a:lnTo>
                  <a:lnTo>
                    <a:pt x="257432" y="32893"/>
                  </a:lnTo>
                  <a:lnTo>
                    <a:pt x="221255" y="12001"/>
                  </a:lnTo>
                  <a:lnTo>
                    <a:pt x="181090" y="1344"/>
                  </a:lnTo>
                  <a:lnTo>
                    <a:pt x="160197" y="0"/>
                  </a:lnTo>
                  <a:close/>
                </a:path>
              </a:pathLst>
            </a:custGeom>
            <a:solidFill>
              <a:srgbClr val="F33E5D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60" y="176471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59842"/>
                  </a:moveTo>
                  <a:lnTo>
                    <a:pt x="1400" y="138899"/>
                  </a:lnTo>
                  <a:lnTo>
                    <a:pt x="5534" y="118395"/>
                  </a:lnTo>
                  <a:lnTo>
                    <a:pt x="21602" y="79921"/>
                  </a:lnTo>
                  <a:lnTo>
                    <a:pt x="46980" y="46669"/>
                  </a:lnTo>
                  <a:lnTo>
                    <a:pt x="79921" y="21247"/>
                  </a:lnTo>
                  <a:lnTo>
                    <a:pt x="118573" y="5356"/>
                  </a:lnTo>
                  <a:lnTo>
                    <a:pt x="160197" y="0"/>
                  </a:lnTo>
                  <a:lnTo>
                    <a:pt x="201510" y="5356"/>
                  </a:lnTo>
                  <a:lnTo>
                    <a:pt x="240118" y="21247"/>
                  </a:lnTo>
                  <a:lnTo>
                    <a:pt x="273059" y="46669"/>
                  </a:lnTo>
                  <a:lnTo>
                    <a:pt x="298437" y="79921"/>
                  </a:lnTo>
                  <a:lnTo>
                    <a:pt x="314505" y="118395"/>
                  </a:lnTo>
                  <a:lnTo>
                    <a:pt x="320040" y="159842"/>
                  </a:lnTo>
                  <a:lnTo>
                    <a:pt x="318639" y="180784"/>
                  </a:lnTo>
                  <a:lnTo>
                    <a:pt x="314505" y="201288"/>
                  </a:lnTo>
                  <a:lnTo>
                    <a:pt x="298437" y="239763"/>
                  </a:lnTo>
                  <a:lnTo>
                    <a:pt x="273059" y="273021"/>
                  </a:lnTo>
                  <a:lnTo>
                    <a:pt x="240118" y="298450"/>
                  </a:lnTo>
                  <a:lnTo>
                    <a:pt x="201510" y="314507"/>
                  </a:lnTo>
                  <a:lnTo>
                    <a:pt x="160197" y="320039"/>
                  </a:lnTo>
                  <a:lnTo>
                    <a:pt x="118573" y="314507"/>
                  </a:lnTo>
                  <a:lnTo>
                    <a:pt x="79921" y="298450"/>
                  </a:lnTo>
                  <a:lnTo>
                    <a:pt x="46980" y="273021"/>
                  </a:lnTo>
                  <a:lnTo>
                    <a:pt x="21602" y="239763"/>
                  </a:lnTo>
                  <a:lnTo>
                    <a:pt x="5534" y="201288"/>
                  </a:lnTo>
                  <a:lnTo>
                    <a:pt x="1400" y="180784"/>
                  </a:lnTo>
                  <a:lnTo>
                    <a:pt x="0" y="159842"/>
                  </a:lnTo>
                  <a:close/>
                </a:path>
              </a:pathLst>
            </a:custGeom>
            <a:ln w="12599">
              <a:solidFill>
                <a:srgbClr val="F33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8345" y="1843102"/>
            <a:ext cx="946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FFFFFF"/>
                </a:solidFill>
                <a:latin typeface="Segoe UI Symbol"/>
                <a:cs typeface="Segoe UI Symbol"/>
              </a:rPr>
              <a:t>F</a:t>
            </a:r>
            <a:endParaRPr sz="9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4176" y="1748791"/>
            <a:ext cx="17399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33E5D"/>
                </a:solidFill>
                <a:latin typeface="Calibri"/>
                <a:cs typeface="Calibri"/>
              </a:rPr>
              <a:t>Convención</a:t>
            </a:r>
            <a:r>
              <a:rPr sz="1000" b="1" spc="-20" dirty="0">
                <a:solidFill>
                  <a:srgbClr val="F33E5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33E5D"/>
                </a:solidFill>
                <a:latin typeface="Calibri"/>
                <a:cs typeface="Calibri"/>
              </a:rPr>
              <a:t>de</a:t>
            </a:r>
            <a:r>
              <a:rPr sz="1000" b="1" spc="-20" dirty="0">
                <a:solidFill>
                  <a:srgbClr val="F33E5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33E5D"/>
                </a:solidFill>
                <a:latin typeface="Calibri"/>
                <a:cs typeface="Calibri"/>
              </a:rPr>
              <a:t>signo</a:t>
            </a:r>
            <a:r>
              <a:rPr sz="1000" b="1" spc="-15" dirty="0">
                <a:solidFill>
                  <a:srgbClr val="F33E5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33E5D"/>
                </a:solidFill>
                <a:latin typeface="Calibri"/>
                <a:cs typeface="Calibri"/>
              </a:rPr>
              <a:t>de</a:t>
            </a:r>
            <a:r>
              <a:rPr sz="1000" b="1" spc="-20" dirty="0">
                <a:solidFill>
                  <a:srgbClr val="F33E5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33E5D"/>
                </a:solidFill>
                <a:latin typeface="Calibri"/>
                <a:cs typeface="Calibri"/>
              </a:rPr>
              <a:t>la</a:t>
            </a:r>
            <a:r>
              <a:rPr sz="1000" b="1" spc="-20" dirty="0">
                <a:solidFill>
                  <a:srgbClr val="F33E5D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33E5D"/>
                </a:solidFill>
                <a:latin typeface="Calibri"/>
                <a:cs typeface="Calibri"/>
              </a:rPr>
              <a:t>fuerza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176" y="2048664"/>
            <a:ext cx="7543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controlador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difuso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produce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con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convención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del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usuario: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&gt;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0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empuja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carro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izquierda,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&lt; 0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empuja 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derecha.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Internamente,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física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usa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signo</a:t>
            </a:r>
            <a:r>
              <a:rPr sz="900" spc="50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opuesto</a:t>
            </a:r>
            <a:r>
              <a:rPr sz="900" spc="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(positivo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derecha).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función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fuerza_usuario_a_modelo()</a:t>
            </a:r>
            <a:r>
              <a:rPr sz="900" spc="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hace la</a:t>
            </a:r>
            <a:r>
              <a:rPr sz="900" spc="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conversión: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F_modelo</a:t>
            </a:r>
            <a:r>
              <a:rPr sz="900" spc="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−F_usuario.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5759" y="2441157"/>
            <a:ext cx="8412480" cy="635"/>
          </a:xfrm>
          <a:custGeom>
            <a:avLst/>
            <a:gdLst/>
            <a:ahLst/>
            <a:cxnLst/>
            <a:rect l="l" t="t" r="r" b="b"/>
            <a:pathLst>
              <a:path w="8412480" h="635">
                <a:moveTo>
                  <a:pt x="0" y="0"/>
                </a:moveTo>
                <a:lnTo>
                  <a:pt x="8412480" y="368"/>
                </a:lnTo>
              </a:path>
            </a:pathLst>
          </a:custGeom>
          <a:ln w="12599">
            <a:solidFill>
              <a:srgbClr val="292C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359460" y="2535658"/>
            <a:ext cx="332740" cy="332740"/>
            <a:chOff x="359460" y="2535658"/>
            <a:chExt cx="332740" cy="332740"/>
          </a:xfrm>
        </p:grpSpPr>
        <p:sp>
          <p:nvSpPr>
            <p:cNvPr id="21" name="object 21"/>
            <p:cNvSpPr/>
            <p:nvPr/>
          </p:nvSpPr>
          <p:spPr>
            <a:xfrm>
              <a:off x="365760" y="254195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197" y="0"/>
                  </a:moveTo>
                  <a:lnTo>
                    <a:pt x="118573" y="5356"/>
                  </a:lnTo>
                  <a:lnTo>
                    <a:pt x="79921" y="21247"/>
                  </a:lnTo>
                  <a:lnTo>
                    <a:pt x="46980" y="46669"/>
                  </a:lnTo>
                  <a:lnTo>
                    <a:pt x="21602" y="79921"/>
                  </a:lnTo>
                  <a:lnTo>
                    <a:pt x="5534" y="118395"/>
                  </a:lnTo>
                  <a:lnTo>
                    <a:pt x="0" y="159842"/>
                  </a:lnTo>
                  <a:lnTo>
                    <a:pt x="1400" y="180784"/>
                  </a:lnTo>
                  <a:lnTo>
                    <a:pt x="12301" y="221049"/>
                  </a:lnTo>
                  <a:lnTo>
                    <a:pt x="33243" y="257287"/>
                  </a:lnTo>
                  <a:lnTo>
                    <a:pt x="62607" y="286797"/>
                  </a:lnTo>
                  <a:lnTo>
                    <a:pt x="98790" y="307743"/>
                  </a:lnTo>
                  <a:lnTo>
                    <a:pt x="139099" y="318640"/>
                  </a:lnTo>
                  <a:lnTo>
                    <a:pt x="160197" y="320040"/>
                  </a:lnTo>
                  <a:lnTo>
                    <a:pt x="181090" y="318640"/>
                  </a:lnTo>
                  <a:lnTo>
                    <a:pt x="221255" y="307743"/>
                  </a:lnTo>
                  <a:lnTo>
                    <a:pt x="257432" y="286797"/>
                  </a:lnTo>
                  <a:lnTo>
                    <a:pt x="286796" y="257287"/>
                  </a:lnTo>
                  <a:lnTo>
                    <a:pt x="307738" y="221049"/>
                  </a:lnTo>
                  <a:lnTo>
                    <a:pt x="318639" y="180784"/>
                  </a:lnTo>
                  <a:lnTo>
                    <a:pt x="320040" y="159842"/>
                  </a:lnTo>
                  <a:lnTo>
                    <a:pt x="318639" y="138899"/>
                  </a:lnTo>
                  <a:lnTo>
                    <a:pt x="307738" y="98634"/>
                  </a:lnTo>
                  <a:lnTo>
                    <a:pt x="286796" y="62402"/>
                  </a:lnTo>
                  <a:lnTo>
                    <a:pt x="257432" y="32893"/>
                  </a:lnTo>
                  <a:lnTo>
                    <a:pt x="221255" y="12001"/>
                  </a:lnTo>
                  <a:lnTo>
                    <a:pt x="181090" y="1344"/>
                  </a:lnTo>
                  <a:lnTo>
                    <a:pt x="160197" y="0"/>
                  </a:lnTo>
                  <a:close/>
                </a:path>
              </a:pathLst>
            </a:custGeom>
            <a:solidFill>
              <a:srgbClr val="F49D0A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760" y="254195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59842"/>
                  </a:moveTo>
                  <a:lnTo>
                    <a:pt x="1400" y="138899"/>
                  </a:lnTo>
                  <a:lnTo>
                    <a:pt x="5534" y="118395"/>
                  </a:lnTo>
                  <a:lnTo>
                    <a:pt x="21602" y="79921"/>
                  </a:lnTo>
                  <a:lnTo>
                    <a:pt x="46980" y="46669"/>
                  </a:lnTo>
                  <a:lnTo>
                    <a:pt x="79921" y="21247"/>
                  </a:lnTo>
                  <a:lnTo>
                    <a:pt x="118573" y="5356"/>
                  </a:lnTo>
                  <a:lnTo>
                    <a:pt x="160197" y="0"/>
                  </a:lnTo>
                  <a:lnTo>
                    <a:pt x="201510" y="5356"/>
                  </a:lnTo>
                  <a:lnTo>
                    <a:pt x="240118" y="21247"/>
                  </a:lnTo>
                  <a:lnTo>
                    <a:pt x="273059" y="46669"/>
                  </a:lnTo>
                  <a:lnTo>
                    <a:pt x="298437" y="79921"/>
                  </a:lnTo>
                  <a:lnTo>
                    <a:pt x="314505" y="118395"/>
                  </a:lnTo>
                  <a:lnTo>
                    <a:pt x="320040" y="159842"/>
                  </a:lnTo>
                  <a:lnTo>
                    <a:pt x="318639" y="180784"/>
                  </a:lnTo>
                  <a:lnTo>
                    <a:pt x="314505" y="201288"/>
                  </a:lnTo>
                  <a:lnTo>
                    <a:pt x="298437" y="239763"/>
                  </a:lnTo>
                  <a:lnTo>
                    <a:pt x="273059" y="273021"/>
                  </a:lnTo>
                  <a:lnTo>
                    <a:pt x="240118" y="298450"/>
                  </a:lnTo>
                  <a:lnTo>
                    <a:pt x="201510" y="314507"/>
                  </a:lnTo>
                  <a:lnTo>
                    <a:pt x="160197" y="320040"/>
                  </a:lnTo>
                  <a:lnTo>
                    <a:pt x="118573" y="314507"/>
                  </a:lnTo>
                  <a:lnTo>
                    <a:pt x="79921" y="298450"/>
                  </a:lnTo>
                  <a:lnTo>
                    <a:pt x="46980" y="273021"/>
                  </a:lnTo>
                  <a:lnTo>
                    <a:pt x="21602" y="239763"/>
                  </a:lnTo>
                  <a:lnTo>
                    <a:pt x="5534" y="201288"/>
                  </a:lnTo>
                  <a:lnTo>
                    <a:pt x="1400" y="180784"/>
                  </a:lnTo>
                  <a:lnTo>
                    <a:pt x="0" y="159842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8345" y="2620342"/>
            <a:ext cx="946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FFFFFF"/>
                </a:solidFill>
                <a:latin typeface="Segoe UI Symbol"/>
                <a:cs typeface="Segoe UI Symbol"/>
              </a:rPr>
              <a:t>⚡</a:t>
            </a:r>
            <a:endParaRPr sz="9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4176" y="2526032"/>
            <a:ext cx="11620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49D0A"/>
                </a:solidFill>
                <a:latin typeface="Calibri"/>
                <a:cs typeface="Calibri"/>
              </a:rPr>
              <a:t>Kick</a:t>
            </a:r>
            <a:r>
              <a:rPr sz="100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49D0A"/>
                </a:solidFill>
                <a:latin typeface="Calibri"/>
                <a:cs typeface="Calibri"/>
              </a:rPr>
              <a:t>inicial</a:t>
            </a:r>
            <a:r>
              <a:rPr sz="100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49D0A"/>
                </a:solidFill>
                <a:latin typeface="Calibri"/>
                <a:cs typeface="Calibri"/>
              </a:rPr>
              <a:t>(arranque)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4176" y="2825904"/>
            <a:ext cx="7482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Si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θ₀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 ±180°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y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ω₀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0, el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sistema está en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punto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 err="1">
                <a:solidFill>
                  <a:srgbClr val="C7CFE7"/>
                </a:solidFill>
                <a:latin typeface="Calibri"/>
                <a:cs typeface="Calibri"/>
              </a:rPr>
              <a:t>equilibrio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.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Sin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perturbación,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 el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controlador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no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genera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 fuerza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(F=0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por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simetría).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aplica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un</a:t>
            </a:r>
            <a:r>
              <a:rPr sz="900" spc="50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impulso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120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N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durante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0.15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con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signo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aleatorio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 para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romper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singularidad.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5759" y="3218397"/>
            <a:ext cx="8412480" cy="635"/>
          </a:xfrm>
          <a:custGeom>
            <a:avLst/>
            <a:gdLst/>
            <a:ahLst/>
            <a:cxnLst/>
            <a:rect l="l" t="t" r="r" b="b"/>
            <a:pathLst>
              <a:path w="8412480" h="635">
                <a:moveTo>
                  <a:pt x="0" y="0"/>
                </a:moveTo>
                <a:lnTo>
                  <a:pt x="8412480" y="368"/>
                </a:lnTo>
              </a:path>
            </a:pathLst>
          </a:custGeom>
          <a:ln w="12599">
            <a:solidFill>
              <a:srgbClr val="292C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359460" y="3312897"/>
            <a:ext cx="332740" cy="332740"/>
            <a:chOff x="359460" y="3312897"/>
            <a:chExt cx="332740" cy="332740"/>
          </a:xfrm>
        </p:grpSpPr>
        <p:sp>
          <p:nvSpPr>
            <p:cNvPr id="28" name="object 28"/>
            <p:cNvSpPr/>
            <p:nvPr/>
          </p:nvSpPr>
          <p:spPr>
            <a:xfrm>
              <a:off x="365760" y="331919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197" y="0"/>
                  </a:moveTo>
                  <a:lnTo>
                    <a:pt x="118573" y="5356"/>
                  </a:lnTo>
                  <a:lnTo>
                    <a:pt x="79921" y="21247"/>
                  </a:lnTo>
                  <a:lnTo>
                    <a:pt x="46980" y="46669"/>
                  </a:lnTo>
                  <a:lnTo>
                    <a:pt x="21602" y="79921"/>
                  </a:lnTo>
                  <a:lnTo>
                    <a:pt x="5534" y="118395"/>
                  </a:lnTo>
                  <a:lnTo>
                    <a:pt x="0" y="159842"/>
                  </a:lnTo>
                  <a:lnTo>
                    <a:pt x="1400" y="180784"/>
                  </a:lnTo>
                  <a:lnTo>
                    <a:pt x="12301" y="221049"/>
                  </a:lnTo>
                  <a:lnTo>
                    <a:pt x="33243" y="257287"/>
                  </a:lnTo>
                  <a:lnTo>
                    <a:pt x="62607" y="286797"/>
                  </a:lnTo>
                  <a:lnTo>
                    <a:pt x="98790" y="307743"/>
                  </a:lnTo>
                  <a:lnTo>
                    <a:pt x="139099" y="318640"/>
                  </a:lnTo>
                  <a:lnTo>
                    <a:pt x="160197" y="320039"/>
                  </a:lnTo>
                  <a:lnTo>
                    <a:pt x="181090" y="318640"/>
                  </a:lnTo>
                  <a:lnTo>
                    <a:pt x="221255" y="307743"/>
                  </a:lnTo>
                  <a:lnTo>
                    <a:pt x="257432" y="286797"/>
                  </a:lnTo>
                  <a:lnTo>
                    <a:pt x="286796" y="257287"/>
                  </a:lnTo>
                  <a:lnTo>
                    <a:pt x="307738" y="221049"/>
                  </a:lnTo>
                  <a:lnTo>
                    <a:pt x="318639" y="180784"/>
                  </a:lnTo>
                  <a:lnTo>
                    <a:pt x="320040" y="159842"/>
                  </a:lnTo>
                  <a:lnTo>
                    <a:pt x="318639" y="138899"/>
                  </a:lnTo>
                  <a:lnTo>
                    <a:pt x="307738" y="98634"/>
                  </a:lnTo>
                  <a:lnTo>
                    <a:pt x="286796" y="62402"/>
                  </a:lnTo>
                  <a:lnTo>
                    <a:pt x="257432" y="32893"/>
                  </a:lnTo>
                  <a:lnTo>
                    <a:pt x="221255" y="12001"/>
                  </a:lnTo>
                  <a:lnTo>
                    <a:pt x="181090" y="1344"/>
                  </a:lnTo>
                  <a:lnTo>
                    <a:pt x="160197" y="0"/>
                  </a:lnTo>
                  <a:close/>
                </a:path>
              </a:pathLst>
            </a:custGeom>
            <a:solidFill>
              <a:srgbClr val="DF5151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760" y="331919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59842"/>
                  </a:moveTo>
                  <a:lnTo>
                    <a:pt x="1400" y="138899"/>
                  </a:lnTo>
                  <a:lnTo>
                    <a:pt x="5534" y="118395"/>
                  </a:lnTo>
                  <a:lnTo>
                    <a:pt x="21602" y="79921"/>
                  </a:lnTo>
                  <a:lnTo>
                    <a:pt x="46980" y="46669"/>
                  </a:lnTo>
                  <a:lnTo>
                    <a:pt x="79921" y="21247"/>
                  </a:lnTo>
                  <a:lnTo>
                    <a:pt x="118573" y="5356"/>
                  </a:lnTo>
                  <a:lnTo>
                    <a:pt x="160197" y="0"/>
                  </a:lnTo>
                  <a:lnTo>
                    <a:pt x="201510" y="5356"/>
                  </a:lnTo>
                  <a:lnTo>
                    <a:pt x="240118" y="21247"/>
                  </a:lnTo>
                  <a:lnTo>
                    <a:pt x="273059" y="46669"/>
                  </a:lnTo>
                  <a:lnTo>
                    <a:pt x="298437" y="79921"/>
                  </a:lnTo>
                  <a:lnTo>
                    <a:pt x="314505" y="118395"/>
                  </a:lnTo>
                  <a:lnTo>
                    <a:pt x="320040" y="159842"/>
                  </a:lnTo>
                  <a:lnTo>
                    <a:pt x="318639" y="180784"/>
                  </a:lnTo>
                  <a:lnTo>
                    <a:pt x="314505" y="201288"/>
                  </a:lnTo>
                  <a:lnTo>
                    <a:pt x="298437" y="239763"/>
                  </a:lnTo>
                  <a:lnTo>
                    <a:pt x="273059" y="273021"/>
                  </a:lnTo>
                  <a:lnTo>
                    <a:pt x="240118" y="298449"/>
                  </a:lnTo>
                  <a:lnTo>
                    <a:pt x="201510" y="314507"/>
                  </a:lnTo>
                  <a:lnTo>
                    <a:pt x="160197" y="320039"/>
                  </a:lnTo>
                  <a:lnTo>
                    <a:pt x="118573" y="314507"/>
                  </a:lnTo>
                  <a:lnTo>
                    <a:pt x="79921" y="298449"/>
                  </a:lnTo>
                  <a:lnTo>
                    <a:pt x="46980" y="273021"/>
                  </a:lnTo>
                  <a:lnTo>
                    <a:pt x="21602" y="239763"/>
                  </a:lnTo>
                  <a:lnTo>
                    <a:pt x="5534" y="201288"/>
                  </a:lnTo>
                  <a:lnTo>
                    <a:pt x="1400" y="180784"/>
                  </a:lnTo>
                  <a:lnTo>
                    <a:pt x="0" y="159842"/>
                  </a:lnTo>
                  <a:close/>
                </a:path>
              </a:pathLst>
            </a:custGeom>
            <a:ln w="12599">
              <a:solidFill>
                <a:srgbClr val="DF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78345" y="3397582"/>
            <a:ext cx="946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30" dirty="0">
                <a:solidFill>
                  <a:srgbClr val="FFFFFF"/>
                </a:solidFill>
                <a:latin typeface="Segoe UI Symbol"/>
                <a:cs typeface="Segoe UI Symbol"/>
              </a:rPr>
              <a:t>⊣</a:t>
            </a:r>
            <a:endParaRPr sz="900">
              <a:latin typeface="Segoe UI Symbol"/>
              <a:cs typeface="Segoe UI 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4176" y="3303272"/>
            <a:ext cx="8178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DF5151"/>
                </a:solidFill>
                <a:latin typeface="Calibri"/>
                <a:cs typeface="Calibri"/>
              </a:rPr>
              <a:t>Topes</a:t>
            </a:r>
            <a:r>
              <a:rPr sz="1000" b="1" spc="-15" dirty="0">
                <a:solidFill>
                  <a:srgbClr val="DF5151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DF5151"/>
                </a:solidFill>
                <a:latin typeface="Calibri"/>
                <a:cs typeface="Calibri"/>
              </a:rPr>
              <a:t>del</a:t>
            </a:r>
            <a:r>
              <a:rPr sz="1000" b="1" spc="-10" dirty="0">
                <a:solidFill>
                  <a:srgbClr val="DF5151"/>
                </a:solidFill>
                <a:latin typeface="Calibri"/>
                <a:cs typeface="Calibri"/>
              </a:rPr>
              <a:t> carro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4176" y="3603144"/>
            <a:ext cx="75152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carro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tiene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límites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±track_limit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(por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defecto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±5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m).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Cuando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carro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toca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un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extremo,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fuerza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del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controlador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silencia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si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empujaría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carro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hacia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afuera.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65759" y="3995637"/>
            <a:ext cx="8412480" cy="635"/>
          </a:xfrm>
          <a:custGeom>
            <a:avLst/>
            <a:gdLst/>
            <a:ahLst/>
            <a:cxnLst/>
            <a:rect l="l" t="t" r="r" b="b"/>
            <a:pathLst>
              <a:path w="8412480" h="635">
                <a:moveTo>
                  <a:pt x="0" y="0"/>
                </a:moveTo>
                <a:lnTo>
                  <a:pt x="8412480" y="368"/>
                </a:lnTo>
              </a:path>
            </a:pathLst>
          </a:custGeom>
          <a:ln w="12599">
            <a:solidFill>
              <a:srgbClr val="292C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359460" y="4090137"/>
            <a:ext cx="332740" cy="332740"/>
            <a:chOff x="359460" y="4090137"/>
            <a:chExt cx="332740" cy="332740"/>
          </a:xfrm>
        </p:grpSpPr>
        <p:sp>
          <p:nvSpPr>
            <p:cNvPr id="35" name="object 35"/>
            <p:cNvSpPr/>
            <p:nvPr/>
          </p:nvSpPr>
          <p:spPr>
            <a:xfrm>
              <a:off x="365760" y="409643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197" y="0"/>
                  </a:moveTo>
                  <a:lnTo>
                    <a:pt x="118573" y="5356"/>
                  </a:lnTo>
                  <a:lnTo>
                    <a:pt x="79921" y="21247"/>
                  </a:lnTo>
                  <a:lnTo>
                    <a:pt x="46980" y="46669"/>
                  </a:lnTo>
                  <a:lnTo>
                    <a:pt x="21602" y="79921"/>
                  </a:lnTo>
                  <a:lnTo>
                    <a:pt x="5534" y="118395"/>
                  </a:lnTo>
                  <a:lnTo>
                    <a:pt x="0" y="159842"/>
                  </a:lnTo>
                  <a:lnTo>
                    <a:pt x="1400" y="180784"/>
                  </a:lnTo>
                  <a:lnTo>
                    <a:pt x="12301" y="221049"/>
                  </a:lnTo>
                  <a:lnTo>
                    <a:pt x="33243" y="257287"/>
                  </a:lnTo>
                  <a:lnTo>
                    <a:pt x="62607" y="286797"/>
                  </a:lnTo>
                  <a:lnTo>
                    <a:pt x="98790" y="307743"/>
                  </a:lnTo>
                  <a:lnTo>
                    <a:pt x="139099" y="318640"/>
                  </a:lnTo>
                  <a:lnTo>
                    <a:pt x="160197" y="320039"/>
                  </a:lnTo>
                  <a:lnTo>
                    <a:pt x="181090" y="318640"/>
                  </a:lnTo>
                  <a:lnTo>
                    <a:pt x="221255" y="307743"/>
                  </a:lnTo>
                  <a:lnTo>
                    <a:pt x="257432" y="286797"/>
                  </a:lnTo>
                  <a:lnTo>
                    <a:pt x="286796" y="257287"/>
                  </a:lnTo>
                  <a:lnTo>
                    <a:pt x="307738" y="221049"/>
                  </a:lnTo>
                  <a:lnTo>
                    <a:pt x="318639" y="180784"/>
                  </a:lnTo>
                  <a:lnTo>
                    <a:pt x="320040" y="159842"/>
                  </a:lnTo>
                  <a:lnTo>
                    <a:pt x="318639" y="138899"/>
                  </a:lnTo>
                  <a:lnTo>
                    <a:pt x="307738" y="98634"/>
                  </a:lnTo>
                  <a:lnTo>
                    <a:pt x="286796" y="62402"/>
                  </a:lnTo>
                  <a:lnTo>
                    <a:pt x="257432" y="32893"/>
                  </a:lnTo>
                  <a:lnTo>
                    <a:pt x="221255" y="12001"/>
                  </a:lnTo>
                  <a:lnTo>
                    <a:pt x="181090" y="1344"/>
                  </a:lnTo>
                  <a:lnTo>
                    <a:pt x="160197" y="0"/>
                  </a:lnTo>
                  <a:close/>
                </a:path>
              </a:pathLst>
            </a:custGeom>
            <a:solidFill>
              <a:srgbClr val="7CD2FB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5760" y="409643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59842"/>
                  </a:moveTo>
                  <a:lnTo>
                    <a:pt x="1400" y="138899"/>
                  </a:lnTo>
                  <a:lnTo>
                    <a:pt x="5534" y="118395"/>
                  </a:lnTo>
                  <a:lnTo>
                    <a:pt x="21602" y="79921"/>
                  </a:lnTo>
                  <a:lnTo>
                    <a:pt x="46980" y="46669"/>
                  </a:lnTo>
                  <a:lnTo>
                    <a:pt x="79921" y="21247"/>
                  </a:lnTo>
                  <a:lnTo>
                    <a:pt x="118573" y="5356"/>
                  </a:lnTo>
                  <a:lnTo>
                    <a:pt x="160197" y="0"/>
                  </a:lnTo>
                  <a:lnTo>
                    <a:pt x="201510" y="5356"/>
                  </a:lnTo>
                  <a:lnTo>
                    <a:pt x="240118" y="21247"/>
                  </a:lnTo>
                  <a:lnTo>
                    <a:pt x="273059" y="46669"/>
                  </a:lnTo>
                  <a:lnTo>
                    <a:pt x="298437" y="79921"/>
                  </a:lnTo>
                  <a:lnTo>
                    <a:pt x="314505" y="118395"/>
                  </a:lnTo>
                  <a:lnTo>
                    <a:pt x="320040" y="159842"/>
                  </a:lnTo>
                  <a:lnTo>
                    <a:pt x="318639" y="180784"/>
                  </a:lnTo>
                  <a:lnTo>
                    <a:pt x="314505" y="201288"/>
                  </a:lnTo>
                  <a:lnTo>
                    <a:pt x="298437" y="239763"/>
                  </a:lnTo>
                  <a:lnTo>
                    <a:pt x="273059" y="273021"/>
                  </a:lnTo>
                  <a:lnTo>
                    <a:pt x="240118" y="298449"/>
                  </a:lnTo>
                  <a:lnTo>
                    <a:pt x="201510" y="314507"/>
                  </a:lnTo>
                  <a:lnTo>
                    <a:pt x="160197" y="320039"/>
                  </a:lnTo>
                  <a:lnTo>
                    <a:pt x="118573" y="314507"/>
                  </a:lnTo>
                  <a:lnTo>
                    <a:pt x="79921" y="298449"/>
                  </a:lnTo>
                  <a:lnTo>
                    <a:pt x="46980" y="273021"/>
                  </a:lnTo>
                  <a:lnTo>
                    <a:pt x="21602" y="239763"/>
                  </a:lnTo>
                  <a:lnTo>
                    <a:pt x="5534" y="201288"/>
                  </a:lnTo>
                  <a:lnTo>
                    <a:pt x="1400" y="180784"/>
                  </a:lnTo>
                  <a:lnTo>
                    <a:pt x="0" y="159842"/>
                  </a:lnTo>
                  <a:close/>
                </a:path>
              </a:pathLst>
            </a:custGeom>
            <a:ln w="12599">
              <a:solidFill>
                <a:srgbClr val="7CD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78345" y="4174822"/>
            <a:ext cx="946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Segoe UI Symbol"/>
                <a:cs typeface="Segoe UI Symbol"/>
              </a:rPr>
              <a:t>b</a:t>
            </a:r>
            <a:endParaRPr sz="900">
              <a:latin typeface="Segoe UI Symbol"/>
              <a:cs typeface="Segoe UI 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4176" y="4080512"/>
            <a:ext cx="9226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7CD2FB"/>
                </a:solidFill>
                <a:latin typeface="Calibri"/>
                <a:cs typeface="Calibri"/>
              </a:rPr>
              <a:t>Fricción</a:t>
            </a:r>
            <a:r>
              <a:rPr sz="1000" b="1" spc="-4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7CD2FB"/>
                </a:solidFill>
                <a:latin typeface="Calibri"/>
                <a:cs typeface="Calibri"/>
              </a:rPr>
              <a:t>del</a:t>
            </a:r>
            <a:r>
              <a:rPr sz="1000" b="1" spc="-3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7CD2FB"/>
                </a:solidFill>
                <a:latin typeface="Calibri"/>
                <a:cs typeface="Calibri"/>
              </a:rPr>
              <a:t>carro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4176" y="4380384"/>
            <a:ext cx="76727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modela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solo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fricción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viscosa: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Fv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b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ẋ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(proporcional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velocidad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del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carro,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b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30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N·s/m).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Variables</a:t>
            </a:r>
            <a:r>
              <a:rPr spc="-65" dirty="0"/>
              <a:t> </a:t>
            </a:r>
            <a:r>
              <a:rPr dirty="0"/>
              <a:t>Lingüísticas</a:t>
            </a:r>
            <a:r>
              <a:rPr spc="-60" dirty="0"/>
              <a:t> </a:t>
            </a:r>
            <a:r>
              <a:rPr dirty="0"/>
              <a:t>y</a:t>
            </a:r>
            <a:r>
              <a:rPr spc="-60" dirty="0"/>
              <a:t> </a:t>
            </a:r>
            <a:r>
              <a:rPr lang="es-AR" spc="-10" dirty="0"/>
              <a:t>conjuntos</a:t>
            </a:r>
            <a:r>
              <a:rPr spc="-55" dirty="0"/>
              <a:t> </a:t>
            </a:r>
            <a:r>
              <a:rPr lang="es-AR" spc="-10" dirty="0"/>
              <a:t>borrosos</a:t>
            </a:r>
            <a:endParaRPr spc="-10" dirty="0"/>
          </a:p>
        </p:txBody>
      </p:sp>
      <p:grpSp>
        <p:nvGrpSpPr>
          <p:cNvPr id="57" name="object 57"/>
          <p:cNvGrpSpPr/>
          <p:nvPr/>
        </p:nvGrpSpPr>
        <p:grpSpPr>
          <a:xfrm>
            <a:off x="212090" y="4159185"/>
            <a:ext cx="8719820" cy="690880"/>
            <a:chOff x="194043" y="2973592"/>
            <a:chExt cx="8719820" cy="690880"/>
          </a:xfrm>
        </p:grpSpPr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043" y="2973592"/>
              <a:ext cx="8719197" cy="69048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19684" y="3063242"/>
              <a:ext cx="8503920" cy="475615"/>
            </a:xfrm>
            <a:custGeom>
              <a:avLst/>
              <a:gdLst/>
              <a:ahLst/>
              <a:cxnLst/>
              <a:rect l="l" t="t" r="r" b="b"/>
              <a:pathLst>
                <a:path w="8503920" h="475614">
                  <a:moveTo>
                    <a:pt x="8503551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4251959" y="475195"/>
                  </a:lnTo>
                  <a:lnTo>
                    <a:pt x="8503551" y="475195"/>
                  </a:lnTo>
                  <a:lnTo>
                    <a:pt x="850355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19684" y="3063242"/>
              <a:ext cx="8503920" cy="475615"/>
            </a:xfrm>
            <a:custGeom>
              <a:avLst/>
              <a:gdLst/>
              <a:ahLst/>
              <a:cxnLst/>
              <a:rect l="l" t="t" r="r" b="b"/>
              <a:pathLst>
                <a:path w="8503920" h="475614">
                  <a:moveTo>
                    <a:pt x="4251959" y="475195"/>
                  </a:moveTo>
                  <a:lnTo>
                    <a:pt x="0" y="475195"/>
                  </a:lnTo>
                  <a:lnTo>
                    <a:pt x="0" y="0"/>
                  </a:lnTo>
                  <a:lnTo>
                    <a:pt x="8503551" y="0"/>
                  </a:lnTo>
                  <a:lnTo>
                    <a:pt x="8503551" y="475195"/>
                  </a:lnTo>
                  <a:lnTo>
                    <a:pt x="4251959" y="475195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64883" y="4299139"/>
            <a:ext cx="9144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C7CFE7"/>
                </a:solidFill>
                <a:latin typeface="Calibri"/>
                <a:cs typeface="Calibri"/>
              </a:rPr>
              <a:t>Conjuntos</a:t>
            </a:r>
            <a:r>
              <a:rPr sz="850" b="1" spc="-5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C7CFE7"/>
                </a:solidFill>
                <a:latin typeface="Calibri"/>
                <a:cs typeface="Calibri"/>
              </a:rPr>
              <a:t>borrosos: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128367" y="4354219"/>
            <a:ext cx="2216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DF5151"/>
                </a:solidFill>
                <a:latin typeface="Calibri"/>
                <a:cs typeface="Calibri"/>
              </a:rPr>
              <a:t>NGG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088487" y="4354219"/>
            <a:ext cx="1517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DF8B51"/>
                </a:solidFill>
                <a:latin typeface="Calibri"/>
                <a:cs typeface="Calibri"/>
              </a:rPr>
              <a:t>NG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048607" y="4354219"/>
            <a:ext cx="1409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D3C749"/>
                </a:solidFill>
                <a:latin typeface="Calibri"/>
                <a:cs typeface="Calibri"/>
              </a:rPr>
              <a:t>NP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008728" y="4354219"/>
            <a:ext cx="64769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spc="-50" dirty="0">
                <a:solidFill>
                  <a:srgbClr val="51C379"/>
                </a:solidFill>
                <a:latin typeface="Calibri"/>
                <a:cs typeface="Calibri"/>
              </a:rPr>
              <a:t>Z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968847" y="4354219"/>
            <a:ext cx="1270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51A7DF"/>
                </a:solidFill>
                <a:latin typeface="Calibri"/>
                <a:cs typeface="Calibri"/>
              </a:rPr>
              <a:t>PP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928967" y="4354219"/>
            <a:ext cx="1384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796DDF"/>
                </a:solidFill>
                <a:latin typeface="Calibri"/>
                <a:cs typeface="Calibri"/>
              </a:rPr>
              <a:t>PG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889088" y="4354219"/>
            <a:ext cx="208279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BF51DF"/>
                </a:solidFill>
                <a:latin typeface="Calibri"/>
                <a:cs typeface="Calibri"/>
              </a:rPr>
              <a:t>PGG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98" name="Imagen 97">
            <a:extLst>
              <a:ext uri="{FF2B5EF4-FFF2-40B4-BE49-F238E27FC236}">
                <a16:creationId xmlns:a16="http://schemas.microsoft.com/office/drawing/2014/main" id="{D3614906-7D79-419A-A6C6-7A8B7EE8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66" y="1122814"/>
            <a:ext cx="9175766" cy="2649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 err="1"/>
              <a:t>Tabla</a:t>
            </a:r>
            <a:r>
              <a:rPr spc="-55" dirty="0"/>
              <a:t> </a:t>
            </a:r>
            <a:r>
              <a:rPr dirty="0"/>
              <a:t>7×7</a:t>
            </a:r>
            <a:r>
              <a:rPr spc="-50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Base</a:t>
            </a:r>
            <a:r>
              <a:rPr spc="-4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Reglas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544" y="743218"/>
            <a:ext cx="8242300" cy="35560"/>
            <a:chOff x="450544" y="743218"/>
            <a:chExt cx="8242300" cy="3556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Shape 26">
            <a:extLst>
              <a:ext uri="{FF2B5EF4-FFF2-40B4-BE49-F238E27FC236}">
                <a16:creationId xmlns:a16="http://schemas.microsoft.com/office/drawing/2014/main" id="{5E521095-A4CF-45F4-BBF6-E8FEDB3B4E2E}"/>
              </a:ext>
            </a:extLst>
          </p:cNvPr>
          <p:cNvSpPr/>
          <p:nvPr/>
        </p:nvSpPr>
        <p:spPr>
          <a:xfrm>
            <a:off x="914400" y="1127125"/>
            <a:ext cx="566928" cy="292608"/>
          </a:xfrm>
          <a:prstGeom prst="rect">
            <a:avLst/>
          </a:prstGeom>
          <a:solidFill>
            <a:srgbClr val="E05252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AFE47649-EC5C-46FC-A375-535D6B1AABF9}"/>
              </a:ext>
            </a:extLst>
          </p:cNvPr>
          <p:cNvSpPr/>
          <p:nvPr/>
        </p:nvSpPr>
        <p:spPr>
          <a:xfrm>
            <a:off x="914400" y="114541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4978C962-F395-473C-BA44-553B2600E68F}"/>
              </a:ext>
            </a:extLst>
          </p:cNvPr>
          <p:cNvSpPr/>
          <p:nvPr/>
        </p:nvSpPr>
        <p:spPr>
          <a:xfrm>
            <a:off x="1481328" y="1127125"/>
            <a:ext cx="566928" cy="292608"/>
          </a:xfrm>
          <a:prstGeom prst="rect">
            <a:avLst/>
          </a:prstGeom>
          <a:solidFill>
            <a:srgbClr val="E08C52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61B08009-F80A-4A6C-84BD-24311D5C3D00}"/>
              </a:ext>
            </a:extLst>
          </p:cNvPr>
          <p:cNvSpPr/>
          <p:nvPr/>
        </p:nvSpPr>
        <p:spPr>
          <a:xfrm>
            <a:off x="1481328" y="114541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</a:t>
            </a:r>
            <a:endParaRPr lang="en-US" sz="750" dirty="0"/>
          </a:p>
        </p:txBody>
      </p:sp>
      <p:sp>
        <p:nvSpPr>
          <p:cNvPr id="62" name="Shape 30">
            <a:extLst>
              <a:ext uri="{FF2B5EF4-FFF2-40B4-BE49-F238E27FC236}">
                <a16:creationId xmlns:a16="http://schemas.microsoft.com/office/drawing/2014/main" id="{42D0FF1B-3A84-4B19-9043-6EB36C466A89}"/>
              </a:ext>
            </a:extLst>
          </p:cNvPr>
          <p:cNvSpPr/>
          <p:nvPr/>
        </p:nvSpPr>
        <p:spPr>
          <a:xfrm>
            <a:off x="2048256" y="1127125"/>
            <a:ext cx="566928" cy="292608"/>
          </a:xfrm>
          <a:prstGeom prst="rect">
            <a:avLst/>
          </a:prstGeom>
          <a:solidFill>
            <a:srgbClr val="D4C84A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8127B5C3-C672-4374-8206-08B673C3664F}"/>
              </a:ext>
            </a:extLst>
          </p:cNvPr>
          <p:cNvSpPr/>
          <p:nvPr/>
        </p:nvSpPr>
        <p:spPr>
          <a:xfrm>
            <a:off x="2048256" y="114541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64" name="Shape 32">
            <a:extLst>
              <a:ext uri="{FF2B5EF4-FFF2-40B4-BE49-F238E27FC236}">
                <a16:creationId xmlns:a16="http://schemas.microsoft.com/office/drawing/2014/main" id="{03C3D634-E28A-4266-9244-2748D18E3AA7}"/>
              </a:ext>
            </a:extLst>
          </p:cNvPr>
          <p:cNvSpPr/>
          <p:nvPr/>
        </p:nvSpPr>
        <p:spPr>
          <a:xfrm>
            <a:off x="2615184" y="1127125"/>
            <a:ext cx="566928" cy="292608"/>
          </a:xfrm>
          <a:prstGeom prst="rect">
            <a:avLst/>
          </a:prstGeom>
          <a:solidFill>
            <a:srgbClr val="52C47A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65" name="Text 33">
            <a:extLst>
              <a:ext uri="{FF2B5EF4-FFF2-40B4-BE49-F238E27FC236}">
                <a16:creationId xmlns:a16="http://schemas.microsoft.com/office/drawing/2014/main" id="{44834E45-0465-4310-A8F9-8B8FDB7F48DA}"/>
              </a:ext>
            </a:extLst>
          </p:cNvPr>
          <p:cNvSpPr/>
          <p:nvPr/>
        </p:nvSpPr>
        <p:spPr>
          <a:xfrm>
            <a:off x="2615184" y="114541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750" dirty="0"/>
          </a:p>
        </p:txBody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559658B4-9868-43DC-8ADF-2BBF411419F3}"/>
              </a:ext>
            </a:extLst>
          </p:cNvPr>
          <p:cNvSpPr/>
          <p:nvPr/>
        </p:nvSpPr>
        <p:spPr>
          <a:xfrm>
            <a:off x="3182112" y="1127125"/>
            <a:ext cx="566928" cy="292608"/>
          </a:xfrm>
          <a:prstGeom prst="rect">
            <a:avLst/>
          </a:prstGeom>
          <a:solidFill>
            <a:srgbClr val="52A8E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51E69B20-E60B-445F-8818-81DDDE66CCD8}"/>
              </a:ext>
            </a:extLst>
          </p:cNvPr>
          <p:cNvSpPr/>
          <p:nvPr/>
        </p:nvSpPr>
        <p:spPr>
          <a:xfrm>
            <a:off x="3182112" y="114541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68" name="Shape 36">
            <a:extLst>
              <a:ext uri="{FF2B5EF4-FFF2-40B4-BE49-F238E27FC236}">
                <a16:creationId xmlns:a16="http://schemas.microsoft.com/office/drawing/2014/main" id="{70642038-AEC7-42D4-A6F1-3B4C00003795}"/>
              </a:ext>
            </a:extLst>
          </p:cNvPr>
          <p:cNvSpPr/>
          <p:nvPr/>
        </p:nvSpPr>
        <p:spPr>
          <a:xfrm>
            <a:off x="3749040" y="1127125"/>
            <a:ext cx="566928" cy="292608"/>
          </a:xfrm>
          <a:prstGeom prst="rect">
            <a:avLst/>
          </a:prstGeom>
          <a:solidFill>
            <a:srgbClr val="7A6EE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69" name="Text 37">
            <a:extLst>
              <a:ext uri="{FF2B5EF4-FFF2-40B4-BE49-F238E27FC236}">
                <a16:creationId xmlns:a16="http://schemas.microsoft.com/office/drawing/2014/main" id="{AEC9A2F3-A83B-4710-8FF1-4F72BB6F1AED}"/>
              </a:ext>
            </a:extLst>
          </p:cNvPr>
          <p:cNvSpPr/>
          <p:nvPr/>
        </p:nvSpPr>
        <p:spPr>
          <a:xfrm>
            <a:off x="3749040" y="114541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endParaRPr lang="en-US" sz="750" dirty="0"/>
          </a:p>
        </p:txBody>
      </p:sp>
      <p:sp>
        <p:nvSpPr>
          <p:cNvPr id="70" name="Shape 38">
            <a:extLst>
              <a:ext uri="{FF2B5EF4-FFF2-40B4-BE49-F238E27FC236}">
                <a16:creationId xmlns:a16="http://schemas.microsoft.com/office/drawing/2014/main" id="{494A9608-160E-4C8D-8AB4-C9C16B309A30}"/>
              </a:ext>
            </a:extLst>
          </p:cNvPr>
          <p:cNvSpPr/>
          <p:nvPr/>
        </p:nvSpPr>
        <p:spPr>
          <a:xfrm>
            <a:off x="4315968" y="1127125"/>
            <a:ext cx="566928" cy="292608"/>
          </a:xfrm>
          <a:prstGeom prst="rect">
            <a:avLst/>
          </a:prstGeom>
          <a:solidFill>
            <a:srgbClr val="C052E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CA8BF2FC-7695-4F7F-AF54-A217FA78B8DE}"/>
              </a:ext>
            </a:extLst>
          </p:cNvPr>
          <p:cNvSpPr/>
          <p:nvPr/>
        </p:nvSpPr>
        <p:spPr>
          <a:xfrm>
            <a:off x="4315968" y="114541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72" name="Shape 40">
            <a:extLst>
              <a:ext uri="{FF2B5EF4-FFF2-40B4-BE49-F238E27FC236}">
                <a16:creationId xmlns:a16="http://schemas.microsoft.com/office/drawing/2014/main" id="{E7A92C68-3E79-4E46-A100-FBA9E29691F2}"/>
              </a:ext>
            </a:extLst>
          </p:cNvPr>
          <p:cNvSpPr/>
          <p:nvPr/>
        </p:nvSpPr>
        <p:spPr>
          <a:xfrm>
            <a:off x="292608" y="1419733"/>
            <a:ext cx="594360" cy="384048"/>
          </a:xfrm>
          <a:prstGeom prst="rect">
            <a:avLst/>
          </a:prstGeom>
          <a:solidFill>
            <a:srgbClr val="E05252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F4B6488C-D300-4D17-8286-18CCBE717D96}"/>
              </a:ext>
            </a:extLst>
          </p:cNvPr>
          <p:cNvSpPr/>
          <p:nvPr/>
        </p:nvSpPr>
        <p:spPr>
          <a:xfrm>
            <a:off x="292608" y="1483741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74" name="Shape 42">
            <a:extLst>
              <a:ext uri="{FF2B5EF4-FFF2-40B4-BE49-F238E27FC236}">
                <a16:creationId xmlns:a16="http://schemas.microsoft.com/office/drawing/2014/main" id="{9AE96038-2A77-4651-81FF-22C06495A626}"/>
              </a:ext>
            </a:extLst>
          </p:cNvPr>
          <p:cNvSpPr/>
          <p:nvPr/>
        </p:nvSpPr>
        <p:spPr>
          <a:xfrm>
            <a:off x="914400" y="1419733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1212B9E0-A8A6-4096-8095-D0E4170F6AC3}"/>
              </a:ext>
            </a:extLst>
          </p:cNvPr>
          <p:cNvSpPr/>
          <p:nvPr/>
        </p:nvSpPr>
        <p:spPr>
          <a:xfrm>
            <a:off x="914400" y="148374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76" name="Shape 44">
            <a:extLst>
              <a:ext uri="{FF2B5EF4-FFF2-40B4-BE49-F238E27FC236}">
                <a16:creationId xmlns:a16="http://schemas.microsoft.com/office/drawing/2014/main" id="{57824938-E799-43DA-B043-2678E8416CC2}"/>
              </a:ext>
            </a:extLst>
          </p:cNvPr>
          <p:cNvSpPr/>
          <p:nvPr/>
        </p:nvSpPr>
        <p:spPr>
          <a:xfrm>
            <a:off x="1481328" y="141973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77" name="Text 45">
            <a:extLst>
              <a:ext uri="{FF2B5EF4-FFF2-40B4-BE49-F238E27FC236}">
                <a16:creationId xmlns:a16="http://schemas.microsoft.com/office/drawing/2014/main" id="{2A3BA24E-7E8C-4C92-9D4A-053CEF76383B}"/>
              </a:ext>
            </a:extLst>
          </p:cNvPr>
          <p:cNvSpPr/>
          <p:nvPr/>
        </p:nvSpPr>
        <p:spPr>
          <a:xfrm>
            <a:off x="1481328" y="148374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78" name="Shape 46">
            <a:extLst>
              <a:ext uri="{FF2B5EF4-FFF2-40B4-BE49-F238E27FC236}">
                <a16:creationId xmlns:a16="http://schemas.microsoft.com/office/drawing/2014/main" id="{3AAC3427-4C0A-491E-92B3-9E8E4309E3CE}"/>
              </a:ext>
            </a:extLst>
          </p:cNvPr>
          <p:cNvSpPr/>
          <p:nvPr/>
        </p:nvSpPr>
        <p:spPr>
          <a:xfrm>
            <a:off x="2048256" y="141973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79" name="Text 47">
            <a:extLst>
              <a:ext uri="{FF2B5EF4-FFF2-40B4-BE49-F238E27FC236}">
                <a16:creationId xmlns:a16="http://schemas.microsoft.com/office/drawing/2014/main" id="{563B763E-41A7-4721-81B9-E0F233B8019D}"/>
              </a:ext>
            </a:extLst>
          </p:cNvPr>
          <p:cNvSpPr/>
          <p:nvPr/>
        </p:nvSpPr>
        <p:spPr>
          <a:xfrm>
            <a:off x="2048256" y="148374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80" name="Shape 48">
            <a:extLst>
              <a:ext uri="{FF2B5EF4-FFF2-40B4-BE49-F238E27FC236}">
                <a16:creationId xmlns:a16="http://schemas.microsoft.com/office/drawing/2014/main" id="{4C59C5DD-317C-4AE0-AD03-4B324FECA16B}"/>
              </a:ext>
            </a:extLst>
          </p:cNvPr>
          <p:cNvSpPr/>
          <p:nvPr/>
        </p:nvSpPr>
        <p:spPr>
          <a:xfrm>
            <a:off x="2615184" y="141973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81" name="Text 49">
            <a:extLst>
              <a:ext uri="{FF2B5EF4-FFF2-40B4-BE49-F238E27FC236}">
                <a16:creationId xmlns:a16="http://schemas.microsoft.com/office/drawing/2014/main" id="{D4BB6707-D6F2-473E-A7A0-2F8DAC9A8C75}"/>
              </a:ext>
            </a:extLst>
          </p:cNvPr>
          <p:cNvSpPr/>
          <p:nvPr/>
        </p:nvSpPr>
        <p:spPr>
          <a:xfrm>
            <a:off x="2615184" y="148374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82" name="Shape 50">
            <a:extLst>
              <a:ext uri="{FF2B5EF4-FFF2-40B4-BE49-F238E27FC236}">
                <a16:creationId xmlns:a16="http://schemas.microsoft.com/office/drawing/2014/main" id="{A6CE5374-460A-4205-989D-B6C9D8237122}"/>
              </a:ext>
            </a:extLst>
          </p:cNvPr>
          <p:cNvSpPr/>
          <p:nvPr/>
        </p:nvSpPr>
        <p:spPr>
          <a:xfrm>
            <a:off x="3182112" y="141973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83" name="Text 51">
            <a:extLst>
              <a:ext uri="{FF2B5EF4-FFF2-40B4-BE49-F238E27FC236}">
                <a16:creationId xmlns:a16="http://schemas.microsoft.com/office/drawing/2014/main" id="{94BE2373-5500-446A-AE9F-52B1D359D8C2}"/>
              </a:ext>
            </a:extLst>
          </p:cNvPr>
          <p:cNvSpPr/>
          <p:nvPr/>
        </p:nvSpPr>
        <p:spPr>
          <a:xfrm>
            <a:off x="3182112" y="148374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84" name="Shape 52">
            <a:extLst>
              <a:ext uri="{FF2B5EF4-FFF2-40B4-BE49-F238E27FC236}">
                <a16:creationId xmlns:a16="http://schemas.microsoft.com/office/drawing/2014/main" id="{C53C039A-1586-4993-B15D-5C8AAD1933E8}"/>
              </a:ext>
            </a:extLst>
          </p:cNvPr>
          <p:cNvSpPr/>
          <p:nvPr/>
        </p:nvSpPr>
        <p:spPr>
          <a:xfrm>
            <a:off x="3749040" y="141973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5B7E3B8C-25AA-4D7D-9EE8-B8B39C478CA4}"/>
              </a:ext>
            </a:extLst>
          </p:cNvPr>
          <p:cNvSpPr/>
          <p:nvPr/>
        </p:nvSpPr>
        <p:spPr>
          <a:xfrm>
            <a:off x="3749040" y="148374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86" name="Shape 54">
            <a:extLst>
              <a:ext uri="{FF2B5EF4-FFF2-40B4-BE49-F238E27FC236}">
                <a16:creationId xmlns:a16="http://schemas.microsoft.com/office/drawing/2014/main" id="{099A782A-B599-4A00-9203-CC7753968F30}"/>
              </a:ext>
            </a:extLst>
          </p:cNvPr>
          <p:cNvSpPr/>
          <p:nvPr/>
        </p:nvSpPr>
        <p:spPr>
          <a:xfrm>
            <a:off x="4315968" y="1419733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87" name="Text 55">
            <a:extLst>
              <a:ext uri="{FF2B5EF4-FFF2-40B4-BE49-F238E27FC236}">
                <a16:creationId xmlns:a16="http://schemas.microsoft.com/office/drawing/2014/main" id="{1A04D6DE-CC5E-4133-917A-D69D1815D48C}"/>
              </a:ext>
            </a:extLst>
          </p:cNvPr>
          <p:cNvSpPr/>
          <p:nvPr/>
        </p:nvSpPr>
        <p:spPr>
          <a:xfrm>
            <a:off x="4315968" y="148374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0EB9E37A-A597-4B1D-AD82-ACE6D9EA9AAE}"/>
              </a:ext>
            </a:extLst>
          </p:cNvPr>
          <p:cNvSpPr/>
          <p:nvPr/>
        </p:nvSpPr>
        <p:spPr>
          <a:xfrm>
            <a:off x="292608" y="1803781"/>
            <a:ext cx="594360" cy="384048"/>
          </a:xfrm>
          <a:prstGeom prst="rect">
            <a:avLst/>
          </a:prstGeom>
          <a:solidFill>
            <a:srgbClr val="E08C52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89" name="Text 57">
            <a:extLst>
              <a:ext uri="{FF2B5EF4-FFF2-40B4-BE49-F238E27FC236}">
                <a16:creationId xmlns:a16="http://schemas.microsoft.com/office/drawing/2014/main" id="{B1BA0905-86F7-4FFC-AA87-975D8B49C7F4}"/>
              </a:ext>
            </a:extLst>
          </p:cNvPr>
          <p:cNvSpPr/>
          <p:nvPr/>
        </p:nvSpPr>
        <p:spPr>
          <a:xfrm>
            <a:off x="292608" y="1867789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</a:t>
            </a:r>
            <a:endParaRPr lang="en-US" sz="750" dirty="0"/>
          </a:p>
        </p:txBody>
      </p:sp>
      <p:sp>
        <p:nvSpPr>
          <p:cNvPr id="90" name="Shape 58">
            <a:extLst>
              <a:ext uri="{FF2B5EF4-FFF2-40B4-BE49-F238E27FC236}">
                <a16:creationId xmlns:a16="http://schemas.microsoft.com/office/drawing/2014/main" id="{0D2DFB1A-BABF-4000-927E-B172078D2CF2}"/>
              </a:ext>
            </a:extLst>
          </p:cNvPr>
          <p:cNvSpPr/>
          <p:nvPr/>
        </p:nvSpPr>
        <p:spPr>
          <a:xfrm>
            <a:off x="914400" y="180378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446D31DE-5A14-4914-942F-CB17366B0DC8}"/>
              </a:ext>
            </a:extLst>
          </p:cNvPr>
          <p:cNvSpPr/>
          <p:nvPr/>
        </p:nvSpPr>
        <p:spPr>
          <a:xfrm>
            <a:off x="914400" y="186778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92" name="Shape 60">
            <a:extLst>
              <a:ext uri="{FF2B5EF4-FFF2-40B4-BE49-F238E27FC236}">
                <a16:creationId xmlns:a16="http://schemas.microsoft.com/office/drawing/2014/main" id="{61BB5B40-6494-4651-B0E9-0747209672F9}"/>
              </a:ext>
            </a:extLst>
          </p:cNvPr>
          <p:cNvSpPr/>
          <p:nvPr/>
        </p:nvSpPr>
        <p:spPr>
          <a:xfrm>
            <a:off x="1481328" y="1803781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93" name="Text 61">
            <a:extLst>
              <a:ext uri="{FF2B5EF4-FFF2-40B4-BE49-F238E27FC236}">
                <a16:creationId xmlns:a16="http://schemas.microsoft.com/office/drawing/2014/main" id="{19DBABEF-85C4-47C4-972D-D4BEA2161A22}"/>
              </a:ext>
            </a:extLst>
          </p:cNvPr>
          <p:cNvSpPr/>
          <p:nvPr/>
        </p:nvSpPr>
        <p:spPr>
          <a:xfrm>
            <a:off x="1481328" y="186778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94" name="Shape 62">
            <a:extLst>
              <a:ext uri="{FF2B5EF4-FFF2-40B4-BE49-F238E27FC236}">
                <a16:creationId xmlns:a16="http://schemas.microsoft.com/office/drawing/2014/main" id="{60330A8A-EC2F-4019-BD48-BA0F5D244E54}"/>
              </a:ext>
            </a:extLst>
          </p:cNvPr>
          <p:cNvSpPr/>
          <p:nvPr/>
        </p:nvSpPr>
        <p:spPr>
          <a:xfrm>
            <a:off x="2048256" y="180378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95" name="Text 63">
            <a:extLst>
              <a:ext uri="{FF2B5EF4-FFF2-40B4-BE49-F238E27FC236}">
                <a16:creationId xmlns:a16="http://schemas.microsoft.com/office/drawing/2014/main" id="{A7880D1F-B31C-47BA-AACA-F9D86AEA8C6D}"/>
              </a:ext>
            </a:extLst>
          </p:cNvPr>
          <p:cNvSpPr/>
          <p:nvPr/>
        </p:nvSpPr>
        <p:spPr>
          <a:xfrm>
            <a:off x="2048256" y="186778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endParaRPr lang="en-US" sz="750" dirty="0"/>
          </a:p>
        </p:txBody>
      </p:sp>
      <p:sp>
        <p:nvSpPr>
          <p:cNvPr id="96" name="Shape 64">
            <a:extLst>
              <a:ext uri="{FF2B5EF4-FFF2-40B4-BE49-F238E27FC236}">
                <a16:creationId xmlns:a16="http://schemas.microsoft.com/office/drawing/2014/main" id="{F49222EC-CAF7-4930-AA76-F417EEB516C4}"/>
              </a:ext>
            </a:extLst>
          </p:cNvPr>
          <p:cNvSpPr/>
          <p:nvPr/>
        </p:nvSpPr>
        <p:spPr>
          <a:xfrm>
            <a:off x="2615184" y="180378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97" name="Text 65">
            <a:extLst>
              <a:ext uri="{FF2B5EF4-FFF2-40B4-BE49-F238E27FC236}">
                <a16:creationId xmlns:a16="http://schemas.microsoft.com/office/drawing/2014/main" id="{24B55F1E-86EA-4210-81B8-37EC28747E79}"/>
              </a:ext>
            </a:extLst>
          </p:cNvPr>
          <p:cNvSpPr/>
          <p:nvPr/>
        </p:nvSpPr>
        <p:spPr>
          <a:xfrm>
            <a:off x="2615184" y="186778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98" name="Shape 66">
            <a:extLst>
              <a:ext uri="{FF2B5EF4-FFF2-40B4-BE49-F238E27FC236}">
                <a16:creationId xmlns:a16="http://schemas.microsoft.com/office/drawing/2014/main" id="{34C50F97-830B-48E2-8CD1-FEB35E0C2576}"/>
              </a:ext>
            </a:extLst>
          </p:cNvPr>
          <p:cNvSpPr/>
          <p:nvPr/>
        </p:nvSpPr>
        <p:spPr>
          <a:xfrm>
            <a:off x="3182112" y="180378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99" name="Text 67">
            <a:extLst>
              <a:ext uri="{FF2B5EF4-FFF2-40B4-BE49-F238E27FC236}">
                <a16:creationId xmlns:a16="http://schemas.microsoft.com/office/drawing/2014/main" id="{E30EC87F-4622-4EAF-A253-1958AA230640}"/>
              </a:ext>
            </a:extLst>
          </p:cNvPr>
          <p:cNvSpPr/>
          <p:nvPr/>
        </p:nvSpPr>
        <p:spPr>
          <a:xfrm>
            <a:off x="3182112" y="186778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C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750" dirty="0"/>
          </a:p>
        </p:txBody>
      </p:sp>
      <p:sp>
        <p:nvSpPr>
          <p:cNvPr id="100" name="Shape 68">
            <a:extLst>
              <a:ext uri="{FF2B5EF4-FFF2-40B4-BE49-F238E27FC236}">
                <a16:creationId xmlns:a16="http://schemas.microsoft.com/office/drawing/2014/main" id="{B41A951A-627D-4BA0-8018-FD19AF9549A0}"/>
              </a:ext>
            </a:extLst>
          </p:cNvPr>
          <p:cNvSpPr/>
          <p:nvPr/>
        </p:nvSpPr>
        <p:spPr>
          <a:xfrm>
            <a:off x="3749040" y="1803781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01" name="Text 69">
            <a:extLst>
              <a:ext uri="{FF2B5EF4-FFF2-40B4-BE49-F238E27FC236}">
                <a16:creationId xmlns:a16="http://schemas.microsoft.com/office/drawing/2014/main" id="{963EF451-1304-4B93-9005-205ADEB0839C}"/>
              </a:ext>
            </a:extLst>
          </p:cNvPr>
          <p:cNvSpPr/>
          <p:nvPr/>
        </p:nvSpPr>
        <p:spPr>
          <a:xfrm>
            <a:off x="3749040" y="186778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02" name="Shape 70">
            <a:extLst>
              <a:ext uri="{FF2B5EF4-FFF2-40B4-BE49-F238E27FC236}">
                <a16:creationId xmlns:a16="http://schemas.microsoft.com/office/drawing/2014/main" id="{8400AA77-54D4-4B79-BCC9-D845A0B196C7}"/>
              </a:ext>
            </a:extLst>
          </p:cNvPr>
          <p:cNvSpPr/>
          <p:nvPr/>
        </p:nvSpPr>
        <p:spPr>
          <a:xfrm>
            <a:off x="4315968" y="180378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03" name="Text 71">
            <a:extLst>
              <a:ext uri="{FF2B5EF4-FFF2-40B4-BE49-F238E27FC236}">
                <a16:creationId xmlns:a16="http://schemas.microsoft.com/office/drawing/2014/main" id="{C80280F1-C256-49B1-8575-5CA4C0E6E93B}"/>
              </a:ext>
            </a:extLst>
          </p:cNvPr>
          <p:cNvSpPr/>
          <p:nvPr/>
        </p:nvSpPr>
        <p:spPr>
          <a:xfrm>
            <a:off x="4315968" y="186778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8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</a:t>
            </a:r>
            <a:endParaRPr lang="en-US" sz="750" dirty="0"/>
          </a:p>
        </p:txBody>
      </p:sp>
      <p:sp>
        <p:nvSpPr>
          <p:cNvPr id="104" name="Shape 72">
            <a:extLst>
              <a:ext uri="{FF2B5EF4-FFF2-40B4-BE49-F238E27FC236}">
                <a16:creationId xmlns:a16="http://schemas.microsoft.com/office/drawing/2014/main" id="{C1F28BE2-E80C-406C-9F49-B3A8D3ABD08B}"/>
              </a:ext>
            </a:extLst>
          </p:cNvPr>
          <p:cNvSpPr/>
          <p:nvPr/>
        </p:nvSpPr>
        <p:spPr>
          <a:xfrm>
            <a:off x="292608" y="2187829"/>
            <a:ext cx="594360" cy="384048"/>
          </a:xfrm>
          <a:prstGeom prst="rect">
            <a:avLst/>
          </a:prstGeom>
          <a:solidFill>
            <a:srgbClr val="D4C84A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05" name="Text 73">
            <a:extLst>
              <a:ext uri="{FF2B5EF4-FFF2-40B4-BE49-F238E27FC236}">
                <a16:creationId xmlns:a16="http://schemas.microsoft.com/office/drawing/2014/main" id="{16835BD7-3949-4452-BCBC-10246070E73A}"/>
              </a:ext>
            </a:extLst>
          </p:cNvPr>
          <p:cNvSpPr/>
          <p:nvPr/>
        </p:nvSpPr>
        <p:spPr>
          <a:xfrm>
            <a:off x="292608" y="2251837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06" name="Shape 74">
            <a:extLst>
              <a:ext uri="{FF2B5EF4-FFF2-40B4-BE49-F238E27FC236}">
                <a16:creationId xmlns:a16="http://schemas.microsoft.com/office/drawing/2014/main" id="{7D137007-35C2-4597-9EE9-D6AC274AA00B}"/>
              </a:ext>
            </a:extLst>
          </p:cNvPr>
          <p:cNvSpPr/>
          <p:nvPr/>
        </p:nvSpPr>
        <p:spPr>
          <a:xfrm>
            <a:off x="914400" y="2187829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07" name="Text 75">
            <a:extLst>
              <a:ext uri="{FF2B5EF4-FFF2-40B4-BE49-F238E27FC236}">
                <a16:creationId xmlns:a16="http://schemas.microsoft.com/office/drawing/2014/main" id="{C2C38145-DBEE-4ED9-BBD7-2514E30D6358}"/>
              </a:ext>
            </a:extLst>
          </p:cNvPr>
          <p:cNvSpPr/>
          <p:nvPr/>
        </p:nvSpPr>
        <p:spPr>
          <a:xfrm>
            <a:off x="914400" y="225183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108" name="Shape 76">
            <a:extLst>
              <a:ext uri="{FF2B5EF4-FFF2-40B4-BE49-F238E27FC236}">
                <a16:creationId xmlns:a16="http://schemas.microsoft.com/office/drawing/2014/main" id="{431C0AF6-5713-4051-A56A-8E3C3B8DA64B}"/>
              </a:ext>
            </a:extLst>
          </p:cNvPr>
          <p:cNvSpPr/>
          <p:nvPr/>
        </p:nvSpPr>
        <p:spPr>
          <a:xfrm>
            <a:off x="1481328" y="2187829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09" name="Text 77">
            <a:extLst>
              <a:ext uri="{FF2B5EF4-FFF2-40B4-BE49-F238E27FC236}">
                <a16:creationId xmlns:a16="http://schemas.microsoft.com/office/drawing/2014/main" id="{C0D14CFF-2BED-400C-9F40-6B2FF8B5FC0A}"/>
              </a:ext>
            </a:extLst>
          </p:cNvPr>
          <p:cNvSpPr/>
          <p:nvPr/>
        </p:nvSpPr>
        <p:spPr>
          <a:xfrm>
            <a:off x="1481328" y="225183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110" name="Shape 78">
            <a:extLst>
              <a:ext uri="{FF2B5EF4-FFF2-40B4-BE49-F238E27FC236}">
                <a16:creationId xmlns:a16="http://schemas.microsoft.com/office/drawing/2014/main" id="{06553B68-7FD2-4780-8B27-1CF708236E0C}"/>
              </a:ext>
            </a:extLst>
          </p:cNvPr>
          <p:cNvSpPr/>
          <p:nvPr/>
        </p:nvSpPr>
        <p:spPr>
          <a:xfrm>
            <a:off x="2048256" y="2187829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11" name="Text 79">
            <a:extLst>
              <a:ext uri="{FF2B5EF4-FFF2-40B4-BE49-F238E27FC236}">
                <a16:creationId xmlns:a16="http://schemas.microsoft.com/office/drawing/2014/main" id="{1A535E43-1364-4802-8AF6-4CA232CC3EBE}"/>
              </a:ext>
            </a:extLst>
          </p:cNvPr>
          <p:cNvSpPr/>
          <p:nvPr/>
        </p:nvSpPr>
        <p:spPr>
          <a:xfrm>
            <a:off x="2048256" y="225183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endParaRPr lang="en-US" sz="750" dirty="0"/>
          </a:p>
        </p:txBody>
      </p:sp>
      <p:sp>
        <p:nvSpPr>
          <p:cNvPr id="112" name="Shape 80">
            <a:extLst>
              <a:ext uri="{FF2B5EF4-FFF2-40B4-BE49-F238E27FC236}">
                <a16:creationId xmlns:a16="http://schemas.microsoft.com/office/drawing/2014/main" id="{DF7A333D-EB66-4D77-AF9E-3BB68571396C}"/>
              </a:ext>
            </a:extLst>
          </p:cNvPr>
          <p:cNvSpPr/>
          <p:nvPr/>
        </p:nvSpPr>
        <p:spPr>
          <a:xfrm>
            <a:off x="2615184" y="2187829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13" name="Text 81">
            <a:extLst>
              <a:ext uri="{FF2B5EF4-FFF2-40B4-BE49-F238E27FC236}">
                <a16:creationId xmlns:a16="http://schemas.microsoft.com/office/drawing/2014/main" id="{69269D04-76E5-4C48-8665-4315D58DB5FE}"/>
              </a:ext>
            </a:extLst>
          </p:cNvPr>
          <p:cNvSpPr/>
          <p:nvPr/>
        </p:nvSpPr>
        <p:spPr>
          <a:xfrm>
            <a:off x="2615184" y="225183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114" name="Shape 82">
            <a:extLst>
              <a:ext uri="{FF2B5EF4-FFF2-40B4-BE49-F238E27FC236}">
                <a16:creationId xmlns:a16="http://schemas.microsoft.com/office/drawing/2014/main" id="{E356997C-A1A9-4670-AFEE-AF53E845626C}"/>
              </a:ext>
            </a:extLst>
          </p:cNvPr>
          <p:cNvSpPr/>
          <p:nvPr/>
        </p:nvSpPr>
        <p:spPr>
          <a:xfrm>
            <a:off x="3182112" y="2187829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15" name="Text 83">
            <a:extLst>
              <a:ext uri="{FF2B5EF4-FFF2-40B4-BE49-F238E27FC236}">
                <a16:creationId xmlns:a16="http://schemas.microsoft.com/office/drawing/2014/main" id="{6C69C964-518C-4B4D-BD84-57DDDFE3FD3B}"/>
              </a:ext>
            </a:extLst>
          </p:cNvPr>
          <p:cNvSpPr/>
          <p:nvPr/>
        </p:nvSpPr>
        <p:spPr>
          <a:xfrm>
            <a:off x="3182112" y="225183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16" name="Shape 84">
            <a:extLst>
              <a:ext uri="{FF2B5EF4-FFF2-40B4-BE49-F238E27FC236}">
                <a16:creationId xmlns:a16="http://schemas.microsoft.com/office/drawing/2014/main" id="{EB71089A-CFF4-48AF-8446-118F2E02FDE9}"/>
              </a:ext>
            </a:extLst>
          </p:cNvPr>
          <p:cNvSpPr/>
          <p:nvPr/>
        </p:nvSpPr>
        <p:spPr>
          <a:xfrm>
            <a:off x="3749040" y="2187829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17" name="Text 85">
            <a:extLst>
              <a:ext uri="{FF2B5EF4-FFF2-40B4-BE49-F238E27FC236}">
                <a16:creationId xmlns:a16="http://schemas.microsoft.com/office/drawing/2014/main" id="{A5F7EC4E-53DA-4F6D-BDA6-00DB5E405163}"/>
              </a:ext>
            </a:extLst>
          </p:cNvPr>
          <p:cNvSpPr/>
          <p:nvPr/>
        </p:nvSpPr>
        <p:spPr>
          <a:xfrm>
            <a:off x="3749040" y="225183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18" name="Shape 86">
            <a:extLst>
              <a:ext uri="{FF2B5EF4-FFF2-40B4-BE49-F238E27FC236}">
                <a16:creationId xmlns:a16="http://schemas.microsoft.com/office/drawing/2014/main" id="{92DDE6FC-E774-4BED-8506-41AD48A85BDD}"/>
              </a:ext>
            </a:extLst>
          </p:cNvPr>
          <p:cNvSpPr/>
          <p:nvPr/>
        </p:nvSpPr>
        <p:spPr>
          <a:xfrm>
            <a:off x="4315968" y="2187829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19" name="Text 87">
            <a:extLst>
              <a:ext uri="{FF2B5EF4-FFF2-40B4-BE49-F238E27FC236}">
                <a16:creationId xmlns:a16="http://schemas.microsoft.com/office/drawing/2014/main" id="{997B6084-CBDF-4B1D-9A4A-FBE33698EEC0}"/>
              </a:ext>
            </a:extLst>
          </p:cNvPr>
          <p:cNvSpPr/>
          <p:nvPr/>
        </p:nvSpPr>
        <p:spPr>
          <a:xfrm>
            <a:off x="4315968" y="225183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20" name="Shape 88">
            <a:extLst>
              <a:ext uri="{FF2B5EF4-FFF2-40B4-BE49-F238E27FC236}">
                <a16:creationId xmlns:a16="http://schemas.microsoft.com/office/drawing/2014/main" id="{AC580E43-F4BB-446C-B804-2CEFC24DC3AA}"/>
              </a:ext>
            </a:extLst>
          </p:cNvPr>
          <p:cNvSpPr/>
          <p:nvPr/>
        </p:nvSpPr>
        <p:spPr>
          <a:xfrm>
            <a:off x="292608" y="2571877"/>
            <a:ext cx="594360" cy="384048"/>
          </a:xfrm>
          <a:prstGeom prst="rect">
            <a:avLst/>
          </a:prstGeom>
          <a:solidFill>
            <a:srgbClr val="52C47A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21" name="Text 89">
            <a:extLst>
              <a:ext uri="{FF2B5EF4-FFF2-40B4-BE49-F238E27FC236}">
                <a16:creationId xmlns:a16="http://schemas.microsoft.com/office/drawing/2014/main" id="{31558FFD-1472-40DE-A26F-3585F289DD56}"/>
              </a:ext>
            </a:extLst>
          </p:cNvPr>
          <p:cNvSpPr/>
          <p:nvPr/>
        </p:nvSpPr>
        <p:spPr>
          <a:xfrm>
            <a:off x="292608" y="2635885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750" dirty="0"/>
          </a:p>
        </p:txBody>
      </p:sp>
      <p:sp>
        <p:nvSpPr>
          <p:cNvPr id="122" name="Shape 90">
            <a:extLst>
              <a:ext uri="{FF2B5EF4-FFF2-40B4-BE49-F238E27FC236}">
                <a16:creationId xmlns:a16="http://schemas.microsoft.com/office/drawing/2014/main" id="{94750D85-9BE9-4083-93A6-8AEA60E4C477}"/>
              </a:ext>
            </a:extLst>
          </p:cNvPr>
          <p:cNvSpPr/>
          <p:nvPr/>
        </p:nvSpPr>
        <p:spPr>
          <a:xfrm>
            <a:off x="914400" y="2571877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23" name="Text 91">
            <a:extLst>
              <a:ext uri="{FF2B5EF4-FFF2-40B4-BE49-F238E27FC236}">
                <a16:creationId xmlns:a16="http://schemas.microsoft.com/office/drawing/2014/main" id="{3141CB2C-DC7A-46AD-AE50-7AE8E95573F1}"/>
              </a:ext>
            </a:extLst>
          </p:cNvPr>
          <p:cNvSpPr/>
          <p:nvPr/>
        </p:nvSpPr>
        <p:spPr>
          <a:xfrm>
            <a:off x="914400" y="263588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124" name="Shape 92">
            <a:extLst>
              <a:ext uri="{FF2B5EF4-FFF2-40B4-BE49-F238E27FC236}">
                <a16:creationId xmlns:a16="http://schemas.microsoft.com/office/drawing/2014/main" id="{4AEF1940-3FC7-4B83-8ECB-DC6647A95FE8}"/>
              </a:ext>
            </a:extLst>
          </p:cNvPr>
          <p:cNvSpPr/>
          <p:nvPr/>
        </p:nvSpPr>
        <p:spPr>
          <a:xfrm>
            <a:off x="1481328" y="2571877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25" name="Text 93">
            <a:extLst>
              <a:ext uri="{FF2B5EF4-FFF2-40B4-BE49-F238E27FC236}">
                <a16:creationId xmlns:a16="http://schemas.microsoft.com/office/drawing/2014/main" id="{9D871A4E-528B-4B9D-B9D1-65250EE876EA}"/>
              </a:ext>
            </a:extLst>
          </p:cNvPr>
          <p:cNvSpPr/>
          <p:nvPr/>
        </p:nvSpPr>
        <p:spPr>
          <a:xfrm>
            <a:off x="1481328" y="263588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endParaRPr lang="en-US" sz="750" dirty="0"/>
          </a:p>
        </p:txBody>
      </p:sp>
      <p:sp>
        <p:nvSpPr>
          <p:cNvPr id="126" name="Shape 94">
            <a:extLst>
              <a:ext uri="{FF2B5EF4-FFF2-40B4-BE49-F238E27FC236}">
                <a16:creationId xmlns:a16="http://schemas.microsoft.com/office/drawing/2014/main" id="{48F6E77D-C75F-4EBF-A81A-8C0732FA6F4E}"/>
              </a:ext>
            </a:extLst>
          </p:cNvPr>
          <p:cNvSpPr/>
          <p:nvPr/>
        </p:nvSpPr>
        <p:spPr>
          <a:xfrm>
            <a:off x="2048256" y="2571877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27" name="Text 95">
            <a:extLst>
              <a:ext uri="{FF2B5EF4-FFF2-40B4-BE49-F238E27FC236}">
                <a16:creationId xmlns:a16="http://schemas.microsoft.com/office/drawing/2014/main" id="{F5F602B3-7C97-4390-BBC9-475819E3A7AE}"/>
              </a:ext>
            </a:extLst>
          </p:cNvPr>
          <p:cNvSpPr/>
          <p:nvPr/>
        </p:nvSpPr>
        <p:spPr>
          <a:xfrm>
            <a:off x="2048256" y="263588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endParaRPr lang="en-US" sz="750" dirty="0"/>
          </a:p>
        </p:txBody>
      </p:sp>
      <p:sp>
        <p:nvSpPr>
          <p:cNvPr id="128" name="Shape 96">
            <a:extLst>
              <a:ext uri="{FF2B5EF4-FFF2-40B4-BE49-F238E27FC236}">
                <a16:creationId xmlns:a16="http://schemas.microsoft.com/office/drawing/2014/main" id="{3D3F900D-EC85-4A89-9F1A-B985E8A6C14D}"/>
              </a:ext>
            </a:extLst>
          </p:cNvPr>
          <p:cNvSpPr/>
          <p:nvPr/>
        </p:nvSpPr>
        <p:spPr>
          <a:xfrm>
            <a:off x="2615184" y="2571877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29" name="Text 97">
            <a:extLst>
              <a:ext uri="{FF2B5EF4-FFF2-40B4-BE49-F238E27FC236}">
                <a16:creationId xmlns:a16="http://schemas.microsoft.com/office/drawing/2014/main" id="{195AA670-9D43-47A4-A03A-867CA86DEFCC}"/>
              </a:ext>
            </a:extLst>
          </p:cNvPr>
          <p:cNvSpPr/>
          <p:nvPr/>
        </p:nvSpPr>
        <p:spPr>
          <a:xfrm>
            <a:off x="2615184" y="263588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C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750" dirty="0"/>
          </a:p>
        </p:txBody>
      </p:sp>
      <p:sp>
        <p:nvSpPr>
          <p:cNvPr id="130" name="Shape 98">
            <a:extLst>
              <a:ext uri="{FF2B5EF4-FFF2-40B4-BE49-F238E27FC236}">
                <a16:creationId xmlns:a16="http://schemas.microsoft.com/office/drawing/2014/main" id="{B0E4CA55-E927-417A-AFAA-400DB560112B}"/>
              </a:ext>
            </a:extLst>
          </p:cNvPr>
          <p:cNvSpPr/>
          <p:nvPr/>
        </p:nvSpPr>
        <p:spPr>
          <a:xfrm>
            <a:off x="3182112" y="2571877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31" name="Text 99">
            <a:extLst>
              <a:ext uri="{FF2B5EF4-FFF2-40B4-BE49-F238E27FC236}">
                <a16:creationId xmlns:a16="http://schemas.microsoft.com/office/drawing/2014/main" id="{126E8CDF-4C8E-412E-9EF4-D18BBBF6FFA4}"/>
              </a:ext>
            </a:extLst>
          </p:cNvPr>
          <p:cNvSpPr/>
          <p:nvPr/>
        </p:nvSpPr>
        <p:spPr>
          <a:xfrm>
            <a:off x="3182112" y="263588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8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</a:t>
            </a:r>
            <a:endParaRPr lang="en-US" sz="750" dirty="0"/>
          </a:p>
        </p:txBody>
      </p:sp>
      <p:sp>
        <p:nvSpPr>
          <p:cNvPr id="132" name="Shape 100">
            <a:extLst>
              <a:ext uri="{FF2B5EF4-FFF2-40B4-BE49-F238E27FC236}">
                <a16:creationId xmlns:a16="http://schemas.microsoft.com/office/drawing/2014/main" id="{795F6B68-168A-4C68-82F0-C5010B1D21F1}"/>
              </a:ext>
            </a:extLst>
          </p:cNvPr>
          <p:cNvSpPr/>
          <p:nvPr/>
        </p:nvSpPr>
        <p:spPr>
          <a:xfrm>
            <a:off x="3749040" y="2571877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33" name="Text 101">
            <a:extLst>
              <a:ext uri="{FF2B5EF4-FFF2-40B4-BE49-F238E27FC236}">
                <a16:creationId xmlns:a16="http://schemas.microsoft.com/office/drawing/2014/main" id="{5F06D358-DDFB-4287-B3F3-2542573BCF32}"/>
              </a:ext>
            </a:extLst>
          </p:cNvPr>
          <p:cNvSpPr/>
          <p:nvPr/>
        </p:nvSpPr>
        <p:spPr>
          <a:xfrm>
            <a:off x="3749040" y="263588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8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</a:t>
            </a:r>
            <a:endParaRPr lang="en-US" sz="750" dirty="0"/>
          </a:p>
        </p:txBody>
      </p:sp>
      <p:sp>
        <p:nvSpPr>
          <p:cNvPr id="134" name="Shape 102">
            <a:extLst>
              <a:ext uri="{FF2B5EF4-FFF2-40B4-BE49-F238E27FC236}">
                <a16:creationId xmlns:a16="http://schemas.microsoft.com/office/drawing/2014/main" id="{22C1DECB-04CB-4FB3-A633-6E408B2F8863}"/>
              </a:ext>
            </a:extLst>
          </p:cNvPr>
          <p:cNvSpPr/>
          <p:nvPr/>
        </p:nvSpPr>
        <p:spPr>
          <a:xfrm>
            <a:off x="4315968" y="2571877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35" name="Text 103">
            <a:extLst>
              <a:ext uri="{FF2B5EF4-FFF2-40B4-BE49-F238E27FC236}">
                <a16:creationId xmlns:a16="http://schemas.microsoft.com/office/drawing/2014/main" id="{6E1D8B35-6587-4FF3-853D-1D3201C3D353}"/>
              </a:ext>
            </a:extLst>
          </p:cNvPr>
          <p:cNvSpPr/>
          <p:nvPr/>
        </p:nvSpPr>
        <p:spPr>
          <a:xfrm>
            <a:off x="4315968" y="263588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36" name="Shape 104">
            <a:extLst>
              <a:ext uri="{FF2B5EF4-FFF2-40B4-BE49-F238E27FC236}">
                <a16:creationId xmlns:a16="http://schemas.microsoft.com/office/drawing/2014/main" id="{C43C1271-09C5-4F88-ABB9-C898CC662936}"/>
              </a:ext>
            </a:extLst>
          </p:cNvPr>
          <p:cNvSpPr/>
          <p:nvPr/>
        </p:nvSpPr>
        <p:spPr>
          <a:xfrm>
            <a:off x="292608" y="2955925"/>
            <a:ext cx="594360" cy="384048"/>
          </a:xfrm>
          <a:prstGeom prst="rect">
            <a:avLst/>
          </a:prstGeom>
          <a:solidFill>
            <a:srgbClr val="52A8E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37" name="Text 105">
            <a:extLst>
              <a:ext uri="{FF2B5EF4-FFF2-40B4-BE49-F238E27FC236}">
                <a16:creationId xmlns:a16="http://schemas.microsoft.com/office/drawing/2014/main" id="{7DE27A83-C3C9-4E37-BD39-B31928F3103C}"/>
              </a:ext>
            </a:extLst>
          </p:cNvPr>
          <p:cNvSpPr/>
          <p:nvPr/>
        </p:nvSpPr>
        <p:spPr>
          <a:xfrm>
            <a:off x="292608" y="3019933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138" name="Shape 106">
            <a:extLst>
              <a:ext uri="{FF2B5EF4-FFF2-40B4-BE49-F238E27FC236}">
                <a16:creationId xmlns:a16="http://schemas.microsoft.com/office/drawing/2014/main" id="{18BB5C54-DFFE-45FE-B167-09E2B585B7CF}"/>
              </a:ext>
            </a:extLst>
          </p:cNvPr>
          <p:cNvSpPr/>
          <p:nvPr/>
        </p:nvSpPr>
        <p:spPr>
          <a:xfrm>
            <a:off x="914400" y="2955925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39" name="Text 107">
            <a:extLst>
              <a:ext uri="{FF2B5EF4-FFF2-40B4-BE49-F238E27FC236}">
                <a16:creationId xmlns:a16="http://schemas.microsoft.com/office/drawing/2014/main" id="{39AFA638-1E83-4EC8-A6F4-8F114A37F68F}"/>
              </a:ext>
            </a:extLst>
          </p:cNvPr>
          <p:cNvSpPr/>
          <p:nvPr/>
        </p:nvSpPr>
        <p:spPr>
          <a:xfrm>
            <a:off x="914400" y="301993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140" name="Shape 108">
            <a:extLst>
              <a:ext uri="{FF2B5EF4-FFF2-40B4-BE49-F238E27FC236}">
                <a16:creationId xmlns:a16="http://schemas.microsoft.com/office/drawing/2014/main" id="{DEA38845-A531-4654-B5B2-3C6135541A98}"/>
              </a:ext>
            </a:extLst>
          </p:cNvPr>
          <p:cNvSpPr/>
          <p:nvPr/>
        </p:nvSpPr>
        <p:spPr>
          <a:xfrm>
            <a:off x="1481328" y="2955925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41" name="Text 109">
            <a:extLst>
              <a:ext uri="{FF2B5EF4-FFF2-40B4-BE49-F238E27FC236}">
                <a16:creationId xmlns:a16="http://schemas.microsoft.com/office/drawing/2014/main" id="{4B2C093A-BDCA-465A-89F6-01E86A1DD445}"/>
              </a:ext>
            </a:extLst>
          </p:cNvPr>
          <p:cNvSpPr/>
          <p:nvPr/>
        </p:nvSpPr>
        <p:spPr>
          <a:xfrm>
            <a:off x="1481328" y="301993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142" name="Shape 110">
            <a:extLst>
              <a:ext uri="{FF2B5EF4-FFF2-40B4-BE49-F238E27FC236}">
                <a16:creationId xmlns:a16="http://schemas.microsoft.com/office/drawing/2014/main" id="{6E608659-8C1C-4958-8AF4-02BD8C9A61FD}"/>
              </a:ext>
            </a:extLst>
          </p:cNvPr>
          <p:cNvSpPr/>
          <p:nvPr/>
        </p:nvSpPr>
        <p:spPr>
          <a:xfrm>
            <a:off x="2048256" y="2955925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43" name="Text 111">
            <a:extLst>
              <a:ext uri="{FF2B5EF4-FFF2-40B4-BE49-F238E27FC236}">
                <a16:creationId xmlns:a16="http://schemas.microsoft.com/office/drawing/2014/main" id="{7F4307A3-1D04-46BE-9BBD-22262BA045D3}"/>
              </a:ext>
            </a:extLst>
          </p:cNvPr>
          <p:cNvSpPr/>
          <p:nvPr/>
        </p:nvSpPr>
        <p:spPr>
          <a:xfrm>
            <a:off x="2048256" y="301993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144" name="Shape 112">
            <a:extLst>
              <a:ext uri="{FF2B5EF4-FFF2-40B4-BE49-F238E27FC236}">
                <a16:creationId xmlns:a16="http://schemas.microsoft.com/office/drawing/2014/main" id="{5E1C2C5D-A010-4D5E-A66F-CB2C2EFE596E}"/>
              </a:ext>
            </a:extLst>
          </p:cNvPr>
          <p:cNvSpPr/>
          <p:nvPr/>
        </p:nvSpPr>
        <p:spPr>
          <a:xfrm>
            <a:off x="2615184" y="2955925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45" name="Text 113">
            <a:extLst>
              <a:ext uri="{FF2B5EF4-FFF2-40B4-BE49-F238E27FC236}">
                <a16:creationId xmlns:a16="http://schemas.microsoft.com/office/drawing/2014/main" id="{54E4A05D-3F1F-45B1-9D29-3885DF6DEE4F}"/>
              </a:ext>
            </a:extLst>
          </p:cNvPr>
          <p:cNvSpPr/>
          <p:nvPr/>
        </p:nvSpPr>
        <p:spPr>
          <a:xfrm>
            <a:off x="2615184" y="301993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46" name="Shape 114">
            <a:extLst>
              <a:ext uri="{FF2B5EF4-FFF2-40B4-BE49-F238E27FC236}">
                <a16:creationId xmlns:a16="http://schemas.microsoft.com/office/drawing/2014/main" id="{83E5FC4B-4DED-43D2-8061-C6F4F01B9309}"/>
              </a:ext>
            </a:extLst>
          </p:cNvPr>
          <p:cNvSpPr/>
          <p:nvPr/>
        </p:nvSpPr>
        <p:spPr>
          <a:xfrm>
            <a:off x="3182112" y="2955925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47" name="Text 115">
            <a:extLst>
              <a:ext uri="{FF2B5EF4-FFF2-40B4-BE49-F238E27FC236}">
                <a16:creationId xmlns:a16="http://schemas.microsoft.com/office/drawing/2014/main" id="{1D2EB1A5-4950-43F0-AC98-ED542E117D7A}"/>
              </a:ext>
            </a:extLst>
          </p:cNvPr>
          <p:cNvSpPr/>
          <p:nvPr/>
        </p:nvSpPr>
        <p:spPr>
          <a:xfrm>
            <a:off x="3182112" y="301993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8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</a:t>
            </a:r>
            <a:endParaRPr lang="en-US" sz="750" dirty="0"/>
          </a:p>
        </p:txBody>
      </p:sp>
      <p:sp>
        <p:nvSpPr>
          <p:cNvPr id="148" name="Shape 116">
            <a:extLst>
              <a:ext uri="{FF2B5EF4-FFF2-40B4-BE49-F238E27FC236}">
                <a16:creationId xmlns:a16="http://schemas.microsoft.com/office/drawing/2014/main" id="{C94DF2C2-949A-4CDE-9C3E-23B9411B04EF}"/>
              </a:ext>
            </a:extLst>
          </p:cNvPr>
          <p:cNvSpPr/>
          <p:nvPr/>
        </p:nvSpPr>
        <p:spPr>
          <a:xfrm>
            <a:off x="3749040" y="2955925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49" name="Text 117">
            <a:extLst>
              <a:ext uri="{FF2B5EF4-FFF2-40B4-BE49-F238E27FC236}">
                <a16:creationId xmlns:a16="http://schemas.microsoft.com/office/drawing/2014/main" id="{BA6A4FB5-532E-49EA-BE4E-58EB06E6D312}"/>
              </a:ext>
            </a:extLst>
          </p:cNvPr>
          <p:cNvSpPr/>
          <p:nvPr/>
        </p:nvSpPr>
        <p:spPr>
          <a:xfrm>
            <a:off x="3749040" y="301993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50" name="Shape 118">
            <a:extLst>
              <a:ext uri="{FF2B5EF4-FFF2-40B4-BE49-F238E27FC236}">
                <a16:creationId xmlns:a16="http://schemas.microsoft.com/office/drawing/2014/main" id="{B901CB76-622C-47CC-B213-76D434068D5E}"/>
              </a:ext>
            </a:extLst>
          </p:cNvPr>
          <p:cNvSpPr/>
          <p:nvPr/>
        </p:nvSpPr>
        <p:spPr>
          <a:xfrm>
            <a:off x="4315968" y="2955925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51" name="Text 119">
            <a:extLst>
              <a:ext uri="{FF2B5EF4-FFF2-40B4-BE49-F238E27FC236}">
                <a16:creationId xmlns:a16="http://schemas.microsoft.com/office/drawing/2014/main" id="{A0EC3EFB-70A7-4173-A068-2E3AE86987A3}"/>
              </a:ext>
            </a:extLst>
          </p:cNvPr>
          <p:cNvSpPr/>
          <p:nvPr/>
        </p:nvSpPr>
        <p:spPr>
          <a:xfrm>
            <a:off x="4315968" y="3019933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52" name="Shape 120">
            <a:extLst>
              <a:ext uri="{FF2B5EF4-FFF2-40B4-BE49-F238E27FC236}">
                <a16:creationId xmlns:a16="http://schemas.microsoft.com/office/drawing/2014/main" id="{826E185C-FDC7-48BA-BD74-47B057D4E383}"/>
              </a:ext>
            </a:extLst>
          </p:cNvPr>
          <p:cNvSpPr/>
          <p:nvPr/>
        </p:nvSpPr>
        <p:spPr>
          <a:xfrm>
            <a:off x="292608" y="3339973"/>
            <a:ext cx="594360" cy="384048"/>
          </a:xfrm>
          <a:prstGeom prst="rect">
            <a:avLst/>
          </a:prstGeom>
          <a:solidFill>
            <a:srgbClr val="7A6EE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53" name="Text 121">
            <a:extLst>
              <a:ext uri="{FF2B5EF4-FFF2-40B4-BE49-F238E27FC236}">
                <a16:creationId xmlns:a16="http://schemas.microsoft.com/office/drawing/2014/main" id="{7D37A6D2-1726-49B6-9B83-25FF74B320F9}"/>
              </a:ext>
            </a:extLst>
          </p:cNvPr>
          <p:cNvSpPr/>
          <p:nvPr/>
        </p:nvSpPr>
        <p:spPr>
          <a:xfrm>
            <a:off x="292608" y="3403981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endParaRPr lang="en-US" sz="750" dirty="0"/>
          </a:p>
        </p:txBody>
      </p:sp>
      <p:sp>
        <p:nvSpPr>
          <p:cNvPr id="154" name="Shape 122">
            <a:extLst>
              <a:ext uri="{FF2B5EF4-FFF2-40B4-BE49-F238E27FC236}">
                <a16:creationId xmlns:a16="http://schemas.microsoft.com/office/drawing/2014/main" id="{C97FE3D0-7EA0-4A13-9B27-0830F51B7142}"/>
              </a:ext>
            </a:extLst>
          </p:cNvPr>
          <p:cNvSpPr/>
          <p:nvPr/>
        </p:nvSpPr>
        <p:spPr>
          <a:xfrm>
            <a:off x="914400" y="333997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55" name="Text 123">
            <a:extLst>
              <a:ext uri="{FF2B5EF4-FFF2-40B4-BE49-F238E27FC236}">
                <a16:creationId xmlns:a16="http://schemas.microsoft.com/office/drawing/2014/main" id="{8326F41F-143F-4AD2-9D58-73BE65DCC4F1}"/>
              </a:ext>
            </a:extLst>
          </p:cNvPr>
          <p:cNvSpPr/>
          <p:nvPr/>
        </p:nvSpPr>
        <p:spPr>
          <a:xfrm>
            <a:off x="914400" y="340398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6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endParaRPr lang="en-US" sz="750" dirty="0"/>
          </a:p>
        </p:txBody>
      </p:sp>
      <p:sp>
        <p:nvSpPr>
          <p:cNvPr id="156" name="Shape 124">
            <a:extLst>
              <a:ext uri="{FF2B5EF4-FFF2-40B4-BE49-F238E27FC236}">
                <a16:creationId xmlns:a16="http://schemas.microsoft.com/office/drawing/2014/main" id="{D904F955-F310-4922-AB19-D172018AC89C}"/>
              </a:ext>
            </a:extLst>
          </p:cNvPr>
          <p:cNvSpPr/>
          <p:nvPr/>
        </p:nvSpPr>
        <p:spPr>
          <a:xfrm>
            <a:off x="1481328" y="3339973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57" name="Text 125">
            <a:extLst>
              <a:ext uri="{FF2B5EF4-FFF2-40B4-BE49-F238E27FC236}">
                <a16:creationId xmlns:a16="http://schemas.microsoft.com/office/drawing/2014/main" id="{5B16D702-C883-47A6-9245-74E4575F4645}"/>
              </a:ext>
            </a:extLst>
          </p:cNvPr>
          <p:cNvSpPr/>
          <p:nvPr/>
        </p:nvSpPr>
        <p:spPr>
          <a:xfrm>
            <a:off x="1481328" y="340398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158" name="Shape 126">
            <a:extLst>
              <a:ext uri="{FF2B5EF4-FFF2-40B4-BE49-F238E27FC236}">
                <a16:creationId xmlns:a16="http://schemas.microsoft.com/office/drawing/2014/main" id="{AAE69F5B-52A5-4648-8E9E-1436DD8B6062}"/>
              </a:ext>
            </a:extLst>
          </p:cNvPr>
          <p:cNvSpPr/>
          <p:nvPr/>
        </p:nvSpPr>
        <p:spPr>
          <a:xfrm>
            <a:off x="2048256" y="333997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59" name="Text 127">
            <a:extLst>
              <a:ext uri="{FF2B5EF4-FFF2-40B4-BE49-F238E27FC236}">
                <a16:creationId xmlns:a16="http://schemas.microsoft.com/office/drawing/2014/main" id="{888ABE26-7115-4B55-BEB9-E710B7D0009F}"/>
              </a:ext>
            </a:extLst>
          </p:cNvPr>
          <p:cNvSpPr/>
          <p:nvPr/>
        </p:nvSpPr>
        <p:spPr>
          <a:xfrm>
            <a:off x="2048256" y="340398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C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750" dirty="0"/>
          </a:p>
        </p:txBody>
      </p:sp>
      <p:sp>
        <p:nvSpPr>
          <p:cNvPr id="160" name="Shape 128">
            <a:extLst>
              <a:ext uri="{FF2B5EF4-FFF2-40B4-BE49-F238E27FC236}">
                <a16:creationId xmlns:a16="http://schemas.microsoft.com/office/drawing/2014/main" id="{A5C50FE3-21DC-4DEC-9DF5-447AE42C5846}"/>
              </a:ext>
            </a:extLst>
          </p:cNvPr>
          <p:cNvSpPr/>
          <p:nvPr/>
        </p:nvSpPr>
        <p:spPr>
          <a:xfrm>
            <a:off x="2615184" y="333997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61" name="Text 129">
            <a:extLst>
              <a:ext uri="{FF2B5EF4-FFF2-40B4-BE49-F238E27FC236}">
                <a16:creationId xmlns:a16="http://schemas.microsoft.com/office/drawing/2014/main" id="{EB672DFA-442E-46EE-94E2-A623956354F5}"/>
              </a:ext>
            </a:extLst>
          </p:cNvPr>
          <p:cNvSpPr/>
          <p:nvPr/>
        </p:nvSpPr>
        <p:spPr>
          <a:xfrm>
            <a:off x="2615184" y="340398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62" name="Shape 130">
            <a:extLst>
              <a:ext uri="{FF2B5EF4-FFF2-40B4-BE49-F238E27FC236}">
                <a16:creationId xmlns:a16="http://schemas.microsoft.com/office/drawing/2014/main" id="{17B331C8-D6E7-4B12-8345-66984DDE6A64}"/>
              </a:ext>
            </a:extLst>
          </p:cNvPr>
          <p:cNvSpPr/>
          <p:nvPr/>
        </p:nvSpPr>
        <p:spPr>
          <a:xfrm>
            <a:off x="3182112" y="333997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63" name="Text 131">
            <a:extLst>
              <a:ext uri="{FF2B5EF4-FFF2-40B4-BE49-F238E27FC236}">
                <a16:creationId xmlns:a16="http://schemas.microsoft.com/office/drawing/2014/main" id="{52F6A507-70FF-4AEC-8E47-F10E305AADA8}"/>
              </a:ext>
            </a:extLst>
          </p:cNvPr>
          <p:cNvSpPr/>
          <p:nvPr/>
        </p:nvSpPr>
        <p:spPr>
          <a:xfrm>
            <a:off x="3182112" y="340398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8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</a:t>
            </a:r>
            <a:endParaRPr lang="en-US" sz="750" dirty="0"/>
          </a:p>
        </p:txBody>
      </p:sp>
      <p:sp>
        <p:nvSpPr>
          <p:cNvPr id="164" name="Shape 132">
            <a:extLst>
              <a:ext uri="{FF2B5EF4-FFF2-40B4-BE49-F238E27FC236}">
                <a16:creationId xmlns:a16="http://schemas.microsoft.com/office/drawing/2014/main" id="{C1296A51-514D-42D1-8266-C54ED06D1207}"/>
              </a:ext>
            </a:extLst>
          </p:cNvPr>
          <p:cNvSpPr/>
          <p:nvPr/>
        </p:nvSpPr>
        <p:spPr>
          <a:xfrm>
            <a:off x="3749040" y="3339973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65" name="Text 133">
            <a:extLst>
              <a:ext uri="{FF2B5EF4-FFF2-40B4-BE49-F238E27FC236}">
                <a16:creationId xmlns:a16="http://schemas.microsoft.com/office/drawing/2014/main" id="{84838ADE-AB5E-4F70-8D3E-CF137E5692A3}"/>
              </a:ext>
            </a:extLst>
          </p:cNvPr>
          <p:cNvSpPr/>
          <p:nvPr/>
        </p:nvSpPr>
        <p:spPr>
          <a:xfrm>
            <a:off x="3749040" y="340398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66" name="Shape 134">
            <a:extLst>
              <a:ext uri="{FF2B5EF4-FFF2-40B4-BE49-F238E27FC236}">
                <a16:creationId xmlns:a16="http://schemas.microsoft.com/office/drawing/2014/main" id="{C106CEE0-3DB1-401D-835D-990061C9E1BA}"/>
              </a:ext>
            </a:extLst>
          </p:cNvPr>
          <p:cNvSpPr/>
          <p:nvPr/>
        </p:nvSpPr>
        <p:spPr>
          <a:xfrm>
            <a:off x="4315968" y="3339973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67" name="Text 135">
            <a:extLst>
              <a:ext uri="{FF2B5EF4-FFF2-40B4-BE49-F238E27FC236}">
                <a16:creationId xmlns:a16="http://schemas.microsoft.com/office/drawing/2014/main" id="{2141427A-F146-45D4-A5A1-877607C0034E}"/>
              </a:ext>
            </a:extLst>
          </p:cNvPr>
          <p:cNvSpPr/>
          <p:nvPr/>
        </p:nvSpPr>
        <p:spPr>
          <a:xfrm>
            <a:off x="4315968" y="3403981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68" name="Shape 136">
            <a:extLst>
              <a:ext uri="{FF2B5EF4-FFF2-40B4-BE49-F238E27FC236}">
                <a16:creationId xmlns:a16="http://schemas.microsoft.com/office/drawing/2014/main" id="{1CC9B9C7-ADD9-4F1B-91D6-6D3BC8CD9723}"/>
              </a:ext>
            </a:extLst>
          </p:cNvPr>
          <p:cNvSpPr/>
          <p:nvPr/>
        </p:nvSpPr>
        <p:spPr>
          <a:xfrm>
            <a:off x="292608" y="3724021"/>
            <a:ext cx="594360" cy="384048"/>
          </a:xfrm>
          <a:prstGeom prst="rect">
            <a:avLst/>
          </a:prstGeom>
          <a:solidFill>
            <a:srgbClr val="C052E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69" name="Text 137">
            <a:extLst>
              <a:ext uri="{FF2B5EF4-FFF2-40B4-BE49-F238E27FC236}">
                <a16:creationId xmlns:a16="http://schemas.microsoft.com/office/drawing/2014/main" id="{34F9B0F4-C092-4A20-AB9D-15DFBFDAFBD6}"/>
              </a:ext>
            </a:extLst>
          </p:cNvPr>
          <p:cNvSpPr/>
          <p:nvPr/>
        </p:nvSpPr>
        <p:spPr>
          <a:xfrm>
            <a:off x="292608" y="3788029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PGG</a:t>
            </a:r>
            <a:endParaRPr lang="en-US" sz="750" dirty="0"/>
          </a:p>
        </p:txBody>
      </p:sp>
      <p:sp>
        <p:nvSpPr>
          <p:cNvPr id="170" name="Shape 138">
            <a:extLst>
              <a:ext uri="{FF2B5EF4-FFF2-40B4-BE49-F238E27FC236}">
                <a16:creationId xmlns:a16="http://schemas.microsoft.com/office/drawing/2014/main" id="{EE04AB40-6F0E-4FED-8D88-A84FF8A0145B}"/>
              </a:ext>
            </a:extLst>
          </p:cNvPr>
          <p:cNvSpPr/>
          <p:nvPr/>
        </p:nvSpPr>
        <p:spPr>
          <a:xfrm>
            <a:off x="914400" y="3724021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71" name="Text 139">
            <a:extLst>
              <a:ext uri="{FF2B5EF4-FFF2-40B4-BE49-F238E27FC236}">
                <a16:creationId xmlns:a16="http://schemas.microsoft.com/office/drawing/2014/main" id="{8392575E-7802-4A34-BAA0-17D0C3495A0F}"/>
              </a:ext>
            </a:extLst>
          </p:cNvPr>
          <p:cNvSpPr/>
          <p:nvPr/>
        </p:nvSpPr>
        <p:spPr>
          <a:xfrm>
            <a:off x="914400" y="378802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172" name="Shape 140">
            <a:extLst>
              <a:ext uri="{FF2B5EF4-FFF2-40B4-BE49-F238E27FC236}">
                <a16:creationId xmlns:a16="http://schemas.microsoft.com/office/drawing/2014/main" id="{E76E49A6-49E4-4B8B-8372-7C94E1089B10}"/>
              </a:ext>
            </a:extLst>
          </p:cNvPr>
          <p:cNvSpPr/>
          <p:nvPr/>
        </p:nvSpPr>
        <p:spPr>
          <a:xfrm>
            <a:off x="1481328" y="372402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73" name="Text 141">
            <a:extLst>
              <a:ext uri="{FF2B5EF4-FFF2-40B4-BE49-F238E27FC236}">
                <a16:creationId xmlns:a16="http://schemas.microsoft.com/office/drawing/2014/main" id="{E62EFC47-A3B0-4500-89C9-4727034847E1}"/>
              </a:ext>
            </a:extLst>
          </p:cNvPr>
          <p:cNvSpPr/>
          <p:nvPr/>
        </p:nvSpPr>
        <p:spPr>
          <a:xfrm>
            <a:off x="1481328" y="378802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750" dirty="0"/>
          </a:p>
        </p:txBody>
      </p:sp>
      <p:sp>
        <p:nvSpPr>
          <p:cNvPr id="174" name="Shape 142">
            <a:extLst>
              <a:ext uri="{FF2B5EF4-FFF2-40B4-BE49-F238E27FC236}">
                <a16:creationId xmlns:a16="http://schemas.microsoft.com/office/drawing/2014/main" id="{84A23F42-E089-44BD-9894-A2C756A609C8}"/>
              </a:ext>
            </a:extLst>
          </p:cNvPr>
          <p:cNvSpPr/>
          <p:nvPr/>
        </p:nvSpPr>
        <p:spPr>
          <a:xfrm>
            <a:off x="2048256" y="372402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75" name="Text 143">
            <a:extLst>
              <a:ext uri="{FF2B5EF4-FFF2-40B4-BE49-F238E27FC236}">
                <a16:creationId xmlns:a16="http://schemas.microsoft.com/office/drawing/2014/main" id="{8BCC979F-4E4A-4352-8664-645BA2E7DCE2}"/>
              </a:ext>
            </a:extLst>
          </p:cNvPr>
          <p:cNvSpPr/>
          <p:nvPr/>
        </p:nvSpPr>
        <p:spPr>
          <a:xfrm>
            <a:off x="2048256" y="378802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76" name="Shape 144">
            <a:extLst>
              <a:ext uri="{FF2B5EF4-FFF2-40B4-BE49-F238E27FC236}">
                <a16:creationId xmlns:a16="http://schemas.microsoft.com/office/drawing/2014/main" id="{7924F736-C2BA-4244-98A5-BE2DC3AA28C9}"/>
              </a:ext>
            </a:extLst>
          </p:cNvPr>
          <p:cNvSpPr/>
          <p:nvPr/>
        </p:nvSpPr>
        <p:spPr>
          <a:xfrm>
            <a:off x="2615184" y="372402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77" name="Text 145">
            <a:extLst>
              <a:ext uri="{FF2B5EF4-FFF2-40B4-BE49-F238E27FC236}">
                <a16:creationId xmlns:a16="http://schemas.microsoft.com/office/drawing/2014/main" id="{DC706E63-DA05-46F3-B54F-CC978D49A8F9}"/>
              </a:ext>
            </a:extLst>
          </p:cNvPr>
          <p:cNvSpPr/>
          <p:nvPr/>
        </p:nvSpPr>
        <p:spPr>
          <a:xfrm>
            <a:off x="2615184" y="378802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750" dirty="0"/>
          </a:p>
        </p:txBody>
      </p:sp>
      <p:sp>
        <p:nvSpPr>
          <p:cNvPr id="178" name="Shape 146">
            <a:extLst>
              <a:ext uri="{FF2B5EF4-FFF2-40B4-BE49-F238E27FC236}">
                <a16:creationId xmlns:a16="http://schemas.microsoft.com/office/drawing/2014/main" id="{BE00EFC3-4B5D-4105-A6D9-3D37640E6B90}"/>
              </a:ext>
            </a:extLst>
          </p:cNvPr>
          <p:cNvSpPr/>
          <p:nvPr/>
        </p:nvSpPr>
        <p:spPr>
          <a:xfrm>
            <a:off x="3182112" y="372402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79" name="Text 147">
            <a:extLst>
              <a:ext uri="{FF2B5EF4-FFF2-40B4-BE49-F238E27FC236}">
                <a16:creationId xmlns:a16="http://schemas.microsoft.com/office/drawing/2014/main" id="{E1A23AE0-E236-4A46-B0A4-944FACD9733A}"/>
              </a:ext>
            </a:extLst>
          </p:cNvPr>
          <p:cNvSpPr/>
          <p:nvPr/>
        </p:nvSpPr>
        <p:spPr>
          <a:xfrm>
            <a:off x="3182112" y="378802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80" name="Shape 148">
            <a:extLst>
              <a:ext uri="{FF2B5EF4-FFF2-40B4-BE49-F238E27FC236}">
                <a16:creationId xmlns:a16="http://schemas.microsoft.com/office/drawing/2014/main" id="{B6868B57-899E-4D8B-9947-CD4019054849}"/>
              </a:ext>
            </a:extLst>
          </p:cNvPr>
          <p:cNvSpPr/>
          <p:nvPr/>
        </p:nvSpPr>
        <p:spPr>
          <a:xfrm>
            <a:off x="3749040" y="3724021"/>
            <a:ext cx="566928" cy="384048"/>
          </a:xfrm>
          <a:prstGeom prst="rect">
            <a:avLst/>
          </a:prstGeom>
          <a:solidFill>
            <a:srgbClr val="141A2E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81" name="Text 149">
            <a:extLst>
              <a:ext uri="{FF2B5EF4-FFF2-40B4-BE49-F238E27FC236}">
                <a16:creationId xmlns:a16="http://schemas.microsoft.com/office/drawing/2014/main" id="{E780B611-25B8-4E55-8CB9-D7F828179407}"/>
              </a:ext>
            </a:extLst>
          </p:cNvPr>
          <p:cNvSpPr/>
          <p:nvPr/>
        </p:nvSpPr>
        <p:spPr>
          <a:xfrm>
            <a:off x="3749040" y="378802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  <p:sp>
        <p:nvSpPr>
          <p:cNvPr id="182" name="Shape 150">
            <a:extLst>
              <a:ext uri="{FF2B5EF4-FFF2-40B4-BE49-F238E27FC236}">
                <a16:creationId xmlns:a16="http://schemas.microsoft.com/office/drawing/2014/main" id="{D2EE8307-87A6-4FE8-AB23-674588521ACA}"/>
              </a:ext>
            </a:extLst>
          </p:cNvPr>
          <p:cNvSpPr/>
          <p:nvPr/>
        </p:nvSpPr>
        <p:spPr>
          <a:xfrm>
            <a:off x="4315968" y="3724021"/>
            <a:ext cx="566928" cy="384048"/>
          </a:xfrm>
          <a:prstGeom prst="rect">
            <a:avLst/>
          </a:prstGeom>
          <a:solidFill>
            <a:srgbClr val="1A2240"/>
          </a:solidFill>
          <a:ln w="3810">
            <a:solidFill>
              <a:srgbClr val="0B0F1A"/>
            </a:solidFill>
            <a:prstDash val="solid"/>
          </a:ln>
        </p:spPr>
      </p:sp>
      <p:sp>
        <p:nvSpPr>
          <p:cNvPr id="183" name="Text 151">
            <a:extLst>
              <a:ext uri="{FF2B5EF4-FFF2-40B4-BE49-F238E27FC236}">
                <a16:creationId xmlns:a16="http://schemas.microsoft.com/office/drawing/2014/main" id="{AEB8981C-BCA4-4D45-9739-36992CD0486A}"/>
              </a:ext>
            </a:extLst>
          </p:cNvPr>
          <p:cNvSpPr/>
          <p:nvPr/>
        </p:nvSpPr>
        <p:spPr>
          <a:xfrm>
            <a:off x="4315968" y="378802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 err="1"/>
              <a:t>Inferencia</a:t>
            </a:r>
            <a:r>
              <a:rPr spc="-40" dirty="0"/>
              <a:t> </a:t>
            </a:r>
            <a:r>
              <a:rPr dirty="0" err="1"/>
              <a:t>Difusa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50544" y="743218"/>
            <a:ext cx="8242300" cy="35560"/>
            <a:chOff x="450544" y="743218"/>
            <a:chExt cx="8242300" cy="3556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4136" y="915379"/>
            <a:ext cx="805307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50" spc="-3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C7CFE7"/>
                </a:solidFill>
                <a:latin typeface="Calibri"/>
                <a:cs typeface="Calibri"/>
              </a:rPr>
              <a:t>inferencia</a:t>
            </a:r>
            <a:r>
              <a:rPr sz="105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Mamdani</a:t>
            </a:r>
            <a:r>
              <a:rPr sz="105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C7CFE7"/>
                </a:solidFill>
                <a:latin typeface="Calibri"/>
                <a:cs typeface="Calibri"/>
              </a:rPr>
              <a:t>transforma</a:t>
            </a:r>
            <a:r>
              <a:rPr sz="105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C7CFE7"/>
                </a:solidFill>
                <a:latin typeface="Calibri"/>
                <a:cs typeface="Calibri"/>
              </a:rPr>
              <a:t>entradas</a:t>
            </a:r>
            <a:r>
              <a:rPr sz="105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nítidas</a:t>
            </a:r>
            <a:r>
              <a:rPr sz="105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(θ,</a:t>
            </a:r>
            <a:r>
              <a:rPr sz="105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θ')</a:t>
            </a:r>
            <a:r>
              <a:rPr sz="105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en</a:t>
            </a:r>
            <a:r>
              <a:rPr sz="1050" spc="-3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una</a:t>
            </a:r>
            <a:r>
              <a:rPr sz="105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C7CFE7"/>
                </a:solidFill>
                <a:latin typeface="Calibri"/>
                <a:cs typeface="Calibri"/>
              </a:rPr>
              <a:t>fuerza</a:t>
            </a:r>
            <a:r>
              <a:rPr sz="105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50" spc="-4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salida</a:t>
            </a:r>
            <a:r>
              <a:rPr sz="1050" spc="-3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 err="1">
                <a:solidFill>
                  <a:srgbClr val="C7CFE7"/>
                </a:solidFill>
                <a:latin typeface="Calibri"/>
                <a:cs typeface="Calibri"/>
              </a:rPr>
              <a:t>nítida</a:t>
            </a:r>
            <a:r>
              <a:rPr sz="105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F</a:t>
            </a:r>
            <a:r>
              <a:rPr sz="105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pasando</a:t>
            </a:r>
            <a:r>
              <a:rPr sz="105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por</a:t>
            </a:r>
            <a:r>
              <a:rPr sz="105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cinco</a:t>
            </a:r>
            <a:r>
              <a:rPr sz="1050" spc="-3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etapas</a:t>
            </a:r>
            <a:r>
              <a:rPr sz="105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7CFE7"/>
                </a:solidFill>
                <a:latin typeface="Calibri"/>
                <a:cs typeface="Calibri"/>
              </a:rPr>
              <a:t>bien</a:t>
            </a:r>
            <a:r>
              <a:rPr sz="1050" spc="-3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C7CFE7"/>
                </a:solidFill>
                <a:latin typeface="Calibri"/>
                <a:cs typeface="Calibri"/>
              </a:rPr>
              <a:t>definidas.</a:t>
            </a:r>
            <a:r>
              <a:rPr sz="105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5084" y="1369785"/>
            <a:ext cx="1685289" cy="2141855"/>
            <a:chOff x="145084" y="1369785"/>
            <a:chExt cx="1685289" cy="21418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084" y="1369785"/>
              <a:ext cx="1684794" cy="21416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3964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39" h="1920239">
                  <a:moveTo>
                    <a:pt x="1462671" y="0"/>
                  </a:moveTo>
                  <a:lnTo>
                    <a:pt x="0" y="0"/>
                  </a:lnTo>
                  <a:lnTo>
                    <a:pt x="0" y="1919871"/>
                  </a:lnTo>
                  <a:lnTo>
                    <a:pt x="731519" y="1919871"/>
                  </a:lnTo>
                  <a:lnTo>
                    <a:pt x="1462671" y="1919871"/>
                  </a:lnTo>
                  <a:lnTo>
                    <a:pt x="146267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3964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39" h="1920239">
                  <a:moveTo>
                    <a:pt x="731519" y="1919871"/>
                  </a:moveTo>
                  <a:lnTo>
                    <a:pt x="0" y="1919871"/>
                  </a:lnTo>
                  <a:lnTo>
                    <a:pt x="0" y="0"/>
                  </a:lnTo>
                  <a:lnTo>
                    <a:pt x="1462671" y="0"/>
                  </a:lnTo>
                  <a:lnTo>
                    <a:pt x="1462671" y="1919871"/>
                  </a:lnTo>
                  <a:lnTo>
                    <a:pt x="731519" y="1919871"/>
                  </a:lnTo>
                  <a:close/>
                </a:path>
              </a:pathLst>
            </a:custGeom>
            <a:ln w="1907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64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39" h="255905">
                  <a:moveTo>
                    <a:pt x="1462671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731519" y="255600"/>
                  </a:lnTo>
                  <a:lnTo>
                    <a:pt x="1462671" y="255600"/>
                  </a:lnTo>
                  <a:lnTo>
                    <a:pt x="1462671" y="0"/>
                  </a:lnTo>
                  <a:close/>
                </a:path>
              </a:pathLst>
            </a:custGeom>
            <a:solidFill>
              <a:srgbClr val="499D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3964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39" h="255905">
                  <a:moveTo>
                    <a:pt x="731519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1462671" y="0"/>
                  </a:lnTo>
                  <a:lnTo>
                    <a:pt x="1462671" y="255600"/>
                  </a:lnTo>
                  <a:lnTo>
                    <a:pt x="731519" y="255600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1964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51"/>
                  </a:lnTo>
                  <a:lnTo>
                    <a:pt x="86753" y="23037"/>
                  </a:lnTo>
                  <a:lnTo>
                    <a:pt x="50892" y="50580"/>
                  </a:lnTo>
                  <a:lnTo>
                    <a:pt x="23393" y="86753"/>
                  </a:lnTo>
                  <a:lnTo>
                    <a:pt x="5891" y="128522"/>
                  </a:lnTo>
                  <a:lnTo>
                    <a:pt x="0" y="173520"/>
                  </a:lnTo>
                  <a:lnTo>
                    <a:pt x="1478" y="196287"/>
                  </a:lnTo>
                  <a:lnTo>
                    <a:pt x="13207" y="239935"/>
                  </a:lnTo>
                  <a:lnTo>
                    <a:pt x="35979" y="279345"/>
                  </a:lnTo>
                  <a:lnTo>
                    <a:pt x="67895" y="311410"/>
                  </a:lnTo>
                  <a:lnTo>
                    <a:pt x="107304" y="334033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2" y="345865"/>
                  </a:lnTo>
                  <a:lnTo>
                    <a:pt x="240091" y="334033"/>
                  </a:lnTo>
                  <a:lnTo>
                    <a:pt x="279494" y="311410"/>
                  </a:lnTo>
                  <a:lnTo>
                    <a:pt x="311410" y="279345"/>
                  </a:lnTo>
                  <a:lnTo>
                    <a:pt x="334178" y="239935"/>
                  </a:lnTo>
                  <a:lnTo>
                    <a:pt x="345915" y="196287"/>
                  </a:lnTo>
                  <a:lnTo>
                    <a:pt x="347395" y="173520"/>
                  </a:lnTo>
                  <a:lnTo>
                    <a:pt x="345915" y="150752"/>
                  </a:lnTo>
                  <a:lnTo>
                    <a:pt x="334178" y="107099"/>
                  </a:lnTo>
                  <a:lnTo>
                    <a:pt x="311410" y="67689"/>
                  </a:lnTo>
                  <a:lnTo>
                    <a:pt x="279494" y="35629"/>
                  </a:lnTo>
                  <a:lnTo>
                    <a:pt x="240091" y="13062"/>
                  </a:lnTo>
                  <a:lnTo>
                    <a:pt x="196442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49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1964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78" y="150752"/>
                  </a:lnTo>
                  <a:lnTo>
                    <a:pt x="5891" y="128522"/>
                  </a:lnTo>
                  <a:lnTo>
                    <a:pt x="23393" y="86753"/>
                  </a:lnTo>
                  <a:lnTo>
                    <a:pt x="50892" y="50580"/>
                  </a:lnTo>
                  <a:lnTo>
                    <a:pt x="86753" y="23037"/>
                  </a:lnTo>
                  <a:lnTo>
                    <a:pt x="128833" y="5851"/>
                  </a:lnTo>
                  <a:lnTo>
                    <a:pt x="173875" y="0"/>
                  </a:lnTo>
                  <a:lnTo>
                    <a:pt x="218605" y="5851"/>
                  </a:lnTo>
                  <a:lnTo>
                    <a:pt x="260629" y="23037"/>
                  </a:lnTo>
                  <a:lnTo>
                    <a:pt x="296500" y="50580"/>
                  </a:lnTo>
                  <a:lnTo>
                    <a:pt x="323989" y="86753"/>
                  </a:lnTo>
                  <a:lnTo>
                    <a:pt x="341498" y="128522"/>
                  </a:lnTo>
                  <a:lnTo>
                    <a:pt x="347395" y="173520"/>
                  </a:lnTo>
                  <a:lnTo>
                    <a:pt x="345915" y="196287"/>
                  </a:lnTo>
                  <a:lnTo>
                    <a:pt x="341498" y="218516"/>
                  </a:lnTo>
                  <a:lnTo>
                    <a:pt x="323989" y="260273"/>
                  </a:lnTo>
                  <a:lnTo>
                    <a:pt x="296500" y="296457"/>
                  </a:lnTo>
                  <a:lnTo>
                    <a:pt x="260629" y="324002"/>
                  </a:lnTo>
                  <a:lnTo>
                    <a:pt x="218605" y="341366"/>
                  </a:lnTo>
                  <a:lnTo>
                    <a:pt x="173875" y="347395"/>
                  </a:lnTo>
                  <a:lnTo>
                    <a:pt x="128833" y="341366"/>
                  </a:lnTo>
                  <a:lnTo>
                    <a:pt x="86753" y="324002"/>
                  </a:lnTo>
                  <a:lnTo>
                    <a:pt x="50892" y="296457"/>
                  </a:lnTo>
                  <a:lnTo>
                    <a:pt x="23393" y="260273"/>
                  </a:lnTo>
                  <a:lnTo>
                    <a:pt x="5891" y="218516"/>
                  </a:lnTo>
                  <a:lnTo>
                    <a:pt x="1478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4082" y="1844905"/>
            <a:ext cx="965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924" y="2315428"/>
            <a:ext cx="105473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499DFF"/>
                </a:solidFill>
                <a:latin typeface="Calibri"/>
                <a:cs typeface="Calibri"/>
              </a:rPr>
              <a:t>Fuzzificación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850" spc="120" dirty="0">
                <a:solidFill>
                  <a:srgbClr val="C7CFE7"/>
                </a:solidFill>
                <a:latin typeface="Cambria"/>
                <a:cs typeface="Cambria"/>
              </a:rPr>
              <a:t>Convertir</a:t>
            </a:r>
            <a:r>
              <a:rPr sz="850" spc="35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dirty="0">
                <a:solidFill>
                  <a:srgbClr val="C7CFE7"/>
                </a:solidFill>
                <a:latin typeface="Cambria"/>
                <a:cs typeface="Cambria"/>
              </a:rPr>
              <a:t>θ</a:t>
            </a:r>
            <a:r>
              <a:rPr sz="850" spc="33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85" dirty="0">
                <a:solidFill>
                  <a:srgbClr val="C7CFE7"/>
                </a:solidFill>
                <a:latin typeface="Cambria"/>
                <a:cs typeface="Cambria"/>
              </a:rPr>
              <a:t>y</a:t>
            </a:r>
            <a:r>
              <a:rPr sz="850" spc="35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50" dirty="0">
                <a:solidFill>
                  <a:srgbClr val="C7CFE7"/>
                </a:solidFill>
                <a:latin typeface="Cambria"/>
                <a:cs typeface="Cambria"/>
              </a:rPr>
              <a:t>θ' </a:t>
            </a:r>
            <a:r>
              <a:rPr sz="850" spc="60" dirty="0">
                <a:solidFill>
                  <a:srgbClr val="C7CFE7"/>
                </a:solidFill>
                <a:latin typeface="Cambria"/>
                <a:cs typeface="Cambria"/>
              </a:rPr>
              <a:t>en</a:t>
            </a:r>
            <a:r>
              <a:rPr sz="850" spc="33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50" dirty="0">
                <a:solidFill>
                  <a:srgbClr val="C7CFE7"/>
                </a:solidFill>
                <a:latin typeface="Cambria"/>
                <a:cs typeface="Cambria"/>
              </a:rPr>
              <a:t>membresías </a:t>
            </a:r>
            <a:r>
              <a:rPr sz="850" spc="155" dirty="0">
                <a:solidFill>
                  <a:srgbClr val="C7CFE7"/>
                </a:solidFill>
                <a:latin typeface="Cambria"/>
                <a:cs typeface="Cambria"/>
              </a:rPr>
              <a:t>μ(θ),</a:t>
            </a:r>
            <a:r>
              <a:rPr sz="850" spc="33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40" dirty="0">
                <a:solidFill>
                  <a:srgbClr val="C7CFE7"/>
                </a:solidFill>
                <a:latin typeface="Cambria"/>
                <a:cs typeface="Cambria"/>
              </a:rPr>
              <a:t>μ(θ')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37360" y="2423161"/>
            <a:ext cx="365760" cy="635"/>
          </a:xfrm>
          <a:custGeom>
            <a:avLst/>
            <a:gdLst/>
            <a:ahLst/>
            <a:cxnLst/>
            <a:rect l="l" t="t" r="r" b="b"/>
            <a:pathLst>
              <a:path w="365760" h="635">
                <a:moveTo>
                  <a:pt x="0" y="0"/>
                </a:moveTo>
                <a:lnTo>
                  <a:pt x="365759" y="355"/>
                </a:lnTo>
              </a:path>
            </a:pathLst>
          </a:custGeom>
          <a:ln w="19079">
            <a:solidFill>
              <a:srgbClr val="878F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42464" y="2321113"/>
            <a:ext cx="16827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95" dirty="0">
                <a:solidFill>
                  <a:srgbClr val="878FA7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92236" y="1369785"/>
            <a:ext cx="1685289" cy="2141855"/>
            <a:chOff x="1992236" y="1369785"/>
            <a:chExt cx="1685289" cy="21418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2236" y="1369785"/>
              <a:ext cx="1684794" cy="214165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21115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39" h="1920239">
                  <a:moveTo>
                    <a:pt x="1462684" y="0"/>
                  </a:moveTo>
                  <a:lnTo>
                    <a:pt x="0" y="0"/>
                  </a:lnTo>
                  <a:lnTo>
                    <a:pt x="0" y="1919871"/>
                  </a:lnTo>
                  <a:lnTo>
                    <a:pt x="731519" y="1919871"/>
                  </a:lnTo>
                  <a:lnTo>
                    <a:pt x="1462684" y="1919871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21115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39" h="1920239">
                  <a:moveTo>
                    <a:pt x="731519" y="1919871"/>
                  </a:moveTo>
                  <a:lnTo>
                    <a:pt x="0" y="1919871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1919871"/>
                  </a:lnTo>
                  <a:lnTo>
                    <a:pt x="731519" y="1919871"/>
                  </a:lnTo>
                  <a:close/>
                </a:path>
              </a:pathLst>
            </a:custGeom>
            <a:ln w="1907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21115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39" h="255905">
                  <a:moveTo>
                    <a:pt x="146268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731519" y="255600"/>
                  </a:lnTo>
                  <a:lnTo>
                    <a:pt x="1462684" y="25560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A68AF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21115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39" h="255905">
                  <a:moveTo>
                    <a:pt x="731519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255600"/>
                  </a:lnTo>
                  <a:lnTo>
                    <a:pt x="731519" y="255600"/>
                  </a:lnTo>
                  <a:close/>
                </a:path>
              </a:pathLst>
            </a:custGeom>
            <a:ln w="1259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79115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88" y="0"/>
                  </a:moveTo>
                  <a:lnTo>
                    <a:pt x="128836" y="5851"/>
                  </a:lnTo>
                  <a:lnTo>
                    <a:pt x="86766" y="23037"/>
                  </a:lnTo>
                  <a:lnTo>
                    <a:pt x="50900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6" y="279345"/>
                  </a:lnTo>
                  <a:lnTo>
                    <a:pt x="67906" y="311410"/>
                  </a:lnTo>
                  <a:lnTo>
                    <a:pt x="107310" y="334033"/>
                  </a:lnTo>
                  <a:lnTo>
                    <a:pt x="151108" y="345865"/>
                  </a:lnTo>
                  <a:lnTo>
                    <a:pt x="173888" y="347395"/>
                  </a:lnTo>
                  <a:lnTo>
                    <a:pt x="196455" y="345865"/>
                  </a:lnTo>
                  <a:lnTo>
                    <a:pt x="240103" y="334033"/>
                  </a:lnTo>
                  <a:lnTo>
                    <a:pt x="279502" y="311410"/>
                  </a:lnTo>
                  <a:lnTo>
                    <a:pt x="311421" y="279345"/>
                  </a:lnTo>
                  <a:lnTo>
                    <a:pt x="334190" y="239935"/>
                  </a:lnTo>
                  <a:lnTo>
                    <a:pt x="345928" y="196287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099"/>
                  </a:lnTo>
                  <a:lnTo>
                    <a:pt x="311421" y="67689"/>
                  </a:lnTo>
                  <a:lnTo>
                    <a:pt x="279502" y="35629"/>
                  </a:lnTo>
                  <a:lnTo>
                    <a:pt x="240103" y="13062"/>
                  </a:lnTo>
                  <a:lnTo>
                    <a:pt x="196455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A68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79115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2"/>
                  </a:lnTo>
                  <a:lnTo>
                    <a:pt x="23406" y="86753"/>
                  </a:lnTo>
                  <a:lnTo>
                    <a:pt x="50900" y="50580"/>
                  </a:lnTo>
                  <a:lnTo>
                    <a:pt x="86766" y="23037"/>
                  </a:lnTo>
                  <a:lnTo>
                    <a:pt x="128836" y="5851"/>
                  </a:lnTo>
                  <a:lnTo>
                    <a:pt x="173888" y="0"/>
                  </a:lnTo>
                  <a:lnTo>
                    <a:pt x="218617" y="5851"/>
                  </a:lnTo>
                  <a:lnTo>
                    <a:pt x="260642" y="23037"/>
                  </a:lnTo>
                  <a:lnTo>
                    <a:pt x="296508" y="50580"/>
                  </a:lnTo>
                  <a:lnTo>
                    <a:pt x="324002" y="86753"/>
                  </a:lnTo>
                  <a:lnTo>
                    <a:pt x="341510" y="128522"/>
                  </a:lnTo>
                  <a:lnTo>
                    <a:pt x="347408" y="173520"/>
                  </a:lnTo>
                  <a:lnTo>
                    <a:pt x="345928" y="196287"/>
                  </a:lnTo>
                  <a:lnTo>
                    <a:pt x="341510" y="218516"/>
                  </a:lnTo>
                  <a:lnTo>
                    <a:pt x="324002" y="260273"/>
                  </a:lnTo>
                  <a:lnTo>
                    <a:pt x="296508" y="296457"/>
                  </a:lnTo>
                  <a:lnTo>
                    <a:pt x="260642" y="324002"/>
                  </a:lnTo>
                  <a:lnTo>
                    <a:pt x="218617" y="341366"/>
                  </a:lnTo>
                  <a:lnTo>
                    <a:pt x="173888" y="347395"/>
                  </a:lnTo>
                  <a:lnTo>
                    <a:pt x="128836" y="341366"/>
                  </a:lnTo>
                  <a:lnTo>
                    <a:pt x="86766" y="324002"/>
                  </a:lnTo>
                  <a:lnTo>
                    <a:pt x="50900" y="296457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130655" y="1844905"/>
            <a:ext cx="1443990" cy="123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  <a:p>
            <a:pPr marL="426720" marR="418465" algn="ctr">
              <a:lnSpc>
                <a:spcPct val="100000"/>
              </a:lnSpc>
              <a:spcBef>
                <a:spcPts val="1545"/>
              </a:spcBef>
            </a:pPr>
            <a:r>
              <a:rPr sz="1000" b="1" spc="-10" dirty="0">
                <a:solidFill>
                  <a:srgbClr val="A68AF9"/>
                </a:solidFill>
                <a:latin typeface="Calibri"/>
                <a:cs typeface="Calibri"/>
              </a:rPr>
              <a:t>Conjunción </a:t>
            </a:r>
            <a:r>
              <a:rPr sz="1000" b="1" spc="-40" dirty="0">
                <a:solidFill>
                  <a:srgbClr val="A68AF9"/>
                </a:solidFill>
                <a:latin typeface="Calibri"/>
                <a:cs typeface="Calibri"/>
              </a:rPr>
              <a:t>(T-</a:t>
            </a:r>
            <a:r>
              <a:rPr sz="1000" b="1" spc="-10" dirty="0">
                <a:solidFill>
                  <a:srgbClr val="A68AF9"/>
                </a:solidFill>
                <a:latin typeface="Calibri"/>
                <a:cs typeface="Calibri"/>
              </a:rPr>
              <a:t>norm)</a:t>
            </a:r>
            <a:endParaRPr sz="1000">
              <a:latin typeface="Calibri"/>
              <a:cs typeface="Calibri"/>
            </a:endParaRPr>
          </a:p>
          <a:p>
            <a:pPr marL="201295" marR="193040" indent="-2540" algn="ctr">
              <a:lnSpc>
                <a:spcPct val="100000"/>
              </a:lnSpc>
              <a:spcBef>
                <a:spcPts val="955"/>
              </a:spcBef>
            </a:pPr>
            <a:r>
              <a:rPr sz="850" spc="215" dirty="0">
                <a:solidFill>
                  <a:srgbClr val="C7CFE7"/>
                </a:solidFill>
                <a:latin typeface="Cambria"/>
                <a:cs typeface="Cambria"/>
              </a:rPr>
              <a:t>α[i,j]</a:t>
            </a:r>
            <a:r>
              <a:rPr sz="850" spc="35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dirty="0">
                <a:solidFill>
                  <a:srgbClr val="C7CFE7"/>
                </a:solidFill>
                <a:latin typeface="Cambria"/>
                <a:cs typeface="Cambria"/>
              </a:rPr>
              <a:t>=</a:t>
            </a:r>
            <a:r>
              <a:rPr sz="850" spc="35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45" dirty="0">
                <a:solidFill>
                  <a:srgbClr val="C7CFE7"/>
                </a:solidFill>
                <a:latin typeface="Cambria"/>
                <a:cs typeface="Cambria"/>
              </a:rPr>
              <a:t>min( </a:t>
            </a:r>
            <a:r>
              <a:rPr sz="850" spc="185" dirty="0">
                <a:solidFill>
                  <a:srgbClr val="C7CFE7"/>
                </a:solidFill>
                <a:latin typeface="Cambria"/>
                <a:cs typeface="Cambria"/>
              </a:rPr>
              <a:t>μ_θ[i],</a:t>
            </a:r>
            <a:r>
              <a:rPr sz="850" spc="32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75" dirty="0">
                <a:solidFill>
                  <a:srgbClr val="C7CFE7"/>
                </a:solidFill>
                <a:latin typeface="Cambria"/>
                <a:cs typeface="Cambria"/>
              </a:rPr>
              <a:t>μ_θ'[j]) </a:t>
            </a:r>
            <a:r>
              <a:rPr sz="850" spc="95" dirty="0">
                <a:solidFill>
                  <a:srgbClr val="C7CFE7"/>
                </a:solidFill>
                <a:latin typeface="Cambria"/>
                <a:cs typeface="Cambria"/>
              </a:rPr>
              <a:t>para</a:t>
            </a:r>
            <a:r>
              <a:rPr sz="850" spc="35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dirty="0">
                <a:solidFill>
                  <a:srgbClr val="C7CFE7"/>
                </a:solidFill>
                <a:latin typeface="Cambria"/>
                <a:cs typeface="Cambria"/>
              </a:rPr>
              <a:t>49</a:t>
            </a:r>
            <a:r>
              <a:rPr sz="850" spc="35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30" dirty="0">
                <a:solidFill>
                  <a:srgbClr val="C7CFE7"/>
                </a:solidFill>
                <a:latin typeface="Cambria"/>
                <a:cs typeface="Cambria"/>
              </a:rPr>
              <a:t>reglas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84156" y="2423161"/>
            <a:ext cx="365760" cy="635"/>
          </a:xfrm>
          <a:custGeom>
            <a:avLst/>
            <a:gdLst/>
            <a:ahLst/>
            <a:cxnLst/>
            <a:rect l="l" t="t" r="r" b="b"/>
            <a:pathLst>
              <a:path w="365760" h="635">
                <a:moveTo>
                  <a:pt x="0" y="0"/>
                </a:moveTo>
                <a:lnTo>
                  <a:pt x="365760" y="355"/>
                </a:lnTo>
              </a:path>
            </a:pathLst>
          </a:custGeom>
          <a:ln w="19079">
            <a:solidFill>
              <a:srgbClr val="878F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789260" y="2321113"/>
            <a:ext cx="16827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95" dirty="0">
                <a:solidFill>
                  <a:srgbClr val="878FA7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39400" y="1369785"/>
            <a:ext cx="1685289" cy="2141855"/>
            <a:chOff x="3839400" y="1369785"/>
            <a:chExt cx="1685289" cy="214185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9400" y="1369785"/>
              <a:ext cx="1684794" cy="21416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968280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39" h="1920239">
                  <a:moveTo>
                    <a:pt x="1462684" y="0"/>
                  </a:moveTo>
                  <a:lnTo>
                    <a:pt x="0" y="0"/>
                  </a:lnTo>
                  <a:lnTo>
                    <a:pt x="0" y="1919871"/>
                  </a:lnTo>
                  <a:lnTo>
                    <a:pt x="731519" y="1919871"/>
                  </a:lnTo>
                  <a:lnTo>
                    <a:pt x="1462684" y="1919871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68280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39" h="1920239">
                  <a:moveTo>
                    <a:pt x="731519" y="1919871"/>
                  </a:moveTo>
                  <a:lnTo>
                    <a:pt x="0" y="1919871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1919871"/>
                  </a:lnTo>
                  <a:lnTo>
                    <a:pt x="731519" y="1919871"/>
                  </a:lnTo>
                  <a:close/>
                </a:path>
              </a:pathLst>
            </a:custGeom>
            <a:ln w="1907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68280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39" h="255905">
                  <a:moveTo>
                    <a:pt x="146268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731519" y="255600"/>
                  </a:lnTo>
                  <a:lnTo>
                    <a:pt x="1462684" y="25560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F49D0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68280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39" h="255905">
                  <a:moveTo>
                    <a:pt x="731519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255600"/>
                  </a:lnTo>
                  <a:lnTo>
                    <a:pt x="731519" y="255600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6280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75" y="0"/>
                  </a:moveTo>
                  <a:lnTo>
                    <a:pt x="128833" y="5851"/>
                  </a:lnTo>
                  <a:lnTo>
                    <a:pt x="86753" y="23037"/>
                  </a:lnTo>
                  <a:lnTo>
                    <a:pt x="50893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5"/>
                  </a:lnTo>
                  <a:lnTo>
                    <a:pt x="67895" y="311410"/>
                  </a:lnTo>
                  <a:lnTo>
                    <a:pt x="107304" y="334033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33"/>
                  </a:lnTo>
                  <a:lnTo>
                    <a:pt x="279500" y="311410"/>
                  </a:lnTo>
                  <a:lnTo>
                    <a:pt x="311416" y="279345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099"/>
                  </a:lnTo>
                  <a:lnTo>
                    <a:pt x="311416" y="67689"/>
                  </a:lnTo>
                  <a:lnTo>
                    <a:pt x="279500" y="35629"/>
                  </a:lnTo>
                  <a:lnTo>
                    <a:pt x="240096" y="13062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6280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2"/>
                  </a:lnTo>
                  <a:lnTo>
                    <a:pt x="23406" y="86753"/>
                  </a:lnTo>
                  <a:lnTo>
                    <a:pt x="50893" y="50580"/>
                  </a:lnTo>
                  <a:lnTo>
                    <a:pt x="86753" y="23037"/>
                  </a:lnTo>
                  <a:lnTo>
                    <a:pt x="128833" y="5851"/>
                  </a:lnTo>
                  <a:lnTo>
                    <a:pt x="173875" y="0"/>
                  </a:lnTo>
                  <a:lnTo>
                    <a:pt x="218606" y="5851"/>
                  </a:lnTo>
                  <a:lnTo>
                    <a:pt x="260642" y="23037"/>
                  </a:lnTo>
                  <a:lnTo>
                    <a:pt x="296503" y="50580"/>
                  </a:lnTo>
                  <a:lnTo>
                    <a:pt x="324002" y="86753"/>
                  </a:lnTo>
                  <a:lnTo>
                    <a:pt x="341504" y="12852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7"/>
                  </a:lnTo>
                  <a:lnTo>
                    <a:pt x="260642" y="324002"/>
                  </a:lnTo>
                  <a:lnTo>
                    <a:pt x="218606" y="341366"/>
                  </a:lnTo>
                  <a:lnTo>
                    <a:pt x="173875" y="347395"/>
                  </a:lnTo>
                  <a:lnTo>
                    <a:pt x="128833" y="341366"/>
                  </a:lnTo>
                  <a:lnTo>
                    <a:pt x="86753" y="324002"/>
                  </a:lnTo>
                  <a:lnTo>
                    <a:pt x="50893" y="296457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645698" y="1844905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77017" y="1987026"/>
            <a:ext cx="935990" cy="14003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 marR="160020" algn="ctr">
              <a:lnSpc>
                <a:spcPct val="100000"/>
              </a:lnSpc>
              <a:spcBef>
                <a:spcPts val="100"/>
              </a:spcBef>
            </a:pPr>
            <a:endParaRPr lang="es-AR" sz="1000" b="1" spc="-10" dirty="0">
              <a:solidFill>
                <a:srgbClr val="F49D0A"/>
              </a:solidFill>
              <a:latin typeface="Calibri"/>
              <a:cs typeface="Calibri"/>
            </a:endParaRPr>
          </a:p>
          <a:p>
            <a:pPr marL="167640" marR="160020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 err="1">
                <a:solidFill>
                  <a:srgbClr val="F49D0A"/>
                </a:solidFill>
                <a:latin typeface="Calibri"/>
                <a:cs typeface="Calibri"/>
              </a:rPr>
              <a:t>Implicación</a:t>
            </a:r>
            <a:r>
              <a:rPr sz="1000" b="1" spc="-10" dirty="0">
                <a:solidFill>
                  <a:srgbClr val="F49D0A"/>
                </a:solidFill>
                <a:latin typeface="Calibri"/>
                <a:cs typeface="Calibri"/>
              </a:rPr>
              <a:t> (Mamdani)</a:t>
            </a:r>
            <a:endParaRPr sz="1000" dirty="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955"/>
              </a:spcBef>
            </a:pPr>
            <a:r>
              <a:rPr sz="850" spc="135" dirty="0">
                <a:solidFill>
                  <a:srgbClr val="C7CFE7"/>
                </a:solidFill>
                <a:latin typeface="Cambria"/>
                <a:cs typeface="Cambria"/>
              </a:rPr>
              <a:t>Clipping: </a:t>
            </a:r>
            <a:r>
              <a:rPr sz="850" spc="120" dirty="0">
                <a:solidFill>
                  <a:srgbClr val="C7CFE7"/>
                </a:solidFill>
                <a:latin typeface="Cambria"/>
                <a:cs typeface="Cambria"/>
              </a:rPr>
              <a:t>recortar </a:t>
            </a:r>
            <a:r>
              <a:rPr sz="850" spc="95" dirty="0">
                <a:solidFill>
                  <a:srgbClr val="C7CFE7"/>
                </a:solidFill>
                <a:latin typeface="Cambria"/>
                <a:cs typeface="Cambria"/>
              </a:rPr>
              <a:t>consecuente</a:t>
            </a:r>
            <a:r>
              <a:rPr sz="850" spc="33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65" dirty="0">
                <a:solidFill>
                  <a:srgbClr val="C7CFE7"/>
                </a:solidFill>
                <a:latin typeface="Cambria"/>
                <a:cs typeface="Cambria"/>
              </a:rPr>
              <a:t>al </a:t>
            </a:r>
            <a:r>
              <a:rPr sz="850" spc="140" dirty="0">
                <a:solidFill>
                  <a:srgbClr val="C7CFE7"/>
                </a:solidFill>
                <a:latin typeface="Cambria"/>
                <a:cs typeface="Cambria"/>
              </a:rPr>
              <a:t>nivel</a:t>
            </a:r>
            <a:endParaRPr sz="850" dirty="0">
              <a:latin typeface="Cambria"/>
              <a:cs typeface="Cambria"/>
            </a:endParaRPr>
          </a:p>
          <a:p>
            <a:pPr marL="45085" marR="37465" algn="ctr">
              <a:lnSpc>
                <a:spcPct val="100000"/>
              </a:lnSpc>
            </a:pPr>
            <a:r>
              <a:rPr sz="850" spc="60" dirty="0">
                <a:solidFill>
                  <a:srgbClr val="C7CFE7"/>
                </a:solidFill>
                <a:latin typeface="Cambria"/>
                <a:cs typeface="Cambria"/>
              </a:rPr>
              <a:t>de</a:t>
            </a:r>
            <a:r>
              <a:rPr sz="850" spc="33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25" dirty="0">
                <a:solidFill>
                  <a:srgbClr val="C7CFE7"/>
                </a:solidFill>
                <a:latin typeface="Cambria"/>
                <a:cs typeface="Cambria"/>
              </a:rPr>
              <a:t>activación </a:t>
            </a:r>
            <a:r>
              <a:rPr sz="850" spc="204" dirty="0">
                <a:solidFill>
                  <a:srgbClr val="C7CFE7"/>
                </a:solidFill>
                <a:latin typeface="Cambria"/>
                <a:cs typeface="Cambria"/>
              </a:rPr>
              <a:t>α[i,j]</a:t>
            </a:r>
            <a:endParaRPr sz="850" dirty="0">
              <a:latin typeface="Cambria"/>
              <a:cs typeface="Cambri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431320" y="2423161"/>
            <a:ext cx="365760" cy="635"/>
          </a:xfrm>
          <a:custGeom>
            <a:avLst/>
            <a:gdLst/>
            <a:ahLst/>
            <a:cxnLst/>
            <a:rect l="l" t="t" r="r" b="b"/>
            <a:pathLst>
              <a:path w="365760" h="635">
                <a:moveTo>
                  <a:pt x="0" y="0"/>
                </a:moveTo>
                <a:lnTo>
                  <a:pt x="365760" y="355"/>
                </a:lnTo>
              </a:path>
            </a:pathLst>
          </a:custGeom>
          <a:ln w="19079">
            <a:solidFill>
              <a:srgbClr val="878F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636424" y="2321113"/>
            <a:ext cx="16827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95" dirty="0">
                <a:solidFill>
                  <a:srgbClr val="878FA7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686196" y="1369785"/>
            <a:ext cx="1685289" cy="2141855"/>
            <a:chOff x="5686196" y="1369785"/>
            <a:chExt cx="1685289" cy="214185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86196" y="1369785"/>
              <a:ext cx="1684794" cy="214165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815075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40" h="1920239">
                  <a:moveTo>
                    <a:pt x="1462684" y="0"/>
                  </a:moveTo>
                  <a:lnTo>
                    <a:pt x="0" y="0"/>
                  </a:lnTo>
                  <a:lnTo>
                    <a:pt x="0" y="1919871"/>
                  </a:lnTo>
                  <a:lnTo>
                    <a:pt x="731520" y="1919871"/>
                  </a:lnTo>
                  <a:lnTo>
                    <a:pt x="1462684" y="1919871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15075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40" h="1920239">
                  <a:moveTo>
                    <a:pt x="731520" y="1919871"/>
                  </a:moveTo>
                  <a:lnTo>
                    <a:pt x="0" y="1919871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1919871"/>
                  </a:lnTo>
                  <a:lnTo>
                    <a:pt x="731520" y="1919871"/>
                  </a:lnTo>
                  <a:close/>
                </a:path>
              </a:pathLst>
            </a:custGeom>
            <a:ln w="19079">
              <a:solidFill>
                <a:srgbClr val="7CD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15075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40" h="255905">
                  <a:moveTo>
                    <a:pt x="146268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731520" y="255600"/>
                  </a:lnTo>
                  <a:lnTo>
                    <a:pt x="1462684" y="25560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7CD2F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15075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40" h="255905">
                  <a:moveTo>
                    <a:pt x="731520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255600"/>
                  </a:lnTo>
                  <a:lnTo>
                    <a:pt x="731520" y="255600"/>
                  </a:lnTo>
                  <a:close/>
                </a:path>
              </a:pathLst>
            </a:custGeom>
            <a:ln w="12599">
              <a:solidFill>
                <a:srgbClr val="7CD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73444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75" y="0"/>
                  </a:moveTo>
                  <a:lnTo>
                    <a:pt x="128833" y="5851"/>
                  </a:lnTo>
                  <a:lnTo>
                    <a:pt x="86753" y="23037"/>
                  </a:lnTo>
                  <a:lnTo>
                    <a:pt x="50892" y="50580"/>
                  </a:lnTo>
                  <a:lnTo>
                    <a:pt x="23393" y="86753"/>
                  </a:lnTo>
                  <a:lnTo>
                    <a:pt x="5891" y="128522"/>
                  </a:lnTo>
                  <a:lnTo>
                    <a:pt x="0" y="173520"/>
                  </a:lnTo>
                  <a:lnTo>
                    <a:pt x="1478" y="196287"/>
                  </a:lnTo>
                  <a:lnTo>
                    <a:pt x="13207" y="239935"/>
                  </a:lnTo>
                  <a:lnTo>
                    <a:pt x="35979" y="279345"/>
                  </a:lnTo>
                  <a:lnTo>
                    <a:pt x="67895" y="311410"/>
                  </a:lnTo>
                  <a:lnTo>
                    <a:pt x="107304" y="334033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33"/>
                  </a:lnTo>
                  <a:lnTo>
                    <a:pt x="279500" y="311410"/>
                  </a:lnTo>
                  <a:lnTo>
                    <a:pt x="311410" y="279345"/>
                  </a:lnTo>
                  <a:lnTo>
                    <a:pt x="334178" y="239935"/>
                  </a:lnTo>
                  <a:lnTo>
                    <a:pt x="345915" y="196287"/>
                  </a:lnTo>
                  <a:lnTo>
                    <a:pt x="347395" y="173520"/>
                  </a:lnTo>
                  <a:lnTo>
                    <a:pt x="345915" y="150752"/>
                  </a:lnTo>
                  <a:lnTo>
                    <a:pt x="334178" y="107099"/>
                  </a:lnTo>
                  <a:lnTo>
                    <a:pt x="311410" y="67689"/>
                  </a:lnTo>
                  <a:lnTo>
                    <a:pt x="279500" y="35629"/>
                  </a:lnTo>
                  <a:lnTo>
                    <a:pt x="240096" y="13062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7CD2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73444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520"/>
                  </a:moveTo>
                  <a:lnTo>
                    <a:pt x="1478" y="150752"/>
                  </a:lnTo>
                  <a:lnTo>
                    <a:pt x="5891" y="128522"/>
                  </a:lnTo>
                  <a:lnTo>
                    <a:pt x="23393" y="86753"/>
                  </a:lnTo>
                  <a:lnTo>
                    <a:pt x="50892" y="50580"/>
                  </a:lnTo>
                  <a:lnTo>
                    <a:pt x="86753" y="23037"/>
                  </a:lnTo>
                  <a:lnTo>
                    <a:pt x="128833" y="5851"/>
                  </a:lnTo>
                  <a:lnTo>
                    <a:pt x="173875" y="0"/>
                  </a:lnTo>
                  <a:lnTo>
                    <a:pt x="218606" y="5851"/>
                  </a:lnTo>
                  <a:lnTo>
                    <a:pt x="260642" y="23037"/>
                  </a:lnTo>
                  <a:lnTo>
                    <a:pt x="296502" y="50580"/>
                  </a:lnTo>
                  <a:lnTo>
                    <a:pt x="323989" y="86753"/>
                  </a:lnTo>
                  <a:lnTo>
                    <a:pt x="341498" y="128522"/>
                  </a:lnTo>
                  <a:lnTo>
                    <a:pt x="347395" y="173520"/>
                  </a:lnTo>
                  <a:lnTo>
                    <a:pt x="345915" y="196287"/>
                  </a:lnTo>
                  <a:lnTo>
                    <a:pt x="341498" y="218516"/>
                  </a:lnTo>
                  <a:lnTo>
                    <a:pt x="323989" y="260273"/>
                  </a:lnTo>
                  <a:lnTo>
                    <a:pt x="296502" y="296457"/>
                  </a:lnTo>
                  <a:lnTo>
                    <a:pt x="260642" y="324002"/>
                  </a:lnTo>
                  <a:lnTo>
                    <a:pt x="218606" y="341366"/>
                  </a:lnTo>
                  <a:lnTo>
                    <a:pt x="173875" y="347395"/>
                  </a:lnTo>
                  <a:lnTo>
                    <a:pt x="128833" y="341366"/>
                  </a:lnTo>
                  <a:lnTo>
                    <a:pt x="86753" y="324002"/>
                  </a:lnTo>
                  <a:lnTo>
                    <a:pt x="50892" y="296457"/>
                  </a:lnTo>
                  <a:lnTo>
                    <a:pt x="23393" y="260273"/>
                  </a:lnTo>
                  <a:lnTo>
                    <a:pt x="5891" y="218516"/>
                  </a:lnTo>
                  <a:lnTo>
                    <a:pt x="1478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7CD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505562" y="1844905"/>
            <a:ext cx="965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93638" y="2315428"/>
            <a:ext cx="111823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7CD2FB"/>
                </a:solidFill>
                <a:latin typeface="Calibri"/>
                <a:cs typeface="Calibri"/>
              </a:rPr>
              <a:t>Agregación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00" dirty="0">
              <a:latin typeface="Calibri"/>
              <a:cs typeface="Calibri"/>
            </a:endParaRPr>
          </a:p>
          <a:p>
            <a:pPr marR="5080" indent="-635" algn="ctr">
              <a:lnSpc>
                <a:spcPct val="100000"/>
              </a:lnSpc>
              <a:spcBef>
                <a:spcPts val="5"/>
              </a:spcBef>
            </a:pPr>
            <a:r>
              <a:rPr sz="850" spc="65" dirty="0">
                <a:solidFill>
                  <a:srgbClr val="C7CFE7"/>
                </a:solidFill>
                <a:latin typeface="Cambria"/>
                <a:cs typeface="Cambria"/>
              </a:rPr>
              <a:t>Unión</a:t>
            </a:r>
            <a:r>
              <a:rPr sz="850" spc="33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65" dirty="0">
                <a:solidFill>
                  <a:srgbClr val="C7CFE7"/>
                </a:solidFill>
                <a:latin typeface="Cambria"/>
                <a:cs typeface="Cambria"/>
              </a:rPr>
              <a:t>de</a:t>
            </a:r>
            <a:r>
              <a:rPr sz="850" spc="33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90" dirty="0">
                <a:solidFill>
                  <a:srgbClr val="C7CFE7"/>
                </a:solidFill>
                <a:latin typeface="Cambria"/>
                <a:cs typeface="Cambria"/>
              </a:rPr>
              <a:t>todos</a:t>
            </a:r>
            <a:r>
              <a:rPr sz="850" spc="50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60" dirty="0">
                <a:solidFill>
                  <a:srgbClr val="C7CFE7"/>
                </a:solidFill>
                <a:latin typeface="Cambria"/>
                <a:cs typeface="Cambria"/>
              </a:rPr>
              <a:t>los</a:t>
            </a:r>
            <a:r>
              <a:rPr sz="850" spc="32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05" dirty="0">
                <a:solidFill>
                  <a:srgbClr val="C7CFE7"/>
                </a:solidFill>
                <a:latin typeface="Cambria"/>
                <a:cs typeface="Cambria"/>
              </a:rPr>
              <a:t>consecuentes: </a:t>
            </a:r>
            <a:r>
              <a:rPr sz="850" dirty="0">
                <a:solidFill>
                  <a:srgbClr val="C7CFE7"/>
                </a:solidFill>
                <a:latin typeface="Cambria"/>
                <a:cs typeface="Cambria"/>
              </a:rPr>
              <a:t>max</a:t>
            </a:r>
            <a:r>
              <a:rPr sz="850" spc="31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00" dirty="0">
                <a:solidFill>
                  <a:srgbClr val="C7CFE7"/>
                </a:solidFill>
                <a:latin typeface="Cambria"/>
                <a:cs typeface="Cambria"/>
              </a:rPr>
              <a:t>sobre</a:t>
            </a:r>
            <a:r>
              <a:rPr sz="850" spc="32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-35" dirty="0">
                <a:solidFill>
                  <a:srgbClr val="C7CFE7"/>
                </a:solidFill>
                <a:latin typeface="Cambria"/>
                <a:cs typeface="Cambria"/>
              </a:rPr>
              <a:t>49</a:t>
            </a:r>
            <a:r>
              <a:rPr sz="850" spc="130" dirty="0">
                <a:solidFill>
                  <a:srgbClr val="C7CFE7"/>
                </a:solidFill>
                <a:latin typeface="Cambria"/>
                <a:cs typeface="Cambria"/>
              </a:rPr>
              <a:t> reglas</a:t>
            </a:r>
            <a:endParaRPr sz="850" dirty="0">
              <a:latin typeface="Cambria"/>
              <a:cs typeface="Cambri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278484" y="2423161"/>
            <a:ext cx="365760" cy="635"/>
          </a:xfrm>
          <a:custGeom>
            <a:avLst/>
            <a:gdLst/>
            <a:ahLst/>
            <a:cxnLst/>
            <a:rect l="l" t="t" r="r" b="b"/>
            <a:pathLst>
              <a:path w="365759" h="635">
                <a:moveTo>
                  <a:pt x="0" y="0"/>
                </a:moveTo>
                <a:lnTo>
                  <a:pt x="365759" y="355"/>
                </a:lnTo>
              </a:path>
            </a:pathLst>
          </a:custGeom>
          <a:ln w="19079">
            <a:solidFill>
              <a:srgbClr val="878F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483576" y="2321113"/>
            <a:ext cx="16827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95" dirty="0">
                <a:solidFill>
                  <a:srgbClr val="878FA7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533360" y="1369785"/>
            <a:ext cx="1610360" cy="2141855"/>
            <a:chOff x="7533360" y="1369785"/>
            <a:chExt cx="1610360" cy="2141855"/>
          </a:xfrm>
        </p:grpSpPr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3360" y="1369785"/>
              <a:ext cx="1610271" cy="214165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662239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40" h="1920239">
                  <a:moveTo>
                    <a:pt x="1462684" y="0"/>
                  </a:moveTo>
                  <a:lnTo>
                    <a:pt x="0" y="0"/>
                  </a:lnTo>
                  <a:lnTo>
                    <a:pt x="0" y="1919871"/>
                  </a:lnTo>
                  <a:lnTo>
                    <a:pt x="731520" y="1919871"/>
                  </a:lnTo>
                  <a:lnTo>
                    <a:pt x="1462684" y="1919871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662239" y="1462686"/>
              <a:ext cx="1463040" cy="1920239"/>
            </a:xfrm>
            <a:custGeom>
              <a:avLst/>
              <a:gdLst/>
              <a:ahLst/>
              <a:cxnLst/>
              <a:rect l="l" t="t" r="r" b="b"/>
              <a:pathLst>
                <a:path w="1463040" h="1920239">
                  <a:moveTo>
                    <a:pt x="731520" y="1919871"/>
                  </a:moveTo>
                  <a:lnTo>
                    <a:pt x="0" y="1919871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1919871"/>
                  </a:lnTo>
                  <a:lnTo>
                    <a:pt x="731520" y="1919871"/>
                  </a:lnTo>
                  <a:close/>
                </a:path>
              </a:pathLst>
            </a:custGeom>
            <a:ln w="19079">
              <a:solidFill>
                <a:srgbClr val="51C3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662239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40" h="255905">
                  <a:moveTo>
                    <a:pt x="146268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731520" y="255600"/>
                  </a:lnTo>
                  <a:lnTo>
                    <a:pt x="1462684" y="25560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51C37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662239" y="1463042"/>
              <a:ext cx="1463040" cy="255904"/>
            </a:xfrm>
            <a:custGeom>
              <a:avLst/>
              <a:gdLst/>
              <a:ahLst/>
              <a:cxnLst/>
              <a:rect l="l" t="t" r="r" b="b"/>
              <a:pathLst>
                <a:path w="1463040" h="255905">
                  <a:moveTo>
                    <a:pt x="731520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1462684" y="0"/>
                  </a:lnTo>
                  <a:lnTo>
                    <a:pt x="1462684" y="255600"/>
                  </a:lnTo>
                  <a:lnTo>
                    <a:pt x="731520" y="255600"/>
                  </a:lnTo>
                  <a:close/>
                </a:path>
              </a:pathLst>
            </a:custGeom>
            <a:ln w="12599">
              <a:solidFill>
                <a:srgbClr val="51C3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220595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888" y="0"/>
                  </a:moveTo>
                  <a:lnTo>
                    <a:pt x="128836" y="5851"/>
                  </a:lnTo>
                  <a:lnTo>
                    <a:pt x="86766" y="23037"/>
                  </a:lnTo>
                  <a:lnTo>
                    <a:pt x="50900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6" y="279345"/>
                  </a:lnTo>
                  <a:lnTo>
                    <a:pt x="67906" y="311410"/>
                  </a:lnTo>
                  <a:lnTo>
                    <a:pt x="107310" y="334033"/>
                  </a:lnTo>
                  <a:lnTo>
                    <a:pt x="151108" y="345865"/>
                  </a:lnTo>
                  <a:lnTo>
                    <a:pt x="173888" y="347395"/>
                  </a:lnTo>
                  <a:lnTo>
                    <a:pt x="196455" y="345865"/>
                  </a:lnTo>
                  <a:lnTo>
                    <a:pt x="240103" y="334033"/>
                  </a:lnTo>
                  <a:lnTo>
                    <a:pt x="279502" y="311410"/>
                  </a:lnTo>
                  <a:lnTo>
                    <a:pt x="311421" y="279345"/>
                  </a:lnTo>
                  <a:lnTo>
                    <a:pt x="334190" y="239935"/>
                  </a:lnTo>
                  <a:lnTo>
                    <a:pt x="345928" y="196287"/>
                  </a:lnTo>
                  <a:lnTo>
                    <a:pt x="347408" y="173520"/>
                  </a:lnTo>
                  <a:lnTo>
                    <a:pt x="345928" y="150752"/>
                  </a:lnTo>
                  <a:lnTo>
                    <a:pt x="334190" y="107099"/>
                  </a:lnTo>
                  <a:lnTo>
                    <a:pt x="311421" y="67689"/>
                  </a:lnTo>
                  <a:lnTo>
                    <a:pt x="279502" y="35629"/>
                  </a:lnTo>
                  <a:lnTo>
                    <a:pt x="240103" y="13062"/>
                  </a:lnTo>
                  <a:lnTo>
                    <a:pt x="196455" y="1474"/>
                  </a:lnTo>
                  <a:lnTo>
                    <a:pt x="173888" y="0"/>
                  </a:lnTo>
                  <a:close/>
                </a:path>
              </a:pathLst>
            </a:custGeom>
            <a:solidFill>
              <a:srgbClr val="51C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220595" y="178308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2"/>
                  </a:lnTo>
                  <a:lnTo>
                    <a:pt x="23406" y="86753"/>
                  </a:lnTo>
                  <a:lnTo>
                    <a:pt x="50900" y="50580"/>
                  </a:lnTo>
                  <a:lnTo>
                    <a:pt x="86766" y="23037"/>
                  </a:lnTo>
                  <a:lnTo>
                    <a:pt x="128836" y="5851"/>
                  </a:lnTo>
                  <a:lnTo>
                    <a:pt x="173888" y="0"/>
                  </a:lnTo>
                  <a:lnTo>
                    <a:pt x="218617" y="5851"/>
                  </a:lnTo>
                  <a:lnTo>
                    <a:pt x="260642" y="23037"/>
                  </a:lnTo>
                  <a:lnTo>
                    <a:pt x="296508" y="50580"/>
                  </a:lnTo>
                  <a:lnTo>
                    <a:pt x="324002" y="86753"/>
                  </a:lnTo>
                  <a:lnTo>
                    <a:pt x="341510" y="128522"/>
                  </a:lnTo>
                  <a:lnTo>
                    <a:pt x="347408" y="173520"/>
                  </a:lnTo>
                  <a:lnTo>
                    <a:pt x="345928" y="196287"/>
                  </a:lnTo>
                  <a:lnTo>
                    <a:pt x="341510" y="218516"/>
                  </a:lnTo>
                  <a:lnTo>
                    <a:pt x="324002" y="260273"/>
                  </a:lnTo>
                  <a:lnTo>
                    <a:pt x="296508" y="296457"/>
                  </a:lnTo>
                  <a:lnTo>
                    <a:pt x="260642" y="324002"/>
                  </a:lnTo>
                  <a:lnTo>
                    <a:pt x="218617" y="341366"/>
                  </a:lnTo>
                  <a:lnTo>
                    <a:pt x="173888" y="347395"/>
                  </a:lnTo>
                  <a:lnTo>
                    <a:pt x="128836" y="341366"/>
                  </a:lnTo>
                  <a:lnTo>
                    <a:pt x="86766" y="324002"/>
                  </a:lnTo>
                  <a:lnTo>
                    <a:pt x="50900" y="296457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51C3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671779" y="1844905"/>
            <a:ext cx="1443990" cy="123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00" dirty="0">
              <a:latin typeface="Calibri"/>
              <a:cs typeface="Calibri"/>
            </a:endParaRPr>
          </a:p>
          <a:p>
            <a:pPr marL="328295" marR="321310" algn="ctr">
              <a:lnSpc>
                <a:spcPct val="100000"/>
              </a:lnSpc>
              <a:spcBef>
                <a:spcPts val="1545"/>
              </a:spcBef>
            </a:pPr>
            <a:r>
              <a:rPr sz="1000" b="1" spc="-10" dirty="0">
                <a:solidFill>
                  <a:srgbClr val="51C379"/>
                </a:solidFill>
                <a:latin typeface="Calibri"/>
                <a:cs typeface="Calibri"/>
              </a:rPr>
              <a:t>Defuzzificación (CoG)</a:t>
            </a:r>
            <a:endParaRPr sz="1000" dirty="0">
              <a:latin typeface="Calibri"/>
              <a:cs typeface="Calibri"/>
            </a:endParaRPr>
          </a:p>
          <a:p>
            <a:pPr marR="322580" algn="r">
              <a:lnSpc>
                <a:spcPct val="100000"/>
              </a:lnSpc>
              <a:spcBef>
                <a:spcPts val="955"/>
              </a:spcBef>
            </a:pPr>
            <a:r>
              <a:rPr sz="850" spc="95" dirty="0">
                <a:solidFill>
                  <a:srgbClr val="C7CFE7"/>
                </a:solidFill>
                <a:latin typeface="Cambria"/>
                <a:cs typeface="Cambria"/>
              </a:rPr>
              <a:t>F*</a:t>
            </a:r>
            <a:r>
              <a:rPr sz="850" spc="34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dirty="0">
                <a:solidFill>
                  <a:srgbClr val="C7CFE7"/>
                </a:solidFill>
                <a:latin typeface="Cambria"/>
                <a:cs typeface="Cambria"/>
              </a:rPr>
              <a:t>=</a:t>
            </a:r>
            <a:r>
              <a:rPr sz="850" spc="33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120" dirty="0">
                <a:solidFill>
                  <a:srgbClr val="C7CFE7"/>
                </a:solidFill>
                <a:latin typeface="Cambria"/>
                <a:cs typeface="Cambria"/>
              </a:rPr>
              <a:t>∫u·μ</a:t>
            </a:r>
            <a:r>
              <a:rPr sz="850" spc="350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-25" dirty="0">
                <a:solidFill>
                  <a:srgbClr val="C7CFE7"/>
                </a:solidFill>
                <a:latin typeface="Cambria"/>
                <a:cs typeface="Cambria"/>
              </a:rPr>
              <a:t>du</a:t>
            </a:r>
            <a:endParaRPr sz="850" dirty="0">
              <a:latin typeface="Cambria"/>
              <a:cs typeface="Cambria"/>
            </a:endParaRPr>
          </a:p>
          <a:p>
            <a:pPr marR="292100" algn="r">
              <a:lnSpc>
                <a:spcPct val="100000"/>
              </a:lnSpc>
            </a:pPr>
            <a:r>
              <a:rPr sz="850" spc="-10" dirty="0">
                <a:solidFill>
                  <a:srgbClr val="C7CFE7"/>
                </a:solidFill>
                <a:latin typeface="Cambria"/>
                <a:cs typeface="Cambria"/>
              </a:rPr>
              <a:t>────────</a:t>
            </a:r>
            <a:endParaRPr sz="850" dirty="0">
              <a:latin typeface="Cambria"/>
              <a:cs typeface="Cambria"/>
            </a:endParaRPr>
          </a:p>
          <a:p>
            <a:pPr marR="355600" algn="r">
              <a:lnSpc>
                <a:spcPct val="100000"/>
              </a:lnSpc>
            </a:pPr>
            <a:r>
              <a:rPr sz="850" spc="95" dirty="0">
                <a:solidFill>
                  <a:srgbClr val="C7CFE7"/>
                </a:solidFill>
                <a:latin typeface="Cambria"/>
                <a:cs typeface="Cambria"/>
              </a:rPr>
              <a:t>∫μ</a:t>
            </a:r>
            <a:r>
              <a:rPr sz="850" spc="325" dirty="0">
                <a:solidFill>
                  <a:srgbClr val="C7CFE7"/>
                </a:solidFill>
                <a:latin typeface="Cambria"/>
                <a:cs typeface="Cambria"/>
              </a:rPr>
              <a:t> </a:t>
            </a:r>
            <a:r>
              <a:rPr sz="850" spc="-25" dirty="0">
                <a:solidFill>
                  <a:srgbClr val="C7CFE7"/>
                </a:solidFill>
                <a:latin typeface="Cambria"/>
                <a:cs typeface="Cambria"/>
              </a:rPr>
              <a:t>du</a:t>
            </a:r>
            <a:endParaRPr sz="850" dirty="0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2532" y="3453014"/>
            <a:ext cx="1210768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99060">
              <a:lnSpc>
                <a:spcPct val="100000"/>
              </a:lnSpc>
              <a:spcBef>
                <a:spcPts val="100"/>
              </a:spcBef>
            </a:pPr>
            <a:r>
              <a:rPr sz="900" i="1" spc="-10" dirty="0">
                <a:solidFill>
                  <a:srgbClr val="499DFF"/>
                </a:solidFill>
                <a:latin typeface="Calibri"/>
                <a:cs typeface="Calibri"/>
              </a:rPr>
              <a:t>Entradas</a:t>
            </a:r>
            <a:r>
              <a:rPr sz="900" i="1" spc="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499DFF"/>
                </a:solidFill>
                <a:latin typeface="Calibri"/>
                <a:cs typeface="Calibri"/>
              </a:rPr>
              <a:t>nítidas</a:t>
            </a:r>
            <a:r>
              <a:rPr sz="900" i="1" spc="50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499DFF"/>
                </a:solidFill>
                <a:latin typeface="Calibri"/>
                <a:cs typeface="Calibri"/>
              </a:rPr>
              <a:t>θ,</a:t>
            </a:r>
            <a:r>
              <a:rPr sz="900" i="1" spc="-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499DFF"/>
                </a:solidFill>
                <a:latin typeface="Calibri"/>
                <a:cs typeface="Calibri"/>
              </a:rPr>
              <a:t>θ'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838897" y="3507018"/>
            <a:ext cx="1210768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>
              <a:lnSpc>
                <a:spcPct val="100000"/>
              </a:lnSpc>
              <a:spcBef>
                <a:spcPts val="100"/>
              </a:spcBef>
            </a:pPr>
            <a:r>
              <a:rPr sz="900" i="1" spc="-10" dirty="0">
                <a:solidFill>
                  <a:srgbClr val="51C379"/>
                </a:solidFill>
                <a:latin typeface="Calibri"/>
                <a:cs typeface="Calibri"/>
              </a:rPr>
              <a:t>Salida</a:t>
            </a:r>
            <a:r>
              <a:rPr sz="900" i="1" spc="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51C379"/>
                </a:solidFill>
                <a:latin typeface="Calibri"/>
                <a:cs typeface="Calibri"/>
              </a:rPr>
              <a:t>nítida</a:t>
            </a:r>
            <a:r>
              <a:rPr sz="900" i="1" spc="500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51C379"/>
                </a:solidFill>
                <a:latin typeface="Calibri"/>
                <a:cs typeface="Calibri"/>
              </a:rPr>
              <a:t>F*</a:t>
            </a:r>
            <a:r>
              <a:rPr sz="900" i="1" spc="18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900" i="1" spc="-25" dirty="0">
                <a:solidFill>
                  <a:srgbClr val="51C379"/>
                </a:solidFill>
                <a:latin typeface="Calibri"/>
                <a:cs typeface="Calibri"/>
              </a:rPr>
              <a:t>[N]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5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—</a:t>
            </a:r>
            <a:r>
              <a:rPr spc="-45" dirty="0"/>
              <a:t> </a:t>
            </a:r>
            <a:r>
              <a:rPr spc="-10" dirty="0"/>
              <a:t>Fuzzificación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409" y="743167"/>
            <a:ext cx="8333105" cy="415290"/>
            <a:chOff x="359409" y="743167"/>
            <a:chExt cx="8333105" cy="41529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49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5178" y="86642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896" y="867869"/>
            <a:ext cx="48101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Convertir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valores</a:t>
            </a:r>
            <a:r>
              <a:rPr sz="110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nítidos</a:t>
            </a:r>
            <a:r>
              <a:rPr sz="1100" b="1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de</a:t>
            </a: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θ</a:t>
            </a:r>
            <a:r>
              <a:rPr sz="1100" b="1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y</a:t>
            </a: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θ'</a:t>
            </a:r>
            <a:r>
              <a:rPr sz="110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en</a:t>
            </a:r>
            <a:r>
              <a:rPr sz="110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grados</a:t>
            </a:r>
            <a:r>
              <a:rPr sz="110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de</a:t>
            </a:r>
            <a:r>
              <a:rPr sz="110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pertenencia</a:t>
            </a:r>
            <a:r>
              <a:rPr sz="110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a</a:t>
            </a:r>
            <a:r>
              <a:rPr sz="110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cada</a:t>
            </a: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99DFF"/>
                </a:solidFill>
                <a:latin typeface="Calibri"/>
                <a:cs typeface="Calibri"/>
              </a:rPr>
              <a:t>conjunto</a:t>
            </a:r>
            <a:r>
              <a:rPr sz="110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499DFF"/>
                </a:solidFill>
                <a:latin typeface="Calibri"/>
                <a:cs typeface="Calibri"/>
              </a:rPr>
              <a:t>difuso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763" y="1099060"/>
            <a:ext cx="8628380" cy="1266825"/>
            <a:chOff x="239763" y="1099060"/>
            <a:chExt cx="8628380" cy="12668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763" y="1099060"/>
              <a:ext cx="8627757" cy="12665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404" y="1188722"/>
              <a:ext cx="8412480" cy="1051560"/>
            </a:xfrm>
            <a:custGeom>
              <a:avLst/>
              <a:gdLst/>
              <a:ahLst/>
              <a:cxnLst/>
              <a:rect l="l" t="t" r="r" b="b"/>
              <a:pathLst>
                <a:path w="8412480" h="1051560">
                  <a:moveTo>
                    <a:pt x="841211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4206240" y="1051204"/>
                  </a:lnTo>
                  <a:lnTo>
                    <a:pt x="8412111" y="1051204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5404" y="1188722"/>
            <a:ext cx="8412480" cy="443711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226695" marR="352425">
              <a:lnSpc>
                <a:spcPct val="100000"/>
              </a:lnSpc>
              <a:spcBef>
                <a:spcPts val="1205"/>
              </a:spcBef>
            </a:pPr>
            <a:r>
              <a:rPr lang="es-AR" sz="1000" dirty="0">
                <a:solidFill>
                  <a:srgbClr val="C7CFE7"/>
                </a:solidFill>
                <a:latin typeface="Calibri"/>
                <a:cs typeface="Calibri"/>
              </a:rPr>
              <a:t>Por ejemplo, d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ado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un</a:t>
            </a:r>
            <a:r>
              <a:rPr sz="10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valor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puntual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θ,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calcula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cuánto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pertenece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a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cada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región.</a:t>
            </a:r>
            <a:r>
              <a:rPr sz="10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Un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valor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puede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activar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hasta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2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conjuntos </a:t>
            </a:r>
            <a:r>
              <a:rPr sz="1000" spc="-10" dirty="0" err="1">
                <a:solidFill>
                  <a:srgbClr val="C7CFE7"/>
                </a:solidFill>
                <a:latin typeface="Calibri"/>
                <a:cs typeface="Calibri"/>
              </a:rPr>
              <a:t>adyacentes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 err="1">
                <a:solidFill>
                  <a:srgbClr val="C7CFE7"/>
                </a:solidFill>
                <a:latin typeface="Calibri"/>
                <a:cs typeface="Calibri"/>
              </a:rPr>
              <a:t>simultáneamente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.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9763" y="2241704"/>
            <a:ext cx="4239260" cy="2409825"/>
            <a:chOff x="239763" y="2241704"/>
            <a:chExt cx="4239260" cy="240982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763" y="2241704"/>
              <a:ext cx="4238637" cy="24094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5404" y="2331366"/>
              <a:ext cx="4023360" cy="2194560"/>
            </a:xfrm>
            <a:custGeom>
              <a:avLst/>
              <a:gdLst/>
              <a:ahLst/>
              <a:cxnLst/>
              <a:rect l="l" t="t" r="r" b="b"/>
              <a:pathLst>
                <a:path w="4023360" h="2194560">
                  <a:moveTo>
                    <a:pt x="4022991" y="0"/>
                  </a:moveTo>
                  <a:lnTo>
                    <a:pt x="0" y="0"/>
                  </a:lnTo>
                  <a:lnTo>
                    <a:pt x="0" y="2194191"/>
                  </a:lnTo>
                  <a:lnTo>
                    <a:pt x="2011680" y="2194191"/>
                  </a:lnTo>
                  <a:lnTo>
                    <a:pt x="4022991" y="2194191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5404" y="2331366"/>
            <a:ext cx="4023360" cy="2009524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850"/>
              </a:spcBef>
            </a:pP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Ejemplo:</a:t>
            </a:r>
            <a:r>
              <a:rPr sz="11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θ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=</a:t>
            </a:r>
            <a:r>
              <a:rPr sz="110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−20°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00" dirty="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5"/>
              </a:spcBef>
            </a:pPr>
            <a:r>
              <a:rPr sz="900" spc="100" dirty="0">
                <a:solidFill>
                  <a:srgbClr val="FFFFFF"/>
                </a:solidFill>
                <a:latin typeface="Cambria"/>
                <a:cs typeface="Cambria"/>
              </a:rPr>
              <a:t>Conjunto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80" dirty="0">
                <a:solidFill>
                  <a:srgbClr val="FFFFFF"/>
                </a:solidFill>
                <a:latin typeface="Cambria"/>
                <a:cs typeface="Cambria"/>
              </a:rPr>
              <a:t>NP: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30" dirty="0">
                <a:solidFill>
                  <a:srgbClr val="FFFFFF"/>
                </a:solidFill>
                <a:latin typeface="Cambria"/>
                <a:cs typeface="Cambria"/>
              </a:rPr>
              <a:t>pico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7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30" dirty="0">
                <a:solidFill>
                  <a:srgbClr val="FFFFFF"/>
                </a:solidFill>
                <a:latin typeface="Cambria"/>
                <a:cs typeface="Cambria"/>
              </a:rPr>
              <a:t>−50°,</a:t>
            </a:r>
            <a:r>
              <a:rPr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14" dirty="0">
                <a:solidFill>
                  <a:srgbClr val="FFFFFF"/>
                </a:solidFill>
                <a:latin typeface="Cambria"/>
                <a:cs typeface="Cambria"/>
              </a:rPr>
              <a:t>soporte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45" dirty="0">
                <a:solidFill>
                  <a:srgbClr val="FFFFFF"/>
                </a:solidFill>
                <a:latin typeface="Cambria"/>
                <a:cs typeface="Cambria"/>
              </a:rPr>
              <a:t>(−80°,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Cambria"/>
                <a:cs typeface="Cambria"/>
              </a:rPr>
              <a:t>−20°)</a:t>
            </a:r>
            <a:endParaRPr sz="900" dirty="0">
              <a:latin typeface="Cambria"/>
              <a:cs typeface="Cambria"/>
            </a:endParaRPr>
          </a:p>
          <a:p>
            <a:pPr marL="363855">
              <a:lnSpc>
                <a:spcPct val="100000"/>
              </a:lnSpc>
            </a:pPr>
            <a:r>
              <a:rPr sz="900" spc="80" dirty="0">
                <a:solidFill>
                  <a:srgbClr val="FFFFFF"/>
                </a:solidFill>
                <a:latin typeface="Cambria"/>
                <a:cs typeface="Cambria"/>
              </a:rPr>
              <a:t>μ_NP(−20)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80" dirty="0">
                <a:solidFill>
                  <a:srgbClr val="FFFFFF"/>
                </a:solidFill>
                <a:latin typeface="Cambria"/>
                <a:cs typeface="Cambria"/>
              </a:rPr>
              <a:t>(−20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20" dirty="0">
                <a:solidFill>
                  <a:srgbClr val="FFFFFF"/>
                </a:solidFill>
                <a:latin typeface="Cambria"/>
                <a:cs typeface="Cambria"/>
              </a:rPr>
              <a:t>(−</a:t>
            </a:r>
            <a:r>
              <a:rPr lang="es-AR" sz="900" spc="120" dirty="0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r>
              <a:rPr sz="900" spc="120" dirty="0">
                <a:solidFill>
                  <a:srgbClr val="FFFFFF"/>
                </a:solidFill>
                <a:latin typeface="Cambria"/>
                <a:cs typeface="Cambria"/>
              </a:rPr>
              <a:t>))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05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75" dirty="0">
                <a:solidFill>
                  <a:srgbClr val="FFFFFF"/>
                </a:solidFill>
                <a:latin typeface="Cambria"/>
                <a:cs typeface="Cambria"/>
              </a:rPr>
              <a:t>(−20</a:t>
            </a:r>
            <a:r>
              <a:rPr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10" dirty="0">
                <a:solidFill>
                  <a:srgbClr val="FFFFFF"/>
                </a:solidFill>
                <a:latin typeface="Cambria"/>
                <a:cs typeface="Cambria"/>
              </a:rPr>
              <a:t>(−50))</a:t>
            </a:r>
            <a:endParaRPr sz="900" dirty="0">
              <a:latin typeface="Cambria"/>
              <a:cs typeface="Cambria"/>
            </a:endParaRPr>
          </a:p>
          <a:p>
            <a:pPr marL="982980">
              <a:lnSpc>
                <a:spcPct val="100000"/>
              </a:lnSpc>
              <a:spcBef>
                <a:spcPts val="5"/>
              </a:spcBef>
              <a:tabLst>
                <a:tab pos="1739900" algn="l"/>
              </a:tabLst>
            </a:pP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sz="90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05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90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900" spc="-30" dirty="0">
                <a:solidFill>
                  <a:srgbClr val="FFFFFF"/>
                </a:solidFill>
                <a:latin typeface="Cambria"/>
                <a:cs typeface="Cambria"/>
              </a:rPr>
              <a:t>←</a:t>
            </a:r>
            <a:r>
              <a:rPr sz="900" spc="2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Cambria"/>
                <a:cs typeface="Cambria"/>
              </a:rPr>
              <a:t>normalizado</a:t>
            </a:r>
            <a:r>
              <a:rPr sz="900" spc="2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95" dirty="0">
                <a:solidFill>
                  <a:srgbClr val="FFFFFF"/>
                </a:solidFill>
                <a:latin typeface="Cambria"/>
                <a:cs typeface="Cambria"/>
              </a:rPr>
              <a:t>al</a:t>
            </a:r>
            <a:r>
              <a:rPr sz="900" spc="3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35" dirty="0">
                <a:solidFill>
                  <a:srgbClr val="FFFFFF"/>
                </a:solidFill>
                <a:latin typeface="Cambria"/>
                <a:cs typeface="Cambria"/>
              </a:rPr>
              <a:t>triángulo</a:t>
            </a:r>
            <a:endParaRPr sz="900" dirty="0">
              <a:latin typeface="Cambria"/>
              <a:cs typeface="Cambria"/>
            </a:endParaRPr>
          </a:p>
          <a:p>
            <a:pPr marL="983615">
              <a:lnSpc>
                <a:spcPct val="100000"/>
              </a:lnSpc>
              <a:tabLst>
                <a:tab pos="1532255" algn="l"/>
              </a:tabLst>
            </a:pP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≈</a:t>
            </a:r>
            <a:r>
              <a:rPr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14" dirty="0">
                <a:solidFill>
                  <a:srgbClr val="FFFFFF"/>
                </a:solidFill>
                <a:latin typeface="Cambria"/>
                <a:cs typeface="Cambria"/>
              </a:rPr>
              <a:t>0.0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900" spc="165" dirty="0">
                <a:solidFill>
                  <a:srgbClr val="FFFFFF"/>
                </a:solidFill>
                <a:latin typeface="Cambria"/>
                <a:cs typeface="Cambria"/>
              </a:rPr>
              <a:t>(justo</a:t>
            </a:r>
            <a:r>
              <a:rPr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75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95" dirty="0">
                <a:solidFill>
                  <a:srgbClr val="FFFFFF"/>
                </a:solidFill>
                <a:latin typeface="Cambria"/>
                <a:cs typeface="Cambria"/>
              </a:rPr>
              <a:t>el</a:t>
            </a:r>
            <a:r>
              <a:rPr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85" dirty="0">
                <a:solidFill>
                  <a:srgbClr val="FFFFFF"/>
                </a:solidFill>
                <a:latin typeface="Cambria"/>
                <a:cs typeface="Cambria"/>
              </a:rPr>
              <a:t>borde</a:t>
            </a:r>
            <a:r>
              <a:rPr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Cambria"/>
                <a:cs typeface="Cambria"/>
              </a:rPr>
              <a:t>derecho)</a:t>
            </a:r>
            <a:endParaRPr sz="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 dirty="0">
              <a:latin typeface="Cambria"/>
              <a:cs typeface="Cambria"/>
            </a:endParaRPr>
          </a:p>
          <a:p>
            <a:pPr marL="226695">
              <a:lnSpc>
                <a:spcPct val="100000"/>
              </a:lnSpc>
            </a:pPr>
            <a:r>
              <a:rPr sz="900" spc="100" dirty="0">
                <a:solidFill>
                  <a:srgbClr val="FFFFFF"/>
                </a:solidFill>
                <a:latin typeface="Cambria"/>
                <a:cs typeface="Cambria"/>
              </a:rPr>
              <a:t>Conjunto</a:t>
            </a:r>
            <a:r>
              <a:rPr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75" dirty="0">
                <a:solidFill>
                  <a:srgbClr val="FFFFFF"/>
                </a:solidFill>
                <a:latin typeface="Cambria"/>
                <a:cs typeface="Cambria"/>
              </a:rPr>
              <a:t>Z: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35" dirty="0">
                <a:solidFill>
                  <a:srgbClr val="FFFFFF"/>
                </a:solidFill>
                <a:latin typeface="Cambria"/>
                <a:cs typeface="Cambria"/>
              </a:rPr>
              <a:t>pico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7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95" dirty="0">
                <a:solidFill>
                  <a:srgbClr val="FFFFFF"/>
                </a:solidFill>
                <a:latin typeface="Cambria"/>
                <a:cs typeface="Cambria"/>
              </a:rPr>
              <a:t>0°,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14" dirty="0">
                <a:solidFill>
                  <a:srgbClr val="FFFFFF"/>
                </a:solidFill>
                <a:latin typeface="Cambria"/>
                <a:cs typeface="Cambria"/>
              </a:rPr>
              <a:t>soporte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45" dirty="0">
                <a:solidFill>
                  <a:srgbClr val="FFFFFF"/>
                </a:solidFill>
                <a:latin typeface="Cambria"/>
                <a:cs typeface="Cambria"/>
              </a:rPr>
              <a:t>(−30°,</a:t>
            </a:r>
            <a:r>
              <a:rPr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Cambria"/>
                <a:cs typeface="Cambria"/>
              </a:rPr>
              <a:t>+30°)</a:t>
            </a:r>
            <a:endParaRPr sz="900" dirty="0">
              <a:latin typeface="Cambria"/>
              <a:cs typeface="Cambria"/>
            </a:endParaRPr>
          </a:p>
          <a:p>
            <a:pPr marL="363855">
              <a:lnSpc>
                <a:spcPct val="100000"/>
              </a:lnSpc>
              <a:spcBef>
                <a:spcPts val="5"/>
              </a:spcBef>
            </a:pPr>
            <a:r>
              <a:rPr sz="900" spc="100" dirty="0">
                <a:solidFill>
                  <a:srgbClr val="FFFFFF"/>
                </a:solidFill>
                <a:latin typeface="Cambria"/>
                <a:cs typeface="Cambria"/>
              </a:rPr>
              <a:t>μ_Z(−20)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80" dirty="0">
                <a:solidFill>
                  <a:srgbClr val="FFFFFF"/>
                </a:solidFill>
                <a:latin typeface="Cambria"/>
                <a:cs typeface="Cambria"/>
              </a:rPr>
              <a:t>(−20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20" dirty="0">
                <a:solidFill>
                  <a:srgbClr val="FFFFFF"/>
                </a:solidFill>
                <a:latin typeface="Cambria"/>
                <a:cs typeface="Cambria"/>
              </a:rPr>
              <a:t>(−30))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05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20" dirty="0">
                <a:solidFill>
                  <a:srgbClr val="FFFFFF"/>
                </a:solidFill>
                <a:latin typeface="Cambria"/>
                <a:cs typeface="Cambria"/>
              </a:rPr>
              <a:t>(0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10" dirty="0">
                <a:solidFill>
                  <a:srgbClr val="FFFFFF"/>
                </a:solidFill>
                <a:latin typeface="Cambria"/>
                <a:cs typeface="Cambria"/>
              </a:rPr>
              <a:t>(−30))</a:t>
            </a:r>
            <a:endParaRPr sz="900" dirty="0">
              <a:latin typeface="Cambria"/>
              <a:cs typeface="Cambria"/>
            </a:endParaRPr>
          </a:p>
          <a:p>
            <a:pPr marL="982980">
              <a:lnSpc>
                <a:spcPct val="100000"/>
              </a:lnSpc>
              <a:spcBef>
                <a:spcPts val="5"/>
              </a:spcBef>
              <a:tabLst>
                <a:tab pos="1739900" algn="l"/>
                <a:tab pos="1946910" algn="l"/>
              </a:tabLst>
            </a:pP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90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05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90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900" spc="95" dirty="0">
                <a:solidFill>
                  <a:srgbClr val="FFFFFF"/>
                </a:solidFill>
                <a:latin typeface="Cambria"/>
                <a:cs typeface="Cambria"/>
              </a:rPr>
              <a:t>0.33</a:t>
            </a:r>
            <a:endParaRPr sz="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 dirty="0">
              <a:latin typeface="Cambria"/>
              <a:cs typeface="Cambria"/>
            </a:endParaRPr>
          </a:p>
          <a:p>
            <a:pPr marL="433070" marR="688340" indent="-206375">
              <a:lnSpc>
                <a:spcPct val="100000"/>
              </a:lnSpc>
              <a:tabLst>
                <a:tab pos="432434" algn="l"/>
              </a:tabLst>
            </a:pPr>
            <a:r>
              <a:rPr sz="900" spc="-50" dirty="0">
                <a:solidFill>
                  <a:srgbClr val="FFFFFF"/>
                </a:solidFill>
                <a:latin typeface="Cambria"/>
                <a:cs typeface="Cambria"/>
              </a:rPr>
              <a:t>⇒</a:t>
            </a:r>
            <a:r>
              <a:rPr sz="9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900" spc="114" dirty="0">
                <a:solidFill>
                  <a:srgbClr val="FFFFFF"/>
                </a:solidFill>
                <a:latin typeface="Cambria"/>
                <a:cs typeface="Cambria"/>
              </a:rPr>
              <a:t>Vector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45" dirty="0">
                <a:solidFill>
                  <a:srgbClr val="FFFFFF"/>
                </a:solidFill>
                <a:latin typeface="Cambria"/>
                <a:cs typeface="Cambria"/>
              </a:rPr>
              <a:t>resultado: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204" dirty="0">
                <a:solidFill>
                  <a:srgbClr val="FFFFFF"/>
                </a:solidFill>
                <a:latin typeface="Cambria"/>
                <a:cs typeface="Cambria"/>
              </a:rPr>
              <a:t>[0,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90" dirty="0">
                <a:solidFill>
                  <a:srgbClr val="FFFFFF"/>
                </a:solidFill>
                <a:latin typeface="Cambria"/>
                <a:cs typeface="Cambria"/>
              </a:rPr>
              <a:t>0,</a:t>
            </a:r>
            <a:r>
              <a:rPr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95" dirty="0">
                <a:solidFill>
                  <a:srgbClr val="FFFFFF"/>
                </a:solidFill>
                <a:latin typeface="Cambria"/>
                <a:cs typeface="Cambria"/>
              </a:rPr>
              <a:t>0,</a:t>
            </a:r>
            <a:r>
              <a:rPr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60" dirty="0">
                <a:solidFill>
                  <a:srgbClr val="FFFFFF"/>
                </a:solidFill>
                <a:latin typeface="Cambria"/>
                <a:cs typeface="Cambria"/>
              </a:rPr>
              <a:t>0.33,</a:t>
            </a:r>
            <a:r>
              <a:rPr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95" dirty="0">
                <a:solidFill>
                  <a:srgbClr val="FFFFFF"/>
                </a:solidFill>
                <a:latin typeface="Cambria"/>
                <a:cs typeface="Cambria"/>
              </a:rPr>
              <a:t>0,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90" dirty="0">
                <a:solidFill>
                  <a:srgbClr val="FFFFFF"/>
                </a:solidFill>
                <a:latin typeface="Cambria"/>
                <a:cs typeface="Cambria"/>
              </a:rPr>
              <a:t>0,</a:t>
            </a:r>
            <a:r>
              <a:rPr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05" dirty="0">
                <a:solidFill>
                  <a:srgbClr val="FFFFFF"/>
                </a:solidFill>
                <a:latin typeface="Cambria"/>
                <a:cs typeface="Cambria"/>
              </a:rPr>
              <a:t>0] </a:t>
            </a:r>
            <a:r>
              <a:rPr sz="900" spc="150" dirty="0">
                <a:solidFill>
                  <a:srgbClr val="FFFFFF"/>
                </a:solidFill>
                <a:latin typeface="Cambria"/>
                <a:cs typeface="Cambria"/>
              </a:rPr>
              <a:t>(solo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50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50" dirty="0">
                <a:solidFill>
                  <a:srgbClr val="FFFFFF"/>
                </a:solidFill>
                <a:latin typeface="Cambria"/>
                <a:cs typeface="Cambria"/>
              </a:rPr>
              <a:t>tiene</a:t>
            </a:r>
            <a:r>
              <a:rPr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20" dirty="0">
                <a:solidFill>
                  <a:srgbClr val="FFFFFF"/>
                </a:solidFill>
                <a:latin typeface="Cambria"/>
                <a:cs typeface="Cambria"/>
              </a:rPr>
              <a:t>pertenencia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55" dirty="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114" dirty="0">
                <a:solidFill>
                  <a:srgbClr val="FFFFFF"/>
                </a:solidFill>
                <a:latin typeface="Cambria"/>
                <a:cs typeface="Cambria"/>
              </a:rPr>
              <a:t>nula</a:t>
            </a:r>
            <a:r>
              <a:rPr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7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Cambria"/>
                <a:cs typeface="Cambria"/>
              </a:rPr>
              <a:t>−20°)</a:t>
            </a:r>
            <a:endParaRPr sz="900" dirty="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46003" y="2241704"/>
            <a:ext cx="4422140" cy="2409825"/>
            <a:chOff x="4446003" y="2241704"/>
            <a:chExt cx="4422140" cy="240982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46003" y="2241704"/>
              <a:ext cx="4421517" cy="240949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71644" y="2331366"/>
              <a:ext cx="4206240" cy="2194560"/>
            </a:xfrm>
            <a:custGeom>
              <a:avLst/>
              <a:gdLst/>
              <a:ahLst/>
              <a:cxnLst/>
              <a:rect l="l" t="t" r="r" b="b"/>
              <a:pathLst>
                <a:path w="4206240" h="2194560">
                  <a:moveTo>
                    <a:pt x="4205871" y="0"/>
                  </a:moveTo>
                  <a:lnTo>
                    <a:pt x="0" y="0"/>
                  </a:lnTo>
                  <a:lnTo>
                    <a:pt x="0" y="2194191"/>
                  </a:lnTo>
                  <a:lnTo>
                    <a:pt x="2103120" y="2194191"/>
                  </a:lnTo>
                  <a:lnTo>
                    <a:pt x="4205871" y="2194191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71644" y="2331366"/>
            <a:ext cx="4206240" cy="1871025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850"/>
              </a:spcBef>
            </a:pP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Ejemplo:</a:t>
            </a:r>
            <a:r>
              <a:rPr sz="1100" b="1" spc="-2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θ'</a:t>
            </a:r>
            <a:r>
              <a:rPr sz="1100" b="1" spc="-2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=</a:t>
            </a:r>
            <a:r>
              <a:rPr sz="1100" b="1" spc="-2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lang="es-AR" sz="1100" b="1" spc="-20" dirty="0">
                <a:solidFill>
                  <a:srgbClr val="7CD2FB"/>
                </a:solidFill>
                <a:latin typeface="Calibri"/>
                <a:cs typeface="Calibri"/>
              </a:rPr>
              <a:t>8</a:t>
            </a:r>
            <a:r>
              <a:rPr sz="1100" b="1" spc="-20" dirty="0">
                <a:solidFill>
                  <a:srgbClr val="7CD2FB"/>
                </a:solidFill>
                <a:latin typeface="Calibri"/>
                <a:cs typeface="Calibri"/>
              </a:rPr>
              <a:t>°/s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s-AR" sz="1100" dirty="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5"/>
              </a:spcBef>
            </a:pPr>
            <a:r>
              <a:rPr lang="es-AR" sz="900" spc="100" dirty="0">
                <a:solidFill>
                  <a:srgbClr val="FFFFFF"/>
                </a:solidFill>
                <a:latin typeface="Cambria"/>
                <a:cs typeface="Cambria"/>
              </a:rPr>
              <a:t>Conjunto</a:t>
            </a:r>
            <a:r>
              <a:rPr lang="es-AR"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75" dirty="0">
                <a:solidFill>
                  <a:srgbClr val="FFFFFF"/>
                </a:solidFill>
                <a:latin typeface="Cambria"/>
                <a:cs typeface="Cambria"/>
              </a:rPr>
              <a:t>Z: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35" dirty="0">
                <a:solidFill>
                  <a:srgbClr val="FFFFFF"/>
                </a:solidFill>
                <a:latin typeface="Cambria"/>
                <a:cs typeface="Cambria"/>
              </a:rPr>
              <a:t>pico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7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95" dirty="0">
                <a:solidFill>
                  <a:srgbClr val="FFFFFF"/>
                </a:solidFill>
                <a:latin typeface="Cambria"/>
                <a:cs typeface="Cambria"/>
              </a:rPr>
              <a:t>0°,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soporte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45" dirty="0">
                <a:solidFill>
                  <a:srgbClr val="FFFFFF"/>
                </a:solidFill>
                <a:latin typeface="Cambria"/>
                <a:cs typeface="Cambria"/>
              </a:rPr>
              <a:t>(−15°,</a:t>
            </a:r>
            <a:r>
              <a:rPr lang="es-AR" sz="900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5" dirty="0">
                <a:solidFill>
                  <a:srgbClr val="FFFFFF"/>
                </a:solidFill>
                <a:latin typeface="Cambria"/>
                <a:cs typeface="Cambria"/>
              </a:rPr>
              <a:t>+15°)</a:t>
            </a:r>
            <a:endParaRPr lang="es-AR" sz="900" dirty="0">
              <a:latin typeface="Cambria"/>
              <a:cs typeface="Cambria"/>
            </a:endParaRPr>
          </a:p>
          <a:p>
            <a:pPr marL="363855">
              <a:lnSpc>
                <a:spcPct val="100000"/>
              </a:lnSpc>
            </a:pPr>
            <a:r>
              <a:rPr lang="el-GR" sz="900" spc="110" dirty="0">
                <a:solidFill>
                  <a:srgbClr val="FFFFFF"/>
                </a:solidFill>
                <a:latin typeface="Cambria"/>
                <a:cs typeface="Cambria"/>
              </a:rPr>
              <a:t>μ_</a:t>
            </a:r>
            <a:r>
              <a:rPr lang="es-AR" sz="900" spc="110" dirty="0">
                <a:solidFill>
                  <a:srgbClr val="FFFFFF"/>
                </a:solidFill>
                <a:latin typeface="Cambria"/>
                <a:cs typeface="Cambria"/>
              </a:rPr>
              <a:t>Z(10)</a:t>
            </a:r>
            <a:r>
              <a:rPr lang="es-AR"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0" dirty="0">
                <a:solidFill>
                  <a:srgbClr val="FFFFFF"/>
                </a:solidFill>
                <a:latin typeface="Cambria"/>
                <a:cs typeface="Cambria"/>
              </a:rPr>
              <a:t>(15</a:t>
            </a:r>
            <a:r>
              <a:rPr lang="es-AR"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0" dirty="0">
                <a:solidFill>
                  <a:srgbClr val="FFFFFF"/>
                </a:solidFill>
                <a:latin typeface="Cambria"/>
                <a:cs typeface="Cambria"/>
              </a:rPr>
              <a:t>8)</a:t>
            </a:r>
            <a:r>
              <a:rPr lang="es-AR"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05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0" dirty="0">
                <a:solidFill>
                  <a:srgbClr val="FFFFFF"/>
                </a:solidFill>
                <a:latin typeface="Cambria"/>
                <a:cs typeface="Cambria"/>
              </a:rPr>
              <a:t>(15</a:t>
            </a:r>
            <a:r>
              <a:rPr lang="es-AR"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lang="es-AR"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0)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lang="es-AR"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50" dirty="0">
                <a:solidFill>
                  <a:srgbClr val="FFFFFF"/>
                </a:solidFill>
                <a:latin typeface="Cambria"/>
                <a:cs typeface="Cambria"/>
              </a:rPr>
              <a:t>7/15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lang="es-AR" sz="90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chemeClr val="bg1"/>
                </a:solidFill>
              </a:rPr>
              <a:t>0.467</a:t>
            </a:r>
            <a:endParaRPr lang="es-AR" sz="900" dirty="0">
              <a:solidFill>
                <a:schemeClr val="bg1"/>
              </a:solidFill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s-AR" sz="900" dirty="0">
              <a:latin typeface="Cambria"/>
              <a:cs typeface="Cambria"/>
            </a:endParaRPr>
          </a:p>
          <a:p>
            <a:pPr marR="802640" algn="r">
              <a:lnSpc>
                <a:spcPct val="100000"/>
              </a:lnSpc>
            </a:pPr>
            <a:r>
              <a:rPr lang="es-AR" sz="900" spc="100" dirty="0">
                <a:solidFill>
                  <a:srgbClr val="FFFFFF"/>
                </a:solidFill>
                <a:latin typeface="Cambria"/>
                <a:cs typeface="Cambria"/>
              </a:rPr>
              <a:t>Conjunto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PP: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30" dirty="0">
                <a:solidFill>
                  <a:srgbClr val="FFFFFF"/>
                </a:solidFill>
                <a:latin typeface="Cambria"/>
                <a:cs typeface="Cambria"/>
              </a:rPr>
              <a:t>pico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7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30" dirty="0">
                <a:solidFill>
                  <a:srgbClr val="FFFFFF"/>
                </a:solidFill>
                <a:latin typeface="Cambria"/>
                <a:cs typeface="Cambria"/>
              </a:rPr>
              <a:t>+20°,</a:t>
            </a:r>
            <a:r>
              <a:rPr lang="es-AR"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soporte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65" dirty="0">
                <a:solidFill>
                  <a:srgbClr val="FFFFFF"/>
                </a:solidFill>
                <a:latin typeface="Cambria"/>
                <a:cs typeface="Cambria"/>
              </a:rPr>
              <a:t>(+5°,</a:t>
            </a:r>
            <a:r>
              <a:rPr lang="es-AR"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80" dirty="0">
                <a:solidFill>
                  <a:srgbClr val="FFFFFF"/>
                </a:solidFill>
                <a:latin typeface="Cambria"/>
                <a:cs typeface="Cambria"/>
              </a:rPr>
              <a:t>+35°)</a:t>
            </a:r>
            <a:endParaRPr lang="es-AR" sz="900" dirty="0">
              <a:latin typeface="Cambria"/>
              <a:cs typeface="Cambria"/>
            </a:endParaRPr>
          </a:p>
          <a:p>
            <a:pPr marR="802640" algn="r">
              <a:lnSpc>
                <a:spcPct val="100000"/>
              </a:lnSpc>
              <a:spcBef>
                <a:spcPts val="5"/>
              </a:spcBef>
            </a:pPr>
            <a:r>
              <a:rPr lang="el-GR" sz="900" spc="95" dirty="0">
                <a:solidFill>
                  <a:srgbClr val="FFFFFF"/>
                </a:solidFill>
                <a:latin typeface="Cambria"/>
                <a:cs typeface="Cambria"/>
              </a:rPr>
              <a:t>μ_</a:t>
            </a:r>
            <a:r>
              <a:rPr lang="es-AR" sz="900" spc="95" dirty="0">
                <a:solidFill>
                  <a:srgbClr val="FFFFFF"/>
                </a:solidFill>
                <a:latin typeface="Cambria"/>
                <a:cs typeface="Cambria"/>
              </a:rPr>
              <a:t>PP(10)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0" dirty="0">
                <a:solidFill>
                  <a:srgbClr val="FFFFFF"/>
                </a:solidFill>
                <a:latin typeface="Cambria"/>
                <a:cs typeface="Cambria"/>
              </a:rPr>
              <a:t>(8</a:t>
            </a:r>
            <a:r>
              <a:rPr lang="es-AR" sz="90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5)</a:t>
            </a:r>
            <a:r>
              <a:rPr lang="es-AR"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05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lang="es-AR"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0" dirty="0">
                <a:solidFill>
                  <a:srgbClr val="FFFFFF"/>
                </a:solidFill>
                <a:latin typeface="Cambria"/>
                <a:cs typeface="Cambria"/>
              </a:rPr>
              <a:t>(20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−</a:t>
            </a:r>
            <a:r>
              <a:rPr lang="es-AR" sz="90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5)</a:t>
            </a:r>
            <a:r>
              <a:rPr lang="es-A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lang="es-AR"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50" dirty="0">
                <a:solidFill>
                  <a:srgbClr val="FFFFFF"/>
                </a:solidFill>
                <a:latin typeface="Cambria"/>
                <a:cs typeface="Cambria"/>
              </a:rPr>
              <a:t>3/15</a:t>
            </a:r>
            <a:r>
              <a:rPr lang="es-AR"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lang="es-AR" sz="90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5" dirty="0">
                <a:solidFill>
                  <a:srgbClr val="FFFFFF"/>
                </a:solidFill>
                <a:latin typeface="Cambria"/>
                <a:cs typeface="Cambria"/>
              </a:rPr>
              <a:t>0.200</a:t>
            </a:r>
            <a:endParaRPr lang="es-AR" sz="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s-AR" sz="900" dirty="0">
              <a:latin typeface="Cambria"/>
              <a:cs typeface="Cambria"/>
            </a:endParaRPr>
          </a:p>
          <a:p>
            <a:pPr marL="226695">
              <a:lnSpc>
                <a:spcPct val="100000"/>
              </a:lnSpc>
            </a:pPr>
            <a:r>
              <a:rPr lang="es-AR" sz="900" spc="105" dirty="0">
                <a:solidFill>
                  <a:srgbClr val="FFFFFF"/>
                </a:solidFill>
                <a:latin typeface="Cambria"/>
                <a:cs typeface="Cambria"/>
              </a:rPr>
              <a:t>Conjuntos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85" dirty="0">
                <a:solidFill>
                  <a:srgbClr val="FFFFFF"/>
                </a:solidFill>
                <a:latin typeface="Cambria"/>
                <a:cs typeface="Cambria"/>
              </a:rPr>
              <a:t>NG,</a:t>
            </a:r>
            <a:r>
              <a:rPr lang="es-AR" sz="900" spc="3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00" dirty="0">
                <a:solidFill>
                  <a:srgbClr val="FFFFFF"/>
                </a:solidFill>
                <a:latin typeface="Cambria"/>
                <a:cs typeface="Cambria"/>
              </a:rPr>
              <a:t>NP,</a:t>
            </a:r>
            <a:r>
              <a:rPr lang="es-AR"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25" dirty="0">
                <a:solidFill>
                  <a:srgbClr val="FFFFFF"/>
                </a:solidFill>
                <a:latin typeface="Cambria"/>
                <a:cs typeface="Cambria"/>
              </a:rPr>
              <a:t>PG,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85" dirty="0">
                <a:solidFill>
                  <a:srgbClr val="FFFFFF"/>
                </a:solidFill>
                <a:latin typeface="Cambria"/>
                <a:cs typeface="Cambria"/>
              </a:rPr>
              <a:t>PGG,</a:t>
            </a:r>
            <a:r>
              <a:rPr lang="es-AR"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50" dirty="0">
                <a:solidFill>
                  <a:srgbClr val="FFFFFF"/>
                </a:solidFill>
                <a:latin typeface="Cambria"/>
                <a:cs typeface="Cambria"/>
              </a:rPr>
              <a:t>NGG:</a:t>
            </a:r>
            <a:r>
              <a:rPr lang="es-AR" sz="900" spc="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l-GR" sz="900" spc="50" dirty="0">
                <a:solidFill>
                  <a:srgbClr val="FFFFFF"/>
                </a:solidFill>
                <a:latin typeface="Cambria"/>
                <a:cs typeface="Cambria"/>
              </a:rPr>
              <a:t>μ</a:t>
            </a:r>
            <a:r>
              <a:rPr lang="el-GR" sz="900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l-GR" sz="90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lang="el-GR" sz="900" spc="3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l-GR" sz="900" spc="114" dirty="0">
                <a:solidFill>
                  <a:srgbClr val="FFFFFF"/>
                </a:solidFill>
                <a:latin typeface="Cambria"/>
                <a:cs typeface="Cambria"/>
              </a:rPr>
              <a:t>0.0</a:t>
            </a:r>
            <a:endParaRPr lang="el-GR" sz="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l-GR" sz="900" dirty="0">
              <a:latin typeface="Cambria"/>
              <a:cs typeface="Cambria"/>
            </a:endParaRPr>
          </a:p>
          <a:p>
            <a:pPr marL="226695">
              <a:lnSpc>
                <a:spcPct val="100000"/>
              </a:lnSpc>
              <a:tabLst>
                <a:tab pos="432434" algn="l"/>
              </a:tabLst>
            </a:pPr>
            <a:r>
              <a:rPr lang="el-GR" sz="900" spc="-50" dirty="0">
                <a:solidFill>
                  <a:srgbClr val="FFFFFF"/>
                </a:solidFill>
                <a:latin typeface="Cambria"/>
                <a:cs typeface="Cambria"/>
              </a:rPr>
              <a:t>⇒</a:t>
            </a:r>
            <a:r>
              <a:rPr lang="el-GR" sz="9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Vector</a:t>
            </a:r>
            <a:r>
              <a:rPr lang="es-AR" sz="90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35" dirty="0">
                <a:solidFill>
                  <a:srgbClr val="FFFFFF"/>
                </a:solidFill>
                <a:latin typeface="Cambria"/>
                <a:cs typeface="Cambria"/>
              </a:rPr>
              <a:t>resultado:</a:t>
            </a:r>
            <a:r>
              <a:rPr lang="es-AR" sz="900" spc="135" dirty="0"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chemeClr val="bg1"/>
                </a:solidFill>
              </a:rPr>
              <a:t>[0, 	0,  0,  0.47,  0.20,  0,  0]</a:t>
            </a:r>
          </a:p>
          <a:p>
            <a:pPr marL="433070">
              <a:lnSpc>
                <a:spcPct val="100000"/>
              </a:lnSpc>
              <a:spcBef>
                <a:spcPts val="5"/>
              </a:spcBef>
            </a:pPr>
            <a:r>
              <a:rPr lang="es-AR" sz="900" spc="125" dirty="0">
                <a:solidFill>
                  <a:srgbClr val="FFFFFF"/>
                </a:solidFill>
                <a:latin typeface="Cambria"/>
                <a:cs typeface="Cambria"/>
              </a:rPr>
              <a:t>(Z</a:t>
            </a:r>
            <a:r>
              <a:rPr lang="es-AR" sz="900" spc="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90" dirty="0">
                <a:solidFill>
                  <a:srgbClr val="FFFFFF"/>
                </a:solidFill>
                <a:latin typeface="Cambria"/>
                <a:cs typeface="Cambria"/>
              </a:rPr>
              <a:t>y</a:t>
            </a:r>
            <a:r>
              <a:rPr lang="es-AR" sz="900" spc="3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PP</a:t>
            </a:r>
            <a:r>
              <a:rPr lang="es-AR" sz="90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dirty="0">
                <a:solidFill>
                  <a:srgbClr val="FFFFFF"/>
                </a:solidFill>
                <a:latin typeface="Cambria"/>
                <a:cs typeface="Cambria"/>
              </a:rPr>
              <a:t>ambos</a:t>
            </a:r>
            <a:r>
              <a:rPr lang="es-AR" sz="900" spc="3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14" dirty="0">
                <a:solidFill>
                  <a:srgbClr val="FFFFFF"/>
                </a:solidFill>
                <a:latin typeface="Cambria"/>
                <a:cs typeface="Cambria"/>
              </a:rPr>
              <a:t>parcialmente</a:t>
            </a:r>
            <a:r>
              <a:rPr lang="es-AR" sz="90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s-AR" sz="900" spc="150" dirty="0">
                <a:solidFill>
                  <a:srgbClr val="FFFFFF"/>
                </a:solidFill>
                <a:latin typeface="Cambria"/>
                <a:cs typeface="Cambria"/>
              </a:rPr>
              <a:t>activos)</a:t>
            </a:r>
            <a:endParaRPr lang="es-AR" sz="900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2696" y="4649660"/>
            <a:ext cx="802576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878FA7"/>
                </a:solidFill>
                <a:latin typeface="MingLiU_HKSCS-ExtB"/>
                <a:cs typeface="MingLiU_HKSCS-ExtB"/>
              </a:rPr>
              <a:t>💡</a:t>
            </a:r>
            <a:r>
              <a:rPr sz="1100" spc="-165" dirty="0">
                <a:solidFill>
                  <a:srgbClr val="878FA7"/>
                </a:solidFill>
                <a:latin typeface="MingLiU_HKSCS-ExtB"/>
                <a:cs typeface="MingLiU_HKSCS-ExtB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El</a:t>
            </a:r>
            <a:r>
              <a:rPr sz="900" i="1" spc="-2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borrosificador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usado es 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singleton: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el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valor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de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entrada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nítido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activa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solo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los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conjuntos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que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lo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contienen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en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su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soporte,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con</a:t>
            </a:r>
            <a:r>
              <a:rPr sz="900" i="1" spc="-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membresía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proporcional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a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la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distancia</a:t>
            </a:r>
            <a:r>
              <a:rPr sz="900" i="1" spc="-15" dirty="0">
                <a:solidFill>
                  <a:srgbClr val="878FA7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878FA7"/>
                </a:solidFill>
                <a:latin typeface="Calibri"/>
                <a:cs typeface="Calibri"/>
              </a:rPr>
              <a:t>al</a:t>
            </a:r>
            <a:r>
              <a:rPr sz="900" i="1" spc="-10" dirty="0">
                <a:solidFill>
                  <a:srgbClr val="878FA7"/>
                </a:solidFill>
                <a:latin typeface="Calibri"/>
                <a:cs typeface="Calibri"/>
              </a:rPr>
              <a:t> pico.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60" dirty="0"/>
              <a:t> </a:t>
            </a:r>
            <a:r>
              <a:rPr dirty="0"/>
              <a:t>2</a:t>
            </a:r>
            <a:r>
              <a:rPr spc="-4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dirty="0"/>
              <a:t>Conjunción</a:t>
            </a:r>
            <a:r>
              <a:rPr spc="-50" dirty="0"/>
              <a:t> </a:t>
            </a:r>
            <a:r>
              <a:rPr dirty="0"/>
              <a:t>Difusa</a:t>
            </a:r>
            <a:r>
              <a:rPr spc="-50" dirty="0"/>
              <a:t> </a:t>
            </a:r>
            <a:r>
              <a:rPr spc="-65" dirty="0"/>
              <a:t>(T-</a:t>
            </a:r>
            <a:r>
              <a:rPr spc="-10" dirty="0"/>
              <a:t>norm)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409" y="743167"/>
            <a:ext cx="8333105" cy="415290"/>
            <a:chOff x="359409" y="743167"/>
            <a:chExt cx="8333105" cy="41529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A68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5178" y="86642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896" y="867869"/>
            <a:ext cx="50349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Combinar</a:t>
            </a:r>
            <a:r>
              <a:rPr sz="1100" b="1" spc="-1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los</a:t>
            </a:r>
            <a:r>
              <a:rPr sz="1100" b="1" spc="-30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vectores</a:t>
            </a:r>
            <a:r>
              <a:rPr sz="1100" b="1" spc="-20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de</a:t>
            </a:r>
            <a:r>
              <a:rPr sz="1100" b="1" spc="-20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membresía</a:t>
            </a:r>
            <a:r>
              <a:rPr sz="1100" b="1" spc="-2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de</a:t>
            </a:r>
            <a:r>
              <a:rPr sz="1100" b="1" spc="-10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θ</a:t>
            </a:r>
            <a:r>
              <a:rPr sz="1100" b="1" spc="-2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y</a:t>
            </a:r>
            <a:r>
              <a:rPr sz="1100" b="1" spc="-1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θ'</a:t>
            </a:r>
            <a:r>
              <a:rPr sz="1100" b="1" spc="-2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para</a:t>
            </a:r>
            <a:r>
              <a:rPr sz="1100" b="1" spc="-2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obtener</a:t>
            </a:r>
            <a:r>
              <a:rPr sz="1100" b="1" spc="-10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la</a:t>
            </a:r>
            <a:r>
              <a:rPr sz="1100" b="1" spc="-2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activación</a:t>
            </a:r>
            <a:r>
              <a:rPr sz="1100" b="1" spc="-15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de</a:t>
            </a:r>
            <a:r>
              <a:rPr sz="1100" b="1" spc="-20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A68AF9"/>
                </a:solidFill>
                <a:latin typeface="Calibri"/>
                <a:cs typeface="Calibri"/>
              </a:rPr>
              <a:t>cada</a:t>
            </a:r>
            <a:r>
              <a:rPr sz="1100" b="1" spc="-20" dirty="0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A68AF9"/>
                </a:solidFill>
                <a:latin typeface="Calibri"/>
                <a:cs typeface="Calibri"/>
              </a:rPr>
              <a:t>regla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763" y="1099060"/>
            <a:ext cx="8628380" cy="1083945"/>
            <a:chOff x="239763" y="1099060"/>
            <a:chExt cx="8628380" cy="108394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63" y="1099060"/>
              <a:ext cx="8627757" cy="10836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404" y="1188722"/>
              <a:ext cx="8412480" cy="868680"/>
            </a:xfrm>
            <a:custGeom>
              <a:avLst/>
              <a:gdLst/>
              <a:ahLst/>
              <a:cxnLst/>
              <a:rect l="l" t="t" r="r" b="b"/>
              <a:pathLst>
                <a:path w="8412480" h="868680">
                  <a:moveTo>
                    <a:pt x="8412111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4206240" y="868324"/>
                  </a:lnTo>
                  <a:lnTo>
                    <a:pt x="8412111" y="868324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5404" y="1188722"/>
            <a:ext cx="8412480" cy="86868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340"/>
              </a:spcBef>
            </a:pP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usa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C7CFE7"/>
                </a:solidFill>
                <a:latin typeface="Calibri"/>
                <a:cs typeface="Calibri"/>
              </a:rPr>
              <a:t>T-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norma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mínimo,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que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representa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operador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lógico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difuso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AND.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Para</a:t>
            </a:r>
            <a:r>
              <a:rPr sz="10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cada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par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conjuntos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(i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θ,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j</a:t>
            </a:r>
            <a:r>
              <a:rPr sz="10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θ')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calcula:</a:t>
            </a:r>
            <a:endParaRPr sz="1000" dirty="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05"/>
              </a:spcBef>
            </a:pP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α[i,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j]</a:t>
            </a:r>
            <a:r>
              <a:rPr sz="1000" spc="19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1000" spc="19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min(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μ_θ[i],</a:t>
            </a:r>
            <a:r>
              <a:rPr sz="1000" spc="18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μ_θ'[j]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C7CFE7"/>
                </a:solidFill>
                <a:latin typeface="Calibri"/>
                <a:cs typeface="Calibri"/>
              </a:rPr>
              <a:t>)</a:t>
            </a:r>
            <a:endParaRPr sz="1000" dirty="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00"/>
              </a:spcBef>
            </a:pP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resultado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una</a:t>
            </a:r>
            <a:r>
              <a:rPr sz="10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matriz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7×7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(49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valores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α),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uno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por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cada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regla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FAM.</a:t>
            </a:r>
            <a:r>
              <a:rPr sz="10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Cada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α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representa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grado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verdad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del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antecedente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esa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regla.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6569" y="2348800"/>
            <a:ext cx="5245100" cy="2501265"/>
            <a:chOff x="239763" y="2333144"/>
            <a:chExt cx="5245100" cy="250126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763" y="2333144"/>
              <a:ext cx="5244477" cy="250093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5404" y="2422806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5028831" y="0"/>
                  </a:moveTo>
                  <a:lnTo>
                    <a:pt x="0" y="0"/>
                  </a:lnTo>
                  <a:lnTo>
                    <a:pt x="0" y="2285631"/>
                  </a:lnTo>
                  <a:lnTo>
                    <a:pt x="2514600" y="2285631"/>
                  </a:lnTo>
                  <a:lnTo>
                    <a:pt x="5028831" y="2285631"/>
                  </a:lnTo>
                  <a:lnTo>
                    <a:pt x="502883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5404" y="2422806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2514600" y="2285631"/>
                  </a:moveTo>
                  <a:lnTo>
                    <a:pt x="0" y="2285631"/>
                  </a:lnTo>
                  <a:lnTo>
                    <a:pt x="0" y="0"/>
                  </a:lnTo>
                  <a:lnTo>
                    <a:pt x="5028831" y="0"/>
                  </a:lnTo>
                  <a:lnTo>
                    <a:pt x="5028831" y="2285631"/>
                  </a:lnTo>
                  <a:lnTo>
                    <a:pt x="2514600" y="2285631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339441" y="2579676"/>
            <a:ext cx="1972310" cy="112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75" spc="-37" baseline="-38461" dirty="0">
                <a:solidFill>
                  <a:srgbClr val="878FA7"/>
                </a:solidFill>
                <a:latin typeface="Calibri"/>
                <a:cs typeface="Calibri"/>
              </a:rPr>
              <a:t>NP</a:t>
            </a:r>
            <a:endParaRPr sz="975" baseline="-38461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50582" y="2600781"/>
            <a:ext cx="516967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AR" sz="700" spc="-35" dirty="0">
                <a:solidFill>
                  <a:srgbClr val="7CD2FB"/>
                </a:solidFill>
                <a:latin typeface="Calibri"/>
                <a:cs typeface="Calibri"/>
              </a:rPr>
              <a:t>Z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18903" y="2617103"/>
            <a:ext cx="11239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25" dirty="0">
                <a:solidFill>
                  <a:srgbClr val="7CD2FB"/>
                </a:solidFill>
                <a:latin typeface="Calibri"/>
                <a:cs typeface="Calibri"/>
              </a:rPr>
              <a:t>PP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83024" y="2617103"/>
            <a:ext cx="11874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PG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23384" y="2617103"/>
            <a:ext cx="17018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PGG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06332" y="2599437"/>
            <a:ext cx="18097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NGG</a:t>
            </a:r>
            <a:endParaRPr sz="650" dirty="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24204" y="2761566"/>
            <a:ext cx="3968750" cy="1856105"/>
            <a:chOff x="1024204" y="2761566"/>
            <a:chExt cx="3968750" cy="1856105"/>
          </a:xfrm>
        </p:grpSpPr>
        <p:sp>
          <p:nvSpPr>
            <p:cNvPr id="26" name="object 26"/>
            <p:cNvSpPr/>
            <p:nvPr/>
          </p:nvSpPr>
          <p:spPr>
            <a:xfrm>
              <a:off x="1024204" y="2761566"/>
              <a:ext cx="3968750" cy="1061085"/>
            </a:xfrm>
            <a:custGeom>
              <a:avLst/>
              <a:gdLst/>
              <a:ahLst/>
              <a:cxnLst/>
              <a:rect l="l" t="t" r="r" b="b"/>
              <a:pathLst>
                <a:path w="3968750" h="1061085">
                  <a:moveTo>
                    <a:pt x="566635" y="795591"/>
                  </a:moveTo>
                  <a:lnTo>
                    <a:pt x="0" y="795591"/>
                  </a:lnTo>
                  <a:lnTo>
                    <a:pt x="0" y="1060551"/>
                  </a:lnTo>
                  <a:lnTo>
                    <a:pt x="283311" y="1060551"/>
                  </a:lnTo>
                  <a:lnTo>
                    <a:pt x="566635" y="1060551"/>
                  </a:lnTo>
                  <a:lnTo>
                    <a:pt x="566635" y="795591"/>
                  </a:lnTo>
                  <a:close/>
                </a:path>
                <a:path w="3968750" h="1061085">
                  <a:moveTo>
                    <a:pt x="566635" y="530275"/>
                  </a:moveTo>
                  <a:lnTo>
                    <a:pt x="0" y="530275"/>
                  </a:lnTo>
                  <a:lnTo>
                    <a:pt x="0" y="795235"/>
                  </a:lnTo>
                  <a:lnTo>
                    <a:pt x="283311" y="795235"/>
                  </a:lnTo>
                  <a:lnTo>
                    <a:pt x="566635" y="795235"/>
                  </a:lnTo>
                  <a:lnTo>
                    <a:pt x="566635" y="530275"/>
                  </a:lnTo>
                  <a:close/>
                </a:path>
                <a:path w="3968750" h="1061085">
                  <a:moveTo>
                    <a:pt x="566635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0" y="529920"/>
                  </a:lnTo>
                  <a:lnTo>
                    <a:pt x="283311" y="529920"/>
                  </a:lnTo>
                  <a:lnTo>
                    <a:pt x="566635" y="529920"/>
                  </a:lnTo>
                  <a:lnTo>
                    <a:pt x="566635" y="264960"/>
                  </a:lnTo>
                  <a:lnTo>
                    <a:pt x="566635" y="0"/>
                  </a:lnTo>
                  <a:close/>
                </a:path>
                <a:path w="3968750" h="1061085">
                  <a:moveTo>
                    <a:pt x="1700276" y="795591"/>
                  </a:moveTo>
                  <a:lnTo>
                    <a:pt x="1133640" y="795591"/>
                  </a:lnTo>
                  <a:lnTo>
                    <a:pt x="566991" y="795591"/>
                  </a:lnTo>
                  <a:lnTo>
                    <a:pt x="566991" y="1060551"/>
                  </a:lnTo>
                  <a:lnTo>
                    <a:pt x="850315" y="1060551"/>
                  </a:lnTo>
                  <a:lnTo>
                    <a:pt x="1133640" y="1060551"/>
                  </a:lnTo>
                  <a:lnTo>
                    <a:pt x="1416951" y="1060551"/>
                  </a:lnTo>
                  <a:lnTo>
                    <a:pt x="1700276" y="1060551"/>
                  </a:lnTo>
                  <a:lnTo>
                    <a:pt x="1700276" y="795591"/>
                  </a:lnTo>
                  <a:close/>
                </a:path>
                <a:path w="3968750" h="1061085">
                  <a:moveTo>
                    <a:pt x="1700276" y="530275"/>
                  </a:moveTo>
                  <a:lnTo>
                    <a:pt x="1133640" y="530275"/>
                  </a:lnTo>
                  <a:lnTo>
                    <a:pt x="566991" y="530275"/>
                  </a:lnTo>
                  <a:lnTo>
                    <a:pt x="566991" y="795235"/>
                  </a:lnTo>
                  <a:lnTo>
                    <a:pt x="850315" y="795235"/>
                  </a:lnTo>
                  <a:lnTo>
                    <a:pt x="1133640" y="795235"/>
                  </a:lnTo>
                  <a:lnTo>
                    <a:pt x="1416951" y="795235"/>
                  </a:lnTo>
                  <a:lnTo>
                    <a:pt x="1700276" y="795235"/>
                  </a:lnTo>
                  <a:lnTo>
                    <a:pt x="1700276" y="530275"/>
                  </a:lnTo>
                  <a:close/>
                </a:path>
                <a:path w="3968750" h="1061085">
                  <a:moveTo>
                    <a:pt x="1700276" y="0"/>
                  </a:moveTo>
                  <a:lnTo>
                    <a:pt x="1133640" y="0"/>
                  </a:lnTo>
                  <a:lnTo>
                    <a:pt x="566991" y="0"/>
                  </a:lnTo>
                  <a:lnTo>
                    <a:pt x="566991" y="264960"/>
                  </a:lnTo>
                  <a:lnTo>
                    <a:pt x="566991" y="529920"/>
                  </a:lnTo>
                  <a:lnTo>
                    <a:pt x="850315" y="529920"/>
                  </a:lnTo>
                  <a:lnTo>
                    <a:pt x="1133640" y="529920"/>
                  </a:lnTo>
                  <a:lnTo>
                    <a:pt x="1416951" y="529920"/>
                  </a:lnTo>
                  <a:lnTo>
                    <a:pt x="1700276" y="529920"/>
                  </a:lnTo>
                  <a:lnTo>
                    <a:pt x="1700276" y="264960"/>
                  </a:lnTo>
                  <a:lnTo>
                    <a:pt x="1700276" y="0"/>
                  </a:lnTo>
                  <a:close/>
                </a:path>
                <a:path w="3968750" h="1061085">
                  <a:moveTo>
                    <a:pt x="2267280" y="530275"/>
                  </a:moveTo>
                  <a:lnTo>
                    <a:pt x="1700631" y="530275"/>
                  </a:lnTo>
                  <a:lnTo>
                    <a:pt x="1700631" y="795235"/>
                  </a:lnTo>
                  <a:lnTo>
                    <a:pt x="1983955" y="795235"/>
                  </a:lnTo>
                  <a:lnTo>
                    <a:pt x="2267280" y="795235"/>
                  </a:lnTo>
                  <a:lnTo>
                    <a:pt x="2267280" y="530275"/>
                  </a:lnTo>
                  <a:close/>
                </a:path>
                <a:path w="3968750" h="1061085">
                  <a:moveTo>
                    <a:pt x="2267280" y="0"/>
                  </a:moveTo>
                  <a:lnTo>
                    <a:pt x="1700631" y="0"/>
                  </a:lnTo>
                  <a:lnTo>
                    <a:pt x="1700631" y="264960"/>
                  </a:lnTo>
                  <a:lnTo>
                    <a:pt x="1700631" y="529920"/>
                  </a:lnTo>
                  <a:lnTo>
                    <a:pt x="1983955" y="529920"/>
                  </a:lnTo>
                  <a:lnTo>
                    <a:pt x="2267280" y="529920"/>
                  </a:lnTo>
                  <a:lnTo>
                    <a:pt x="2267280" y="264960"/>
                  </a:lnTo>
                  <a:lnTo>
                    <a:pt x="2267280" y="0"/>
                  </a:lnTo>
                  <a:close/>
                </a:path>
                <a:path w="3968750" h="1061085">
                  <a:moveTo>
                    <a:pt x="2834271" y="530275"/>
                  </a:moveTo>
                  <a:lnTo>
                    <a:pt x="2267635" y="530275"/>
                  </a:lnTo>
                  <a:lnTo>
                    <a:pt x="2267635" y="795235"/>
                  </a:lnTo>
                  <a:lnTo>
                    <a:pt x="2550960" y="795235"/>
                  </a:lnTo>
                  <a:lnTo>
                    <a:pt x="2834271" y="795235"/>
                  </a:lnTo>
                  <a:lnTo>
                    <a:pt x="2834271" y="530275"/>
                  </a:lnTo>
                  <a:close/>
                </a:path>
                <a:path w="3968750" h="1061085">
                  <a:moveTo>
                    <a:pt x="2834271" y="0"/>
                  </a:moveTo>
                  <a:lnTo>
                    <a:pt x="2267635" y="0"/>
                  </a:lnTo>
                  <a:lnTo>
                    <a:pt x="2267635" y="264960"/>
                  </a:lnTo>
                  <a:lnTo>
                    <a:pt x="2267635" y="529920"/>
                  </a:lnTo>
                  <a:lnTo>
                    <a:pt x="2550960" y="529920"/>
                  </a:lnTo>
                  <a:lnTo>
                    <a:pt x="2834271" y="529920"/>
                  </a:lnTo>
                  <a:lnTo>
                    <a:pt x="2834271" y="264960"/>
                  </a:lnTo>
                  <a:lnTo>
                    <a:pt x="2834271" y="0"/>
                  </a:lnTo>
                  <a:close/>
                </a:path>
                <a:path w="3968750" h="1061085">
                  <a:moveTo>
                    <a:pt x="3401276" y="530275"/>
                  </a:moveTo>
                  <a:lnTo>
                    <a:pt x="2834640" y="530275"/>
                  </a:lnTo>
                  <a:lnTo>
                    <a:pt x="2834640" y="795235"/>
                  </a:lnTo>
                  <a:lnTo>
                    <a:pt x="3117951" y="795235"/>
                  </a:lnTo>
                  <a:lnTo>
                    <a:pt x="3401276" y="795235"/>
                  </a:lnTo>
                  <a:lnTo>
                    <a:pt x="3401276" y="530275"/>
                  </a:lnTo>
                  <a:close/>
                </a:path>
                <a:path w="3968750" h="1061085">
                  <a:moveTo>
                    <a:pt x="3401276" y="0"/>
                  </a:moveTo>
                  <a:lnTo>
                    <a:pt x="2834640" y="0"/>
                  </a:lnTo>
                  <a:lnTo>
                    <a:pt x="2834640" y="264960"/>
                  </a:lnTo>
                  <a:lnTo>
                    <a:pt x="2834640" y="529920"/>
                  </a:lnTo>
                  <a:lnTo>
                    <a:pt x="3117951" y="529920"/>
                  </a:lnTo>
                  <a:lnTo>
                    <a:pt x="3401276" y="529920"/>
                  </a:lnTo>
                  <a:lnTo>
                    <a:pt x="3401276" y="264960"/>
                  </a:lnTo>
                  <a:lnTo>
                    <a:pt x="3401276" y="0"/>
                  </a:lnTo>
                  <a:close/>
                </a:path>
                <a:path w="3968750" h="1061085">
                  <a:moveTo>
                    <a:pt x="3968280" y="530275"/>
                  </a:moveTo>
                  <a:lnTo>
                    <a:pt x="3401631" y="530275"/>
                  </a:lnTo>
                  <a:lnTo>
                    <a:pt x="3401631" y="795235"/>
                  </a:lnTo>
                  <a:lnTo>
                    <a:pt x="3684955" y="795235"/>
                  </a:lnTo>
                  <a:lnTo>
                    <a:pt x="3968280" y="795235"/>
                  </a:lnTo>
                  <a:lnTo>
                    <a:pt x="3968280" y="530275"/>
                  </a:lnTo>
                  <a:close/>
                </a:path>
                <a:path w="3968750" h="1061085">
                  <a:moveTo>
                    <a:pt x="3968280" y="0"/>
                  </a:moveTo>
                  <a:lnTo>
                    <a:pt x="3401631" y="0"/>
                  </a:lnTo>
                  <a:lnTo>
                    <a:pt x="3401631" y="264960"/>
                  </a:lnTo>
                  <a:lnTo>
                    <a:pt x="3401631" y="529920"/>
                  </a:lnTo>
                  <a:lnTo>
                    <a:pt x="3684955" y="529920"/>
                  </a:lnTo>
                  <a:lnTo>
                    <a:pt x="3968280" y="529920"/>
                  </a:lnTo>
                  <a:lnTo>
                    <a:pt x="3968280" y="264960"/>
                  </a:lnTo>
                  <a:lnTo>
                    <a:pt x="3968280" y="0"/>
                  </a:lnTo>
                  <a:close/>
                </a:path>
              </a:pathLst>
            </a:custGeom>
            <a:solidFill>
              <a:srgbClr val="1D21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24835" y="3557157"/>
              <a:ext cx="1134110" cy="265430"/>
            </a:xfrm>
            <a:custGeom>
              <a:avLst/>
              <a:gdLst/>
              <a:ahLst/>
              <a:cxnLst/>
              <a:rect l="l" t="t" r="r" b="b"/>
              <a:pathLst>
                <a:path w="1134110" h="265429">
                  <a:moveTo>
                    <a:pt x="566648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283324" y="264960"/>
                  </a:lnTo>
                  <a:lnTo>
                    <a:pt x="566648" y="264960"/>
                  </a:lnTo>
                  <a:lnTo>
                    <a:pt x="566648" y="0"/>
                  </a:lnTo>
                  <a:close/>
                </a:path>
                <a:path w="1134110" h="265429">
                  <a:moveTo>
                    <a:pt x="1133640" y="0"/>
                  </a:moveTo>
                  <a:lnTo>
                    <a:pt x="567004" y="0"/>
                  </a:lnTo>
                  <a:lnTo>
                    <a:pt x="567004" y="264960"/>
                  </a:lnTo>
                  <a:lnTo>
                    <a:pt x="850328" y="264960"/>
                  </a:lnTo>
                  <a:lnTo>
                    <a:pt x="1133640" y="264960"/>
                  </a:lnTo>
                  <a:lnTo>
                    <a:pt x="1133640" y="0"/>
                  </a:lnTo>
                  <a:close/>
                </a:path>
              </a:pathLst>
            </a:custGeom>
            <a:solidFill>
              <a:srgbClr val="A68AF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24204" y="3557157"/>
              <a:ext cx="3968750" cy="1060450"/>
            </a:xfrm>
            <a:custGeom>
              <a:avLst/>
              <a:gdLst/>
              <a:ahLst/>
              <a:cxnLst/>
              <a:rect l="l" t="t" r="r" b="b"/>
              <a:pathLst>
                <a:path w="3968750" h="1060450">
                  <a:moveTo>
                    <a:pt x="566635" y="530288"/>
                  </a:moveTo>
                  <a:lnTo>
                    <a:pt x="0" y="530288"/>
                  </a:lnTo>
                  <a:lnTo>
                    <a:pt x="0" y="795248"/>
                  </a:lnTo>
                  <a:lnTo>
                    <a:pt x="0" y="1060208"/>
                  </a:lnTo>
                  <a:lnTo>
                    <a:pt x="283311" y="1060208"/>
                  </a:lnTo>
                  <a:lnTo>
                    <a:pt x="566635" y="1060208"/>
                  </a:lnTo>
                  <a:lnTo>
                    <a:pt x="566635" y="795248"/>
                  </a:lnTo>
                  <a:lnTo>
                    <a:pt x="566635" y="530288"/>
                  </a:lnTo>
                  <a:close/>
                </a:path>
                <a:path w="3968750" h="1060450">
                  <a:moveTo>
                    <a:pt x="566635" y="264960"/>
                  </a:moveTo>
                  <a:lnTo>
                    <a:pt x="0" y="264960"/>
                  </a:lnTo>
                  <a:lnTo>
                    <a:pt x="0" y="529920"/>
                  </a:lnTo>
                  <a:lnTo>
                    <a:pt x="283311" y="529920"/>
                  </a:lnTo>
                  <a:lnTo>
                    <a:pt x="566635" y="529920"/>
                  </a:lnTo>
                  <a:lnTo>
                    <a:pt x="566635" y="264960"/>
                  </a:lnTo>
                  <a:close/>
                </a:path>
                <a:path w="3968750" h="1060450">
                  <a:moveTo>
                    <a:pt x="1700276" y="530288"/>
                  </a:moveTo>
                  <a:lnTo>
                    <a:pt x="1133640" y="530288"/>
                  </a:lnTo>
                  <a:lnTo>
                    <a:pt x="566991" y="530288"/>
                  </a:lnTo>
                  <a:lnTo>
                    <a:pt x="566991" y="795248"/>
                  </a:lnTo>
                  <a:lnTo>
                    <a:pt x="566991" y="1060208"/>
                  </a:lnTo>
                  <a:lnTo>
                    <a:pt x="850315" y="1060208"/>
                  </a:lnTo>
                  <a:lnTo>
                    <a:pt x="1133640" y="1060208"/>
                  </a:lnTo>
                  <a:lnTo>
                    <a:pt x="1416951" y="1060208"/>
                  </a:lnTo>
                  <a:lnTo>
                    <a:pt x="1700276" y="1060208"/>
                  </a:lnTo>
                  <a:lnTo>
                    <a:pt x="1700276" y="795248"/>
                  </a:lnTo>
                  <a:lnTo>
                    <a:pt x="1700276" y="530288"/>
                  </a:lnTo>
                  <a:close/>
                </a:path>
                <a:path w="3968750" h="1060450">
                  <a:moveTo>
                    <a:pt x="1700276" y="264960"/>
                  </a:moveTo>
                  <a:lnTo>
                    <a:pt x="1133640" y="264960"/>
                  </a:lnTo>
                  <a:lnTo>
                    <a:pt x="566991" y="264960"/>
                  </a:lnTo>
                  <a:lnTo>
                    <a:pt x="566991" y="529920"/>
                  </a:lnTo>
                  <a:lnTo>
                    <a:pt x="850315" y="529920"/>
                  </a:lnTo>
                  <a:lnTo>
                    <a:pt x="1133640" y="529920"/>
                  </a:lnTo>
                  <a:lnTo>
                    <a:pt x="1416951" y="529920"/>
                  </a:lnTo>
                  <a:lnTo>
                    <a:pt x="1700276" y="529920"/>
                  </a:lnTo>
                  <a:lnTo>
                    <a:pt x="1700276" y="264960"/>
                  </a:lnTo>
                  <a:close/>
                </a:path>
                <a:path w="3968750" h="1060450">
                  <a:moveTo>
                    <a:pt x="2267280" y="530288"/>
                  </a:moveTo>
                  <a:lnTo>
                    <a:pt x="1700631" y="530288"/>
                  </a:lnTo>
                  <a:lnTo>
                    <a:pt x="1700631" y="795248"/>
                  </a:lnTo>
                  <a:lnTo>
                    <a:pt x="1700631" y="1060208"/>
                  </a:lnTo>
                  <a:lnTo>
                    <a:pt x="1983955" y="1060208"/>
                  </a:lnTo>
                  <a:lnTo>
                    <a:pt x="2267280" y="1060208"/>
                  </a:lnTo>
                  <a:lnTo>
                    <a:pt x="2267280" y="795248"/>
                  </a:lnTo>
                  <a:lnTo>
                    <a:pt x="2267280" y="530288"/>
                  </a:lnTo>
                  <a:close/>
                </a:path>
                <a:path w="3968750" h="1060450">
                  <a:moveTo>
                    <a:pt x="2267280" y="264960"/>
                  </a:moveTo>
                  <a:lnTo>
                    <a:pt x="1700631" y="264960"/>
                  </a:lnTo>
                  <a:lnTo>
                    <a:pt x="1700631" y="529920"/>
                  </a:lnTo>
                  <a:lnTo>
                    <a:pt x="1983955" y="529920"/>
                  </a:lnTo>
                  <a:lnTo>
                    <a:pt x="2267280" y="529920"/>
                  </a:lnTo>
                  <a:lnTo>
                    <a:pt x="2267280" y="264960"/>
                  </a:lnTo>
                  <a:close/>
                </a:path>
                <a:path w="3968750" h="1060450">
                  <a:moveTo>
                    <a:pt x="2834271" y="530288"/>
                  </a:moveTo>
                  <a:lnTo>
                    <a:pt x="2267635" y="530288"/>
                  </a:lnTo>
                  <a:lnTo>
                    <a:pt x="2267635" y="795248"/>
                  </a:lnTo>
                  <a:lnTo>
                    <a:pt x="2267635" y="1060208"/>
                  </a:lnTo>
                  <a:lnTo>
                    <a:pt x="2550960" y="1060208"/>
                  </a:lnTo>
                  <a:lnTo>
                    <a:pt x="2834271" y="1060208"/>
                  </a:lnTo>
                  <a:lnTo>
                    <a:pt x="2834271" y="795248"/>
                  </a:lnTo>
                  <a:lnTo>
                    <a:pt x="2834271" y="530288"/>
                  </a:lnTo>
                  <a:close/>
                </a:path>
                <a:path w="3968750" h="1060450">
                  <a:moveTo>
                    <a:pt x="2834271" y="264960"/>
                  </a:moveTo>
                  <a:lnTo>
                    <a:pt x="2267635" y="264960"/>
                  </a:lnTo>
                  <a:lnTo>
                    <a:pt x="2267635" y="529920"/>
                  </a:lnTo>
                  <a:lnTo>
                    <a:pt x="2550960" y="529920"/>
                  </a:lnTo>
                  <a:lnTo>
                    <a:pt x="2834271" y="529920"/>
                  </a:lnTo>
                  <a:lnTo>
                    <a:pt x="2834271" y="264960"/>
                  </a:lnTo>
                  <a:close/>
                </a:path>
                <a:path w="3968750" h="1060450">
                  <a:moveTo>
                    <a:pt x="3401276" y="530288"/>
                  </a:moveTo>
                  <a:lnTo>
                    <a:pt x="2834640" y="530288"/>
                  </a:lnTo>
                  <a:lnTo>
                    <a:pt x="2834640" y="795248"/>
                  </a:lnTo>
                  <a:lnTo>
                    <a:pt x="2834640" y="1060208"/>
                  </a:lnTo>
                  <a:lnTo>
                    <a:pt x="3117951" y="1060208"/>
                  </a:lnTo>
                  <a:lnTo>
                    <a:pt x="3401276" y="1060208"/>
                  </a:lnTo>
                  <a:lnTo>
                    <a:pt x="3401276" y="795248"/>
                  </a:lnTo>
                  <a:lnTo>
                    <a:pt x="3401276" y="530288"/>
                  </a:lnTo>
                  <a:close/>
                </a:path>
                <a:path w="3968750" h="1060450">
                  <a:moveTo>
                    <a:pt x="3401276" y="0"/>
                  </a:moveTo>
                  <a:lnTo>
                    <a:pt x="2834640" y="0"/>
                  </a:lnTo>
                  <a:lnTo>
                    <a:pt x="2834640" y="264960"/>
                  </a:lnTo>
                  <a:lnTo>
                    <a:pt x="2834640" y="529920"/>
                  </a:lnTo>
                  <a:lnTo>
                    <a:pt x="3117951" y="529920"/>
                  </a:lnTo>
                  <a:lnTo>
                    <a:pt x="3401276" y="529920"/>
                  </a:lnTo>
                  <a:lnTo>
                    <a:pt x="3401276" y="264960"/>
                  </a:lnTo>
                  <a:lnTo>
                    <a:pt x="3401276" y="0"/>
                  </a:lnTo>
                  <a:close/>
                </a:path>
                <a:path w="3968750" h="1060450">
                  <a:moveTo>
                    <a:pt x="3968280" y="530288"/>
                  </a:moveTo>
                  <a:lnTo>
                    <a:pt x="3401631" y="530288"/>
                  </a:lnTo>
                  <a:lnTo>
                    <a:pt x="3401631" y="795248"/>
                  </a:lnTo>
                  <a:lnTo>
                    <a:pt x="3401631" y="1060208"/>
                  </a:lnTo>
                  <a:lnTo>
                    <a:pt x="3684955" y="1060208"/>
                  </a:lnTo>
                  <a:lnTo>
                    <a:pt x="3968280" y="1060208"/>
                  </a:lnTo>
                  <a:lnTo>
                    <a:pt x="3968280" y="795248"/>
                  </a:lnTo>
                  <a:lnTo>
                    <a:pt x="3968280" y="530288"/>
                  </a:lnTo>
                  <a:close/>
                </a:path>
                <a:path w="3968750" h="1060450">
                  <a:moveTo>
                    <a:pt x="3968280" y="0"/>
                  </a:moveTo>
                  <a:lnTo>
                    <a:pt x="3401631" y="0"/>
                  </a:lnTo>
                  <a:lnTo>
                    <a:pt x="3401631" y="264960"/>
                  </a:lnTo>
                  <a:lnTo>
                    <a:pt x="3401631" y="529920"/>
                  </a:lnTo>
                  <a:lnTo>
                    <a:pt x="3684955" y="529920"/>
                  </a:lnTo>
                  <a:lnTo>
                    <a:pt x="3968280" y="529920"/>
                  </a:lnTo>
                  <a:lnTo>
                    <a:pt x="3968280" y="264960"/>
                  </a:lnTo>
                  <a:lnTo>
                    <a:pt x="3968280" y="0"/>
                  </a:lnTo>
                  <a:close/>
                </a:path>
              </a:pathLst>
            </a:custGeom>
            <a:solidFill>
              <a:srgbClr val="1D21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75982" y="3096985"/>
            <a:ext cx="129539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NG</a:t>
            </a:r>
            <a:endParaRPr sz="6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0656" y="3362301"/>
            <a:ext cx="120014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NP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4377" y="3644249"/>
            <a:ext cx="390537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l-GR" sz="700" dirty="0">
                <a:solidFill>
                  <a:srgbClr val="499DFF"/>
                </a:solidFill>
                <a:latin typeface="Calibri"/>
                <a:cs typeface="Calibri"/>
              </a:rPr>
              <a:t>Θ</a:t>
            </a:r>
            <a:r>
              <a:rPr lang="es-AR" sz="700" dirty="0">
                <a:solidFill>
                  <a:srgbClr val="499DFF"/>
                </a:solidFill>
                <a:latin typeface="Calibri"/>
                <a:cs typeface="Calibri"/>
              </a:rPr>
              <a:t>’</a:t>
            </a:r>
            <a:r>
              <a:rPr sz="700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499DFF"/>
                </a:solidFill>
                <a:latin typeface="Calibri"/>
                <a:cs typeface="Calibri"/>
              </a:rPr>
              <a:t>↓</a:t>
            </a:r>
            <a:r>
              <a:rPr sz="700" spc="270" dirty="0">
                <a:solidFill>
                  <a:srgbClr val="499DFF"/>
                </a:solidFill>
                <a:latin typeface="Calibri"/>
                <a:cs typeface="Calibri"/>
              </a:rPr>
              <a:t>  </a:t>
            </a:r>
            <a:r>
              <a:rPr sz="650" b="1" spc="-60" dirty="0">
                <a:solidFill>
                  <a:srgbClr val="499DFF"/>
                </a:solidFill>
                <a:latin typeface="Calibri"/>
                <a:cs typeface="Calibri"/>
              </a:rPr>
              <a:t>Z</a:t>
            </a:r>
            <a:endParaRPr sz="6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698" y="3892590"/>
            <a:ext cx="10922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PP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1380" y="4157905"/>
            <a:ext cx="11874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PG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4735" y="4422866"/>
            <a:ext cx="17018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PGG</a:t>
            </a:r>
            <a:endParaRPr sz="650">
              <a:latin typeface="Calibri"/>
              <a:cs typeface="Calibri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9041"/>
              </p:ext>
            </p:extLst>
          </p:nvPr>
        </p:nvGraphicFramePr>
        <p:xfrm>
          <a:off x="1017904" y="2755266"/>
          <a:ext cx="3969382" cy="1853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0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50" b="1" spc="90" dirty="0">
                          <a:solidFill>
                            <a:srgbClr val="FF0000"/>
                          </a:solidFill>
                          <a:latin typeface="Segoe UI Symbol"/>
                          <a:cs typeface="Segoe UI Symbol"/>
                        </a:rPr>
                        <a:t>0.33</a:t>
                      </a:r>
                      <a:endParaRPr sz="850" b="1" dirty="0">
                        <a:solidFill>
                          <a:srgbClr val="FF0000"/>
                        </a:solidFill>
                        <a:latin typeface="Segoe UI Symbol"/>
                        <a:cs typeface="Segoe UI Symbol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lang="es-AR" sz="700" b="1" spc="-50" dirty="0">
                          <a:solidFill>
                            <a:schemeClr val="bg1"/>
                          </a:solidFill>
                          <a:latin typeface="Cambria"/>
                          <a:ea typeface="+mn-ea"/>
                          <a:cs typeface="Segoe UI Symbol"/>
                        </a:rPr>
                        <a:t>0</a:t>
                      </a:r>
                      <a:endParaRPr sz="700" b="1" spc="-50" dirty="0">
                        <a:solidFill>
                          <a:schemeClr val="bg1"/>
                        </a:solidFill>
                        <a:latin typeface="Cambria"/>
                        <a:ea typeface="+mn-ea"/>
                        <a:cs typeface="Segoe UI Symbol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800" b="1" spc="90" dirty="0">
                          <a:solidFill>
                            <a:srgbClr val="FF0000"/>
                          </a:solidFill>
                          <a:latin typeface="Segoe UI Symbol"/>
                          <a:cs typeface="Segoe UI Symbol"/>
                        </a:rPr>
                        <a:t>0.20</a:t>
                      </a:r>
                      <a:endParaRPr lang="es-AR" sz="800" b="1" dirty="0">
                        <a:solidFill>
                          <a:srgbClr val="FF0000"/>
                        </a:solidFill>
                        <a:latin typeface="Segoe UI Symbol"/>
                        <a:cs typeface="Segoe UI Symbol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905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905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905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b="1" spc="-50" dirty="0">
                          <a:solidFill>
                            <a:schemeClr val="bg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700" b="1" dirty="0">
                        <a:solidFill>
                          <a:schemeClr val="bg1"/>
                        </a:solidFill>
                        <a:latin typeface="Cambria"/>
                        <a:cs typeface="Cambri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292C39"/>
                      </a:solidFill>
                      <a:prstDash val="solid"/>
                    </a:lnL>
                    <a:lnR w="12700">
                      <a:solidFill>
                        <a:srgbClr val="292C39"/>
                      </a:solidFill>
                      <a:prstDash val="solid"/>
                    </a:lnR>
                    <a:lnT w="12700">
                      <a:solidFill>
                        <a:srgbClr val="292C39"/>
                      </a:solidFill>
                      <a:prstDash val="solid"/>
                    </a:lnT>
                    <a:lnB w="12700">
                      <a:solidFill>
                        <a:srgbClr val="292C39"/>
                      </a:solidFill>
                      <a:prstDash val="solid"/>
                    </a:lnB>
                    <a:solidFill>
                      <a:srgbClr val="484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5394604" y="2272349"/>
            <a:ext cx="3461397" cy="2523021"/>
            <a:chOff x="5406478" y="2333144"/>
            <a:chExt cx="3461397" cy="2523021"/>
          </a:xfrm>
        </p:grpSpPr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6478" y="2333144"/>
              <a:ext cx="3461397" cy="250093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536283" y="2570165"/>
              <a:ext cx="3246120" cy="2286000"/>
            </a:xfrm>
            <a:custGeom>
              <a:avLst/>
              <a:gdLst/>
              <a:ahLst/>
              <a:cxnLst/>
              <a:rect l="l" t="t" r="r" b="b"/>
              <a:pathLst>
                <a:path w="3246120" h="2286000">
                  <a:moveTo>
                    <a:pt x="3245764" y="0"/>
                  </a:moveTo>
                  <a:lnTo>
                    <a:pt x="0" y="0"/>
                  </a:lnTo>
                  <a:lnTo>
                    <a:pt x="0" y="2285631"/>
                  </a:lnTo>
                  <a:lnTo>
                    <a:pt x="1622882" y="2285631"/>
                  </a:lnTo>
                  <a:lnTo>
                    <a:pt x="3245764" y="2285631"/>
                  </a:lnTo>
                  <a:lnTo>
                    <a:pt x="3245764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482704" y="2661667"/>
            <a:ext cx="3237117" cy="190052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6695">
              <a:lnSpc>
                <a:spcPts val="840"/>
              </a:lnSpc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α[i,j]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es</a:t>
            </a:r>
            <a:r>
              <a:rPr sz="9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grado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 err="1">
                <a:solidFill>
                  <a:srgbClr val="C7CFE7"/>
                </a:solidFill>
                <a:latin typeface="Calibri"/>
                <a:cs typeface="Calibri"/>
              </a:rPr>
              <a:t>verdad</a:t>
            </a:r>
            <a:r>
              <a:rPr lang="es-AR" sz="900" spc="-10" dirty="0">
                <a:solidFill>
                  <a:srgbClr val="C7CFE7"/>
                </a:solid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 marL="302895" marR="2072639" indent="-76835">
              <a:lnSpc>
                <a:spcPct val="100000"/>
              </a:lnSpc>
              <a:spcBef>
                <a:spcPts val="1035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IF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θ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is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Xᵢ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AND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θ'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is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405" dirty="0">
                <a:solidFill>
                  <a:srgbClr val="C7CFE7"/>
                </a:solidFill>
                <a:latin typeface="Calibri"/>
                <a:cs typeface="Calibri"/>
              </a:rPr>
              <a:t>Y</a:t>
            </a:r>
            <a:r>
              <a:rPr sz="900" spc="-405" dirty="0">
                <a:solidFill>
                  <a:srgbClr val="C7CFE7"/>
                </a:solidFill>
                <a:latin typeface="MingLiU_HKSCS-ExtB"/>
                <a:cs typeface="MingLiU_HKSCS-ExtB"/>
              </a:rPr>
              <a:t>ⱼ</a:t>
            </a:r>
            <a:r>
              <a:rPr sz="900" dirty="0">
                <a:solidFill>
                  <a:srgbClr val="C7CFE7"/>
                </a:solidFill>
                <a:latin typeface="MingLiU_HKSCS-ExtB"/>
                <a:cs typeface="MingLiU_HKSCS-ExtB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THEN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is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FAM[i][j]</a:t>
            </a:r>
            <a:endParaRPr sz="900" dirty="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090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En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ejemplo:</a:t>
            </a:r>
            <a:endParaRPr sz="900" dirty="0">
              <a:latin typeface="Calibri"/>
              <a:cs typeface="Calibri"/>
            </a:endParaRPr>
          </a:p>
          <a:p>
            <a:pPr marL="277495" marR="2048510">
              <a:lnSpc>
                <a:spcPct val="100000"/>
              </a:lnSpc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Solo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celda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(Z,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Z)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C7CFE7"/>
                </a:solidFill>
                <a:latin typeface="Calibri"/>
                <a:cs typeface="Calibri"/>
              </a:rPr>
              <a:t>y</a:t>
            </a:r>
            <a:r>
              <a:rPr sz="900" spc="50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(Z,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PP)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tienen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α &gt;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0:</a:t>
            </a:r>
            <a:endParaRPr sz="900" dirty="0">
              <a:latin typeface="Calibri"/>
              <a:cs typeface="Calibri"/>
            </a:endParaRPr>
          </a:p>
          <a:p>
            <a:pPr marL="277495">
              <a:lnSpc>
                <a:spcPct val="100000"/>
              </a:lnSpc>
              <a:spcBef>
                <a:spcPts val="1090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α[Z,Z]</a:t>
            </a:r>
            <a:r>
              <a:rPr sz="900" spc="15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min(0.33,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lang="es-AR" sz="900" dirty="0">
                <a:solidFill>
                  <a:srgbClr val="C7CFE7"/>
                </a:solidFill>
                <a:latin typeface="Calibri"/>
                <a:cs typeface="Calibri"/>
              </a:rPr>
              <a:t>0.47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)</a:t>
            </a:r>
          </a:p>
          <a:p>
            <a:pPr marL="45847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0.33</a:t>
            </a:r>
            <a:endParaRPr sz="900" dirty="0">
              <a:latin typeface="Calibri"/>
              <a:cs typeface="Calibri"/>
            </a:endParaRPr>
          </a:p>
          <a:p>
            <a:pPr marL="277495">
              <a:lnSpc>
                <a:spcPct val="100000"/>
              </a:lnSpc>
              <a:spcBef>
                <a:spcPts val="1085"/>
              </a:spcBef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α[Z,PP]</a:t>
            </a:r>
            <a:r>
              <a:rPr sz="900" spc="-3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min(0.33,</a:t>
            </a:r>
            <a:r>
              <a:rPr sz="9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0.</a:t>
            </a:r>
            <a:r>
              <a:rPr lang="es-AR" sz="900" spc="-20" dirty="0">
                <a:solidFill>
                  <a:srgbClr val="C7CFE7"/>
                </a:solidFill>
                <a:latin typeface="Calibri"/>
                <a:cs typeface="Calibri"/>
              </a:rPr>
              <a:t>20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)</a:t>
            </a:r>
            <a:endParaRPr sz="900" dirty="0">
              <a:latin typeface="Calibri"/>
              <a:cs typeface="Calibri"/>
            </a:endParaRPr>
          </a:p>
          <a:p>
            <a:pPr marL="458470">
              <a:lnSpc>
                <a:spcPct val="100000"/>
              </a:lnSpc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0.</a:t>
            </a:r>
            <a:r>
              <a:rPr lang="es-AR" sz="900" spc="-20" dirty="0">
                <a:solidFill>
                  <a:srgbClr val="C7CFE7"/>
                </a:solidFill>
                <a:latin typeface="Calibri"/>
                <a:cs typeface="Calibri"/>
              </a:rPr>
              <a:t>20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1" name="object 29">
            <a:extLst>
              <a:ext uri="{FF2B5EF4-FFF2-40B4-BE49-F238E27FC236}">
                <a16:creationId xmlns:a16="http://schemas.microsoft.com/office/drawing/2014/main" id="{F009CEA9-C20C-4DDA-A7E3-6C8D243C55C9}"/>
              </a:ext>
            </a:extLst>
          </p:cNvPr>
          <p:cNvSpPr txBox="1"/>
          <p:nvPr/>
        </p:nvSpPr>
        <p:spPr>
          <a:xfrm>
            <a:off x="1883800" y="2611535"/>
            <a:ext cx="129539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NG</a:t>
            </a:r>
            <a:endParaRPr sz="650" dirty="0">
              <a:latin typeface="Calibri"/>
              <a:cs typeface="Calibri"/>
            </a:endParaRPr>
          </a:p>
        </p:txBody>
      </p:sp>
      <p:sp>
        <p:nvSpPr>
          <p:cNvPr id="43" name="object 24">
            <a:extLst>
              <a:ext uri="{FF2B5EF4-FFF2-40B4-BE49-F238E27FC236}">
                <a16:creationId xmlns:a16="http://schemas.microsoft.com/office/drawing/2014/main" id="{80E234EB-3CFF-4159-A25B-EC1397C86BAC}"/>
              </a:ext>
            </a:extLst>
          </p:cNvPr>
          <p:cNvSpPr txBox="1"/>
          <p:nvPr/>
        </p:nvSpPr>
        <p:spPr>
          <a:xfrm>
            <a:off x="654735" y="2846820"/>
            <a:ext cx="18097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878FA7"/>
                </a:solidFill>
                <a:latin typeface="Calibri"/>
                <a:cs typeface="Calibri"/>
              </a:rPr>
              <a:t>NGG</a:t>
            </a:r>
            <a:endParaRPr sz="650" dirty="0">
              <a:latin typeface="Calibri"/>
              <a:cs typeface="Calibri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5DC8BC2-0CE7-4E24-9711-55D4DFC0219F}"/>
              </a:ext>
            </a:extLst>
          </p:cNvPr>
          <p:cNvSpPr txBox="1"/>
          <p:nvPr/>
        </p:nvSpPr>
        <p:spPr>
          <a:xfrm>
            <a:off x="2729007" y="2393824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800" spc="-35" dirty="0">
                <a:solidFill>
                  <a:srgbClr val="7CD2FB"/>
                </a:solidFill>
                <a:latin typeface="Calibri"/>
                <a:cs typeface="Calibri"/>
              </a:rPr>
              <a:t>Θ→ </a:t>
            </a:r>
            <a:endParaRPr lang="es-A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75" dirty="0"/>
              <a:t> 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lang="es-AR" dirty="0"/>
              <a:t>Truncado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409" y="743167"/>
            <a:ext cx="8333105" cy="415290"/>
            <a:chOff x="359409" y="743167"/>
            <a:chExt cx="8333105" cy="41529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5178" y="86642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896" y="867869"/>
            <a:ext cx="45815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Recortar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el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consecuente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borroso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al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nivel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de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activación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α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de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cada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regla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activada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7454" y="1211163"/>
            <a:ext cx="8628380" cy="1221105"/>
            <a:chOff x="239763" y="1098704"/>
            <a:chExt cx="8628380" cy="12211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63" y="1098704"/>
              <a:ext cx="8627757" cy="12207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404" y="1188366"/>
              <a:ext cx="8412480" cy="1005840"/>
            </a:xfrm>
            <a:custGeom>
              <a:avLst/>
              <a:gdLst/>
              <a:ahLst/>
              <a:cxnLst/>
              <a:rect l="l" t="t" r="r" b="b"/>
              <a:pathLst>
                <a:path w="8412480" h="1005839">
                  <a:moveTo>
                    <a:pt x="84121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4206240" y="1005471"/>
                  </a:lnTo>
                  <a:lnTo>
                    <a:pt x="8412111" y="1005471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5404" y="1188366"/>
            <a:ext cx="8412480" cy="536684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226695" marR="131445">
              <a:lnSpc>
                <a:spcPct val="100000"/>
              </a:lnSpc>
              <a:spcBef>
                <a:spcPts val="284"/>
              </a:spcBef>
            </a:pP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Cada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regla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activa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un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conjunto borroso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salida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según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C7CFE7"/>
                </a:solidFill>
                <a:latin typeface="Calibri"/>
                <a:cs typeface="Calibri"/>
              </a:rPr>
              <a:t>tabla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.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función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membresía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del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consecuente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recorta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(clipping)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al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nivel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activación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α[i,j]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 err="1">
                <a:solidFill>
                  <a:srgbClr val="C7CFE7"/>
                </a:solidFill>
                <a:latin typeface="Calibri"/>
                <a:cs typeface="Calibri"/>
              </a:rPr>
              <a:t>regla</a:t>
            </a:r>
            <a:r>
              <a:rPr lang="es-AR" sz="1000" spc="-10" dirty="0">
                <a:solidFill>
                  <a:srgbClr val="C7CFE7"/>
                </a:solidFill>
                <a:latin typeface="Calibri"/>
                <a:cs typeface="Calibri"/>
              </a:rPr>
              <a:t>.</a:t>
            </a:r>
            <a:endParaRPr lang="es-AR" sz="1000" spc="-10" dirty="0">
              <a:latin typeface="Calibri"/>
              <a:cs typeface="Calibri"/>
            </a:endParaRPr>
          </a:p>
          <a:p>
            <a:pPr marL="226695" marR="131445">
              <a:lnSpc>
                <a:spcPct val="100000"/>
              </a:lnSpc>
              <a:spcBef>
                <a:spcPts val="284"/>
              </a:spcBef>
            </a:pPr>
            <a:r>
              <a:rPr sz="1000" dirty="0" err="1">
                <a:solidFill>
                  <a:srgbClr val="C7CFE7"/>
                </a:solidFill>
                <a:latin typeface="Calibri"/>
                <a:cs typeface="Calibri"/>
              </a:rPr>
              <a:t>Esto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garantiza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que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contribución</a:t>
            </a:r>
            <a:r>
              <a:rPr sz="10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una</a:t>
            </a:r>
            <a:r>
              <a:rPr sz="10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regla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débilmente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activada</a:t>
            </a:r>
            <a:r>
              <a:rPr sz="10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(α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pequeño)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sea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proporcionalmente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pequeña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en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espacio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salida.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696" y="2283017"/>
            <a:ext cx="322199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Del</a:t>
            </a:r>
            <a:r>
              <a:rPr sz="950" i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ejemplo: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α[Z,Z]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=</a:t>
            </a:r>
            <a:r>
              <a:rPr sz="950" i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0.33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activa</a:t>
            </a:r>
            <a:r>
              <a:rPr sz="950" i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F=Z</a:t>
            </a:r>
            <a:r>
              <a:rPr sz="950" i="1" spc="15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|</a:t>
            </a:r>
            <a:r>
              <a:rPr sz="950" i="1" spc="16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α[Z,PP]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=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0.</a:t>
            </a:r>
            <a:r>
              <a:rPr lang="es-AR" sz="950" i="1" dirty="0">
                <a:solidFill>
                  <a:srgbClr val="F49D0A"/>
                </a:solidFill>
                <a:latin typeface="Calibri"/>
                <a:cs typeface="Calibri"/>
              </a:rPr>
              <a:t>20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activa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spc="-20" dirty="0">
                <a:solidFill>
                  <a:srgbClr val="F49D0A"/>
                </a:solidFill>
                <a:latin typeface="Calibri"/>
                <a:cs typeface="Calibri"/>
              </a:rPr>
              <a:t>F=PP</a:t>
            </a:r>
            <a:endParaRPr sz="950" dirty="0">
              <a:latin typeface="Calibri"/>
              <a:cs typeface="Calibri"/>
            </a:endParaRP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066B0684-5573-4539-BB31-6DB6A3A7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85" y="2519267"/>
            <a:ext cx="4006459" cy="162448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AD99F497-B709-4F0F-8DB2-0B99618934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256"/>
          <a:stretch/>
        </p:blipFill>
        <p:spPr>
          <a:xfrm>
            <a:off x="134911" y="2523936"/>
            <a:ext cx="4382871" cy="15985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65" dirty="0"/>
              <a:t> </a:t>
            </a:r>
            <a:r>
              <a:rPr dirty="0"/>
              <a:t>4</a:t>
            </a:r>
            <a:r>
              <a:rPr spc="-45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lang="es-AR" spc="-10" dirty="0"/>
              <a:t>Unión</a:t>
            </a:r>
            <a:r>
              <a:rPr spc="-45" dirty="0"/>
              <a:t> </a:t>
            </a:r>
            <a:r>
              <a:rPr dirty="0"/>
              <a:t>(OR</a:t>
            </a:r>
            <a:r>
              <a:rPr spc="-60" dirty="0"/>
              <a:t> </a:t>
            </a:r>
            <a:r>
              <a:rPr spc="-10" dirty="0"/>
              <a:t>Difuso)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409" y="743167"/>
            <a:ext cx="8333105" cy="415290"/>
            <a:chOff x="359409" y="743167"/>
            <a:chExt cx="8333105" cy="41529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7CD2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7CD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5178" y="86642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896" y="867869"/>
            <a:ext cx="52711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Combinar</a:t>
            </a:r>
            <a:r>
              <a:rPr sz="1100" b="1" spc="-2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todos</a:t>
            </a:r>
            <a:r>
              <a:rPr sz="1100" b="1" spc="-1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los</a:t>
            </a:r>
            <a:r>
              <a:rPr sz="1100" b="1" spc="-3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consecuentes</a:t>
            </a:r>
            <a:r>
              <a:rPr sz="1100" b="1" spc="-3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recortados</a:t>
            </a:r>
            <a:r>
              <a:rPr sz="1100" b="1" spc="-3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en</a:t>
            </a:r>
            <a:r>
              <a:rPr sz="1100" b="1" spc="-3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una</a:t>
            </a:r>
            <a:r>
              <a:rPr sz="1100" b="1" spc="-1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única</a:t>
            </a:r>
            <a:r>
              <a:rPr sz="1100" b="1" spc="-2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función</a:t>
            </a:r>
            <a:r>
              <a:rPr sz="1100" b="1" spc="-2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de</a:t>
            </a:r>
            <a:r>
              <a:rPr sz="1100" b="1" spc="-30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membresía</a:t>
            </a:r>
            <a:r>
              <a:rPr sz="1100" b="1" spc="-25" dirty="0">
                <a:solidFill>
                  <a:srgbClr val="7CD2F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CD2FB"/>
                </a:solidFill>
                <a:latin typeface="Calibri"/>
                <a:cs typeface="Calibri"/>
              </a:rPr>
              <a:t>de</a:t>
            </a:r>
            <a:r>
              <a:rPr sz="1100" b="1" spc="-10" dirty="0">
                <a:solidFill>
                  <a:srgbClr val="7CD2FB"/>
                </a:solidFill>
                <a:latin typeface="Calibri"/>
                <a:cs typeface="Calibri"/>
              </a:rPr>
              <a:t> salida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763" y="1099060"/>
            <a:ext cx="8628380" cy="1175385"/>
            <a:chOff x="239763" y="1099060"/>
            <a:chExt cx="8628380" cy="11753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63" y="1099060"/>
              <a:ext cx="8627757" cy="11750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404" y="1188722"/>
              <a:ext cx="8412480" cy="960119"/>
            </a:xfrm>
            <a:custGeom>
              <a:avLst/>
              <a:gdLst/>
              <a:ahLst/>
              <a:cxnLst/>
              <a:rect l="l" t="t" r="r" b="b"/>
              <a:pathLst>
                <a:path w="8412480" h="960119">
                  <a:moveTo>
                    <a:pt x="8412111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4206240" y="959764"/>
                  </a:lnTo>
                  <a:lnTo>
                    <a:pt x="8412111" y="959764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5404" y="1188722"/>
            <a:ext cx="8412480" cy="487313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700"/>
              </a:spcBef>
            </a:pP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contribuciones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reglas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activas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combinan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usando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45" dirty="0">
                <a:solidFill>
                  <a:srgbClr val="C7CFE7"/>
                </a:solidFill>
                <a:latin typeface="Calibri"/>
                <a:cs typeface="Calibri"/>
              </a:rPr>
              <a:t>T-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conorma máximo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(OR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difuso).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endParaRPr lang="es-AR" sz="1000" spc="-10" dirty="0">
              <a:solidFill>
                <a:srgbClr val="C7CFE7"/>
              </a:solidFill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700"/>
              </a:spcBef>
            </a:pPr>
            <a:r>
              <a:rPr sz="1000" dirty="0" err="1">
                <a:solidFill>
                  <a:srgbClr val="C7CFE7"/>
                </a:solidFill>
                <a:latin typeface="Calibri"/>
                <a:cs typeface="Calibri"/>
              </a:rPr>
              <a:t>En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práctica,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como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mayoría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reglas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tienen</a:t>
            </a:r>
            <a:r>
              <a:rPr sz="10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α</a:t>
            </a:r>
            <a:r>
              <a:rPr sz="10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0,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solo</a:t>
            </a:r>
            <a:r>
              <a:rPr sz="1000" spc="-10" dirty="0">
                <a:solidFill>
                  <a:srgbClr val="C7CFE7"/>
                </a:solidFill>
                <a:latin typeface="Calibri"/>
                <a:cs typeface="Calibri"/>
              </a:rPr>
              <a:t> contribuyen </a:t>
            </a:r>
            <a:r>
              <a:rPr sz="1000" dirty="0">
                <a:solidFill>
                  <a:srgbClr val="C7CFE7"/>
                </a:solidFill>
                <a:latin typeface="Calibri"/>
                <a:cs typeface="Calibri"/>
              </a:rPr>
              <a:t>las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C7CFE7"/>
                </a:solidFill>
                <a:latin typeface="Calibri"/>
                <a:cs typeface="Calibri"/>
              </a:rPr>
              <a:t>reglas</a:t>
            </a:r>
            <a:r>
              <a:rPr sz="10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1000" spc="-10" dirty="0" err="1">
                <a:solidFill>
                  <a:srgbClr val="C7CFE7"/>
                </a:solidFill>
                <a:latin typeface="Calibri"/>
                <a:cs typeface="Calibri"/>
              </a:rPr>
              <a:t>activas</a:t>
            </a:r>
            <a:r>
              <a:rPr lang="es-AR" sz="1000" spc="-20" dirty="0">
                <a:solidFill>
                  <a:srgbClr val="C7CFE7"/>
                </a:solidFill>
                <a:latin typeface="Calibri"/>
                <a:cs typeface="Calibri"/>
              </a:rPr>
              <a:t>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2696" y="2237297"/>
            <a:ext cx="4936490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Del</a:t>
            </a:r>
            <a:r>
              <a:rPr sz="950" i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ejemplo:</a:t>
            </a:r>
            <a:r>
              <a:rPr sz="950" i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se</a:t>
            </a:r>
            <a:r>
              <a:rPr sz="950" i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agregan</a:t>
            </a:r>
            <a:r>
              <a:rPr sz="950" i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las</a:t>
            </a:r>
            <a:r>
              <a:rPr sz="950" i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F49D0A"/>
                </a:solidFill>
                <a:latin typeface="Calibri"/>
                <a:cs typeface="Calibri"/>
              </a:rPr>
              <a:t>contribuciones</a:t>
            </a:r>
            <a:r>
              <a:rPr sz="950" i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de</a:t>
            </a:r>
            <a:r>
              <a:rPr sz="950" i="1" spc="-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F49D0A"/>
                </a:solidFill>
                <a:latin typeface="Calibri"/>
                <a:cs typeface="Calibri"/>
              </a:rPr>
              <a:t>(Z,Z)→Z</a:t>
            </a:r>
            <a:r>
              <a:rPr sz="950" i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con</a:t>
            </a:r>
            <a:r>
              <a:rPr sz="950" i="1" spc="-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F49D0A"/>
                </a:solidFill>
                <a:latin typeface="Calibri"/>
                <a:cs typeface="Calibri"/>
              </a:rPr>
              <a:t>α=0.33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y</a:t>
            </a:r>
            <a:r>
              <a:rPr sz="950" i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(Z,PP)→PP</a:t>
            </a:r>
            <a:r>
              <a:rPr sz="950" i="1" spc="-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F49D0A"/>
                </a:solidFill>
                <a:latin typeface="Calibri"/>
                <a:cs typeface="Calibri"/>
              </a:rPr>
              <a:t>con</a:t>
            </a:r>
            <a:r>
              <a:rPr sz="950" i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F49D0A"/>
                </a:solidFill>
                <a:latin typeface="Calibri"/>
                <a:cs typeface="Calibri"/>
              </a:rPr>
              <a:t>α=</a:t>
            </a:r>
            <a:r>
              <a:rPr lang="es-AR" sz="950" i="1" spc="-10" dirty="0">
                <a:solidFill>
                  <a:srgbClr val="F49D0A"/>
                </a:solidFill>
                <a:latin typeface="Calibri"/>
                <a:cs typeface="Calibri"/>
              </a:rPr>
              <a:t>0.20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50" dirty="0">
              <a:latin typeface="Calibri"/>
              <a:cs typeface="Calibri"/>
            </a:endParaRPr>
          </a:p>
          <a:p>
            <a:pPr marL="149860">
              <a:lnSpc>
                <a:spcPct val="100000"/>
              </a:lnSpc>
              <a:spcBef>
                <a:spcPts val="5"/>
              </a:spcBef>
              <a:tabLst>
                <a:tab pos="3761740" algn="l"/>
              </a:tabLst>
            </a:pPr>
            <a:r>
              <a:rPr sz="850" b="1" dirty="0">
                <a:solidFill>
                  <a:srgbClr val="51C379"/>
                </a:solidFill>
                <a:latin typeface="Calibri"/>
                <a:cs typeface="Calibri"/>
              </a:rPr>
              <a:t>	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4198" y="2568590"/>
            <a:ext cx="3063241" cy="507831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226695" marR="184150">
              <a:lnSpc>
                <a:spcPct val="100000"/>
              </a:lnSpc>
              <a:spcBef>
                <a:spcPts val="720"/>
              </a:spcBef>
            </a:pP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Resultado: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μ_salida(u)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=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max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ambos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recortados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→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función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compuesta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que cubre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Z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250" dirty="0">
                <a:solidFill>
                  <a:srgbClr val="C7CFE7"/>
                </a:solidFill>
                <a:latin typeface="MingLiU_HKSCS-ExtB"/>
                <a:cs typeface="MingLiU_HKSCS-ExtB"/>
              </a:rPr>
              <a:t>∪</a:t>
            </a:r>
            <a:r>
              <a:rPr sz="900" spc="-229" dirty="0">
                <a:solidFill>
                  <a:srgbClr val="C7CFE7"/>
                </a:solidFill>
                <a:latin typeface="MingLiU_HKSCS-ExtB"/>
                <a:cs typeface="MingLiU_HKSCS-ExtB"/>
              </a:rPr>
              <a:t> </a:t>
            </a:r>
            <a:r>
              <a:rPr lang="es-AR" sz="900" spc="-229" dirty="0">
                <a:solidFill>
                  <a:srgbClr val="C7CFE7"/>
                </a:solidFill>
                <a:latin typeface="MingLiU_HKSCS-ExtB"/>
                <a:cs typeface="MingLiU_HKSCS-ExtB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PP.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Este es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conjunto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borroso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de</a:t>
            </a:r>
            <a:r>
              <a:rPr sz="900" spc="-1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 err="1">
                <a:solidFill>
                  <a:srgbClr val="C7CFE7"/>
                </a:solidFill>
                <a:latin typeface="Calibri"/>
                <a:cs typeface="Calibri"/>
              </a:rPr>
              <a:t>salida</a:t>
            </a:r>
            <a:r>
              <a:rPr lang="es-AR" sz="900" spc="500" dirty="0">
                <a:solidFill>
                  <a:srgbClr val="C7CFE7"/>
                </a:solidFill>
                <a:latin typeface="Calibri"/>
                <a:cs typeface="Calibri"/>
              </a:rPr>
              <a:t>,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que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entra</a:t>
            </a:r>
            <a:r>
              <a:rPr sz="900" spc="-2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al</a:t>
            </a:r>
            <a:r>
              <a:rPr sz="9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defuzzificador.</a:t>
            </a:r>
            <a:endParaRPr sz="900" dirty="0">
              <a:latin typeface="Calibri"/>
              <a:cs typeface="Calibri"/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7F18C0DC-95CD-4A51-9777-022B4CD94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284" y="2094514"/>
            <a:ext cx="3657600" cy="30260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60" dirty="0"/>
              <a:t> </a:t>
            </a:r>
            <a:r>
              <a:rPr dirty="0"/>
              <a:t>5</a:t>
            </a:r>
            <a:r>
              <a:rPr spc="-45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spc="-10" dirty="0"/>
              <a:t>Defuzzificación</a:t>
            </a:r>
            <a:r>
              <a:rPr spc="-50" dirty="0"/>
              <a:t> </a:t>
            </a:r>
            <a:r>
              <a:rPr dirty="0"/>
              <a:t>por</a:t>
            </a:r>
            <a:r>
              <a:rPr spc="-50" dirty="0"/>
              <a:t> </a:t>
            </a:r>
            <a:r>
              <a:rPr spc="-10" dirty="0"/>
              <a:t>Centroide</a:t>
            </a:r>
            <a:r>
              <a:rPr spc="-45" dirty="0"/>
              <a:t> </a:t>
            </a:r>
            <a:r>
              <a:rPr spc="-10" dirty="0"/>
              <a:t>(CoG)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409" y="743167"/>
            <a:ext cx="8333105" cy="415290"/>
            <a:chOff x="359409" y="743167"/>
            <a:chExt cx="8333105" cy="415290"/>
          </a:xfrm>
        </p:grpSpPr>
        <p:sp>
          <p:nvSpPr>
            <p:cNvPr id="4" name="object 4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8229231" y="0"/>
                  </a:moveTo>
                  <a:lnTo>
                    <a:pt x="0" y="0"/>
                  </a:lnTo>
                  <a:lnTo>
                    <a:pt x="0" y="22682"/>
                  </a:lnTo>
                  <a:lnTo>
                    <a:pt x="4114800" y="22682"/>
                  </a:lnTo>
                  <a:lnTo>
                    <a:pt x="8229231" y="22682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292C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749517"/>
              <a:ext cx="8229600" cy="22860"/>
            </a:xfrm>
            <a:custGeom>
              <a:avLst/>
              <a:gdLst/>
              <a:ahLst/>
              <a:cxnLst/>
              <a:rect l="l" t="t" r="r" b="b"/>
              <a:pathLst>
                <a:path w="8229600" h="22859">
                  <a:moveTo>
                    <a:pt x="4114800" y="22682"/>
                  </a:moveTo>
                  <a:lnTo>
                    <a:pt x="0" y="22682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22682"/>
                  </a:lnTo>
                  <a:lnTo>
                    <a:pt x="4114800" y="22682"/>
                  </a:lnTo>
                  <a:close/>
                </a:path>
              </a:pathLst>
            </a:custGeom>
            <a:ln w="12599">
              <a:solidFill>
                <a:srgbClr val="292C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51C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59" y="804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51C3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5178" y="86642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896" y="867869"/>
            <a:ext cx="42894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51C379"/>
                </a:solidFill>
                <a:latin typeface="Calibri"/>
                <a:cs typeface="Calibri"/>
              </a:rPr>
              <a:t>Convertir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el</a:t>
            </a:r>
            <a:r>
              <a:rPr sz="1100" b="1" spc="-1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conjunto</a:t>
            </a:r>
            <a:r>
              <a:rPr sz="1100" b="1" spc="-1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borroso de</a:t>
            </a:r>
            <a:r>
              <a:rPr sz="1100" b="1" spc="-1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salida</a:t>
            </a:r>
            <a:r>
              <a:rPr sz="1100" b="1" spc="-10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en</a:t>
            </a:r>
            <a:r>
              <a:rPr sz="1100" b="1" spc="-10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un</a:t>
            </a:r>
            <a:r>
              <a:rPr sz="1100" b="1" spc="-10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valor</a:t>
            </a:r>
            <a:r>
              <a:rPr sz="1100" b="1" spc="-20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nítido</a:t>
            </a:r>
            <a:r>
              <a:rPr sz="1100" b="1" spc="-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de</a:t>
            </a:r>
            <a:r>
              <a:rPr sz="1100" b="1" spc="-10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fuerza</a:t>
            </a:r>
            <a:r>
              <a:rPr sz="1100" b="1" spc="-1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51C379"/>
                </a:solidFill>
                <a:latin typeface="Calibri"/>
                <a:cs typeface="Calibri"/>
              </a:rPr>
              <a:t>F*</a:t>
            </a:r>
            <a:r>
              <a:rPr sz="1100" b="1" spc="-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51C379"/>
                </a:solidFill>
                <a:latin typeface="Calibri"/>
                <a:cs typeface="Calibri"/>
              </a:rPr>
              <a:t>[N]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763" y="1099060"/>
            <a:ext cx="5610860" cy="1449705"/>
            <a:chOff x="239763" y="1099060"/>
            <a:chExt cx="5610860" cy="14497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63" y="1099060"/>
              <a:ext cx="5610237" cy="14493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404" y="1188722"/>
              <a:ext cx="5394960" cy="1234440"/>
            </a:xfrm>
            <a:custGeom>
              <a:avLst/>
              <a:gdLst/>
              <a:ahLst/>
              <a:cxnLst/>
              <a:rect l="l" t="t" r="r" b="b"/>
              <a:pathLst>
                <a:path w="5394960" h="1234439">
                  <a:moveTo>
                    <a:pt x="539459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697480" y="1234084"/>
                  </a:lnTo>
                  <a:lnTo>
                    <a:pt x="5394591" y="1234084"/>
                  </a:lnTo>
                  <a:lnTo>
                    <a:pt x="539459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5404" y="1188722"/>
            <a:ext cx="5394960" cy="123444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625"/>
              </a:spcBef>
            </a:pPr>
            <a:r>
              <a:rPr sz="1050" b="1" spc="-10" dirty="0">
                <a:solidFill>
                  <a:srgbClr val="51C379"/>
                </a:solidFill>
                <a:latin typeface="Calibri"/>
                <a:cs typeface="Calibri"/>
              </a:rPr>
              <a:t>Centro</a:t>
            </a:r>
            <a:r>
              <a:rPr sz="1050" b="1" spc="-1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51C379"/>
                </a:solidFill>
                <a:latin typeface="Calibri"/>
                <a:cs typeface="Calibri"/>
              </a:rPr>
              <a:t>de</a:t>
            </a:r>
            <a:r>
              <a:rPr sz="1050" b="1" spc="-10" dirty="0">
                <a:solidFill>
                  <a:srgbClr val="51C379"/>
                </a:solidFill>
                <a:latin typeface="Calibri"/>
                <a:cs typeface="Calibri"/>
              </a:rPr>
              <a:t> Gravedad</a:t>
            </a:r>
            <a:r>
              <a:rPr sz="1050" b="1" spc="-2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050" b="1" spc="-20" dirty="0">
                <a:solidFill>
                  <a:srgbClr val="51C379"/>
                </a:solidFill>
                <a:latin typeface="Calibri"/>
                <a:cs typeface="Calibri"/>
              </a:rPr>
              <a:t>(CoG)</a:t>
            </a:r>
            <a:endParaRPr sz="1050" dirty="0">
              <a:latin typeface="Calibri"/>
              <a:cs typeface="Calibri"/>
            </a:endParaRPr>
          </a:p>
          <a:p>
            <a:pPr marL="226695" marR="2949575" indent="684530">
              <a:lnSpc>
                <a:spcPct val="100000"/>
              </a:lnSpc>
              <a:spcBef>
                <a:spcPts val="229"/>
              </a:spcBef>
              <a:tabLst>
                <a:tab pos="530225" algn="l"/>
                <a:tab pos="835025" algn="l"/>
              </a:tabLst>
            </a:pPr>
            <a:r>
              <a:rPr sz="1000" spc="170" dirty="0">
                <a:solidFill>
                  <a:srgbClr val="FFFFFF"/>
                </a:solidFill>
                <a:latin typeface="Cambria"/>
                <a:cs typeface="Cambria"/>
              </a:rPr>
              <a:t>∫</a:t>
            </a:r>
            <a:r>
              <a:rPr sz="100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u</a:t>
            </a:r>
            <a:r>
              <a:rPr sz="100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310" dirty="0">
                <a:solidFill>
                  <a:srgbClr val="FFFFFF"/>
                </a:solidFill>
                <a:latin typeface="Cambria"/>
                <a:cs typeface="Cambria"/>
              </a:rPr>
              <a:t>·</a:t>
            </a:r>
            <a:r>
              <a:rPr sz="1000" spc="4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60" dirty="0">
                <a:solidFill>
                  <a:srgbClr val="FFFFFF"/>
                </a:solidFill>
                <a:latin typeface="Cambria"/>
                <a:cs typeface="Cambria"/>
              </a:rPr>
              <a:t>μ_salida(u)</a:t>
            </a:r>
            <a:r>
              <a:rPr sz="1000" spc="4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mbria"/>
                <a:cs typeface="Cambria"/>
              </a:rPr>
              <a:t>du</a:t>
            </a:r>
            <a:r>
              <a:rPr sz="1000" spc="80" dirty="0">
                <a:solidFill>
                  <a:srgbClr val="FFFFFF"/>
                </a:solidFill>
                <a:latin typeface="Cambria"/>
                <a:cs typeface="Cambria"/>
              </a:rPr>
              <a:t> F*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00" spc="-5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000" spc="-60" dirty="0">
                <a:solidFill>
                  <a:srgbClr val="FFFFFF"/>
                </a:solidFill>
                <a:latin typeface="Cambria"/>
                <a:cs typeface="Cambria"/>
              </a:rPr>
              <a:t>─────────────────────</a:t>
            </a:r>
            <a:endParaRPr sz="1000" dirty="0">
              <a:latin typeface="Cambria"/>
              <a:cs typeface="Cambria"/>
            </a:endParaRPr>
          </a:p>
          <a:p>
            <a:pPr marL="1064260">
              <a:lnSpc>
                <a:spcPct val="100000"/>
              </a:lnSpc>
              <a:spcBef>
                <a:spcPts val="5"/>
              </a:spcBef>
            </a:pPr>
            <a:r>
              <a:rPr sz="1000" spc="170" dirty="0">
                <a:solidFill>
                  <a:srgbClr val="FFFFFF"/>
                </a:solidFill>
                <a:latin typeface="Cambria"/>
                <a:cs typeface="Cambria"/>
              </a:rPr>
              <a:t>∫</a:t>
            </a:r>
            <a:r>
              <a:rPr sz="1000" spc="3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60" dirty="0">
                <a:solidFill>
                  <a:srgbClr val="FFFFFF"/>
                </a:solidFill>
                <a:latin typeface="Cambria"/>
                <a:cs typeface="Cambria"/>
              </a:rPr>
              <a:t>μ_salida(u)</a:t>
            </a:r>
            <a:r>
              <a:rPr sz="1000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mbria"/>
                <a:cs typeface="Cambria"/>
              </a:rPr>
              <a:t>du</a:t>
            </a:r>
            <a:endParaRPr sz="1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 dirty="0">
              <a:latin typeface="Cambria"/>
              <a:cs typeface="Cambria"/>
            </a:endParaRPr>
          </a:p>
          <a:p>
            <a:pPr marL="226695" marR="1807210">
              <a:lnSpc>
                <a:spcPct val="100000"/>
              </a:lnSpc>
            </a:pPr>
            <a:r>
              <a:rPr sz="1000" spc="160" dirty="0">
                <a:solidFill>
                  <a:srgbClr val="FFFFFF"/>
                </a:solidFill>
                <a:latin typeface="Cambria"/>
                <a:cs typeface="Cambria"/>
              </a:rPr>
              <a:t>Discretizado:</a:t>
            </a:r>
            <a:r>
              <a:rPr sz="1000" spc="43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FFFF"/>
                </a:solidFill>
                <a:latin typeface="Cambria"/>
                <a:cs typeface="Cambria"/>
              </a:rPr>
              <a:t>60001</a:t>
            </a:r>
            <a:r>
              <a:rPr sz="1000" spc="43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00" dirty="0">
                <a:solidFill>
                  <a:srgbClr val="FFFFFF"/>
                </a:solidFill>
                <a:latin typeface="Cambria"/>
                <a:cs typeface="Cambria"/>
              </a:rPr>
              <a:t>puntos</a:t>
            </a:r>
            <a:r>
              <a:rPr sz="1000" spc="4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7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1000" spc="43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35" dirty="0">
                <a:solidFill>
                  <a:srgbClr val="FFFFFF"/>
                </a:solidFill>
                <a:latin typeface="Cambria"/>
                <a:cs typeface="Cambria"/>
              </a:rPr>
              <a:t>[−300,</a:t>
            </a:r>
            <a:r>
              <a:rPr sz="1000" spc="4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85" dirty="0">
                <a:solidFill>
                  <a:srgbClr val="FFFFFF"/>
                </a:solidFill>
                <a:latin typeface="Cambria"/>
                <a:cs typeface="Cambria"/>
              </a:rPr>
              <a:t>+300]</a:t>
            </a:r>
            <a:r>
              <a:rPr sz="1000" spc="43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1000" spc="160" dirty="0">
                <a:solidFill>
                  <a:srgbClr val="FFFFFF"/>
                </a:solidFill>
                <a:latin typeface="Cambria"/>
                <a:cs typeface="Cambria"/>
              </a:rPr>
              <a:t> Integración:</a:t>
            </a:r>
            <a:r>
              <a:rPr sz="10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000" spc="145" dirty="0">
                <a:solidFill>
                  <a:srgbClr val="FFFFFF"/>
                </a:solidFill>
                <a:latin typeface="Cambria"/>
                <a:cs typeface="Cambria"/>
              </a:rPr>
              <a:t>np.trapezoid()</a:t>
            </a:r>
            <a:endParaRPr sz="1000" dirty="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817958" y="1099060"/>
            <a:ext cx="3004820" cy="1449705"/>
            <a:chOff x="5817958" y="1099060"/>
            <a:chExt cx="3004820" cy="144970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7958" y="1099060"/>
              <a:ext cx="3004197" cy="144938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43599" y="1188722"/>
              <a:ext cx="2788920" cy="1234440"/>
            </a:xfrm>
            <a:custGeom>
              <a:avLst/>
              <a:gdLst/>
              <a:ahLst/>
              <a:cxnLst/>
              <a:rect l="l" t="t" r="r" b="b"/>
              <a:pathLst>
                <a:path w="2788920" h="1234439">
                  <a:moveTo>
                    <a:pt x="278856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1394282" y="1234084"/>
                  </a:lnTo>
                  <a:lnTo>
                    <a:pt x="2788564" y="1234084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43600" y="1188722"/>
            <a:ext cx="2788920" cy="123444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655"/>
              </a:spcBef>
            </a:pPr>
            <a:r>
              <a:rPr sz="1000" b="1" dirty="0">
                <a:solidFill>
                  <a:srgbClr val="51C379"/>
                </a:solidFill>
                <a:latin typeface="Calibri"/>
                <a:cs typeface="Calibri"/>
              </a:rPr>
              <a:t>¿Por</a:t>
            </a:r>
            <a:r>
              <a:rPr sz="1000" b="1" spc="-3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51C379"/>
                </a:solidFill>
                <a:latin typeface="Calibri"/>
                <a:cs typeface="Calibri"/>
              </a:rPr>
              <a:t>qué</a:t>
            </a:r>
            <a:r>
              <a:rPr sz="1000" b="1" spc="-45" dirty="0">
                <a:solidFill>
                  <a:srgbClr val="51C379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51C379"/>
                </a:solidFill>
                <a:latin typeface="Calibri"/>
                <a:cs typeface="Calibri"/>
              </a:rPr>
              <a:t>CoG?</a:t>
            </a:r>
            <a:endParaRPr sz="1000">
              <a:latin typeface="Calibri"/>
              <a:cs typeface="Calibri"/>
            </a:endParaRPr>
          </a:p>
          <a:p>
            <a:pPr marL="372745" indent="-146050">
              <a:lnSpc>
                <a:spcPct val="100000"/>
              </a:lnSpc>
              <a:spcBef>
                <a:spcPts val="840"/>
              </a:spcBef>
              <a:buFont typeface="MingLiU_HKSCS-ExtB"/>
              <a:buChar char="✓"/>
              <a:tabLst>
                <a:tab pos="372745" algn="l"/>
              </a:tabLst>
            </a:pP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Suave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y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continuo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 —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no</a:t>
            </a:r>
            <a:r>
              <a:rPr sz="900" spc="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salta</a:t>
            </a:r>
            <a:endParaRPr sz="900">
              <a:latin typeface="Calibri"/>
              <a:cs typeface="Calibri"/>
            </a:endParaRPr>
          </a:p>
          <a:p>
            <a:pPr marL="372745" indent="-146050">
              <a:lnSpc>
                <a:spcPct val="100000"/>
              </a:lnSpc>
              <a:spcBef>
                <a:spcPts val="720"/>
              </a:spcBef>
              <a:buFont typeface="MingLiU_HKSCS-ExtB"/>
              <a:buChar char="✓"/>
              <a:tabLst>
                <a:tab pos="372745" algn="l"/>
              </a:tabLst>
            </a:pP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Considera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toda</a:t>
            </a:r>
            <a:r>
              <a:rPr sz="900" spc="-2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el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área</a:t>
            </a:r>
            <a:r>
              <a:rPr sz="900" spc="-5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bajo </a:t>
            </a:r>
            <a:r>
              <a:rPr sz="900" spc="-50" dirty="0">
                <a:solidFill>
                  <a:srgbClr val="C7CFE7"/>
                </a:solidFill>
                <a:latin typeface="Calibri"/>
                <a:cs typeface="Calibri"/>
              </a:rPr>
              <a:t>μ</a:t>
            </a:r>
            <a:endParaRPr sz="900">
              <a:latin typeface="Calibri"/>
              <a:cs typeface="Calibri"/>
            </a:endParaRPr>
          </a:p>
          <a:p>
            <a:pPr marL="372745" indent="-146050">
              <a:lnSpc>
                <a:spcPct val="100000"/>
              </a:lnSpc>
              <a:spcBef>
                <a:spcPts val="720"/>
              </a:spcBef>
              <a:buFont typeface="MingLiU_HKSCS-ExtB"/>
              <a:buChar char="✓"/>
              <a:tabLst>
                <a:tab pos="372745" algn="l"/>
              </a:tabLst>
            </a:pP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Robusto</a:t>
            </a:r>
            <a:r>
              <a:rPr sz="900" spc="-3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ante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 ruido</a:t>
            </a:r>
            <a:endParaRPr sz="900">
              <a:latin typeface="Calibri"/>
              <a:cs typeface="Calibri"/>
            </a:endParaRPr>
          </a:p>
          <a:p>
            <a:pPr marL="372745" indent="-146050">
              <a:lnSpc>
                <a:spcPct val="100000"/>
              </a:lnSpc>
              <a:spcBef>
                <a:spcPts val="720"/>
              </a:spcBef>
              <a:buFont typeface="MingLiU_HKSCS-ExtB"/>
              <a:buChar char="✓"/>
              <a:tabLst>
                <a:tab pos="372745" algn="l"/>
              </a:tabLst>
            </a:pPr>
            <a:r>
              <a:rPr sz="900" dirty="0">
                <a:solidFill>
                  <a:srgbClr val="C7CFE7"/>
                </a:solidFill>
                <a:latin typeface="Calibri"/>
                <a:cs typeface="Calibri"/>
              </a:rPr>
              <a:t>Estándar</a:t>
            </a:r>
            <a:r>
              <a:rPr sz="900" spc="-50" dirty="0">
                <a:solidFill>
                  <a:srgbClr val="C7CFE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7CFE7"/>
                </a:solidFill>
                <a:latin typeface="Calibri"/>
                <a:cs typeface="Calibri"/>
              </a:rPr>
              <a:t>Mamdani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763" y="2653184"/>
            <a:ext cx="8628380" cy="1586865"/>
            <a:chOff x="239763" y="2653184"/>
            <a:chExt cx="8628380" cy="158686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763" y="2653184"/>
              <a:ext cx="8627757" cy="158653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5404" y="2742846"/>
              <a:ext cx="8412480" cy="1371600"/>
            </a:xfrm>
            <a:custGeom>
              <a:avLst/>
              <a:gdLst/>
              <a:ahLst/>
              <a:cxnLst/>
              <a:rect l="l" t="t" r="r" b="b"/>
              <a:pathLst>
                <a:path w="8412480" h="1371600">
                  <a:moveTo>
                    <a:pt x="8412111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4206240" y="1371231"/>
                  </a:lnTo>
                  <a:lnTo>
                    <a:pt x="8412111" y="1371231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191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5404" y="2742846"/>
            <a:ext cx="8412480" cy="1184940"/>
          </a:xfrm>
          <a:prstGeom prst="rect">
            <a:avLst/>
          </a:prstGeom>
          <a:ln w="12599">
            <a:solidFill>
              <a:srgbClr val="292C39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algn="l"/>
            <a:r>
              <a:rPr lang="es-AR" sz="1000" b="0" i="0" dirty="0">
                <a:solidFill>
                  <a:srgbClr val="52C47A"/>
                </a:solidFill>
                <a:effectLst/>
                <a:latin typeface="Courier New" panose="02070309020205020404" pitchFamily="49" charset="0"/>
              </a:rPr>
              <a:t>Z: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 pico en 0 N, </a:t>
            </a:r>
            <a:r>
              <a:rPr lang="el-G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α = 0.333 → 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área ≈  </a:t>
            </a:r>
            <a:r>
              <a:rPr lang="es-AR" sz="1000" b="0" i="0" dirty="0">
                <a:solidFill>
                  <a:srgbClr val="52C47A"/>
                </a:solidFill>
                <a:effectLst/>
                <a:latin typeface="Courier New" panose="02070309020205020404" pitchFamily="49" charset="0"/>
              </a:rPr>
              <a:t>19.8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 → centroide en </a:t>
            </a:r>
            <a:r>
              <a:rPr lang="es-AR" sz="1000" b="0" i="0" dirty="0">
                <a:solidFill>
                  <a:srgbClr val="52C47A"/>
                </a:solidFill>
                <a:effectLst/>
                <a:latin typeface="Courier New" panose="02070309020205020404" pitchFamily="49" charset="0"/>
              </a:rPr>
              <a:t>0 N</a:t>
            </a:r>
          </a:p>
          <a:p>
            <a:pPr algn="l"/>
            <a:endParaRPr lang="es-AR" sz="1000" b="0" i="0" dirty="0">
              <a:solidFill>
                <a:srgbClr val="C8D0E8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s-AR" sz="1000" b="0" i="0" dirty="0">
                <a:solidFill>
                  <a:srgbClr val="52A8E0"/>
                </a:solidFill>
                <a:effectLst/>
                <a:latin typeface="Courier New" panose="02070309020205020404" pitchFamily="49" charset="0"/>
              </a:rPr>
              <a:t>PP: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 pico en +100 N, </a:t>
            </a:r>
            <a:r>
              <a:rPr lang="el-G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α = 0.200 → 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área ≈ </a:t>
            </a:r>
            <a:r>
              <a:rPr lang="es-AR" sz="1000" b="0" i="0" dirty="0">
                <a:solidFill>
                  <a:srgbClr val="52A8E0"/>
                </a:solidFill>
                <a:effectLst/>
                <a:latin typeface="Courier New" panose="02070309020205020404" pitchFamily="49" charset="0"/>
              </a:rPr>
              <a:t>12.0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 → centroide en </a:t>
            </a:r>
            <a:r>
              <a:rPr lang="es-AR" sz="1000" b="0" i="0" dirty="0">
                <a:solidFill>
                  <a:srgbClr val="52A8E0"/>
                </a:solidFill>
                <a:effectLst/>
                <a:latin typeface="Courier New" panose="02070309020205020404" pitchFamily="49" charset="0"/>
              </a:rPr>
              <a:t>+100 N</a:t>
            </a:r>
          </a:p>
          <a:p>
            <a:pPr algn="l"/>
            <a:endParaRPr lang="es-AR" sz="1000" b="0" i="0" dirty="0">
              <a:solidFill>
                <a:srgbClr val="C8D0E8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Z tiene más área que PP → el centroide se acerca más a Z</a:t>
            </a:r>
          </a:p>
          <a:p>
            <a:pPr algn="l"/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F* ≈ (0 × </a:t>
            </a:r>
            <a:r>
              <a:rPr lang="es-AR" sz="1000" b="0" i="0" dirty="0">
                <a:solidFill>
                  <a:srgbClr val="52C47A"/>
                </a:solidFill>
                <a:effectLst/>
                <a:latin typeface="Courier New" panose="02070309020205020404" pitchFamily="49" charset="0"/>
              </a:rPr>
              <a:t> 19.8 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 + 100 × </a:t>
            </a:r>
            <a:r>
              <a:rPr lang="es-AR" sz="1000" b="0" i="0" dirty="0">
                <a:solidFill>
                  <a:srgbClr val="52A8E0"/>
                </a:solidFill>
                <a:effectLst/>
                <a:latin typeface="Courier New" panose="02070309020205020404" pitchFamily="49" charset="0"/>
              </a:rPr>
              <a:t>12.0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) / (</a:t>
            </a:r>
            <a:r>
              <a:rPr lang="es-AR" sz="1000" b="0" i="0" dirty="0">
                <a:solidFill>
                  <a:srgbClr val="52C47A"/>
                </a:solidFill>
                <a:effectLst/>
                <a:latin typeface="Courier New" panose="02070309020205020404" pitchFamily="49" charset="0"/>
              </a:rPr>
              <a:t>19.8 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 + </a:t>
            </a:r>
            <a:r>
              <a:rPr lang="es-AR" sz="1000" b="0" i="0" dirty="0">
                <a:solidFill>
                  <a:srgbClr val="52A8E0"/>
                </a:solidFill>
                <a:effectLst/>
                <a:latin typeface="Courier New" panose="02070309020205020404" pitchFamily="49" charset="0"/>
              </a:rPr>
              <a:t>12.0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    = 1200 / </a:t>
            </a:r>
            <a:r>
              <a:rPr lang="es-AR" sz="1000" dirty="0">
                <a:solidFill>
                  <a:srgbClr val="C8D0E8"/>
                </a:solidFill>
                <a:latin typeface="Courier New" panose="02070309020205020404" pitchFamily="49" charset="0"/>
              </a:rPr>
              <a:t>31.8</a:t>
            </a:r>
            <a:r>
              <a:rPr lang="es-AR" sz="1000" b="0" i="0" dirty="0">
                <a:solidFill>
                  <a:srgbClr val="C8D0E8"/>
                </a:solidFill>
                <a:effectLst/>
                <a:latin typeface="Courier New" panose="02070309020205020404" pitchFamily="49" charset="0"/>
              </a:rPr>
              <a:t> ≈ </a:t>
            </a:r>
            <a:r>
              <a:rPr lang="es-AR" sz="1000" b="0" i="0" dirty="0">
                <a:solidFill>
                  <a:srgbClr val="F43F5E"/>
                </a:solidFill>
                <a:effectLst/>
                <a:latin typeface="Courier New" panose="02070309020205020404" pitchFamily="49" charset="0"/>
              </a:rPr>
              <a:t>+37.7 N</a:t>
            </a:r>
            <a:endParaRPr lang="es-AR" sz="1000" b="0" i="0" dirty="0">
              <a:solidFill>
                <a:srgbClr val="C8D0E8"/>
              </a:solidFill>
              <a:effectLst/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11E4-01F4-6AB0-C588-1D4434AA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36" y="299785"/>
            <a:ext cx="6439534" cy="338554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 err="1">
                <a:ea typeface="Calibri"/>
              </a:rPr>
              <a:t>Otra</a:t>
            </a:r>
            <a:r>
              <a:rPr lang="en-US" dirty="0">
                <a:ea typeface="Calibri"/>
              </a:rPr>
              <a:t> </a:t>
            </a:r>
            <a:r>
              <a:rPr lang="en-US" dirty="0" err="1">
                <a:ea typeface="Calibri"/>
              </a:rPr>
              <a:t>planteo</a:t>
            </a:r>
            <a:r>
              <a:rPr lang="en-US" dirty="0">
                <a:ea typeface="Calibri"/>
              </a:rPr>
              <a:t>(</a:t>
            </a:r>
            <a:r>
              <a:rPr lang="en-US" dirty="0" err="1">
                <a:ea typeface="Calibri"/>
              </a:rPr>
              <a:t>más</a:t>
            </a:r>
            <a:r>
              <a:rPr lang="en-US" dirty="0">
                <a:ea typeface="Calibri"/>
              </a:rPr>
              <a:t> simple)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AFACA-462F-7B97-DD41-492A17E5D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680" y="709982"/>
            <a:ext cx="8409940" cy="332398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u="sng" dirty="0" err="1">
                <a:solidFill>
                  <a:schemeClr val="accent2"/>
                </a:solidFill>
                <a:ea typeface="Calibri"/>
                <a:cs typeface="Calibri"/>
              </a:rPr>
              <a:t>Caracteristicas</a:t>
            </a:r>
            <a:r>
              <a:rPr lang="en-US" u="sng" dirty="0">
                <a:solidFill>
                  <a:schemeClr val="accent2"/>
                </a:solidFill>
                <a:ea typeface="Calibri"/>
                <a:cs typeface="Calibri"/>
              </a:rPr>
              <a:t> del </a:t>
            </a:r>
            <a:r>
              <a:rPr lang="en-US" u="sng" dirty="0" err="1">
                <a:solidFill>
                  <a:schemeClr val="accent2"/>
                </a:solidFill>
                <a:ea typeface="Calibri"/>
                <a:cs typeface="Calibri"/>
              </a:rPr>
              <a:t>sistema</a:t>
            </a:r>
            <a:endParaRPr lang="en-US" u="sng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C7CFE7"/>
                </a:solidFill>
                <a:latin typeface="Calibri"/>
                <a:cs typeface="Calibri"/>
              </a:rPr>
              <a:t>M= 1,5kg</a:t>
            </a:r>
            <a:endParaRPr lang="en-US" sz="1400" dirty="0">
              <a:solidFill>
                <a:srgbClr val="C7CFE7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C7CFE7"/>
                </a:solidFill>
                <a:latin typeface="Calibri"/>
                <a:cs typeface="Calibri"/>
              </a:rPr>
              <a:t>m=0,5kg</a:t>
            </a:r>
            <a:endParaRPr lang="en-US" sz="1400" dirty="0">
              <a:solidFill>
                <a:srgbClr val="C7CFE7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C7CFE7"/>
                </a:solidFill>
                <a:latin typeface="Calibri"/>
                <a:cs typeface="Calibri"/>
              </a:rPr>
              <a:t>l=0,7m</a:t>
            </a:r>
            <a:endParaRPr lang="en-US" sz="1400" dirty="0">
              <a:solidFill>
                <a:srgbClr val="C7CFE7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C7CFE7"/>
                </a:solidFill>
                <a:latin typeface="Calibri"/>
                <a:cs typeface="Calibri"/>
              </a:rPr>
              <a:t>Sin </a:t>
            </a:r>
            <a:r>
              <a:rPr lang="en-US" sz="1400" dirty="0" err="1">
                <a:solidFill>
                  <a:srgbClr val="C7CFE7"/>
                </a:solidFill>
                <a:latin typeface="Calibri"/>
                <a:cs typeface="Calibri"/>
              </a:rPr>
              <a:t>fricción</a:t>
            </a:r>
            <a:endParaRPr lang="en-US" sz="1400" dirty="0">
              <a:solidFill>
                <a:srgbClr val="C7CFE7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C7CFE7"/>
                </a:solidFill>
                <a:ea typeface="Calibri"/>
                <a:cs typeface="Calibri"/>
              </a:rPr>
              <a:t>Sin </a:t>
            </a:r>
            <a:r>
              <a:rPr lang="en-US" sz="1400" dirty="0" err="1">
                <a:solidFill>
                  <a:srgbClr val="C7CFE7"/>
                </a:solidFill>
                <a:ea typeface="Calibri"/>
                <a:cs typeface="Calibri"/>
              </a:rPr>
              <a:t>desplazamiento</a:t>
            </a:r>
            <a:r>
              <a:rPr lang="en-US" sz="1400" dirty="0">
                <a:solidFill>
                  <a:srgbClr val="C7CFE7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C7CFE7"/>
                </a:solidFill>
                <a:ea typeface="Calibri"/>
                <a:cs typeface="Calibri"/>
              </a:rPr>
              <a:t>acotado</a:t>
            </a:r>
            <a:r>
              <a:rPr lang="en-US" sz="1400" dirty="0">
                <a:solidFill>
                  <a:srgbClr val="C7CFE7"/>
                </a:solidFill>
                <a:ea typeface="Calibri"/>
                <a:cs typeface="Calibri"/>
              </a:rPr>
              <a:t> </a:t>
            </a:r>
          </a:p>
          <a:p>
            <a:r>
              <a:rPr lang="en-US">
                <a:solidFill>
                  <a:schemeClr val="accent2"/>
                </a:solidFill>
                <a:ea typeface="Calibri"/>
                <a:cs typeface="Calibri"/>
              </a:rPr>
              <a:t>Entrada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C7CFE7"/>
                </a:solidFill>
                <a:latin typeface="Calibri"/>
                <a:cs typeface="Calibri"/>
              </a:rPr>
              <a:t>Angulo y </a:t>
            </a:r>
            <a:r>
              <a:rPr lang="en-US" sz="1400" dirty="0" err="1">
                <a:solidFill>
                  <a:srgbClr val="C7CFE7"/>
                </a:solidFill>
                <a:latin typeface="Calibri"/>
                <a:cs typeface="Calibri"/>
              </a:rPr>
              <a:t>velocidad</a:t>
            </a:r>
            <a:r>
              <a:rPr lang="en-US" sz="1400" dirty="0">
                <a:solidFill>
                  <a:srgbClr val="C7CFE7"/>
                </a:solidFill>
                <a:latin typeface="Calibri"/>
                <a:cs typeface="Calibri"/>
              </a:rPr>
              <a:t> angular </a:t>
            </a:r>
            <a:r>
              <a:rPr lang="en-US" sz="1400" dirty="0" err="1">
                <a:solidFill>
                  <a:srgbClr val="C7CFE7"/>
                </a:solidFill>
                <a:latin typeface="Calibri"/>
                <a:cs typeface="Calibri"/>
              </a:rPr>
              <a:t>inicial</a:t>
            </a:r>
            <a:endParaRPr lang="en-US" sz="1400" dirty="0">
              <a:solidFill>
                <a:srgbClr val="C7CFE7"/>
              </a:solidFill>
              <a:latin typeface="Calibri"/>
              <a:cs typeface="Calibri"/>
            </a:endParaRPr>
          </a:p>
          <a:p>
            <a:r>
              <a:rPr lang="en-US" u="sng">
                <a:solidFill>
                  <a:schemeClr val="accent2"/>
                </a:solidFill>
                <a:ea typeface="Calibri"/>
                <a:cs typeface="Calibri"/>
              </a:rPr>
              <a:t>Variable de entrada</a:t>
            </a:r>
            <a:endParaRPr lang="en-US" u="sng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solidFill>
                  <a:srgbClr val="C7CFE7"/>
                </a:solidFill>
                <a:latin typeface="Calibri"/>
                <a:cs typeface="Calibri"/>
              </a:rPr>
              <a:t>Desplazamiento</a:t>
            </a:r>
            <a:r>
              <a:rPr lang="en-US" sz="1400" dirty="0">
                <a:solidFill>
                  <a:srgbClr val="C7CFE7"/>
                </a:solidFill>
                <a:latin typeface="Calibri"/>
                <a:cs typeface="Calibri"/>
              </a:rPr>
              <a:t> angular</a:t>
            </a:r>
            <a:endParaRPr lang="en-US" sz="1400" dirty="0">
              <a:solidFill>
                <a:srgbClr val="C7CFE7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solidFill>
                  <a:srgbClr val="C7CFE7"/>
                </a:solidFill>
                <a:latin typeface="Calibri"/>
                <a:cs typeface="Calibri"/>
              </a:rPr>
              <a:t>Velocidad</a:t>
            </a:r>
            <a:r>
              <a:rPr lang="en-US" sz="1400" dirty="0">
                <a:solidFill>
                  <a:srgbClr val="C7CFE7"/>
                </a:solidFill>
                <a:latin typeface="Calibri"/>
                <a:cs typeface="Calibri"/>
              </a:rPr>
              <a:t> angular</a:t>
            </a:r>
            <a:endParaRPr lang="en-US" sz="1400" dirty="0">
              <a:solidFill>
                <a:srgbClr val="C7CFE7"/>
              </a:solidFill>
              <a:latin typeface="Calibri"/>
              <a:ea typeface="Calibri"/>
              <a:cs typeface="Calibri"/>
            </a:endParaRPr>
          </a:p>
          <a:p>
            <a:r>
              <a:rPr lang="en-US" u="sng">
                <a:solidFill>
                  <a:schemeClr val="accent2"/>
                </a:solidFill>
                <a:ea typeface="Calibri"/>
                <a:cs typeface="Calibri"/>
              </a:rPr>
              <a:t>Variable Salida</a:t>
            </a:r>
            <a:endParaRPr lang="en-US" u="sng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solidFill>
                  <a:srgbClr val="C7CFE7"/>
                </a:solidFill>
                <a:latin typeface="Calibri"/>
                <a:cs typeface="Calibri"/>
              </a:rPr>
              <a:t>Fuerza</a:t>
            </a:r>
            <a:endParaRPr lang="en-US" sz="1400" dirty="0" err="1">
              <a:solidFill>
                <a:srgbClr val="C7CFE7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solidFill>
                <a:srgbClr val="C0504D"/>
              </a:solidFill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C80254-84B8-22EA-BC8E-FA6F2B2BD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741" y="706755"/>
            <a:ext cx="560831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95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3B33-DBFA-A875-9FA7-ABAF61A6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66D11-9FF0-BF3B-2698-8F3F393D2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AFBE0-7616-E08C-7EBB-EE7E17C70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" y="-1810"/>
            <a:ext cx="9140887" cy="515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22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C8BC-70A5-775A-26AB-704624B62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8D10E-85B8-B2A6-D9CB-E9EE6694B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B1536-D6FC-27A4-B258-8A08C7B1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" y="-2778"/>
            <a:ext cx="9140887" cy="515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2758</Words>
  <Application>Microsoft Office PowerPoint</Application>
  <PresentationFormat>Personalizado</PresentationFormat>
  <Paragraphs>396</Paragraphs>
  <Slides>22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1" baseType="lpstr">
      <vt:lpstr>MingLiU_HKSCS-ExtB</vt:lpstr>
      <vt:lpstr>Arial</vt:lpstr>
      <vt:lpstr>Calibri</vt:lpstr>
      <vt:lpstr>Cambria</vt:lpstr>
      <vt:lpstr>Consolas</vt:lpstr>
      <vt:lpstr>Courier New</vt:lpstr>
      <vt:lpstr>Segoe UI Symbol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Control Difuso</vt:lpstr>
      <vt:lpstr>Modelo Dinámico del Sistema</vt:lpstr>
      <vt:lpstr>Supuestos, Convenciones y Detalles de Implementación</vt:lpstr>
      <vt:lpstr>Variables Lingüísticas y conjuntos borrosos</vt:lpstr>
      <vt:lpstr>Tabla 7×7 — Base de Reglas</vt:lpstr>
      <vt:lpstr>Proceso de Inferencia Difusa</vt:lpstr>
      <vt:lpstr>Paso 1 — Fuzzificación</vt:lpstr>
      <vt:lpstr>Paso 2 — Conjunción Difusa (T-norm)</vt:lpstr>
      <vt:lpstr>Paso 3 — Truncado</vt:lpstr>
      <vt:lpstr>Paso 4 — Unión (OR Difuso)</vt:lpstr>
      <vt:lpstr>Paso 5 — Defuzzificación por Centroide (CoG)</vt:lpstr>
      <vt:lpstr>Otra planteo(más simple)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Difuso — Péndulo Invertido FAM 7×7</dc:title>
  <dc:subject>PptxGenJS Presentation</dc:subject>
  <dc:creator>PptxGenJS</dc:creator>
  <cp:lastModifiedBy>juan stella</cp:lastModifiedBy>
  <cp:revision>20</cp:revision>
  <dcterms:created xsi:type="dcterms:W3CDTF">2026-04-22T21:14:07Z</dcterms:created>
  <dcterms:modified xsi:type="dcterms:W3CDTF">2026-04-23T03:20:30Z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2026-04-22T00:00:00Z</vt:filetime>
  </property>
</Properties>
</file>