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6" r:id="rId7"/>
    <p:sldId id="261" r:id="rId8"/>
    <p:sldId id="262" r:id="rId9"/>
    <p:sldId id="263" r:id="rId10"/>
    <p:sldId id="264" r:id="rId11"/>
    <p:sldId id="265" r:id="rId12"/>
  </p:sldIdLst>
  <p:sldSz cx="9144000" cy="5149850"/>
  <p:notesSz cx="9144000" cy="5149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84A5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42" d="100"/>
          <a:sy n="142" d="100"/>
        </p:scale>
        <p:origin x="714" y="12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258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AR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258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A97A53-E312-4987-A1CC-ABC7FFAED944}" type="datetimeFigureOut">
              <a:rPr lang="es-AR" smtClean="0"/>
              <a:t>22/4/2026</a:t>
            </a:fld>
            <a:endParaRPr lang="es-AR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3030538" y="644525"/>
            <a:ext cx="3082925" cy="17367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AR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914400" y="2478088"/>
            <a:ext cx="7315200" cy="20288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4891088"/>
            <a:ext cx="3962400" cy="25876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AR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5180013" y="4891088"/>
            <a:ext cx="3962400" cy="25876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F61B7D-C668-4B90-93FC-EDF4697D9C1D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0673648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F61B7D-C668-4B90-93FC-EDF4697D9C1D}" type="slidenum">
              <a:rPr lang="es-AR" smtClean="0"/>
              <a:t>7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1112778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685800" y="1596453"/>
            <a:ext cx="7772400" cy="108146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2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3916"/>
            <a:ext cx="6400800" cy="128746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2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2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4465"/>
            <a:ext cx="3977640" cy="33989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4465"/>
            <a:ext cx="3977640" cy="33989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4/22/2026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2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4/22/2026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4/22/2026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"/>
            <a:ext cx="9144000" cy="5144135"/>
          </a:xfrm>
          <a:custGeom>
            <a:avLst/>
            <a:gdLst/>
            <a:ahLst/>
            <a:cxnLst/>
            <a:rect l="l" t="t" r="r" b="b"/>
            <a:pathLst>
              <a:path w="9144000" h="5144135">
                <a:moveTo>
                  <a:pt x="9144000" y="0"/>
                </a:moveTo>
                <a:lnTo>
                  <a:pt x="0" y="0"/>
                </a:lnTo>
                <a:lnTo>
                  <a:pt x="0" y="5143677"/>
                </a:lnTo>
                <a:lnTo>
                  <a:pt x="9144000" y="5143677"/>
                </a:lnTo>
                <a:lnTo>
                  <a:pt x="9144000" y="0"/>
                </a:lnTo>
                <a:close/>
              </a:path>
            </a:pathLst>
          </a:custGeom>
          <a:solidFill>
            <a:srgbClr val="0E101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34136" y="299785"/>
            <a:ext cx="6439534" cy="3606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2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66724" y="1502462"/>
            <a:ext cx="8409940" cy="33153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9360"/>
            <a:ext cx="2926080" cy="25749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9360"/>
            <a:ext cx="2103120" cy="25749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9360"/>
            <a:ext cx="2103120" cy="25749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-6655" y="1639266"/>
            <a:ext cx="9156700" cy="2207260"/>
            <a:chOff x="-6655" y="1639266"/>
            <a:chExt cx="9156700" cy="2207260"/>
          </a:xfrm>
        </p:grpSpPr>
        <p:sp>
          <p:nvSpPr>
            <p:cNvPr id="3" name="object 3"/>
            <p:cNvSpPr/>
            <p:nvPr/>
          </p:nvSpPr>
          <p:spPr>
            <a:xfrm>
              <a:off x="-355" y="1645566"/>
              <a:ext cx="9144000" cy="2194560"/>
            </a:xfrm>
            <a:custGeom>
              <a:avLst/>
              <a:gdLst/>
              <a:ahLst/>
              <a:cxnLst/>
              <a:rect l="l" t="t" r="r" b="b"/>
              <a:pathLst>
                <a:path w="9144000" h="2194560">
                  <a:moveTo>
                    <a:pt x="9143631" y="0"/>
                  </a:moveTo>
                  <a:lnTo>
                    <a:pt x="0" y="0"/>
                  </a:lnTo>
                  <a:lnTo>
                    <a:pt x="0" y="2194191"/>
                  </a:lnTo>
                  <a:lnTo>
                    <a:pt x="4572000" y="2194191"/>
                  </a:lnTo>
                  <a:lnTo>
                    <a:pt x="9143631" y="2194191"/>
                  </a:lnTo>
                  <a:lnTo>
                    <a:pt x="9143631" y="0"/>
                  </a:lnTo>
                  <a:close/>
                </a:path>
              </a:pathLst>
            </a:custGeom>
            <a:solidFill>
              <a:srgbClr val="0C152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-355" y="1645566"/>
              <a:ext cx="9144000" cy="2194560"/>
            </a:xfrm>
            <a:custGeom>
              <a:avLst/>
              <a:gdLst/>
              <a:ahLst/>
              <a:cxnLst/>
              <a:rect l="l" t="t" r="r" b="b"/>
              <a:pathLst>
                <a:path w="9144000" h="2194560">
                  <a:moveTo>
                    <a:pt x="4572000" y="2194191"/>
                  </a:moveTo>
                  <a:lnTo>
                    <a:pt x="0" y="2194191"/>
                  </a:lnTo>
                  <a:lnTo>
                    <a:pt x="0" y="0"/>
                  </a:lnTo>
                  <a:lnTo>
                    <a:pt x="9143631" y="0"/>
                  </a:lnTo>
                  <a:lnTo>
                    <a:pt x="9143631" y="2194191"/>
                  </a:lnTo>
                  <a:lnTo>
                    <a:pt x="4572000" y="2194191"/>
                  </a:lnTo>
                  <a:close/>
                </a:path>
              </a:pathLst>
            </a:custGeom>
            <a:ln w="12599">
              <a:solidFill>
                <a:srgbClr val="0E101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5" name="object 5"/>
          <p:cNvGrpSpPr/>
          <p:nvPr/>
        </p:nvGrpSpPr>
        <p:grpSpPr>
          <a:xfrm>
            <a:off x="450544" y="541986"/>
            <a:ext cx="8242300" cy="29209"/>
            <a:chOff x="450544" y="541986"/>
            <a:chExt cx="8242300" cy="29209"/>
          </a:xfrm>
        </p:grpSpPr>
        <p:sp>
          <p:nvSpPr>
            <p:cNvPr id="6" name="object 6"/>
            <p:cNvSpPr/>
            <p:nvPr/>
          </p:nvSpPr>
          <p:spPr>
            <a:xfrm>
              <a:off x="456844" y="548286"/>
              <a:ext cx="8229600" cy="16510"/>
            </a:xfrm>
            <a:custGeom>
              <a:avLst/>
              <a:gdLst/>
              <a:ahLst/>
              <a:cxnLst/>
              <a:rect l="l" t="t" r="r" b="b"/>
              <a:pathLst>
                <a:path w="8229600" h="16509">
                  <a:moveTo>
                    <a:pt x="8229231" y="0"/>
                  </a:moveTo>
                  <a:lnTo>
                    <a:pt x="0" y="0"/>
                  </a:lnTo>
                  <a:lnTo>
                    <a:pt x="0" y="16192"/>
                  </a:lnTo>
                  <a:lnTo>
                    <a:pt x="4114800" y="16192"/>
                  </a:lnTo>
                  <a:lnTo>
                    <a:pt x="8229231" y="16192"/>
                  </a:lnTo>
                  <a:lnTo>
                    <a:pt x="8229231" y="0"/>
                  </a:lnTo>
                  <a:close/>
                </a:path>
              </a:pathLst>
            </a:custGeom>
            <a:solidFill>
              <a:srgbClr val="499DFF">
                <a:alpha val="59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56844" y="548286"/>
              <a:ext cx="8229600" cy="16510"/>
            </a:xfrm>
            <a:custGeom>
              <a:avLst/>
              <a:gdLst/>
              <a:ahLst/>
              <a:cxnLst/>
              <a:rect l="l" t="t" r="r" b="b"/>
              <a:pathLst>
                <a:path w="8229600" h="16509">
                  <a:moveTo>
                    <a:pt x="4114800" y="16192"/>
                  </a:moveTo>
                  <a:lnTo>
                    <a:pt x="0" y="16192"/>
                  </a:lnTo>
                  <a:lnTo>
                    <a:pt x="0" y="0"/>
                  </a:lnTo>
                  <a:lnTo>
                    <a:pt x="8229231" y="0"/>
                  </a:lnTo>
                  <a:lnTo>
                    <a:pt x="8229231" y="16192"/>
                  </a:lnTo>
                  <a:lnTo>
                    <a:pt x="4114800" y="16192"/>
                  </a:lnTo>
                  <a:close/>
                </a:path>
              </a:pathLst>
            </a:custGeom>
            <a:ln w="12599">
              <a:solidFill>
                <a:srgbClr val="499D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8" name="object 8"/>
          <p:cNvGrpSpPr/>
          <p:nvPr/>
        </p:nvGrpSpPr>
        <p:grpSpPr>
          <a:xfrm>
            <a:off x="450544" y="4291026"/>
            <a:ext cx="8242300" cy="29209"/>
            <a:chOff x="450544" y="4291026"/>
            <a:chExt cx="8242300" cy="29209"/>
          </a:xfrm>
        </p:grpSpPr>
        <p:sp>
          <p:nvSpPr>
            <p:cNvPr id="9" name="object 9"/>
            <p:cNvSpPr/>
            <p:nvPr/>
          </p:nvSpPr>
          <p:spPr>
            <a:xfrm>
              <a:off x="456844" y="4297326"/>
              <a:ext cx="8229600" cy="16510"/>
            </a:xfrm>
            <a:custGeom>
              <a:avLst/>
              <a:gdLst/>
              <a:ahLst/>
              <a:cxnLst/>
              <a:rect l="l" t="t" r="r" b="b"/>
              <a:pathLst>
                <a:path w="8229600" h="16510">
                  <a:moveTo>
                    <a:pt x="8229231" y="0"/>
                  </a:moveTo>
                  <a:lnTo>
                    <a:pt x="0" y="0"/>
                  </a:lnTo>
                  <a:lnTo>
                    <a:pt x="0" y="16192"/>
                  </a:lnTo>
                  <a:lnTo>
                    <a:pt x="4114800" y="16192"/>
                  </a:lnTo>
                  <a:lnTo>
                    <a:pt x="8229231" y="16192"/>
                  </a:lnTo>
                  <a:lnTo>
                    <a:pt x="8229231" y="0"/>
                  </a:lnTo>
                  <a:close/>
                </a:path>
              </a:pathLst>
            </a:custGeom>
            <a:solidFill>
              <a:srgbClr val="499DFF">
                <a:alpha val="59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456844" y="4297326"/>
              <a:ext cx="8229600" cy="16510"/>
            </a:xfrm>
            <a:custGeom>
              <a:avLst/>
              <a:gdLst/>
              <a:ahLst/>
              <a:cxnLst/>
              <a:rect l="l" t="t" r="r" b="b"/>
              <a:pathLst>
                <a:path w="8229600" h="16510">
                  <a:moveTo>
                    <a:pt x="4114800" y="16192"/>
                  </a:moveTo>
                  <a:lnTo>
                    <a:pt x="0" y="16192"/>
                  </a:lnTo>
                  <a:lnTo>
                    <a:pt x="0" y="0"/>
                  </a:lnTo>
                  <a:lnTo>
                    <a:pt x="8229231" y="0"/>
                  </a:lnTo>
                  <a:lnTo>
                    <a:pt x="8229231" y="16192"/>
                  </a:lnTo>
                  <a:lnTo>
                    <a:pt x="4114800" y="16192"/>
                  </a:lnTo>
                  <a:close/>
                </a:path>
              </a:pathLst>
            </a:custGeom>
            <a:ln w="12599">
              <a:solidFill>
                <a:srgbClr val="499D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>
            <a:spLocks noGrp="1"/>
          </p:cNvSpPr>
          <p:nvPr>
            <p:ph type="title"/>
          </p:nvPr>
        </p:nvSpPr>
        <p:spPr>
          <a:xfrm>
            <a:off x="3046945" y="642139"/>
            <a:ext cx="304673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spc="-10" dirty="0">
                <a:solidFill>
                  <a:srgbClr val="499DFF"/>
                </a:solidFill>
              </a:rPr>
              <a:t>Control</a:t>
            </a:r>
            <a:r>
              <a:rPr sz="4000" spc="-170" dirty="0">
                <a:solidFill>
                  <a:srgbClr val="499DFF"/>
                </a:solidFill>
              </a:rPr>
              <a:t> </a:t>
            </a:r>
            <a:r>
              <a:rPr sz="4000" spc="-10" dirty="0">
                <a:solidFill>
                  <a:srgbClr val="499DFF"/>
                </a:solidFill>
              </a:rPr>
              <a:t>Difuso</a:t>
            </a:r>
            <a:endParaRPr sz="4000" dirty="0"/>
          </a:p>
        </p:txBody>
      </p:sp>
      <p:sp>
        <p:nvSpPr>
          <p:cNvPr id="12" name="object 12"/>
          <p:cNvSpPr txBox="1"/>
          <p:nvPr/>
        </p:nvSpPr>
        <p:spPr>
          <a:xfrm>
            <a:off x="3504983" y="1332130"/>
            <a:ext cx="3977004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dirty="0" err="1">
                <a:solidFill>
                  <a:srgbClr val="C7CFE7"/>
                </a:solidFill>
                <a:latin typeface="Calibri"/>
                <a:cs typeface="Calibri"/>
              </a:rPr>
              <a:t>Péndulo</a:t>
            </a:r>
            <a:r>
              <a:rPr sz="2000" spc="-5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2000" spc="-10" dirty="0" err="1">
                <a:solidFill>
                  <a:srgbClr val="C7CFE7"/>
                </a:solidFill>
                <a:latin typeface="Calibri"/>
                <a:cs typeface="Calibri"/>
              </a:rPr>
              <a:t>Invertido</a:t>
            </a:r>
            <a:endParaRPr sz="2000" dirty="0">
              <a:latin typeface="Calibri"/>
              <a:cs typeface="Calibri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820062" y="1960462"/>
            <a:ext cx="56959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b="1" spc="-10" dirty="0">
                <a:solidFill>
                  <a:srgbClr val="499DFF"/>
                </a:solidFill>
                <a:latin typeface="Calibri"/>
                <a:cs typeface="Calibri"/>
              </a:rPr>
              <a:t>Entradas: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2682976" y="1960462"/>
            <a:ext cx="201612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dirty="0">
                <a:solidFill>
                  <a:srgbClr val="C7CFE7"/>
                </a:solidFill>
                <a:latin typeface="Calibri"/>
                <a:cs typeface="Calibri"/>
              </a:rPr>
              <a:t>θ</a:t>
            </a:r>
            <a:r>
              <a:rPr sz="1100" spc="-2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C7CFE7"/>
                </a:solidFill>
                <a:latin typeface="Calibri"/>
                <a:cs typeface="Calibri"/>
              </a:rPr>
              <a:t>(ángulo)</a:t>
            </a:r>
            <a:r>
              <a:rPr sz="1100" spc="2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C7CFE7"/>
                </a:solidFill>
                <a:latin typeface="Calibri"/>
                <a:cs typeface="Calibri"/>
              </a:rPr>
              <a:t>|</a:t>
            </a:r>
            <a:r>
              <a:rPr sz="1100" spc="229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C7CFE7"/>
                </a:solidFill>
                <a:latin typeface="Calibri"/>
                <a:cs typeface="Calibri"/>
              </a:rPr>
              <a:t>θ'</a:t>
            </a:r>
            <a:r>
              <a:rPr sz="1100" spc="-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C7CFE7"/>
                </a:solidFill>
                <a:latin typeface="Calibri"/>
                <a:cs typeface="Calibri"/>
              </a:rPr>
              <a:t>(velocidad</a:t>
            </a:r>
            <a:r>
              <a:rPr sz="11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100" spc="-10" dirty="0">
                <a:solidFill>
                  <a:srgbClr val="C7CFE7"/>
                </a:solidFill>
                <a:latin typeface="Calibri"/>
                <a:cs typeface="Calibri"/>
              </a:rPr>
              <a:t>angular)</a:t>
            </a:r>
            <a:endParaRPr sz="1100">
              <a:latin typeface="Calibri"/>
              <a:cs typeface="Calibri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2553664" y="1959306"/>
            <a:ext cx="26034" cy="195580"/>
            <a:chOff x="2553664" y="1959306"/>
            <a:chExt cx="26034" cy="195580"/>
          </a:xfrm>
        </p:grpSpPr>
        <p:sp>
          <p:nvSpPr>
            <p:cNvPr id="16" name="object 16"/>
            <p:cNvSpPr/>
            <p:nvPr/>
          </p:nvSpPr>
          <p:spPr>
            <a:xfrm>
              <a:off x="2559964" y="1965606"/>
              <a:ext cx="13335" cy="182880"/>
            </a:xfrm>
            <a:custGeom>
              <a:avLst/>
              <a:gdLst/>
              <a:ahLst/>
              <a:cxnLst/>
              <a:rect l="l" t="t" r="r" b="b"/>
              <a:pathLst>
                <a:path w="13335" h="182880">
                  <a:moveTo>
                    <a:pt x="13309" y="0"/>
                  </a:moveTo>
                  <a:lnTo>
                    <a:pt x="0" y="0"/>
                  </a:lnTo>
                  <a:lnTo>
                    <a:pt x="0" y="182511"/>
                  </a:lnTo>
                  <a:lnTo>
                    <a:pt x="6832" y="182511"/>
                  </a:lnTo>
                  <a:lnTo>
                    <a:pt x="13309" y="182511"/>
                  </a:lnTo>
                  <a:lnTo>
                    <a:pt x="13309" y="0"/>
                  </a:lnTo>
                  <a:close/>
                </a:path>
              </a:pathLst>
            </a:custGeom>
            <a:solidFill>
              <a:srgbClr val="499D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2559964" y="1965606"/>
              <a:ext cx="13335" cy="182880"/>
            </a:xfrm>
            <a:custGeom>
              <a:avLst/>
              <a:gdLst/>
              <a:ahLst/>
              <a:cxnLst/>
              <a:rect l="l" t="t" r="r" b="b"/>
              <a:pathLst>
                <a:path w="13335" h="182880">
                  <a:moveTo>
                    <a:pt x="6832" y="182511"/>
                  </a:moveTo>
                  <a:lnTo>
                    <a:pt x="0" y="182511"/>
                  </a:lnTo>
                  <a:lnTo>
                    <a:pt x="0" y="0"/>
                  </a:lnTo>
                  <a:lnTo>
                    <a:pt x="13309" y="0"/>
                  </a:lnTo>
                  <a:lnTo>
                    <a:pt x="13309" y="182511"/>
                  </a:lnTo>
                  <a:lnTo>
                    <a:pt x="6832" y="182511"/>
                  </a:lnTo>
                  <a:close/>
                </a:path>
              </a:pathLst>
            </a:custGeom>
            <a:ln w="12599">
              <a:solidFill>
                <a:srgbClr val="499D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1978825" y="2417662"/>
            <a:ext cx="411480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b="1" spc="-10" dirty="0">
                <a:solidFill>
                  <a:srgbClr val="499DFF"/>
                </a:solidFill>
                <a:latin typeface="Calibri"/>
                <a:cs typeface="Calibri"/>
              </a:rPr>
              <a:t>Salida: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2682976" y="2417662"/>
            <a:ext cx="2005330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dirty="0">
                <a:solidFill>
                  <a:srgbClr val="C7CFE7"/>
                </a:solidFill>
                <a:latin typeface="Calibri"/>
                <a:cs typeface="Calibri"/>
              </a:rPr>
              <a:t>F</a:t>
            </a:r>
            <a:r>
              <a:rPr sz="1100" spc="19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C7CFE7"/>
                </a:solidFill>
                <a:latin typeface="Calibri"/>
                <a:cs typeface="Calibri"/>
              </a:rPr>
              <a:t>(fuerza</a:t>
            </a:r>
            <a:r>
              <a:rPr sz="1100" spc="-2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C7CFE7"/>
                </a:solidFill>
                <a:latin typeface="Calibri"/>
                <a:cs typeface="Calibri"/>
              </a:rPr>
              <a:t>horizontal</a:t>
            </a:r>
            <a:r>
              <a:rPr sz="1100" spc="-2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C7CFE7"/>
                </a:solidFill>
                <a:latin typeface="Calibri"/>
                <a:cs typeface="Calibri"/>
              </a:rPr>
              <a:t>sobre</a:t>
            </a:r>
            <a:r>
              <a:rPr sz="1100" spc="-2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C7CFE7"/>
                </a:solidFill>
                <a:latin typeface="Calibri"/>
                <a:cs typeface="Calibri"/>
              </a:rPr>
              <a:t>el</a:t>
            </a:r>
            <a:r>
              <a:rPr sz="1100" spc="-2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100" spc="-10" dirty="0">
                <a:solidFill>
                  <a:srgbClr val="C7CFE7"/>
                </a:solidFill>
                <a:latin typeface="Calibri"/>
                <a:cs typeface="Calibri"/>
              </a:rPr>
              <a:t>carro)</a:t>
            </a:r>
            <a:endParaRPr sz="1100">
              <a:latin typeface="Calibri"/>
              <a:cs typeface="Calibri"/>
            </a:endParaRPr>
          </a:p>
        </p:txBody>
      </p:sp>
      <p:grpSp>
        <p:nvGrpSpPr>
          <p:cNvPr id="20" name="object 20"/>
          <p:cNvGrpSpPr/>
          <p:nvPr/>
        </p:nvGrpSpPr>
        <p:grpSpPr>
          <a:xfrm>
            <a:off x="2553664" y="2416506"/>
            <a:ext cx="26034" cy="195580"/>
            <a:chOff x="2553664" y="2416506"/>
            <a:chExt cx="26034" cy="195580"/>
          </a:xfrm>
        </p:grpSpPr>
        <p:sp>
          <p:nvSpPr>
            <p:cNvPr id="21" name="object 21"/>
            <p:cNvSpPr/>
            <p:nvPr/>
          </p:nvSpPr>
          <p:spPr>
            <a:xfrm>
              <a:off x="2559964" y="2422806"/>
              <a:ext cx="13335" cy="182880"/>
            </a:xfrm>
            <a:custGeom>
              <a:avLst/>
              <a:gdLst/>
              <a:ahLst/>
              <a:cxnLst/>
              <a:rect l="l" t="t" r="r" b="b"/>
              <a:pathLst>
                <a:path w="13335" h="182880">
                  <a:moveTo>
                    <a:pt x="13309" y="0"/>
                  </a:moveTo>
                  <a:lnTo>
                    <a:pt x="0" y="0"/>
                  </a:lnTo>
                  <a:lnTo>
                    <a:pt x="0" y="182511"/>
                  </a:lnTo>
                  <a:lnTo>
                    <a:pt x="6832" y="182511"/>
                  </a:lnTo>
                  <a:lnTo>
                    <a:pt x="13309" y="182511"/>
                  </a:lnTo>
                  <a:lnTo>
                    <a:pt x="13309" y="0"/>
                  </a:lnTo>
                  <a:close/>
                </a:path>
              </a:pathLst>
            </a:custGeom>
            <a:solidFill>
              <a:srgbClr val="499D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2559964" y="2422806"/>
              <a:ext cx="13335" cy="182880"/>
            </a:xfrm>
            <a:custGeom>
              <a:avLst/>
              <a:gdLst/>
              <a:ahLst/>
              <a:cxnLst/>
              <a:rect l="l" t="t" r="r" b="b"/>
              <a:pathLst>
                <a:path w="13335" h="182880">
                  <a:moveTo>
                    <a:pt x="6832" y="182511"/>
                  </a:moveTo>
                  <a:lnTo>
                    <a:pt x="0" y="182511"/>
                  </a:lnTo>
                  <a:lnTo>
                    <a:pt x="0" y="0"/>
                  </a:lnTo>
                  <a:lnTo>
                    <a:pt x="13309" y="0"/>
                  </a:lnTo>
                  <a:lnTo>
                    <a:pt x="13309" y="182511"/>
                  </a:lnTo>
                  <a:lnTo>
                    <a:pt x="6832" y="182511"/>
                  </a:lnTo>
                  <a:close/>
                </a:path>
              </a:pathLst>
            </a:custGeom>
            <a:ln w="12599">
              <a:solidFill>
                <a:srgbClr val="499D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1697114" y="2779689"/>
            <a:ext cx="701040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b="1" spc="-10" dirty="0">
                <a:solidFill>
                  <a:srgbClr val="499DFF"/>
                </a:solidFill>
                <a:latin typeface="Calibri"/>
                <a:cs typeface="Calibri"/>
              </a:rPr>
              <a:t>Simulación:</a:t>
            </a:r>
            <a:endParaRPr sz="1100" dirty="0">
              <a:latin typeface="Calibri"/>
              <a:cs typeface="Calibri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2689276" y="2779689"/>
            <a:ext cx="1644014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AR" sz="1100" dirty="0">
                <a:solidFill>
                  <a:srgbClr val="C7CFE7"/>
                </a:solidFill>
                <a:latin typeface="Calibri"/>
                <a:cs typeface="Calibri"/>
              </a:rPr>
              <a:t>Euler</a:t>
            </a:r>
            <a:r>
              <a:rPr lang="es-AR" sz="11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lang="es-AR" sz="1100" dirty="0">
                <a:solidFill>
                  <a:srgbClr val="C7CFE7"/>
                </a:solidFill>
                <a:latin typeface="Calibri"/>
                <a:cs typeface="Calibri"/>
              </a:rPr>
              <a:t>orden</a:t>
            </a:r>
            <a:r>
              <a:rPr lang="es-AR" sz="11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lang="es-AR" sz="1100" dirty="0">
                <a:solidFill>
                  <a:srgbClr val="C7CFE7"/>
                </a:solidFill>
                <a:latin typeface="Calibri"/>
                <a:cs typeface="Calibri"/>
              </a:rPr>
              <a:t>2</a:t>
            </a:r>
            <a:r>
              <a:rPr lang="es-AR" sz="1100" spc="2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lang="es-AR" sz="1100" dirty="0">
                <a:solidFill>
                  <a:srgbClr val="C7CFE7"/>
                </a:solidFill>
                <a:latin typeface="Calibri"/>
                <a:cs typeface="Calibri"/>
              </a:rPr>
              <a:t>|</a:t>
            </a:r>
            <a:r>
              <a:rPr lang="es-AR" sz="1100" spc="2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100" dirty="0" err="1">
                <a:solidFill>
                  <a:srgbClr val="C7CFE7"/>
                </a:solidFill>
                <a:latin typeface="Calibri"/>
                <a:cs typeface="Calibri"/>
              </a:rPr>
              <a:t>Δt</a:t>
            </a:r>
            <a:r>
              <a:rPr sz="11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C7CFE7"/>
                </a:solidFill>
                <a:latin typeface="Calibri"/>
                <a:cs typeface="Calibri"/>
              </a:rPr>
              <a:t>=</a:t>
            </a:r>
            <a:r>
              <a:rPr sz="11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C7CFE7"/>
                </a:solidFill>
                <a:latin typeface="Calibri"/>
                <a:cs typeface="Calibri"/>
              </a:rPr>
              <a:t>0.005</a:t>
            </a:r>
            <a:r>
              <a:rPr sz="11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100" spc="-50" dirty="0">
                <a:solidFill>
                  <a:srgbClr val="C7CFE7"/>
                </a:solidFill>
                <a:latin typeface="Calibri"/>
                <a:cs typeface="Calibri"/>
              </a:rPr>
              <a:t>s</a:t>
            </a:r>
            <a:endParaRPr sz="1100" dirty="0">
              <a:latin typeface="Calibri"/>
              <a:cs typeface="Calibri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2559964" y="2778533"/>
            <a:ext cx="26034" cy="195580"/>
            <a:chOff x="2553664" y="3330906"/>
            <a:chExt cx="26034" cy="195580"/>
          </a:xfrm>
        </p:grpSpPr>
        <p:sp>
          <p:nvSpPr>
            <p:cNvPr id="31" name="object 31"/>
            <p:cNvSpPr/>
            <p:nvPr/>
          </p:nvSpPr>
          <p:spPr>
            <a:xfrm>
              <a:off x="2559964" y="3337206"/>
              <a:ext cx="13335" cy="182880"/>
            </a:xfrm>
            <a:custGeom>
              <a:avLst/>
              <a:gdLst/>
              <a:ahLst/>
              <a:cxnLst/>
              <a:rect l="l" t="t" r="r" b="b"/>
              <a:pathLst>
                <a:path w="13335" h="182879">
                  <a:moveTo>
                    <a:pt x="13309" y="0"/>
                  </a:moveTo>
                  <a:lnTo>
                    <a:pt x="0" y="0"/>
                  </a:lnTo>
                  <a:lnTo>
                    <a:pt x="0" y="182511"/>
                  </a:lnTo>
                  <a:lnTo>
                    <a:pt x="6832" y="182511"/>
                  </a:lnTo>
                  <a:lnTo>
                    <a:pt x="13309" y="182511"/>
                  </a:lnTo>
                  <a:lnTo>
                    <a:pt x="13309" y="0"/>
                  </a:lnTo>
                  <a:close/>
                </a:path>
              </a:pathLst>
            </a:custGeom>
            <a:solidFill>
              <a:srgbClr val="499D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2559964" y="3337206"/>
              <a:ext cx="13335" cy="182880"/>
            </a:xfrm>
            <a:custGeom>
              <a:avLst/>
              <a:gdLst/>
              <a:ahLst/>
              <a:cxnLst/>
              <a:rect l="l" t="t" r="r" b="b"/>
              <a:pathLst>
                <a:path w="13335" h="182879">
                  <a:moveTo>
                    <a:pt x="6832" y="182511"/>
                  </a:moveTo>
                  <a:lnTo>
                    <a:pt x="0" y="182511"/>
                  </a:lnTo>
                  <a:lnTo>
                    <a:pt x="0" y="0"/>
                  </a:lnTo>
                  <a:lnTo>
                    <a:pt x="13309" y="0"/>
                  </a:lnTo>
                  <a:lnTo>
                    <a:pt x="13309" y="182511"/>
                  </a:lnTo>
                  <a:lnTo>
                    <a:pt x="6832" y="182511"/>
                  </a:lnTo>
                  <a:close/>
                </a:path>
              </a:pathLst>
            </a:custGeom>
            <a:ln w="12599">
              <a:solidFill>
                <a:srgbClr val="499D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3" name="object 33"/>
          <p:cNvSpPr txBox="1"/>
          <p:nvPr/>
        </p:nvSpPr>
        <p:spPr>
          <a:xfrm>
            <a:off x="3174022" y="4604666"/>
            <a:ext cx="2796540" cy="163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dirty="0">
                <a:solidFill>
                  <a:srgbClr val="878FA7"/>
                </a:solidFill>
                <a:latin typeface="Calibri"/>
                <a:cs typeface="Calibri"/>
              </a:rPr>
              <a:t>FING</a:t>
            </a:r>
            <a:r>
              <a:rPr sz="900" spc="-5" dirty="0">
                <a:solidFill>
                  <a:srgbClr val="878FA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878FA7"/>
                </a:solidFill>
                <a:latin typeface="Calibri"/>
                <a:cs typeface="Calibri"/>
              </a:rPr>
              <a:t>—</a:t>
            </a:r>
            <a:r>
              <a:rPr sz="900" spc="-20" dirty="0">
                <a:solidFill>
                  <a:srgbClr val="878FA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878FA7"/>
                </a:solidFill>
                <a:latin typeface="Calibri"/>
                <a:cs typeface="Calibri"/>
              </a:rPr>
              <a:t>UNCUYO</a:t>
            </a:r>
            <a:r>
              <a:rPr sz="900" spc="185" dirty="0">
                <a:solidFill>
                  <a:srgbClr val="878FA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878FA7"/>
                </a:solidFill>
                <a:latin typeface="Calibri"/>
                <a:cs typeface="Calibri"/>
              </a:rPr>
              <a:t>|</a:t>
            </a:r>
            <a:r>
              <a:rPr sz="900" spc="175" dirty="0">
                <a:solidFill>
                  <a:srgbClr val="878FA7"/>
                </a:solidFill>
                <a:latin typeface="Calibri"/>
                <a:cs typeface="Calibri"/>
              </a:rPr>
              <a:t> </a:t>
            </a:r>
            <a:r>
              <a:rPr sz="900" spc="-10" dirty="0">
                <a:solidFill>
                  <a:srgbClr val="878FA7"/>
                </a:solidFill>
                <a:latin typeface="Calibri"/>
                <a:cs typeface="Calibri"/>
              </a:rPr>
              <a:t>Inteligencia</a:t>
            </a:r>
            <a:r>
              <a:rPr sz="900" spc="-5" dirty="0">
                <a:solidFill>
                  <a:srgbClr val="878FA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878FA7"/>
                </a:solidFill>
                <a:latin typeface="Calibri"/>
                <a:cs typeface="Calibri"/>
              </a:rPr>
              <a:t>Artificial</a:t>
            </a:r>
            <a:r>
              <a:rPr sz="900" spc="180" dirty="0">
                <a:solidFill>
                  <a:srgbClr val="878FA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878FA7"/>
                </a:solidFill>
                <a:latin typeface="Calibri"/>
                <a:cs typeface="Calibri"/>
              </a:rPr>
              <a:t>|</a:t>
            </a:r>
            <a:r>
              <a:rPr sz="900" spc="180" dirty="0">
                <a:solidFill>
                  <a:srgbClr val="878FA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878FA7"/>
                </a:solidFill>
                <a:latin typeface="Calibri"/>
                <a:cs typeface="Calibri"/>
              </a:rPr>
              <a:t>Hernán</a:t>
            </a:r>
            <a:r>
              <a:rPr sz="900" spc="-15" dirty="0">
                <a:solidFill>
                  <a:srgbClr val="878FA7"/>
                </a:solidFill>
                <a:latin typeface="Calibri"/>
                <a:cs typeface="Calibri"/>
              </a:rPr>
              <a:t> </a:t>
            </a:r>
            <a:r>
              <a:rPr sz="900" spc="-10" dirty="0">
                <a:solidFill>
                  <a:srgbClr val="878FA7"/>
                </a:solidFill>
                <a:latin typeface="Calibri"/>
                <a:cs typeface="Calibri"/>
              </a:rPr>
              <a:t>Garrido</a:t>
            </a:r>
            <a:endParaRPr sz="900">
              <a:latin typeface="Calibri"/>
              <a:cs typeface="Calibri"/>
            </a:endParaRPr>
          </a:p>
        </p:txBody>
      </p:sp>
      <p:pic>
        <p:nvPicPr>
          <p:cNvPr id="35" name="Imagen 34">
            <a:extLst>
              <a:ext uri="{FF2B5EF4-FFF2-40B4-BE49-F238E27FC236}">
                <a16:creationId xmlns:a16="http://schemas.microsoft.com/office/drawing/2014/main" id="{49272DB2-FE5B-4F32-A202-799B7C70C7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1392" y="1811047"/>
            <a:ext cx="2852073" cy="23460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Modelo</a:t>
            </a:r>
            <a:r>
              <a:rPr spc="-80" dirty="0"/>
              <a:t> </a:t>
            </a:r>
            <a:r>
              <a:rPr dirty="0"/>
              <a:t>Dinámico</a:t>
            </a:r>
            <a:r>
              <a:rPr spc="-75" dirty="0"/>
              <a:t> </a:t>
            </a:r>
            <a:r>
              <a:rPr dirty="0"/>
              <a:t>del</a:t>
            </a:r>
            <a:r>
              <a:rPr spc="-70" dirty="0"/>
              <a:t> </a:t>
            </a:r>
            <a:r>
              <a:rPr spc="-10" dirty="0"/>
              <a:t>Sistema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450544" y="743218"/>
            <a:ext cx="8242300" cy="35560"/>
            <a:chOff x="450544" y="743218"/>
            <a:chExt cx="8242300" cy="35560"/>
          </a:xfrm>
        </p:grpSpPr>
        <p:sp>
          <p:nvSpPr>
            <p:cNvPr id="4" name="object 4"/>
            <p:cNvSpPr/>
            <p:nvPr/>
          </p:nvSpPr>
          <p:spPr>
            <a:xfrm>
              <a:off x="456844" y="749517"/>
              <a:ext cx="8229600" cy="22860"/>
            </a:xfrm>
            <a:custGeom>
              <a:avLst/>
              <a:gdLst/>
              <a:ahLst/>
              <a:cxnLst/>
              <a:rect l="l" t="t" r="r" b="b"/>
              <a:pathLst>
                <a:path w="8229600" h="22859">
                  <a:moveTo>
                    <a:pt x="8229231" y="0"/>
                  </a:moveTo>
                  <a:lnTo>
                    <a:pt x="0" y="0"/>
                  </a:lnTo>
                  <a:lnTo>
                    <a:pt x="0" y="22682"/>
                  </a:lnTo>
                  <a:lnTo>
                    <a:pt x="4114800" y="22682"/>
                  </a:lnTo>
                  <a:lnTo>
                    <a:pt x="8229231" y="22682"/>
                  </a:lnTo>
                  <a:lnTo>
                    <a:pt x="8229231" y="0"/>
                  </a:lnTo>
                  <a:close/>
                </a:path>
              </a:pathLst>
            </a:custGeom>
            <a:solidFill>
              <a:srgbClr val="292C3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456844" y="749517"/>
              <a:ext cx="8229600" cy="22860"/>
            </a:xfrm>
            <a:custGeom>
              <a:avLst/>
              <a:gdLst/>
              <a:ahLst/>
              <a:cxnLst/>
              <a:rect l="l" t="t" r="r" b="b"/>
              <a:pathLst>
                <a:path w="8229600" h="22859">
                  <a:moveTo>
                    <a:pt x="4114800" y="22682"/>
                  </a:moveTo>
                  <a:lnTo>
                    <a:pt x="0" y="22682"/>
                  </a:lnTo>
                  <a:lnTo>
                    <a:pt x="0" y="0"/>
                  </a:lnTo>
                  <a:lnTo>
                    <a:pt x="8229231" y="0"/>
                  </a:lnTo>
                  <a:lnTo>
                    <a:pt x="8229231" y="22682"/>
                  </a:lnTo>
                  <a:lnTo>
                    <a:pt x="4114800" y="22682"/>
                  </a:lnTo>
                  <a:close/>
                </a:path>
              </a:pathLst>
            </a:custGeom>
            <a:ln w="12599">
              <a:solidFill>
                <a:srgbClr val="292C3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534136" y="854902"/>
            <a:ext cx="7872730" cy="3613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100" dirty="0">
                <a:solidFill>
                  <a:srgbClr val="C7CFE7"/>
                </a:solidFill>
                <a:latin typeface="Calibri"/>
                <a:cs typeface="Calibri"/>
              </a:rPr>
              <a:t>El</a:t>
            </a:r>
            <a:r>
              <a:rPr sz="11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C7CFE7"/>
                </a:solidFill>
                <a:latin typeface="Calibri"/>
                <a:cs typeface="Calibri"/>
              </a:rPr>
              <a:t>sistema</a:t>
            </a:r>
            <a:r>
              <a:rPr sz="11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C7CFE7"/>
                </a:solidFill>
                <a:latin typeface="Calibri"/>
                <a:cs typeface="Calibri"/>
              </a:rPr>
              <a:t>consiste</a:t>
            </a:r>
            <a:r>
              <a:rPr sz="11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C7CFE7"/>
                </a:solidFill>
                <a:latin typeface="Calibri"/>
                <a:cs typeface="Calibri"/>
              </a:rPr>
              <a:t>en</a:t>
            </a:r>
            <a:r>
              <a:rPr sz="1100" spc="-2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C7CFE7"/>
                </a:solidFill>
                <a:latin typeface="Calibri"/>
                <a:cs typeface="Calibri"/>
              </a:rPr>
              <a:t>un</a:t>
            </a:r>
            <a:r>
              <a:rPr sz="11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C7CFE7"/>
                </a:solidFill>
                <a:latin typeface="Calibri"/>
                <a:cs typeface="Calibri"/>
              </a:rPr>
              <a:t>carro</a:t>
            </a:r>
            <a:r>
              <a:rPr sz="1100" spc="-2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C7CFE7"/>
                </a:solidFill>
                <a:latin typeface="Calibri"/>
                <a:cs typeface="Calibri"/>
              </a:rPr>
              <a:t>deslizante</a:t>
            </a:r>
            <a:r>
              <a:rPr sz="1100" spc="-3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C7CFE7"/>
                </a:solidFill>
                <a:latin typeface="Calibri"/>
                <a:cs typeface="Calibri"/>
              </a:rPr>
              <a:t>sobre</a:t>
            </a:r>
            <a:r>
              <a:rPr sz="11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C7CFE7"/>
                </a:solidFill>
                <a:latin typeface="Calibri"/>
                <a:cs typeface="Calibri"/>
              </a:rPr>
              <a:t>una</a:t>
            </a:r>
            <a:r>
              <a:rPr sz="11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C7CFE7"/>
                </a:solidFill>
                <a:latin typeface="Calibri"/>
                <a:cs typeface="Calibri"/>
              </a:rPr>
              <a:t>pista</a:t>
            </a:r>
            <a:r>
              <a:rPr sz="11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C7CFE7"/>
                </a:solidFill>
                <a:latin typeface="Calibri"/>
                <a:cs typeface="Calibri"/>
              </a:rPr>
              <a:t>horizontal</a:t>
            </a:r>
            <a:r>
              <a:rPr sz="11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C7CFE7"/>
                </a:solidFill>
                <a:latin typeface="Calibri"/>
                <a:cs typeface="Calibri"/>
              </a:rPr>
              <a:t>sobre</a:t>
            </a:r>
            <a:r>
              <a:rPr sz="11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C7CFE7"/>
                </a:solidFill>
                <a:latin typeface="Calibri"/>
                <a:cs typeface="Calibri"/>
              </a:rPr>
              <a:t>el</a:t>
            </a:r>
            <a:r>
              <a:rPr sz="11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C7CFE7"/>
                </a:solidFill>
                <a:latin typeface="Calibri"/>
                <a:cs typeface="Calibri"/>
              </a:rPr>
              <a:t>que</a:t>
            </a:r>
            <a:r>
              <a:rPr sz="11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C7CFE7"/>
                </a:solidFill>
                <a:latin typeface="Calibri"/>
                <a:cs typeface="Calibri"/>
              </a:rPr>
              <a:t>está</a:t>
            </a:r>
            <a:r>
              <a:rPr sz="11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C7CFE7"/>
                </a:solidFill>
                <a:latin typeface="Calibri"/>
                <a:cs typeface="Calibri"/>
              </a:rPr>
              <a:t>articulado</a:t>
            </a:r>
            <a:r>
              <a:rPr sz="11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C7CFE7"/>
                </a:solidFill>
                <a:latin typeface="Calibri"/>
                <a:cs typeface="Calibri"/>
              </a:rPr>
              <a:t>un</a:t>
            </a:r>
            <a:r>
              <a:rPr sz="1100" spc="-2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C7CFE7"/>
                </a:solidFill>
                <a:latin typeface="Calibri"/>
                <a:cs typeface="Calibri"/>
              </a:rPr>
              <a:t>péndulo.</a:t>
            </a:r>
            <a:r>
              <a:rPr sz="11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C7CFE7"/>
                </a:solidFill>
                <a:latin typeface="Calibri"/>
                <a:cs typeface="Calibri"/>
              </a:rPr>
              <a:t>El</a:t>
            </a:r>
            <a:r>
              <a:rPr sz="11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C7CFE7"/>
                </a:solidFill>
                <a:latin typeface="Calibri"/>
                <a:cs typeface="Calibri"/>
              </a:rPr>
              <a:t>objetivo</a:t>
            </a:r>
            <a:r>
              <a:rPr sz="1100" spc="-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C7CFE7"/>
                </a:solidFill>
                <a:latin typeface="Calibri"/>
                <a:cs typeface="Calibri"/>
              </a:rPr>
              <a:t>del</a:t>
            </a:r>
            <a:r>
              <a:rPr sz="1100" spc="-2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100" spc="-10" dirty="0">
                <a:solidFill>
                  <a:srgbClr val="C7CFE7"/>
                </a:solidFill>
                <a:latin typeface="Calibri"/>
                <a:cs typeface="Calibri"/>
              </a:rPr>
              <a:t>controlador</a:t>
            </a:r>
            <a:r>
              <a:rPr sz="11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100" spc="-25" dirty="0">
                <a:solidFill>
                  <a:srgbClr val="C7CFE7"/>
                </a:solidFill>
                <a:latin typeface="Calibri"/>
                <a:cs typeface="Calibri"/>
              </a:rPr>
              <a:t>es </a:t>
            </a:r>
            <a:r>
              <a:rPr sz="1100" spc="-10" dirty="0">
                <a:solidFill>
                  <a:srgbClr val="C7CFE7"/>
                </a:solidFill>
                <a:latin typeface="Calibri"/>
                <a:cs typeface="Calibri"/>
              </a:rPr>
              <a:t>mantener</a:t>
            </a:r>
            <a:r>
              <a:rPr sz="11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C7CFE7"/>
                </a:solidFill>
                <a:latin typeface="Calibri"/>
                <a:cs typeface="Calibri"/>
              </a:rPr>
              <a:t>el</a:t>
            </a:r>
            <a:r>
              <a:rPr sz="11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C7CFE7"/>
                </a:solidFill>
                <a:latin typeface="Calibri"/>
                <a:cs typeface="Calibri"/>
              </a:rPr>
              <a:t>péndulo</a:t>
            </a:r>
            <a:r>
              <a:rPr sz="11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C7CFE7"/>
                </a:solidFill>
                <a:latin typeface="Calibri"/>
                <a:cs typeface="Calibri"/>
              </a:rPr>
              <a:t>en</a:t>
            </a:r>
            <a:r>
              <a:rPr sz="11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C7CFE7"/>
                </a:solidFill>
                <a:latin typeface="Calibri"/>
                <a:cs typeface="Calibri"/>
              </a:rPr>
              <a:t>equilibrio</a:t>
            </a:r>
            <a:r>
              <a:rPr sz="11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C7CFE7"/>
                </a:solidFill>
                <a:latin typeface="Calibri"/>
                <a:cs typeface="Calibri"/>
              </a:rPr>
              <a:t>vertical</a:t>
            </a:r>
            <a:r>
              <a:rPr sz="11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C7CFE7"/>
                </a:solidFill>
                <a:latin typeface="Calibri"/>
                <a:cs typeface="Calibri"/>
              </a:rPr>
              <a:t>superior</a:t>
            </a:r>
            <a:r>
              <a:rPr sz="1100" spc="-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C7CFE7"/>
                </a:solidFill>
                <a:latin typeface="Calibri"/>
                <a:cs typeface="Calibri"/>
              </a:rPr>
              <a:t>(θ</a:t>
            </a:r>
            <a:r>
              <a:rPr sz="1100" spc="-2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C7CFE7"/>
                </a:solidFill>
                <a:latin typeface="Calibri"/>
                <a:cs typeface="Calibri"/>
              </a:rPr>
              <a:t>=</a:t>
            </a:r>
            <a:r>
              <a:rPr sz="1100" spc="-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C7CFE7"/>
                </a:solidFill>
                <a:latin typeface="Calibri"/>
                <a:cs typeface="Calibri"/>
              </a:rPr>
              <a:t>180°)</a:t>
            </a:r>
            <a:r>
              <a:rPr sz="11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C7CFE7"/>
                </a:solidFill>
                <a:latin typeface="Calibri"/>
                <a:cs typeface="Calibri"/>
              </a:rPr>
              <a:t>aplicando una</a:t>
            </a:r>
            <a:r>
              <a:rPr sz="11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C7CFE7"/>
                </a:solidFill>
                <a:latin typeface="Calibri"/>
                <a:cs typeface="Calibri"/>
              </a:rPr>
              <a:t>fuerza</a:t>
            </a:r>
            <a:r>
              <a:rPr sz="11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100" spc="-10" dirty="0">
                <a:solidFill>
                  <a:srgbClr val="C7CFE7"/>
                </a:solidFill>
                <a:latin typeface="Calibri"/>
                <a:cs typeface="Calibri"/>
              </a:rPr>
              <a:t>horizontal</a:t>
            </a:r>
            <a:r>
              <a:rPr sz="11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C7CFE7"/>
                </a:solidFill>
                <a:latin typeface="Calibri"/>
                <a:cs typeface="Calibri"/>
              </a:rPr>
              <a:t>F</a:t>
            </a:r>
            <a:r>
              <a:rPr sz="1100" spc="-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C7CFE7"/>
                </a:solidFill>
                <a:latin typeface="Calibri"/>
                <a:cs typeface="Calibri"/>
              </a:rPr>
              <a:t>sobre</a:t>
            </a:r>
            <a:r>
              <a:rPr sz="1100" spc="-2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C7CFE7"/>
                </a:solidFill>
                <a:latin typeface="Calibri"/>
                <a:cs typeface="Calibri"/>
              </a:rPr>
              <a:t>el</a:t>
            </a:r>
            <a:r>
              <a:rPr sz="11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100" spc="-10" dirty="0">
                <a:solidFill>
                  <a:srgbClr val="C7CFE7"/>
                </a:solidFill>
                <a:latin typeface="Calibri"/>
                <a:cs typeface="Calibri"/>
              </a:rPr>
              <a:t>carro.</a:t>
            </a:r>
            <a:endParaRPr sz="1100">
              <a:latin typeface="Calibri"/>
              <a:cs typeface="Calibri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239763" y="1418744"/>
            <a:ext cx="5336540" cy="1495425"/>
            <a:chOff x="239763" y="1418744"/>
            <a:chExt cx="5336540" cy="1495425"/>
          </a:xfrm>
        </p:grpSpPr>
        <p:pic>
          <p:nvPicPr>
            <p:cNvPr id="8" name="object 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39763" y="1418744"/>
              <a:ext cx="5335917" cy="1495094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365404" y="1508406"/>
              <a:ext cx="5120640" cy="1280160"/>
            </a:xfrm>
            <a:custGeom>
              <a:avLst/>
              <a:gdLst/>
              <a:ahLst/>
              <a:cxnLst/>
              <a:rect l="l" t="t" r="r" b="b"/>
              <a:pathLst>
                <a:path w="5120640" h="1280160">
                  <a:moveTo>
                    <a:pt x="5120271" y="0"/>
                  </a:moveTo>
                  <a:lnTo>
                    <a:pt x="0" y="0"/>
                  </a:lnTo>
                  <a:lnTo>
                    <a:pt x="0" y="1279791"/>
                  </a:lnTo>
                  <a:lnTo>
                    <a:pt x="2560320" y="1279791"/>
                  </a:lnTo>
                  <a:lnTo>
                    <a:pt x="5120271" y="1279791"/>
                  </a:lnTo>
                  <a:lnTo>
                    <a:pt x="5120271" y="0"/>
                  </a:lnTo>
                  <a:close/>
                </a:path>
              </a:pathLst>
            </a:custGeom>
            <a:solidFill>
              <a:srgbClr val="191C2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365404" y="1508406"/>
            <a:ext cx="5120640" cy="1280160"/>
          </a:xfrm>
          <a:prstGeom prst="rect">
            <a:avLst/>
          </a:prstGeom>
          <a:ln w="12599">
            <a:solidFill>
              <a:srgbClr val="292C39"/>
            </a:solidFill>
          </a:ln>
        </p:spPr>
        <p:txBody>
          <a:bodyPr vert="horz" wrap="square" lIns="0" tIns="116839" rIns="0" bIns="0" rtlCol="0">
            <a:spAutoFit/>
          </a:bodyPr>
          <a:lstStyle/>
          <a:p>
            <a:pPr marL="226695">
              <a:lnSpc>
                <a:spcPct val="100000"/>
              </a:lnSpc>
              <a:spcBef>
                <a:spcPts val="919"/>
              </a:spcBef>
            </a:pPr>
            <a:r>
              <a:rPr sz="1100" b="1" dirty="0">
                <a:solidFill>
                  <a:srgbClr val="499DFF"/>
                </a:solidFill>
                <a:latin typeface="Calibri"/>
                <a:cs typeface="Calibri"/>
              </a:rPr>
              <a:t>Aceleración</a:t>
            </a:r>
            <a:r>
              <a:rPr sz="1100" b="1" spc="-20" dirty="0">
                <a:solidFill>
                  <a:srgbClr val="499DFF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499DFF"/>
                </a:solidFill>
                <a:latin typeface="Calibri"/>
                <a:cs typeface="Calibri"/>
              </a:rPr>
              <a:t>angular</a:t>
            </a:r>
            <a:r>
              <a:rPr sz="1100" b="1" spc="-20" dirty="0">
                <a:solidFill>
                  <a:srgbClr val="499DFF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499DFF"/>
                </a:solidFill>
                <a:latin typeface="Calibri"/>
                <a:cs typeface="Calibri"/>
              </a:rPr>
              <a:t>del</a:t>
            </a:r>
            <a:r>
              <a:rPr sz="1100" b="1" spc="-20" dirty="0">
                <a:solidFill>
                  <a:srgbClr val="499DFF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499DFF"/>
                </a:solidFill>
                <a:latin typeface="Calibri"/>
                <a:cs typeface="Calibri"/>
              </a:rPr>
              <a:t>péndulo</a:t>
            </a:r>
            <a:r>
              <a:rPr sz="1100" b="1" spc="215" dirty="0">
                <a:solidFill>
                  <a:srgbClr val="499DFF"/>
                </a:solidFill>
                <a:latin typeface="Calibri"/>
                <a:cs typeface="Calibri"/>
              </a:rPr>
              <a:t> </a:t>
            </a:r>
            <a:r>
              <a:rPr sz="1100" b="1" spc="-20" dirty="0">
                <a:solidFill>
                  <a:srgbClr val="499DFF"/>
                </a:solidFill>
                <a:latin typeface="Calibri"/>
                <a:cs typeface="Calibri"/>
              </a:rPr>
              <a:t>(θ'')</a:t>
            </a:r>
            <a:endParaRPr sz="11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90"/>
              </a:spcBef>
            </a:pPr>
            <a:endParaRPr sz="1100">
              <a:latin typeface="Calibri"/>
              <a:cs typeface="Calibri"/>
            </a:endParaRPr>
          </a:p>
          <a:p>
            <a:pPr marL="226695">
              <a:lnSpc>
                <a:spcPct val="100000"/>
              </a:lnSpc>
              <a:tabLst>
                <a:tab pos="864235" algn="l"/>
                <a:tab pos="1659889" algn="l"/>
                <a:tab pos="1898650" algn="l"/>
              </a:tabLst>
            </a:pPr>
            <a:r>
              <a:rPr sz="1050" spc="260" dirty="0">
                <a:solidFill>
                  <a:srgbClr val="FFFFFF"/>
                </a:solidFill>
                <a:latin typeface="Cambria"/>
                <a:cs typeface="Cambria"/>
              </a:rPr>
              <a:t>θ''</a:t>
            </a:r>
            <a:r>
              <a:rPr sz="1050" spc="39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1050" spc="-50" dirty="0">
                <a:solidFill>
                  <a:srgbClr val="FFFFFF"/>
                </a:solidFill>
                <a:latin typeface="Cambria"/>
                <a:cs typeface="Cambria"/>
              </a:rPr>
              <a:t>=</a:t>
            </a:r>
            <a:r>
              <a:rPr sz="1050" dirty="0">
                <a:solidFill>
                  <a:srgbClr val="FFFFFF"/>
                </a:solidFill>
                <a:latin typeface="Cambria"/>
                <a:cs typeface="Cambria"/>
              </a:rPr>
              <a:t>	</a:t>
            </a:r>
            <a:r>
              <a:rPr sz="1050" spc="170" dirty="0">
                <a:solidFill>
                  <a:srgbClr val="FFFFFF"/>
                </a:solidFill>
                <a:latin typeface="Cambria"/>
                <a:cs typeface="Cambria"/>
              </a:rPr>
              <a:t>g·sin(θ)</a:t>
            </a:r>
            <a:r>
              <a:rPr sz="1050" dirty="0">
                <a:solidFill>
                  <a:srgbClr val="FFFFFF"/>
                </a:solidFill>
                <a:latin typeface="Cambria"/>
                <a:cs typeface="Cambria"/>
              </a:rPr>
              <a:t>	</a:t>
            </a:r>
            <a:r>
              <a:rPr sz="1050" spc="-50" dirty="0">
                <a:solidFill>
                  <a:srgbClr val="FFFFFF"/>
                </a:solidFill>
                <a:latin typeface="Cambria"/>
                <a:cs typeface="Cambria"/>
              </a:rPr>
              <a:t>+</a:t>
            </a:r>
            <a:r>
              <a:rPr sz="1050" dirty="0">
                <a:solidFill>
                  <a:srgbClr val="FFFFFF"/>
                </a:solidFill>
                <a:latin typeface="Cambria"/>
                <a:cs typeface="Cambria"/>
              </a:rPr>
              <a:t>	</a:t>
            </a:r>
            <a:r>
              <a:rPr sz="1050" spc="155" dirty="0">
                <a:solidFill>
                  <a:srgbClr val="FFFFFF"/>
                </a:solidFill>
                <a:latin typeface="Cambria"/>
                <a:cs typeface="Cambria"/>
              </a:rPr>
              <a:t>cos(θ)·[−F</a:t>
            </a:r>
            <a:r>
              <a:rPr sz="1050" spc="409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1050" dirty="0">
                <a:solidFill>
                  <a:srgbClr val="FFFFFF"/>
                </a:solidFill>
                <a:latin typeface="Cambria"/>
                <a:cs typeface="Cambria"/>
              </a:rPr>
              <a:t>−</a:t>
            </a:r>
            <a:r>
              <a:rPr sz="1050" spc="40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1050" spc="195" dirty="0">
                <a:solidFill>
                  <a:srgbClr val="FFFFFF"/>
                </a:solidFill>
                <a:latin typeface="Cambria"/>
                <a:cs typeface="Cambria"/>
              </a:rPr>
              <a:t>m·l·θ'²·sin(θ)]</a:t>
            </a:r>
            <a:r>
              <a:rPr sz="1050" spc="40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1050" spc="114" dirty="0">
                <a:solidFill>
                  <a:srgbClr val="FFFFFF"/>
                </a:solidFill>
                <a:latin typeface="Cambria"/>
                <a:cs typeface="Cambria"/>
              </a:rPr>
              <a:t>/</a:t>
            </a:r>
            <a:r>
              <a:rPr sz="1050" spc="409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1050" spc="-10" dirty="0">
                <a:solidFill>
                  <a:srgbClr val="FFFFFF"/>
                </a:solidFill>
                <a:latin typeface="Cambria"/>
                <a:cs typeface="Cambria"/>
              </a:rPr>
              <a:t>(M+m)</a:t>
            </a:r>
            <a:endParaRPr sz="105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25"/>
              </a:spcBef>
            </a:pPr>
            <a:endParaRPr sz="1050">
              <a:latin typeface="Cambria"/>
              <a:cs typeface="Cambria"/>
            </a:endParaRPr>
          </a:p>
          <a:p>
            <a:pPr marL="1184275" marR="662305" indent="-957580">
              <a:lnSpc>
                <a:spcPct val="100000"/>
              </a:lnSpc>
              <a:tabLst>
                <a:tab pos="2059939" algn="l"/>
                <a:tab pos="2299335" algn="l"/>
              </a:tabLst>
            </a:pPr>
            <a:r>
              <a:rPr sz="1050" spc="-70" dirty="0">
                <a:solidFill>
                  <a:srgbClr val="FFFFFF"/>
                </a:solidFill>
                <a:latin typeface="Cambria"/>
                <a:cs typeface="Cambria"/>
              </a:rPr>
              <a:t>─────────────────────────────────────────────────────</a:t>
            </a:r>
            <a:r>
              <a:rPr sz="1050" spc="340" dirty="0">
                <a:solidFill>
                  <a:srgbClr val="FFFFFF"/>
                </a:solidFill>
                <a:latin typeface="Cambria"/>
                <a:cs typeface="Cambria"/>
              </a:rPr>
              <a:t> l</a:t>
            </a:r>
            <a:r>
              <a:rPr sz="1050" spc="37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1050" spc="330" dirty="0">
                <a:solidFill>
                  <a:srgbClr val="FFFFFF"/>
                </a:solidFill>
                <a:latin typeface="Cambria"/>
                <a:cs typeface="Cambria"/>
              </a:rPr>
              <a:t>·</a:t>
            </a:r>
            <a:r>
              <a:rPr sz="1050" spc="38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1050" spc="265" dirty="0">
                <a:solidFill>
                  <a:srgbClr val="FFFFFF"/>
                </a:solidFill>
                <a:latin typeface="Cambria"/>
                <a:cs typeface="Cambria"/>
              </a:rPr>
              <a:t>[</a:t>
            </a:r>
            <a:r>
              <a:rPr sz="1050" spc="38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1050" spc="35" dirty="0">
                <a:solidFill>
                  <a:srgbClr val="FFFFFF"/>
                </a:solidFill>
                <a:latin typeface="Cambria"/>
                <a:cs typeface="Cambria"/>
              </a:rPr>
              <a:t>4/3</a:t>
            </a:r>
            <a:r>
              <a:rPr sz="1050" dirty="0">
                <a:solidFill>
                  <a:srgbClr val="FFFFFF"/>
                </a:solidFill>
                <a:latin typeface="Cambria"/>
                <a:cs typeface="Cambria"/>
              </a:rPr>
              <a:t>	</a:t>
            </a:r>
            <a:r>
              <a:rPr sz="1050" spc="-50" dirty="0">
                <a:solidFill>
                  <a:srgbClr val="FFFFFF"/>
                </a:solidFill>
                <a:latin typeface="Cambria"/>
                <a:cs typeface="Cambria"/>
              </a:rPr>
              <a:t>−</a:t>
            </a:r>
            <a:r>
              <a:rPr sz="1050" dirty="0">
                <a:solidFill>
                  <a:srgbClr val="FFFFFF"/>
                </a:solidFill>
                <a:latin typeface="Cambria"/>
                <a:cs typeface="Cambria"/>
              </a:rPr>
              <a:t>	</a:t>
            </a:r>
            <a:r>
              <a:rPr sz="1050" spc="125" dirty="0">
                <a:solidFill>
                  <a:srgbClr val="FFFFFF"/>
                </a:solidFill>
                <a:latin typeface="Cambria"/>
                <a:cs typeface="Cambria"/>
              </a:rPr>
              <a:t>m·cos²(θ)</a:t>
            </a:r>
            <a:r>
              <a:rPr sz="1050" spc="39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1050" spc="114" dirty="0">
                <a:solidFill>
                  <a:srgbClr val="FFFFFF"/>
                </a:solidFill>
                <a:latin typeface="Cambria"/>
                <a:cs typeface="Cambria"/>
              </a:rPr>
              <a:t>/</a:t>
            </a:r>
            <a:r>
              <a:rPr sz="1050" spc="38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1050" dirty="0">
                <a:solidFill>
                  <a:srgbClr val="FFFFFF"/>
                </a:solidFill>
                <a:latin typeface="Cambria"/>
                <a:cs typeface="Cambria"/>
              </a:rPr>
              <a:t>(M+m)</a:t>
            </a:r>
            <a:r>
              <a:rPr sz="1050" spc="39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1050" spc="215" dirty="0">
                <a:solidFill>
                  <a:srgbClr val="FFFFFF"/>
                </a:solidFill>
                <a:latin typeface="Cambria"/>
                <a:cs typeface="Cambria"/>
              </a:rPr>
              <a:t>]</a:t>
            </a:r>
            <a:endParaRPr sz="1050">
              <a:latin typeface="Cambria"/>
              <a:cs typeface="Cambria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239763" y="2762988"/>
            <a:ext cx="5336540" cy="1221105"/>
            <a:chOff x="239763" y="2762988"/>
            <a:chExt cx="5336540" cy="1221105"/>
          </a:xfrm>
        </p:grpSpPr>
        <p:pic>
          <p:nvPicPr>
            <p:cNvPr id="12" name="object 1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39763" y="2762988"/>
              <a:ext cx="5335917" cy="1220774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365404" y="2852638"/>
              <a:ext cx="5120640" cy="1005840"/>
            </a:xfrm>
            <a:custGeom>
              <a:avLst/>
              <a:gdLst/>
              <a:ahLst/>
              <a:cxnLst/>
              <a:rect l="l" t="t" r="r" b="b"/>
              <a:pathLst>
                <a:path w="5120640" h="1005839">
                  <a:moveTo>
                    <a:pt x="5120271" y="0"/>
                  </a:moveTo>
                  <a:lnTo>
                    <a:pt x="0" y="0"/>
                  </a:lnTo>
                  <a:lnTo>
                    <a:pt x="0" y="1005484"/>
                  </a:lnTo>
                  <a:lnTo>
                    <a:pt x="2560320" y="1005484"/>
                  </a:lnTo>
                  <a:lnTo>
                    <a:pt x="5120271" y="1005484"/>
                  </a:lnTo>
                  <a:lnTo>
                    <a:pt x="5120271" y="0"/>
                  </a:lnTo>
                  <a:close/>
                </a:path>
              </a:pathLst>
            </a:custGeom>
            <a:solidFill>
              <a:srgbClr val="191C2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365404" y="2852638"/>
              <a:ext cx="5120640" cy="1005840"/>
            </a:xfrm>
            <a:custGeom>
              <a:avLst/>
              <a:gdLst/>
              <a:ahLst/>
              <a:cxnLst/>
              <a:rect l="l" t="t" r="r" b="b"/>
              <a:pathLst>
                <a:path w="5120640" h="1005839">
                  <a:moveTo>
                    <a:pt x="2560320" y="1005484"/>
                  </a:moveTo>
                  <a:lnTo>
                    <a:pt x="0" y="1005484"/>
                  </a:lnTo>
                  <a:lnTo>
                    <a:pt x="0" y="0"/>
                  </a:lnTo>
                  <a:lnTo>
                    <a:pt x="5120271" y="0"/>
                  </a:lnTo>
                  <a:lnTo>
                    <a:pt x="5120271" y="1005484"/>
                  </a:lnTo>
                  <a:lnTo>
                    <a:pt x="2560320" y="1005484"/>
                  </a:lnTo>
                  <a:close/>
                </a:path>
              </a:pathLst>
            </a:custGeom>
            <a:ln w="12599">
              <a:solidFill>
                <a:srgbClr val="292C3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 txBox="1"/>
          <p:nvPr/>
        </p:nvSpPr>
        <p:spPr>
          <a:xfrm>
            <a:off x="579856" y="2957311"/>
            <a:ext cx="4647565" cy="7969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b="1" dirty="0">
                <a:solidFill>
                  <a:srgbClr val="7CD2FB"/>
                </a:solidFill>
                <a:latin typeface="Calibri"/>
                <a:cs typeface="Calibri"/>
              </a:rPr>
              <a:t>Aceleración</a:t>
            </a:r>
            <a:r>
              <a:rPr sz="1100" b="1" spc="-25" dirty="0">
                <a:solidFill>
                  <a:srgbClr val="7CD2FB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7CD2FB"/>
                </a:solidFill>
                <a:latin typeface="Calibri"/>
                <a:cs typeface="Calibri"/>
              </a:rPr>
              <a:t>lineal</a:t>
            </a:r>
            <a:r>
              <a:rPr sz="1100" b="1" spc="-30" dirty="0">
                <a:solidFill>
                  <a:srgbClr val="7CD2FB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7CD2FB"/>
                </a:solidFill>
                <a:latin typeface="Calibri"/>
                <a:cs typeface="Calibri"/>
              </a:rPr>
              <a:t>del</a:t>
            </a:r>
            <a:r>
              <a:rPr sz="1100" b="1" spc="-15" dirty="0">
                <a:solidFill>
                  <a:srgbClr val="7CD2FB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7CD2FB"/>
                </a:solidFill>
                <a:latin typeface="Calibri"/>
                <a:cs typeface="Calibri"/>
              </a:rPr>
              <a:t>carro</a:t>
            </a:r>
            <a:r>
              <a:rPr sz="1100" b="1" spc="195" dirty="0">
                <a:solidFill>
                  <a:srgbClr val="7CD2FB"/>
                </a:solidFill>
                <a:latin typeface="Calibri"/>
                <a:cs typeface="Calibri"/>
              </a:rPr>
              <a:t> </a:t>
            </a:r>
            <a:r>
              <a:rPr sz="1100" b="1" spc="-10" dirty="0">
                <a:solidFill>
                  <a:srgbClr val="7CD2FB"/>
                </a:solidFill>
                <a:latin typeface="Calibri"/>
                <a:cs typeface="Calibri"/>
              </a:rPr>
              <a:t>(x'')</a:t>
            </a:r>
            <a:endParaRPr sz="1100" dirty="0">
              <a:latin typeface="Calibri"/>
              <a:cs typeface="Calibri"/>
            </a:endParaRPr>
          </a:p>
          <a:p>
            <a:pPr marL="12700">
              <a:lnSpc>
                <a:spcPts val="1260"/>
              </a:lnSpc>
              <a:spcBef>
                <a:spcPts val="975"/>
              </a:spcBef>
              <a:tabLst>
                <a:tab pos="568960" algn="l"/>
              </a:tabLst>
            </a:pPr>
            <a:r>
              <a:rPr sz="1050" spc="285" dirty="0">
                <a:solidFill>
                  <a:srgbClr val="FFFFFF"/>
                </a:solidFill>
                <a:latin typeface="Cambria"/>
                <a:cs typeface="Cambria"/>
              </a:rPr>
              <a:t>x''</a:t>
            </a:r>
            <a:r>
              <a:rPr sz="1050" spc="38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1050" spc="-50" dirty="0">
                <a:solidFill>
                  <a:srgbClr val="FFFFFF"/>
                </a:solidFill>
                <a:latin typeface="Cambria"/>
                <a:cs typeface="Cambria"/>
              </a:rPr>
              <a:t>=</a:t>
            </a:r>
            <a:r>
              <a:rPr sz="1050" dirty="0">
                <a:solidFill>
                  <a:srgbClr val="FFFFFF"/>
                </a:solidFill>
                <a:latin typeface="Cambria"/>
                <a:cs typeface="Cambria"/>
              </a:rPr>
              <a:t>	</a:t>
            </a:r>
            <a:r>
              <a:rPr sz="1050" spc="265" dirty="0">
                <a:solidFill>
                  <a:srgbClr val="FFFFFF"/>
                </a:solidFill>
                <a:latin typeface="Cambria"/>
                <a:cs typeface="Cambria"/>
              </a:rPr>
              <a:t>[</a:t>
            </a:r>
            <a:r>
              <a:rPr sz="1050" spc="39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1050" spc="65" dirty="0">
                <a:solidFill>
                  <a:srgbClr val="FFFFFF"/>
                </a:solidFill>
                <a:latin typeface="Cambria"/>
                <a:cs typeface="Cambria"/>
              </a:rPr>
              <a:t>F</a:t>
            </a:r>
            <a:r>
              <a:rPr sz="1050" spc="39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1050" dirty="0">
                <a:solidFill>
                  <a:srgbClr val="FFFFFF"/>
                </a:solidFill>
                <a:latin typeface="Cambria"/>
                <a:cs typeface="Cambria"/>
              </a:rPr>
              <a:t>−</a:t>
            </a:r>
            <a:r>
              <a:rPr sz="1050" spc="39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1050" spc="160" dirty="0">
                <a:solidFill>
                  <a:srgbClr val="FFFFFF"/>
                </a:solidFill>
                <a:latin typeface="Cambria"/>
                <a:cs typeface="Cambria"/>
              </a:rPr>
              <a:t>b·ẋ</a:t>
            </a:r>
            <a:r>
              <a:rPr sz="1050" spc="39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1050" dirty="0">
                <a:solidFill>
                  <a:srgbClr val="FFFFFF"/>
                </a:solidFill>
                <a:latin typeface="Cambria"/>
                <a:cs typeface="Cambria"/>
              </a:rPr>
              <a:t>+</a:t>
            </a:r>
            <a:r>
              <a:rPr sz="1050" spc="40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1050" spc="195" dirty="0">
                <a:solidFill>
                  <a:srgbClr val="FFFFFF"/>
                </a:solidFill>
                <a:latin typeface="Cambria"/>
                <a:cs typeface="Cambria"/>
              </a:rPr>
              <a:t>m·l·(θ'²·sin(θ)</a:t>
            </a:r>
            <a:r>
              <a:rPr sz="1050" spc="39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1050" dirty="0">
                <a:solidFill>
                  <a:srgbClr val="FFFFFF"/>
                </a:solidFill>
                <a:latin typeface="Cambria"/>
                <a:cs typeface="Cambria"/>
              </a:rPr>
              <a:t>−</a:t>
            </a:r>
            <a:r>
              <a:rPr sz="1050" spc="40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1050" spc="200" dirty="0">
                <a:solidFill>
                  <a:srgbClr val="FFFFFF"/>
                </a:solidFill>
                <a:latin typeface="Cambria"/>
                <a:cs typeface="Cambria"/>
              </a:rPr>
              <a:t>θ''·cos(θ))</a:t>
            </a:r>
            <a:r>
              <a:rPr sz="1050" spc="39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1050" spc="265" dirty="0">
                <a:solidFill>
                  <a:srgbClr val="FFFFFF"/>
                </a:solidFill>
                <a:latin typeface="Cambria"/>
                <a:cs typeface="Cambria"/>
              </a:rPr>
              <a:t>]</a:t>
            </a:r>
            <a:r>
              <a:rPr sz="1050" spc="40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1050" spc="114" dirty="0">
                <a:solidFill>
                  <a:srgbClr val="FFFFFF"/>
                </a:solidFill>
                <a:latin typeface="Cambria"/>
                <a:cs typeface="Cambria"/>
              </a:rPr>
              <a:t>/</a:t>
            </a:r>
            <a:r>
              <a:rPr sz="1050" spc="39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1050" spc="-10" dirty="0">
                <a:solidFill>
                  <a:srgbClr val="FFFFFF"/>
                </a:solidFill>
                <a:latin typeface="Cambria"/>
                <a:cs typeface="Cambria"/>
              </a:rPr>
              <a:t>(M+m)</a:t>
            </a:r>
            <a:endParaRPr sz="1050" dirty="0">
              <a:latin typeface="Cambria"/>
              <a:cs typeface="Cambria"/>
            </a:endParaRPr>
          </a:p>
          <a:p>
            <a:pPr marL="12700" marR="722630" indent="158115">
              <a:lnSpc>
                <a:spcPct val="100000"/>
              </a:lnSpc>
              <a:tabLst>
                <a:tab pos="1126490" algn="l"/>
              </a:tabLst>
            </a:pPr>
            <a:r>
              <a:rPr sz="1050" spc="80" dirty="0">
                <a:solidFill>
                  <a:srgbClr val="FFFFFF"/>
                </a:solidFill>
                <a:latin typeface="Cambria"/>
                <a:cs typeface="Cambria"/>
              </a:rPr>
              <a:t>Fv</a:t>
            </a:r>
            <a:r>
              <a:rPr sz="1050" spc="40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1050" dirty="0">
                <a:solidFill>
                  <a:srgbClr val="FFFFFF"/>
                </a:solidFill>
                <a:latin typeface="Cambria"/>
                <a:cs typeface="Cambria"/>
              </a:rPr>
              <a:t>=</a:t>
            </a:r>
            <a:r>
              <a:rPr sz="1050" spc="39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1050" spc="135" dirty="0">
                <a:solidFill>
                  <a:srgbClr val="FFFFFF"/>
                </a:solidFill>
                <a:latin typeface="Cambria"/>
                <a:cs typeface="Cambria"/>
              </a:rPr>
              <a:t>b·ẋ</a:t>
            </a:r>
            <a:r>
              <a:rPr sz="1050" dirty="0">
                <a:solidFill>
                  <a:srgbClr val="FFFFFF"/>
                </a:solidFill>
                <a:latin typeface="Cambria"/>
                <a:cs typeface="Cambria"/>
              </a:rPr>
              <a:t>	</a:t>
            </a:r>
            <a:r>
              <a:rPr sz="1050" spc="200" dirty="0">
                <a:solidFill>
                  <a:srgbClr val="FFFFFF"/>
                </a:solidFill>
                <a:latin typeface="Cambria"/>
                <a:cs typeface="Cambria"/>
              </a:rPr>
              <a:t>(fricción</a:t>
            </a:r>
            <a:r>
              <a:rPr sz="1050" spc="40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1050" spc="155" dirty="0">
                <a:solidFill>
                  <a:srgbClr val="FFFFFF"/>
                </a:solidFill>
                <a:latin typeface="Cambria"/>
                <a:cs typeface="Cambria"/>
              </a:rPr>
              <a:t>viscosa</a:t>
            </a:r>
            <a:r>
              <a:rPr sz="1050" spc="40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1050" spc="130" dirty="0">
                <a:solidFill>
                  <a:srgbClr val="FFFFFF"/>
                </a:solidFill>
                <a:latin typeface="Cambria"/>
                <a:cs typeface="Cambria"/>
              </a:rPr>
              <a:t>proporcional</a:t>
            </a:r>
            <a:r>
              <a:rPr sz="1050" spc="40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1050" spc="114" dirty="0">
                <a:solidFill>
                  <a:srgbClr val="FFFFFF"/>
                </a:solidFill>
                <a:latin typeface="Cambria"/>
                <a:cs typeface="Cambria"/>
              </a:rPr>
              <a:t>a</a:t>
            </a:r>
            <a:r>
              <a:rPr sz="1050" spc="40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1050" spc="200" dirty="0">
                <a:solidFill>
                  <a:srgbClr val="FFFFFF"/>
                </a:solidFill>
                <a:latin typeface="Cambria"/>
                <a:cs typeface="Cambria"/>
              </a:rPr>
              <a:t>la </a:t>
            </a:r>
            <a:r>
              <a:rPr sz="1050" spc="140" dirty="0">
                <a:solidFill>
                  <a:srgbClr val="FFFFFF"/>
                </a:solidFill>
                <a:latin typeface="Cambria"/>
                <a:cs typeface="Cambria"/>
              </a:rPr>
              <a:t>velocidad)</a:t>
            </a:r>
            <a:endParaRPr sz="1050" dirty="0">
              <a:latin typeface="Cambria"/>
              <a:cs typeface="Cambria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239763" y="3823908"/>
            <a:ext cx="5336540" cy="1083945"/>
            <a:chOff x="239763" y="3823908"/>
            <a:chExt cx="5336540" cy="1083945"/>
          </a:xfrm>
        </p:grpSpPr>
        <p:pic>
          <p:nvPicPr>
            <p:cNvPr id="17" name="object 1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39763" y="3823908"/>
              <a:ext cx="5335917" cy="1083614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365404" y="3913557"/>
              <a:ext cx="5120640" cy="868680"/>
            </a:xfrm>
            <a:custGeom>
              <a:avLst/>
              <a:gdLst/>
              <a:ahLst/>
              <a:cxnLst/>
              <a:rect l="l" t="t" r="r" b="b"/>
              <a:pathLst>
                <a:path w="5120640" h="868679">
                  <a:moveTo>
                    <a:pt x="5120271" y="0"/>
                  </a:moveTo>
                  <a:lnTo>
                    <a:pt x="0" y="0"/>
                  </a:lnTo>
                  <a:lnTo>
                    <a:pt x="0" y="868324"/>
                  </a:lnTo>
                  <a:lnTo>
                    <a:pt x="2560320" y="868324"/>
                  </a:lnTo>
                  <a:lnTo>
                    <a:pt x="5120271" y="868324"/>
                  </a:lnTo>
                  <a:lnTo>
                    <a:pt x="5120271" y="0"/>
                  </a:lnTo>
                  <a:close/>
                </a:path>
              </a:pathLst>
            </a:custGeom>
            <a:solidFill>
              <a:srgbClr val="191C2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/>
          <p:nvPr/>
        </p:nvSpPr>
        <p:spPr>
          <a:xfrm>
            <a:off x="365404" y="3913558"/>
            <a:ext cx="5120640" cy="868680"/>
          </a:xfrm>
          <a:prstGeom prst="rect">
            <a:avLst/>
          </a:prstGeom>
          <a:ln w="12599">
            <a:solidFill>
              <a:srgbClr val="292C39"/>
            </a:solidFill>
          </a:ln>
        </p:spPr>
        <p:txBody>
          <a:bodyPr vert="horz" wrap="square" lIns="0" tIns="107950" rIns="0" bIns="0" rtlCol="0">
            <a:spAutoFit/>
          </a:bodyPr>
          <a:lstStyle/>
          <a:p>
            <a:pPr marL="226695">
              <a:lnSpc>
                <a:spcPct val="100000"/>
              </a:lnSpc>
              <a:spcBef>
                <a:spcPts val="850"/>
              </a:spcBef>
            </a:pPr>
            <a:r>
              <a:rPr sz="1100" b="1" spc="-10" dirty="0">
                <a:solidFill>
                  <a:srgbClr val="F49D0A"/>
                </a:solidFill>
                <a:latin typeface="Calibri"/>
                <a:cs typeface="Calibri"/>
              </a:rPr>
              <a:t>Integración</a:t>
            </a:r>
            <a:r>
              <a:rPr sz="1100" b="1" spc="-15" dirty="0">
                <a:solidFill>
                  <a:srgbClr val="F49D0A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F49D0A"/>
                </a:solidFill>
                <a:latin typeface="Calibri"/>
                <a:cs typeface="Calibri"/>
              </a:rPr>
              <a:t>Numérica</a:t>
            </a:r>
            <a:r>
              <a:rPr sz="1100" b="1" spc="-10" dirty="0">
                <a:solidFill>
                  <a:srgbClr val="F49D0A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F49D0A"/>
                </a:solidFill>
                <a:latin typeface="Calibri"/>
                <a:cs typeface="Calibri"/>
              </a:rPr>
              <a:t>—</a:t>
            </a:r>
            <a:r>
              <a:rPr sz="1100" b="1" spc="-10" dirty="0">
                <a:solidFill>
                  <a:srgbClr val="F49D0A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F49D0A"/>
                </a:solidFill>
                <a:latin typeface="Calibri"/>
                <a:cs typeface="Calibri"/>
              </a:rPr>
              <a:t>Euler</a:t>
            </a:r>
            <a:r>
              <a:rPr sz="1100" b="1" spc="-15" dirty="0">
                <a:solidFill>
                  <a:srgbClr val="F49D0A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F49D0A"/>
                </a:solidFill>
                <a:latin typeface="Calibri"/>
                <a:cs typeface="Calibri"/>
              </a:rPr>
              <a:t>orden</a:t>
            </a:r>
            <a:r>
              <a:rPr sz="1100" b="1" spc="-10" dirty="0">
                <a:solidFill>
                  <a:srgbClr val="F49D0A"/>
                </a:solidFill>
                <a:latin typeface="Calibri"/>
                <a:cs typeface="Calibri"/>
              </a:rPr>
              <a:t> </a:t>
            </a:r>
            <a:r>
              <a:rPr sz="1100" b="1" spc="-50" dirty="0">
                <a:solidFill>
                  <a:srgbClr val="F49D0A"/>
                </a:solidFill>
                <a:latin typeface="Calibri"/>
                <a:cs typeface="Calibri"/>
              </a:rPr>
              <a:t>2</a:t>
            </a:r>
            <a:endParaRPr sz="1100">
              <a:latin typeface="Calibri"/>
              <a:cs typeface="Calibri"/>
            </a:endParaRPr>
          </a:p>
          <a:p>
            <a:pPr marL="226695">
              <a:lnSpc>
                <a:spcPct val="100000"/>
              </a:lnSpc>
              <a:spcBef>
                <a:spcPts val="1235"/>
              </a:spcBef>
            </a:pPr>
            <a:r>
              <a:rPr sz="1000" spc="140" dirty="0">
                <a:solidFill>
                  <a:srgbClr val="FFFFFF"/>
                </a:solidFill>
                <a:latin typeface="Cambria"/>
                <a:cs typeface="Cambria"/>
              </a:rPr>
              <a:t>θ(t+Δt)</a:t>
            </a:r>
            <a:r>
              <a:rPr sz="1000" spc="41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1000" dirty="0">
                <a:solidFill>
                  <a:srgbClr val="FFFFFF"/>
                </a:solidFill>
                <a:latin typeface="Cambria"/>
                <a:cs typeface="Cambria"/>
              </a:rPr>
              <a:t>=</a:t>
            </a:r>
            <a:r>
              <a:rPr sz="1000" spc="42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1000" spc="180" dirty="0">
                <a:solidFill>
                  <a:srgbClr val="FFFFFF"/>
                </a:solidFill>
                <a:latin typeface="Cambria"/>
                <a:cs typeface="Cambria"/>
              </a:rPr>
              <a:t>θ(t)</a:t>
            </a:r>
            <a:r>
              <a:rPr sz="1000" spc="41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1000" dirty="0">
                <a:solidFill>
                  <a:srgbClr val="FFFFFF"/>
                </a:solidFill>
                <a:latin typeface="Cambria"/>
                <a:cs typeface="Cambria"/>
              </a:rPr>
              <a:t>+</a:t>
            </a:r>
            <a:r>
              <a:rPr sz="1000" spc="42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1000" spc="190" dirty="0">
                <a:solidFill>
                  <a:srgbClr val="FFFFFF"/>
                </a:solidFill>
                <a:latin typeface="Cambria"/>
                <a:cs typeface="Cambria"/>
              </a:rPr>
              <a:t>θ'·Δt</a:t>
            </a:r>
            <a:r>
              <a:rPr sz="1000" spc="42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1000" dirty="0">
                <a:solidFill>
                  <a:srgbClr val="FFFFFF"/>
                </a:solidFill>
                <a:latin typeface="Cambria"/>
                <a:cs typeface="Cambria"/>
              </a:rPr>
              <a:t>+</a:t>
            </a:r>
            <a:r>
              <a:rPr sz="1000" spc="41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1000" spc="155" dirty="0">
                <a:solidFill>
                  <a:srgbClr val="FFFFFF"/>
                </a:solidFill>
                <a:latin typeface="Cambria"/>
                <a:cs typeface="Cambria"/>
              </a:rPr>
              <a:t>½·θ''·Δt²</a:t>
            </a:r>
            <a:endParaRPr sz="1000">
              <a:latin typeface="Cambria"/>
              <a:cs typeface="Cambria"/>
            </a:endParaRPr>
          </a:p>
          <a:p>
            <a:pPr marL="226695">
              <a:lnSpc>
                <a:spcPct val="100000"/>
              </a:lnSpc>
              <a:tabLst>
                <a:tab pos="2665095" algn="l"/>
              </a:tabLst>
            </a:pPr>
            <a:r>
              <a:rPr sz="1000" spc="170" dirty="0">
                <a:solidFill>
                  <a:srgbClr val="FFFFFF"/>
                </a:solidFill>
                <a:latin typeface="Cambria"/>
                <a:cs typeface="Cambria"/>
              </a:rPr>
              <a:t>θ'(t+Δt)</a:t>
            </a:r>
            <a:r>
              <a:rPr sz="1000" spc="409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1000" dirty="0">
                <a:solidFill>
                  <a:srgbClr val="FFFFFF"/>
                </a:solidFill>
                <a:latin typeface="Cambria"/>
                <a:cs typeface="Cambria"/>
              </a:rPr>
              <a:t>=</a:t>
            </a:r>
            <a:r>
              <a:rPr sz="1000" spc="41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1000" spc="215" dirty="0">
                <a:solidFill>
                  <a:srgbClr val="FFFFFF"/>
                </a:solidFill>
                <a:latin typeface="Cambria"/>
                <a:cs typeface="Cambria"/>
              </a:rPr>
              <a:t>θ'(t)</a:t>
            </a:r>
            <a:r>
              <a:rPr sz="1000" spc="409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1000" dirty="0">
                <a:solidFill>
                  <a:srgbClr val="FFFFFF"/>
                </a:solidFill>
                <a:latin typeface="Cambria"/>
                <a:cs typeface="Cambria"/>
              </a:rPr>
              <a:t>+</a:t>
            </a:r>
            <a:r>
              <a:rPr sz="1000" spc="41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1000" spc="210" dirty="0">
                <a:solidFill>
                  <a:srgbClr val="FFFFFF"/>
                </a:solidFill>
                <a:latin typeface="Cambria"/>
                <a:cs typeface="Cambria"/>
              </a:rPr>
              <a:t>θ''·Δt</a:t>
            </a:r>
            <a:r>
              <a:rPr sz="1000" dirty="0">
                <a:solidFill>
                  <a:srgbClr val="FFFFFF"/>
                </a:solidFill>
                <a:latin typeface="Cambria"/>
                <a:cs typeface="Cambria"/>
              </a:rPr>
              <a:t>	</a:t>
            </a:r>
            <a:r>
              <a:rPr sz="1000" spc="80" dirty="0">
                <a:solidFill>
                  <a:srgbClr val="FFFFFF"/>
                </a:solidFill>
                <a:latin typeface="Cambria"/>
                <a:cs typeface="Cambria"/>
              </a:rPr>
              <a:t>(ídem</a:t>
            </a:r>
            <a:r>
              <a:rPr sz="1000" spc="39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1000" spc="110" dirty="0">
                <a:solidFill>
                  <a:srgbClr val="FFFFFF"/>
                </a:solidFill>
                <a:latin typeface="Cambria"/>
                <a:cs typeface="Cambria"/>
              </a:rPr>
              <a:t>para</a:t>
            </a:r>
            <a:r>
              <a:rPr sz="1000" spc="39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1000" spc="250" dirty="0">
                <a:solidFill>
                  <a:srgbClr val="FFFFFF"/>
                </a:solidFill>
                <a:latin typeface="Cambria"/>
                <a:cs typeface="Cambria"/>
              </a:rPr>
              <a:t>x,</a:t>
            </a:r>
            <a:r>
              <a:rPr sz="1000" spc="39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1000" spc="135" dirty="0">
                <a:solidFill>
                  <a:srgbClr val="FFFFFF"/>
                </a:solidFill>
                <a:latin typeface="Cambria"/>
                <a:cs typeface="Cambria"/>
              </a:rPr>
              <a:t>ẋ)</a:t>
            </a:r>
            <a:endParaRPr sz="1000">
              <a:latin typeface="Cambria"/>
              <a:cs typeface="Cambria"/>
            </a:endParaRPr>
          </a:p>
        </p:txBody>
      </p:sp>
      <p:grpSp>
        <p:nvGrpSpPr>
          <p:cNvPr id="20" name="object 20"/>
          <p:cNvGrpSpPr/>
          <p:nvPr/>
        </p:nvGrpSpPr>
        <p:grpSpPr>
          <a:xfrm>
            <a:off x="5497563" y="1418744"/>
            <a:ext cx="3324860" cy="3507104"/>
            <a:chOff x="5497563" y="1418744"/>
            <a:chExt cx="3324860" cy="3507104"/>
          </a:xfrm>
        </p:grpSpPr>
        <p:pic>
          <p:nvPicPr>
            <p:cNvPr id="21" name="object 2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497563" y="1418744"/>
              <a:ext cx="3324237" cy="3506774"/>
            </a:xfrm>
            <a:prstGeom prst="rect">
              <a:avLst/>
            </a:prstGeom>
          </p:spPr>
        </p:pic>
        <p:sp>
          <p:nvSpPr>
            <p:cNvPr id="22" name="object 22"/>
            <p:cNvSpPr/>
            <p:nvPr/>
          </p:nvSpPr>
          <p:spPr>
            <a:xfrm>
              <a:off x="5623204" y="1508406"/>
              <a:ext cx="3108960" cy="3291840"/>
            </a:xfrm>
            <a:custGeom>
              <a:avLst/>
              <a:gdLst/>
              <a:ahLst/>
              <a:cxnLst/>
              <a:rect l="l" t="t" r="r" b="b"/>
              <a:pathLst>
                <a:path w="3108959" h="3291840">
                  <a:moveTo>
                    <a:pt x="3108591" y="0"/>
                  </a:moveTo>
                  <a:lnTo>
                    <a:pt x="0" y="0"/>
                  </a:lnTo>
                  <a:lnTo>
                    <a:pt x="0" y="3291471"/>
                  </a:lnTo>
                  <a:lnTo>
                    <a:pt x="1554480" y="3291471"/>
                  </a:lnTo>
                  <a:lnTo>
                    <a:pt x="3108591" y="3291471"/>
                  </a:lnTo>
                  <a:lnTo>
                    <a:pt x="3108591" y="0"/>
                  </a:lnTo>
                  <a:close/>
                </a:path>
              </a:pathLst>
            </a:custGeom>
            <a:solidFill>
              <a:srgbClr val="191C2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5623204" y="1508406"/>
              <a:ext cx="3108960" cy="3291840"/>
            </a:xfrm>
            <a:custGeom>
              <a:avLst/>
              <a:gdLst/>
              <a:ahLst/>
              <a:cxnLst/>
              <a:rect l="l" t="t" r="r" b="b"/>
              <a:pathLst>
                <a:path w="3108959" h="3291840">
                  <a:moveTo>
                    <a:pt x="1554480" y="3291471"/>
                  </a:moveTo>
                  <a:lnTo>
                    <a:pt x="0" y="3291471"/>
                  </a:lnTo>
                  <a:lnTo>
                    <a:pt x="0" y="0"/>
                  </a:lnTo>
                  <a:lnTo>
                    <a:pt x="3108591" y="0"/>
                  </a:lnTo>
                  <a:lnTo>
                    <a:pt x="3108591" y="3291471"/>
                  </a:lnTo>
                  <a:lnTo>
                    <a:pt x="1554480" y="3291471"/>
                  </a:lnTo>
                  <a:close/>
                </a:path>
              </a:pathLst>
            </a:custGeom>
            <a:ln w="12599">
              <a:solidFill>
                <a:srgbClr val="292C3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5804636" y="1613067"/>
            <a:ext cx="136842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1100" b="1" spc="-10" dirty="0">
                <a:solidFill>
                  <a:srgbClr val="C7CFE7"/>
                </a:solidFill>
                <a:latin typeface="Calibri"/>
                <a:cs typeface="Calibri"/>
              </a:rPr>
              <a:t>Parámetros </a:t>
            </a:r>
            <a:r>
              <a:rPr sz="1100" b="1" dirty="0">
                <a:solidFill>
                  <a:srgbClr val="C7CFE7"/>
                </a:solidFill>
                <a:latin typeface="Calibri"/>
                <a:cs typeface="Calibri"/>
              </a:rPr>
              <a:t>del </a:t>
            </a:r>
            <a:r>
              <a:rPr sz="1100" b="1" spc="-10" dirty="0">
                <a:solidFill>
                  <a:srgbClr val="C7CFE7"/>
                </a:solidFill>
                <a:latin typeface="Calibri"/>
                <a:cs typeface="Calibri"/>
              </a:rPr>
              <a:t>sistema</a:t>
            </a:r>
            <a:endParaRPr sz="1100">
              <a:latin typeface="Calibri"/>
              <a:cs typeface="Calibri"/>
            </a:endParaRPr>
          </a:p>
        </p:txBody>
      </p:sp>
      <p:grpSp>
        <p:nvGrpSpPr>
          <p:cNvPr id="25" name="object 25"/>
          <p:cNvGrpSpPr/>
          <p:nvPr/>
        </p:nvGrpSpPr>
        <p:grpSpPr>
          <a:xfrm>
            <a:off x="5708650" y="1913536"/>
            <a:ext cx="2893060" cy="415290"/>
            <a:chOff x="5708650" y="1913536"/>
            <a:chExt cx="2893060" cy="415290"/>
          </a:xfrm>
        </p:grpSpPr>
        <p:sp>
          <p:nvSpPr>
            <p:cNvPr id="26" name="object 26"/>
            <p:cNvSpPr/>
            <p:nvPr/>
          </p:nvSpPr>
          <p:spPr>
            <a:xfrm>
              <a:off x="5715000" y="1919886"/>
              <a:ext cx="2880360" cy="402590"/>
            </a:xfrm>
            <a:custGeom>
              <a:avLst/>
              <a:gdLst/>
              <a:ahLst/>
              <a:cxnLst/>
              <a:rect l="l" t="t" r="r" b="b"/>
              <a:pathLst>
                <a:path w="2880359" h="402589">
                  <a:moveTo>
                    <a:pt x="2880004" y="0"/>
                  </a:moveTo>
                  <a:lnTo>
                    <a:pt x="0" y="0"/>
                  </a:lnTo>
                  <a:lnTo>
                    <a:pt x="0" y="402120"/>
                  </a:lnTo>
                  <a:lnTo>
                    <a:pt x="1440002" y="402120"/>
                  </a:lnTo>
                  <a:lnTo>
                    <a:pt x="2880004" y="402120"/>
                  </a:lnTo>
                  <a:lnTo>
                    <a:pt x="2880004" y="0"/>
                  </a:lnTo>
                  <a:close/>
                </a:path>
              </a:pathLst>
            </a:custGeom>
            <a:solidFill>
              <a:srgbClr val="1D213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715000" y="1919886"/>
              <a:ext cx="2880360" cy="402590"/>
            </a:xfrm>
            <a:custGeom>
              <a:avLst/>
              <a:gdLst/>
              <a:ahLst/>
              <a:cxnLst/>
              <a:rect l="l" t="t" r="r" b="b"/>
              <a:pathLst>
                <a:path w="2880359" h="402589">
                  <a:moveTo>
                    <a:pt x="1440002" y="402120"/>
                  </a:moveTo>
                  <a:lnTo>
                    <a:pt x="0" y="402120"/>
                  </a:lnTo>
                  <a:lnTo>
                    <a:pt x="0" y="0"/>
                  </a:lnTo>
                  <a:lnTo>
                    <a:pt x="2880004" y="0"/>
                  </a:lnTo>
                  <a:lnTo>
                    <a:pt x="2880004" y="402120"/>
                  </a:lnTo>
                  <a:lnTo>
                    <a:pt x="1440002" y="402120"/>
                  </a:lnTo>
                  <a:close/>
                </a:path>
              </a:pathLst>
            </a:custGeom>
            <a:ln w="12599">
              <a:solidFill>
                <a:srgbClr val="292C3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5832005" y="2032103"/>
            <a:ext cx="89535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1000" spc="-360" dirty="0">
                <a:solidFill>
                  <a:srgbClr val="499DFF"/>
                </a:solidFill>
                <a:latin typeface="Segoe UI Symbol"/>
                <a:cs typeface="Segoe UI Symbol"/>
              </a:rPr>
              <a:t>M</a:t>
            </a:r>
            <a:endParaRPr sz="1000">
              <a:latin typeface="Segoe UI Symbol"/>
              <a:cs typeface="Segoe UI Symbo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6325920" y="2036066"/>
            <a:ext cx="520065" cy="1701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950" spc="114" dirty="0">
                <a:solidFill>
                  <a:srgbClr val="FFFFFF"/>
                </a:solidFill>
                <a:latin typeface="Cambria"/>
                <a:cs typeface="Cambria"/>
              </a:rPr>
              <a:t>20.0</a:t>
            </a:r>
            <a:r>
              <a:rPr sz="950" spc="37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950" spc="60" dirty="0">
                <a:solidFill>
                  <a:srgbClr val="FFFFFF"/>
                </a:solidFill>
                <a:latin typeface="Cambria"/>
                <a:cs typeface="Cambria"/>
              </a:rPr>
              <a:t>kg</a:t>
            </a:r>
            <a:endParaRPr sz="950">
              <a:latin typeface="Cambria"/>
              <a:cs typeface="Cambria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7359116" y="2043622"/>
            <a:ext cx="662305" cy="1555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850" dirty="0">
                <a:solidFill>
                  <a:srgbClr val="878FA7"/>
                </a:solidFill>
                <a:latin typeface="Calibri"/>
                <a:cs typeface="Calibri"/>
              </a:rPr>
              <a:t>Masa</a:t>
            </a:r>
            <a:r>
              <a:rPr sz="850" spc="-30" dirty="0">
                <a:solidFill>
                  <a:srgbClr val="878FA7"/>
                </a:solidFill>
                <a:latin typeface="Calibri"/>
                <a:cs typeface="Calibri"/>
              </a:rPr>
              <a:t> </a:t>
            </a:r>
            <a:r>
              <a:rPr sz="850" dirty="0">
                <a:solidFill>
                  <a:srgbClr val="878FA7"/>
                </a:solidFill>
                <a:latin typeface="Calibri"/>
                <a:cs typeface="Calibri"/>
              </a:rPr>
              <a:t>del</a:t>
            </a:r>
            <a:r>
              <a:rPr sz="850" spc="-30" dirty="0">
                <a:solidFill>
                  <a:srgbClr val="878FA7"/>
                </a:solidFill>
                <a:latin typeface="Calibri"/>
                <a:cs typeface="Calibri"/>
              </a:rPr>
              <a:t> </a:t>
            </a:r>
            <a:r>
              <a:rPr sz="850" spc="-10" dirty="0">
                <a:solidFill>
                  <a:srgbClr val="878FA7"/>
                </a:solidFill>
                <a:latin typeface="Calibri"/>
                <a:cs typeface="Calibri"/>
              </a:rPr>
              <a:t>carro</a:t>
            </a:r>
            <a:endParaRPr sz="850">
              <a:latin typeface="Calibri"/>
              <a:cs typeface="Calibri"/>
            </a:endParaRPr>
          </a:p>
        </p:txBody>
      </p:sp>
      <p:grpSp>
        <p:nvGrpSpPr>
          <p:cNvPr id="31" name="object 31"/>
          <p:cNvGrpSpPr/>
          <p:nvPr/>
        </p:nvGrpSpPr>
        <p:grpSpPr>
          <a:xfrm>
            <a:off x="5708650" y="2389087"/>
            <a:ext cx="2893060" cy="415290"/>
            <a:chOff x="5708650" y="2389087"/>
            <a:chExt cx="2893060" cy="415290"/>
          </a:xfrm>
        </p:grpSpPr>
        <p:sp>
          <p:nvSpPr>
            <p:cNvPr id="32" name="object 32"/>
            <p:cNvSpPr/>
            <p:nvPr/>
          </p:nvSpPr>
          <p:spPr>
            <a:xfrm>
              <a:off x="5715000" y="2395437"/>
              <a:ext cx="2880360" cy="402590"/>
            </a:xfrm>
            <a:custGeom>
              <a:avLst/>
              <a:gdLst/>
              <a:ahLst/>
              <a:cxnLst/>
              <a:rect l="l" t="t" r="r" b="b"/>
              <a:pathLst>
                <a:path w="2880359" h="402589">
                  <a:moveTo>
                    <a:pt x="2880004" y="0"/>
                  </a:moveTo>
                  <a:lnTo>
                    <a:pt x="0" y="0"/>
                  </a:lnTo>
                  <a:lnTo>
                    <a:pt x="0" y="402120"/>
                  </a:lnTo>
                  <a:lnTo>
                    <a:pt x="1440002" y="402120"/>
                  </a:lnTo>
                  <a:lnTo>
                    <a:pt x="2880004" y="402120"/>
                  </a:lnTo>
                  <a:lnTo>
                    <a:pt x="2880004" y="0"/>
                  </a:lnTo>
                  <a:close/>
                </a:path>
              </a:pathLst>
            </a:custGeom>
            <a:solidFill>
              <a:srgbClr val="191C2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715000" y="2395437"/>
              <a:ext cx="2880360" cy="402590"/>
            </a:xfrm>
            <a:custGeom>
              <a:avLst/>
              <a:gdLst/>
              <a:ahLst/>
              <a:cxnLst/>
              <a:rect l="l" t="t" r="r" b="b"/>
              <a:pathLst>
                <a:path w="2880359" h="402589">
                  <a:moveTo>
                    <a:pt x="1440002" y="402120"/>
                  </a:moveTo>
                  <a:lnTo>
                    <a:pt x="0" y="402120"/>
                  </a:lnTo>
                  <a:lnTo>
                    <a:pt x="0" y="0"/>
                  </a:lnTo>
                  <a:lnTo>
                    <a:pt x="2880004" y="0"/>
                  </a:lnTo>
                  <a:lnTo>
                    <a:pt x="2880004" y="402120"/>
                  </a:lnTo>
                  <a:lnTo>
                    <a:pt x="1440002" y="402120"/>
                  </a:lnTo>
                  <a:close/>
                </a:path>
              </a:pathLst>
            </a:custGeom>
            <a:ln w="12599">
              <a:solidFill>
                <a:srgbClr val="292C3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5832005" y="2507299"/>
            <a:ext cx="940435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  <a:tabLst>
                <a:tab pos="493395" algn="l"/>
              </a:tabLst>
            </a:pPr>
            <a:r>
              <a:rPr sz="1000" spc="-320" dirty="0">
                <a:solidFill>
                  <a:srgbClr val="499DFF"/>
                </a:solidFill>
                <a:latin typeface="Segoe UI Symbol"/>
                <a:cs typeface="Segoe UI Symbol"/>
              </a:rPr>
              <a:t>m</a:t>
            </a:r>
            <a:r>
              <a:rPr sz="1000" dirty="0">
                <a:solidFill>
                  <a:srgbClr val="499DFF"/>
                </a:solidFill>
                <a:latin typeface="Segoe UI Symbol"/>
                <a:cs typeface="Segoe UI Symbol"/>
              </a:rPr>
              <a:t>	</a:t>
            </a:r>
            <a:r>
              <a:rPr sz="950" spc="145" dirty="0">
                <a:solidFill>
                  <a:srgbClr val="FFFFFF"/>
                </a:solidFill>
                <a:latin typeface="Cambria"/>
                <a:cs typeface="Cambria"/>
              </a:rPr>
              <a:t>3.0</a:t>
            </a:r>
            <a:r>
              <a:rPr sz="950" spc="36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950" spc="50" dirty="0">
                <a:solidFill>
                  <a:srgbClr val="FFFFFF"/>
                </a:solidFill>
                <a:latin typeface="Cambria"/>
                <a:cs typeface="Cambria"/>
              </a:rPr>
              <a:t>kg</a:t>
            </a:r>
            <a:endParaRPr sz="950">
              <a:latin typeface="Cambria"/>
              <a:cs typeface="Cambria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7359116" y="2518818"/>
            <a:ext cx="798195" cy="1555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850" dirty="0">
                <a:solidFill>
                  <a:srgbClr val="878FA7"/>
                </a:solidFill>
                <a:latin typeface="Calibri"/>
                <a:cs typeface="Calibri"/>
              </a:rPr>
              <a:t>Masa</a:t>
            </a:r>
            <a:r>
              <a:rPr sz="850" spc="-30" dirty="0">
                <a:solidFill>
                  <a:srgbClr val="878FA7"/>
                </a:solidFill>
                <a:latin typeface="Calibri"/>
                <a:cs typeface="Calibri"/>
              </a:rPr>
              <a:t> </a:t>
            </a:r>
            <a:r>
              <a:rPr sz="850" dirty="0">
                <a:solidFill>
                  <a:srgbClr val="878FA7"/>
                </a:solidFill>
                <a:latin typeface="Calibri"/>
                <a:cs typeface="Calibri"/>
              </a:rPr>
              <a:t>del</a:t>
            </a:r>
            <a:r>
              <a:rPr sz="850" spc="-30" dirty="0">
                <a:solidFill>
                  <a:srgbClr val="878FA7"/>
                </a:solidFill>
                <a:latin typeface="Calibri"/>
                <a:cs typeface="Calibri"/>
              </a:rPr>
              <a:t> </a:t>
            </a:r>
            <a:r>
              <a:rPr sz="850" spc="-10" dirty="0">
                <a:solidFill>
                  <a:srgbClr val="878FA7"/>
                </a:solidFill>
                <a:latin typeface="Calibri"/>
                <a:cs typeface="Calibri"/>
              </a:rPr>
              <a:t>péndulo</a:t>
            </a:r>
            <a:endParaRPr sz="850">
              <a:latin typeface="Calibri"/>
              <a:cs typeface="Calibri"/>
            </a:endParaRPr>
          </a:p>
        </p:txBody>
      </p:sp>
      <p:sp>
        <p:nvSpPr>
          <p:cNvPr id="36" name="object 36"/>
          <p:cNvSpPr/>
          <p:nvPr/>
        </p:nvSpPr>
        <p:spPr>
          <a:xfrm>
            <a:off x="5715000" y="2871002"/>
            <a:ext cx="2880360" cy="402590"/>
          </a:xfrm>
          <a:custGeom>
            <a:avLst/>
            <a:gdLst/>
            <a:ahLst/>
            <a:cxnLst/>
            <a:rect l="l" t="t" r="r" b="b"/>
            <a:pathLst>
              <a:path w="2880359" h="402589">
                <a:moveTo>
                  <a:pt x="2880004" y="0"/>
                </a:moveTo>
                <a:lnTo>
                  <a:pt x="0" y="0"/>
                </a:lnTo>
                <a:lnTo>
                  <a:pt x="0" y="402120"/>
                </a:lnTo>
                <a:lnTo>
                  <a:pt x="1440002" y="402120"/>
                </a:lnTo>
                <a:lnTo>
                  <a:pt x="2880004" y="402120"/>
                </a:lnTo>
                <a:lnTo>
                  <a:pt x="2880004" y="0"/>
                </a:lnTo>
                <a:close/>
              </a:path>
            </a:pathLst>
          </a:custGeom>
          <a:solidFill>
            <a:srgbClr val="1D213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/>
          <p:cNvSpPr txBox="1"/>
          <p:nvPr/>
        </p:nvSpPr>
        <p:spPr>
          <a:xfrm>
            <a:off x="5715000" y="2871002"/>
            <a:ext cx="2880360" cy="402590"/>
          </a:xfrm>
          <a:prstGeom prst="rect">
            <a:avLst/>
          </a:prstGeom>
          <a:ln w="12599">
            <a:solidFill>
              <a:srgbClr val="292C39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850">
              <a:latin typeface="Times New Roman"/>
              <a:cs typeface="Times New Roman"/>
            </a:endParaRPr>
          </a:p>
          <a:p>
            <a:pPr marL="116839">
              <a:lnSpc>
                <a:spcPct val="100000"/>
              </a:lnSpc>
              <a:tabLst>
                <a:tab pos="610235" algn="l"/>
                <a:tab pos="1644014" algn="l"/>
              </a:tabLst>
            </a:pPr>
            <a:r>
              <a:rPr sz="1000" spc="310" dirty="0">
                <a:solidFill>
                  <a:srgbClr val="499DFF"/>
                </a:solidFill>
                <a:latin typeface="Segoe UI Symbol"/>
                <a:cs typeface="Segoe UI Symbol"/>
              </a:rPr>
              <a:t>l</a:t>
            </a:r>
            <a:r>
              <a:rPr sz="1000" dirty="0">
                <a:solidFill>
                  <a:srgbClr val="499DFF"/>
                </a:solidFill>
                <a:latin typeface="Segoe UI Symbol"/>
                <a:cs typeface="Segoe UI Symbol"/>
              </a:rPr>
              <a:t>	</a:t>
            </a:r>
            <a:r>
              <a:rPr sz="950" spc="145" dirty="0">
                <a:solidFill>
                  <a:srgbClr val="FFFFFF"/>
                </a:solidFill>
                <a:latin typeface="Cambria"/>
                <a:cs typeface="Cambria"/>
              </a:rPr>
              <a:t>1.0</a:t>
            </a:r>
            <a:r>
              <a:rPr sz="950" spc="36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950" spc="-50" dirty="0">
                <a:solidFill>
                  <a:srgbClr val="FFFFFF"/>
                </a:solidFill>
                <a:latin typeface="Cambria"/>
                <a:cs typeface="Cambria"/>
              </a:rPr>
              <a:t>m</a:t>
            </a:r>
            <a:r>
              <a:rPr sz="950" dirty="0">
                <a:solidFill>
                  <a:srgbClr val="FFFFFF"/>
                </a:solidFill>
                <a:latin typeface="Cambria"/>
                <a:cs typeface="Cambria"/>
              </a:rPr>
              <a:t>	</a:t>
            </a:r>
            <a:r>
              <a:rPr sz="1275" spc="-15" baseline="3267" dirty="0">
                <a:solidFill>
                  <a:srgbClr val="878FA7"/>
                </a:solidFill>
                <a:latin typeface="Calibri"/>
                <a:cs typeface="Calibri"/>
              </a:rPr>
              <a:t>Longitud</a:t>
            </a:r>
            <a:r>
              <a:rPr sz="1275" baseline="3267" dirty="0">
                <a:solidFill>
                  <a:srgbClr val="878FA7"/>
                </a:solidFill>
                <a:latin typeface="Calibri"/>
                <a:cs typeface="Calibri"/>
              </a:rPr>
              <a:t> del</a:t>
            </a:r>
            <a:r>
              <a:rPr sz="1275" spc="-7" baseline="3267" dirty="0">
                <a:solidFill>
                  <a:srgbClr val="878FA7"/>
                </a:solidFill>
                <a:latin typeface="Calibri"/>
                <a:cs typeface="Calibri"/>
              </a:rPr>
              <a:t> </a:t>
            </a:r>
            <a:r>
              <a:rPr sz="1275" spc="-15" baseline="3267" dirty="0">
                <a:solidFill>
                  <a:srgbClr val="878FA7"/>
                </a:solidFill>
                <a:latin typeface="Calibri"/>
                <a:cs typeface="Calibri"/>
              </a:rPr>
              <a:t>péndulo</a:t>
            </a:r>
            <a:endParaRPr sz="1275" baseline="3267">
              <a:latin typeface="Calibri"/>
              <a:cs typeface="Calibri"/>
            </a:endParaRPr>
          </a:p>
        </p:txBody>
      </p:sp>
      <p:sp>
        <p:nvSpPr>
          <p:cNvPr id="38" name="object 38"/>
          <p:cNvSpPr/>
          <p:nvPr/>
        </p:nvSpPr>
        <p:spPr>
          <a:xfrm>
            <a:off x="5715000" y="3346198"/>
            <a:ext cx="2880360" cy="402590"/>
          </a:xfrm>
          <a:custGeom>
            <a:avLst/>
            <a:gdLst/>
            <a:ahLst/>
            <a:cxnLst/>
            <a:rect l="l" t="t" r="r" b="b"/>
            <a:pathLst>
              <a:path w="2880359" h="402589">
                <a:moveTo>
                  <a:pt x="2880004" y="0"/>
                </a:moveTo>
                <a:lnTo>
                  <a:pt x="0" y="0"/>
                </a:lnTo>
                <a:lnTo>
                  <a:pt x="0" y="402120"/>
                </a:lnTo>
                <a:lnTo>
                  <a:pt x="1440002" y="402120"/>
                </a:lnTo>
                <a:lnTo>
                  <a:pt x="2880004" y="402120"/>
                </a:lnTo>
                <a:lnTo>
                  <a:pt x="2880004" y="0"/>
                </a:lnTo>
                <a:close/>
              </a:path>
            </a:pathLst>
          </a:custGeom>
          <a:solidFill>
            <a:srgbClr val="191C2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/>
          <p:cNvSpPr txBox="1"/>
          <p:nvPr/>
        </p:nvSpPr>
        <p:spPr>
          <a:xfrm>
            <a:off x="5715000" y="3346198"/>
            <a:ext cx="2880360" cy="402590"/>
          </a:xfrm>
          <a:prstGeom prst="rect">
            <a:avLst/>
          </a:prstGeom>
          <a:ln w="12599">
            <a:solidFill>
              <a:srgbClr val="292C39"/>
            </a:solidFill>
          </a:ln>
        </p:spPr>
        <p:txBody>
          <a:bodyPr vert="horz" wrap="square" lIns="0" tIns="125095" rIns="0" bIns="0" rtlCol="0">
            <a:spAutoFit/>
          </a:bodyPr>
          <a:lstStyle/>
          <a:p>
            <a:pPr marL="116839">
              <a:lnSpc>
                <a:spcPct val="100000"/>
              </a:lnSpc>
              <a:spcBef>
                <a:spcPts val="985"/>
              </a:spcBef>
              <a:tabLst>
                <a:tab pos="610235" algn="l"/>
                <a:tab pos="1644014" algn="l"/>
              </a:tabLst>
            </a:pPr>
            <a:r>
              <a:rPr sz="1000" spc="-50" dirty="0">
                <a:solidFill>
                  <a:srgbClr val="499DFF"/>
                </a:solidFill>
                <a:latin typeface="Segoe UI Symbol"/>
                <a:cs typeface="Segoe UI Symbol"/>
              </a:rPr>
              <a:t>g</a:t>
            </a:r>
            <a:r>
              <a:rPr sz="1000" dirty="0">
                <a:solidFill>
                  <a:srgbClr val="499DFF"/>
                </a:solidFill>
                <a:latin typeface="Segoe UI Symbol"/>
                <a:cs typeface="Segoe UI Symbol"/>
              </a:rPr>
              <a:t>	</a:t>
            </a:r>
            <a:r>
              <a:rPr sz="950" spc="100" dirty="0">
                <a:solidFill>
                  <a:srgbClr val="FFFFFF"/>
                </a:solidFill>
                <a:latin typeface="Cambria"/>
                <a:cs typeface="Cambria"/>
              </a:rPr>
              <a:t>9.807</a:t>
            </a:r>
            <a:r>
              <a:rPr sz="950" spc="38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950" spc="30" dirty="0">
                <a:solidFill>
                  <a:srgbClr val="FFFFFF"/>
                </a:solidFill>
                <a:latin typeface="Cambria"/>
                <a:cs typeface="Cambria"/>
              </a:rPr>
              <a:t>m/s²</a:t>
            </a:r>
            <a:r>
              <a:rPr sz="950" dirty="0">
                <a:solidFill>
                  <a:srgbClr val="FFFFFF"/>
                </a:solidFill>
                <a:latin typeface="Cambria"/>
                <a:cs typeface="Cambria"/>
              </a:rPr>
              <a:t>	</a:t>
            </a:r>
            <a:r>
              <a:rPr sz="1275" spc="-15" baseline="3267" dirty="0">
                <a:solidFill>
                  <a:srgbClr val="878FA7"/>
                </a:solidFill>
                <a:latin typeface="Calibri"/>
                <a:cs typeface="Calibri"/>
              </a:rPr>
              <a:t>Gravedad</a:t>
            </a:r>
            <a:endParaRPr sz="1275" baseline="3267">
              <a:latin typeface="Calibri"/>
              <a:cs typeface="Calibri"/>
            </a:endParaRPr>
          </a:p>
        </p:txBody>
      </p:sp>
      <p:sp>
        <p:nvSpPr>
          <p:cNvPr id="40" name="object 40"/>
          <p:cNvSpPr/>
          <p:nvPr/>
        </p:nvSpPr>
        <p:spPr>
          <a:xfrm>
            <a:off x="5715000" y="3821762"/>
            <a:ext cx="2880360" cy="402590"/>
          </a:xfrm>
          <a:custGeom>
            <a:avLst/>
            <a:gdLst/>
            <a:ahLst/>
            <a:cxnLst/>
            <a:rect l="l" t="t" r="r" b="b"/>
            <a:pathLst>
              <a:path w="2880359" h="402589">
                <a:moveTo>
                  <a:pt x="2880004" y="0"/>
                </a:moveTo>
                <a:lnTo>
                  <a:pt x="0" y="0"/>
                </a:lnTo>
                <a:lnTo>
                  <a:pt x="0" y="402120"/>
                </a:lnTo>
                <a:lnTo>
                  <a:pt x="1440002" y="402120"/>
                </a:lnTo>
                <a:lnTo>
                  <a:pt x="2880004" y="402120"/>
                </a:lnTo>
                <a:lnTo>
                  <a:pt x="2880004" y="0"/>
                </a:lnTo>
                <a:close/>
              </a:path>
            </a:pathLst>
          </a:custGeom>
          <a:solidFill>
            <a:srgbClr val="1D213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/>
          <p:cNvSpPr txBox="1"/>
          <p:nvPr/>
        </p:nvSpPr>
        <p:spPr>
          <a:xfrm>
            <a:off x="5715000" y="3821762"/>
            <a:ext cx="2880360" cy="402590"/>
          </a:xfrm>
          <a:prstGeom prst="rect">
            <a:avLst/>
          </a:prstGeom>
          <a:ln w="12599">
            <a:solidFill>
              <a:srgbClr val="292C39"/>
            </a:solidFill>
          </a:ln>
        </p:spPr>
        <p:txBody>
          <a:bodyPr vert="horz" wrap="square" lIns="0" tIns="6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5"/>
              </a:spcBef>
            </a:pPr>
            <a:endParaRPr sz="850">
              <a:latin typeface="Times New Roman"/>
              <a:cs typeface="Times New Roman"/>
            </a:endParaRPr>
          </a:p>
          <a:p>
            <a:pPr marL="116839">
              <a:lnSpc>
                <a:spcPct val="100000"/>
              </a:lnSpc>
              <a:tabLst>
                <a:tab pos="610235" algn="l"/>
                <a:tab pos="1644014" algn="l"/>
              </a:tabLst>
            </a:pPr>
            <a:r>
              <a:rPr sz="1000" spc="-50" dirty="0">
                <a:solidFill>
                  <a:srgbClr val="499DFF"/>
                </a:solidFill>
                <a:latin typeface="Segoe UI Symbol"/>
                <a:cs typeface="Segoe UI Symbol"/>
              </a:rPr>
              <a:t>b</a:t>
            </a:r>
            <a:r>
              <a:rPr sz="1000" dirty="0">
                <a:solidFill>
                  <a:srgbClr val="499DFF"/>
                </a:solidFill>
                <a:latin typeface="Segoe UI Symbol"/>
                <a:cs typeface="Segoe UI Symbol"/>
              </a:rPr>
              <a:t>	</a:t>
            </a:r>
            <a:r>
              <a:rPr sz="950" spc="114" dirty="0">
                <a:solidFill>
                  <a:srgbClr val="FFFFFF"/>
                </a:solidFill>
                <a:latin typeface="Cambria"/>
                <a:cs typeface="Cambria"/>
              </a:rPr>
              <a:t>30.0</a:t>
            </a:r>
            <a:r>
              <a:rPr sz="950" spc="37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950" spc="30" dirty="0">
                <a:solidFill>
                  <a:srgbClr val="FFFFFF"/>
                </a:solidFill>
                <a:latin typeface="Cambria"/>
                <a:cs typeface="Cambria"/>
              </a:rPr>
              <a:t>N·s/m</a:t>
            </a:r>
            <a:r>
              <a:rPr sz="950" dirty="0">
                <a:solidFill>
                  <a:srgbClr val="FFFFFF"/>
                </a:solidFill>
                <a:latin typeface="Cambria"/>
                <a:cs typeface="Cambria"/>
              </a:rPr>
              <a:t>	</a:t>
            </a:r>
            <a:r>
              <a:rPr sz="1275" spc="-30" baseline="3267" dirty="0">
                <a:solidFill>
                  <a:srgbClr val="878FA7"/>
                </a:solidFill>
                <a:latin typeface="Calibri"/>
                <a:cs typeface="Calibri"/>
              </a:rPr>
              <a:t>Coef.</a:t>
            </a:r>
            <a:r>
              <a:rPr sz="1275" spc="7" baseline="3267" dirty="0">
                <a:solidFill>
                  <a:srgbClr val="878FA7"/>
                </a:solidFill>
                <a:latin typeface="Calibri"/>
                <a:cs typeface="Calibri"/>
              </a:rPr>
              <a:t> </a:t>
            </a:r>
            <a:r>
              <a:rPr sz="1275" spc="-15" baseline="3267" dirty="0">
                <a:solidFill>
                  <a:srgbClr val="878FA7"/>
                </a:solidFill>
                <a:latin typeface="Calibri"/>
                <a:cs typeface="Calibri"/>
              </a:rPr>
              <a:t>viscoso</a:t>
            </a:r>
            <a:endParaRPr sz="1275" baseline="3267">
              <a:latin typeface="Calibri"/>
              <a:cs typeface="Calibri"/>
            </a:endParaRPr>
          </a:p>
        </p:txBody>
      </p:sp>
      <p:sp>
        <p:nvSpPr>
          <p:cNvPr id="42" name="object 42"/>
          <p:cNvSpPr/>
          <p:nvPr/>
        </p:nvSpPr>
        <p:spPr>
          <a:xfrm>
            <a:off x="5715000" y="4297326"/>
            <a:ext cx="2880360" cy="402590"/>
          </a:xfrm>
          <a:custGeom>
            <a:avLst/>
            <a:gdLst/>
            <a:ahLst/>
            <a:cxnLst/>
            <a:rect l="l" t="t" r="r" b="b"/>
            <a:pathLst>
              <a:path w="2880359" h="402589">
                <a:moveTo>
                  <a:pt x="2880004" y="0"/>
                </a:moveTo>
                <a:lnTo>
                  <a:pt x="0" y="0"/>
                </a:lnTo>
                <a:lnTo>
                  <a:pt x="0" y="402120"/>
                </a:lnTo>
                <a:lnTo>
                  <a:pt x="1440002" y="402120"/>
                </a:lnTo>
                <a:lnTo>
                  <a:pt x="2880004" y="402120"/>
                </a:lnTo>
                <a:lnTo>
                  <a:pt x="2880004" y="0"/>
                </a:lnTo>
                <a:close/>
              </a:path>
            </a:pathLst>
          </a:custGeom>
          <a:solidFill>
            <a:srgbClr val="191C2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/>
          <p:cNvSpPr txBox="1"/>
          <p:nvPr/>
        </p:nvSpPr>
        <p:spPr>
          <a:xfrm>
            <a:off x="5715000" y="4297326"/>
            <a:ext cx="2880360" cy="402590"/>
          </a:xfrm>
          <a:prstGeom prst="rect">
            <a:avLst/>
          </a:prstGeom>
          <a:ln w="12599">
            <a:solidFill>
              <a:srgbClr val="292C39"/>
            </a:solidFill>
          </a:ln>
        </p:spPr>
        <p:txBody>
          <a:bodyPr vert="horz" wrap="square" lIns="0" tIns="6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5"/>
              </a:spcBef>
            </a:pPr>
            <a:endParaRPr sz="850">
              <a:latin typeface="Times New Roman"/>
              <a:cs typeface="Times New Roman"/>
            </a:endParaRPr>
          </a:p>
          <a:p>
            <a:pPr marL="116839">
              <a:lnSpc>
                <a:spcPct val="100000"/>
              </a:lnSpc>
              <a:tabLst>
                <a:tab pos="610235" algn="l"/>
                <a:tab pos="1644014" algn="l"/>
              </a:tabLst>
            </a:pPr>
            <a:r>
              <a:rPr sz="1000" spc="70" dirty="0">
                <a:solidFill>
                  <a:srgbClr val="499DFF"/>
                </a:solidFill>
                <a:latin typeface="Segoe UI Symbol"/>
                <a:cs typeface="Segoe UI Symbol"/>
              </a:rPr>
              <a:t>Δt</a:t>
            </a:r>
            <a:r>
              <a:rPr sz="1000" dirty="0">
                <a:solidFill>
                  <a:srgbClr val="499DFF"/>
                </a:solidFill>
                <a:latin typeface="Segoe UI Symbol"/>
                <a:cs typeface="Segoe UI Symbol"/>
              </a:rPr>
              <a:t>	</a:t>
            </a:r>
            <a:r>
              <a:rPr sz="950" spc="100" dirty="0">
                <a:solidFill>
                  <a:srgbClr val="FFFFFF"/>
                </a:solidFill>
                <a:latin typeface="Cambria"/>
                <a:cs typeface="Cambria"/>
              </a:rPr>
              <a:t>0.005</a:t>
            </a:r>
            <a:r>
              <a:rPr sz="950" spc="38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950" spc="105" dirty="0">
                <a:solidFill>
                  <a:srgbClr val="FFFFFF"/>
                </a:solidFill>
                <a:latin typeface="Cambria"/>
                <a:cs typeface="Cambria"/>
              </a:rPr>
              <a:t>s</a:t>
            </a:r>
            <a:r>
              <a:rPr sz="950" dirty="0">
                <a:solidFill>
                  <a:srgbClr val="FFFFFF"/>
                </a:solidFill>
                <a:latin typeface="Cambria"/>
                <a:cs typeface="Cambria"/>
              </a:rPr>
              <a:t>	</a:t>
            </a:r>
            <a:r>
              <a:rPr sz="1275" spc="-15" baseline="3267" dirty="0">
                <a:solidFill>
                  <a:srgbClr val="878FA7"/>
                </a:solidFill>
                <a:latin typeface="Calibri"/>
                <a:cs typeface="Calibri"/>
              </a:rPr>
              <a:t>Paso integración</a:t>
            </a:r>
            <a:endParaRPr sz="1275" baseline="3267">
              <a:latin typeface="Calibri"/>
              <a:cs typeface="Calibri"/>
            </a:endParaRPr>
          </a:p>
        </p:txBody>
      </p:sp>
      <p:sp>
        <p:nvSpPr>
          <p:cNvPr id="44" name="object 44"/>
          <p:cNvSpPr txBox="1"/>
          <p:nvPr/>
        </p:nvSpPr>
        <p:spPr>
          <a:xfrm>
            <a:off x="442696" y="4860773"/>
            <a:ext cx="6337935" cy="1873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050" dirty="0">
                <a:solidFill>
                  <a:srgbClr val="878FA7"/>
                </a:solidFill>
                <a:latin typeface="MingLiU_HKSCS-ExtB"/>
                <a:cs typeface="MingLiU_HKSCS-ExtB"/>
              </a:rPr>
              <a:t>⚡</a:t>
            </a:r>
            <a:r>
              <a:rPr sz="1050" spc="-145" dirty="0">
                <a:solidFill>
                  <a:srgbClr val="878FA7"/>
                </a:solidFill>
                <a:latin typeface="MingLiU_HKSCS-ExtB"/>
                <a:cs typeface="MingLiU_HKSCS-ExtB"/>
              </a:rPr>
              <a:t> </a:t>
            </a:r>
            <a:r>
              <a:rPr sz="850" i="1" dirty="0">
                <a:solidFill>
                  <a:srgbClr val="878FA7"/>
                </a:solidFill>
                <a:latin typeface="Calibri"/>
                <a:cs typeface="Calibri"/>
              </a:rPr>
              <a:t>Kick</a:t>
            </a:r>
            <a:r>
              <a:rPr sz="850" i="1" spc="-10" dirty="0">
                <a:solidFill>
                  <a:srgbClr val="878FA7"/>
                </a:solidFill>
                <a:latin typeface="Calibri"/>
                <a:cs typeface="Calibri"/>
              </a:rPr>
              <a:t> inicial:</a:t>
            </a:r>
            <a:r>
              <a:rPr sz="850" i="1" spc="-5" dirty="0">
                <a:solidFill>
                  <a:srgbClr val="878FA7"/>
                </a:solidFill>
                <a:latin typeface="Calibri"/>
                <a:cs typeface="Calibri"/>
              </a:rPr>
              <a:t> </a:t>
            </a:r>
            <a:r>
              <a:rPr sz="850" i="1" dirty="0">
                <a:solidFill>
                  <a:srgbClr val="878FA7"/>
                </a:solidFill>
                <a:latin typeface="Calibri"/>
                <a:cs typeface="Calibri"/>
              </a:rPr>
              <a:t>si</a:t>
            </a:r>
            <a:r>
              <a:rPr sz="850" i="1" spc="-10" dirty="0">
                <a:solidFill>
                  <a:srgbClr val="878FA7"/>
                </a:solidFill>
                <a:latin typeface="Calibri"/>
                <a:cs typeface="Calibri"/>
              </a:rPr>
              <a:t> </a:t>
            </a:r>
            <a:r>
              <a:rPr sz="850" i="1" dirty="0">
                <a:solidFill>
                  <a:srgbClr val="878FA7"/>
                </a:solidFill>
                <a:latin typeface="Calibri"/>
                <a:cs typeface="Calibri"/>
              </a:rPr>
              <a:t>θ₀</a:t>
            </a:r>
            <a:r>
              <a:rPr sz="850" i="1" spc="-5" dirty="0">
                <a:solidFill>
                  <a:srgbClr val="878FA7"/>
                </a:solidFill>
                <a:latin typeface="Calibri"/>
                <a:cs typeface="Calibri"/>
              </a:rPr>
              <a:t> </a:t>
            </a:r>
            <a:r>
              <a:rPr sz="850" i="1" dirty="0">
                <a:solidFill>
                  <a:srgbClr val="878FA7"/>
                </a:solidFill>
                <a:latin typeface="Calibri"/>
                <a:cs typeface="Calibri"/>
              </a:rPr>
              <a:t>=</a:t>
            </a:r>
            <a:r>
              <a:rPr sz="850" i="1" spc="-10" dirty="0">
                <a:solidFill>
                  <a:srgbClr val="878FA7"/>
                </a:solidFill>
                <a:latin typeface="Calibri"/>
                <a:cs typeface="Calibri"/>
              </a:rPr>
              <a:t> </a:t>
            </a:r>
            <a:r>
              <a:rPr sz="850" i="1" dirty="0">
                <a:solidFill>
                  <a:srgbClr val="878FA7"/>
                </a:solidFill>
                <a:latin typeface="Calibri"/>
                <a:cs typeface="Calibri"/>
              </a:rPr>
              <a:t>±180°</a:t>
            </a:r>
            <a:r>
              <a:rPr sz="850" i="1" spc="-10" dirty="0">
                <a:solidFill>
                  <a:srgbClr val="878FA7"/>
                </a:solidFill>
                <a:latin typeface="Calibri"/>
                <a:cs typeface="Calibri"/>
              </a:rPr>
              <a:t> </a:t>
            </a:r>
            <a:r>
              <a:rPr sz="850" i="1" dirty="0">
                <a:solidFill>
                  <a:srgbClr val="878FA7"/>
                </a:solidFill>
                <a:latin typeface="Calibri"/>
                <a:cs typeface="Calibri"/>
              </a:rPr>
              <a:t>y</a:t>
            </a:r>
            <a:r>
              <a:rPr sz="850" i="1" spc="-15" dirty="0">
                <a:solidFill>
                  <a:srgbClr val="878FA7"/>
                </a:solidFill>
                <a:latin typeface="Calibri"/>
                <a:cs typeface="Calibri"/>
              </a:rPr>
              <a:t> </a:t>
            </a:r>
            <a:r>
              <a:rPr sz="850" i="1" dirty="0">
                <a:solidFill>
                  <a:srgbClr val="878FA7"/>
                </a:solidFill>
                <a:latin typeface="Calibri"/>
                <a:cs typeface="Calibri"/>
              </a:rPr>
              <a:t>ω₀</a:t>
            </a:r>
            <a:r>
              <a:rPr sz="850" i="1" spc="-5" dirty="0">
                <a:solidFill>
                  <a:srgbClr val="878FA7"/>
                </a:solidFill>
                <a:latin typeface="Calibri"/>
                <a:cs typeface="Calibri"/>
              </a:rPr>
              <a:t> </a:t>
            </a:r>
            <a:r>
              <a:rPr sz="850" i="1" dirty="0">
                <a:solidFill>
                  <a:srgbClr val="878FA7"/>
                </a:solidFill>
                <a:latin typeface="Calibri"/>
                <a:cs typeface="Calibri"/>
              </a:rPr>
              <a:t>=</a:t>
            </a:r>
            <a:r>
              <a:rPr sz="850" i="1" spc="-10" dirty="0">
                <a:solidFill>
                  <a:srgbClr val="878FA7"/>
                </a:solidFill>
                <a:latin typeface="Calibri"/>
                <a:cs typeface="Calibri"/>
              </a:rPr>
              <a:t> </a:t>
            </a:r>
            <a:r>
              <a:rPr sz="850" i="1" dirty="0">
                <a:solidFill>
                  <a:srgbClr val="878FA7"/>
                </a:solidFill>
                <a:latin typeface="Calibri"/>
                <a:cs typeface="Calibri"/>
              </a:rPr>
              <a:t>0,</a:t>
            </a:r>
            <a:r>
              <a:rPr sz="850" i="1" spc="-5" dirty="0">
                <a:solidFill>
                  <a:srgbClr val="878FA7"/>
                </a:solidFill>
                <a:latin typeface="Calibri"/>
                <a:cs typeface="Calibri"/>
              </a:rPr>
              <a:t> </a:t>
            </a:r>
            <a:r>
              <a:rPr sz="850" i="1" dirty="0">
                <a:solidFill>
                  <a:srgbClr val="878FA7"/>
                </a:solidFill>
                <a:latin typeface="Calibri"/>
                <a:cs typeface="Calibri"/>
              </a:rPr>
              <a:t>se</a:t>
            </a:r>
            <a:r>
              <a:rPr sz="850" i="1" spc="-10" dirty="0">
                <a:solidFill>
                  <a:srgbClr val="878FA7"/>
                </a:solidFill>
                <a:latin typeface="Calibri"/>
                <a:cs typeface="Calibri"/>
              </a:rPr>
              <a:t> </a:t>
            </a:r>
            <a:r>
              <a:rPr sz="850" i="1" dirty="0">
                <a:solidFill>
                  <a:srgbClr val="878FA7"/>
                </a:solidFill>
                <a:latin typeface="Calibri"/>
                <a:cs typeface="Calibri"/>
              </a:rPr>
              <a:t>aplica</a:t>
            </a:r>
            <a:r>
              <a:rPr sz="850" i="1" spc="-5" dirty="0">
                <a:solidFill>
                  <a:srgbClr val="878FA7"/>
                </a:solidFill>
                <a:latin typeface="Calibri"/>
                <a:cs typeface="Calibri"/>
              </a:rPr>
              <a:t> </a:t>
            </a:r>
            <a:r>
              <a:rPr sz="850" i="1" dirty="0">
                <a:solidFill>
                  <a:srgbClr val="878FA7"/>
                </a:solidFill>
                <a:latin typeface="Calibri"/>
                <a:cs typeface="Calibri"/>
              </a:rPr>
              <a:t>un</a:t>
            </a:r>
            <a:r>
              <a:rPr sz="850" i="1" spc="-5" dirty="0">
                <a:solidFill>
                  <a:srgbClr val="878FA7"/>
                </a:solidFill>
                <a:latin typeface="Calibri"/>
                <a:cs typeface="Calibri"/>
              </a:rPr>
              <a:t> </a:t>
            </a:r>
            <a:r>
              <a:rPr sz="850" i="1" dirty="0">
                <a:solidFill>
                  <a:srgbClr val="878FA7"/>
                </a:solidFill>
                <a:latin typeface="Calibri"/>
                <a:cs typeface="Calibri"/>
              </a:rPr>
              <a:t>impulso de</a:t>
            </a:r>
            <a:r>
              <a:rPr sz="850" i="1" spc="-10" dirty="0">
                <a:solidFill>
                  <a:srgbClr val="878FA7"/>
                </a:solidFill>
                <a:latin typeface="Calibri"/>
                <a:cs typeface="Calibri"/>
              </a:rPr>
              <a:t> </a:t>
            </a:r>
            <a:r>
              <a:rPr sz="850" i="1" dirty="0">
                <a:solidFill>
                  <a:srgbClr val="878FA7"/>
                </a:solidFill>
                <a:latin typeface="Calibri"/>
                <a:cs typeface="Calibri"/>
              </a:rPr>
              <a:t>120</a:t>
            </a:r>
            <a:r>
              <a:rPr sz="850" i="1" spc="-10" dirty="0">
                <a:solidFill>
                  <a:srgbClr val="878FA7"/>
                </a:solidFill>
                <a:latin typeface="Calibri"/>
                <a:cs typeface="Calibri"/>
              </a:rPr>
              <a:t> </a:t>
            </a:r>
            <a:r>
              <a:rPr sz="850" i="1" dirty="0">
                <a:solidFill>
                  <a:srgbClr val="878FA7"/>
                </a:solidFill>
                <a:latin typeface="Calibri"/>
                <a:cs typeface="Calibri"/>
              </a:rPr>
              <a:t>N</a:t>
            </a:r>
            <a:r>
              <a:rPr sz="850" i="1" spc="-5" dirty="0">
                <a:solidFill>
                  <a:srgbClr val="878FA7"/>
                </a:solidFill>
                <a:latin typeface="Calibri"/>
                <a:cs typeface="Calibri"/>
              </a:rPr>
              <a:t> </a:t>
            </a:r>
            <a:r>
              <a:rPr sz="850" i="1" dirty="0">
                <a:solidFill>
                  <a:srgbClr val="878FA7"/>
                </a:solidFill>
                <a:latin typeface="Calibri"/>
                <a:cs typeface="Calibri"/>
              </a:rPr>
              <a:t>durante</a:t>
            </a:r>
            <a:r>
              <a:rPr sz="850" i="1" spc="-5" dirty="0">
                <a:solidFill>
                  <a:srgbClr val="878FA7"/>
                </a:solidFill>
                <a:latin typeface="Calibri"/>
                <a:cs typeface="Calibri"/>
              </a:rPr>
              <a:t> </a:t>
            </a:r>
            <a:r>
              <a:rPr sz="850" i="1" dirty="0">
                <a:solidFill>
                  <a:srgbClr val="878FA7"/>
                </a:solidFill>
                <a:latin typeface="Calibri"/>
                <a:cs typeface="Calibri"/>
              </a:rPr>
              <a:t>0.15</a:t>
            </a:r>
            <a:r>
              <a:rPr sz="850" i="1" spc="-10" dirty="0">
                <a:solidFill>
                  <a:srgbClr val="878FA7"/>
                </a:solidFill>
                <a:latin typeface="Calibri"/>
                <a:cs typeface="Calibri"/>
              </a:rPr>
              <a:t> </a:t>
            </a:r>
            <a:r>
              <a:rPr sz="850" i="1" dirty="0">
                <a:solidFill>
                  <a:srgbClr val="878FA7"/>
                </a:solidFill>
                <a:latin typeface="Calibri"/>
                <a:cs typeface="Calibri"/>
              </a:rPr>
              <a:t>s para romper la</a:t>
            </a:r>
            <a:r>
              <a:rPr sz="850" i="1" spc="-5" dirty="0">
                <a:solidFill>
                  <a:srgbClr val="878FA7"/>
                </a:solidFill>
                <a:latin typeface="Calibri"/>
                <a:cs typeface="Calibri"/>
              </a:rPr>
              <a:t> </a:t>
            </a:r>
            <a:r>
              <a:rPr sz="850" i="1" spc="-10" dirty="0">
                <a:solidFill>
                  <a:srgbClr val="878FA7"/>
                </a:solidFill>
                <a:latin typeface="Calibri"/>
                <a:cs typeface="Calibri"/>
              </a:rPr>
              <a:t>singularidad</a:t>
            </a:r>
            <a:r>
              <a:rPr sz="850" i="1" spc="-15" dirty="0">
                <a:solidFill>
                  <a:srgbClr val="878FA7"/>
                </a:solidFill>
                <a:latin typeface="Calibri"/>
                <a:cs typeface="Calibri"/>
              </a:rPr>
              <a:t> </a:t>
            </a:r>
            <a:r>
              <a:rPr sz="850" i="1" dirty="0">
                <a:solidFill>
                  <a:srgbClr val="878FA7"/>
                </a:solidFill>
                <a:latin typeface="Calibri"/>
                <a:cs typeface="Calibri"/>
              </a:rPr>
              <a:t>del </a:t>
            </a:r>
            <a:r>
              <a:rPr sz="850" i="1" spc="-10" dirty="0">
                <a:solidFill>
                  <a:srgbClr val="878FA7"/>
                </a:solidFill>
                <a:latin typeface="Calibri"/>
                <a:cs typeface="Calibri"/>
              </a:rPr>
              <a:t>punto</a:t>
            </a:r>
            <a:r>
              <a:rPr sz="850" i="1" spc="-15" dirty="0">
                <a:solidFill>
                  <a:srgbClr val="878FA7"/>
                </a:solidFill>
                <a:latin typeface="Calibri"/>
                <a:cs typeface="Calibri"/>
              </a:rPr>
              <a:t> </a:t>
            </a:r>
            <a:r>
              <a:rPr sz="850" i="1" dirty="0">
                <a:solidFill>
                  <a:srgbClr val="878FA7"/>
                </a:solidFill>
                <a:latin typeface="Calibri"/>
                <a:cs typeface="Calibri"/>
              </a:rPr>
              <a:t>de</a:t>
            </a:r>
            <a:r>
              <a:rPr sz="850" i="1" spc="-5" dirty="0">
                <a:solidFill>
                  <a:srgbClr val="878FA7"/>
                </a:solidFill>
                <a:latin typeface="Calibri"/>
                <a:cs typeface="Calibri"/>
              </a:rPr>
              <a:t> </a:t>
            </a:r>
            <a:r>
              <a:rPr sz="850" i="1" spc="-10" dirty="0">
                <a:solidFill>
                  <a:srgbClr val="878FA7"/>
                </a:solidFill>
                <a:latin typeface="Calibri"/>
                <a:cs typeface="Calibri"/>
              </a:rPr>
              <a:t>equilibrio</a:t>
            </a:r>
            <a:r>
              <a:rPr sz="850" i="1" dirty="0">
                <a:solidFill>
                  <a:srgbClr val="878FA7"/>
                </a:solidFill>
                <a:latin typeface="Calibri"/>
                <a:cs typeface="Calibri"/>
              </a:rPr>
              <a:t> </a:t>
            </a:r>
            <a:r>
              <a:rPr sz="850" i="1" spc="-10" dirty="0">
                <a:solidFill>
                  <a:srgbClr val="878FA7"/>
                </a:solidFill>
                <a:latin typeface="Calibri"/>
                <a:cs typeface="Calibri"/>
              </a:rPr>
              <a:t>inestable.</a:t>
            </a:r>
            <a:endParaRPr sz="85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0" dirty="0"/>
              <a:t>Variables</a:t>
            </a:r>
            <a:r>
              <a:rPr spc="-65" dirty="0"/>
              <a:t> </a:t>
            </a:r>
            <a:r>
              <a:rPr dirty="0"/>
              <a:t>Lingüísticas</a:t>
            </a:r>
            <a:r>
              <a:rPr spc="-60" dirty="0"/>
              <a:t> </a:t>
            </a:r>
            <a:r>
              <a:rPr dirty="0"/>
              <a:t>y</a:t>
            </a:r>
            <a:r>
              <a:rPr spc="-60" dirty="0"/>
              <a:t> </a:t>
            </a:r>
            <a:r>
              <a:rPr lang="es-AR" spc="-10" dirty="0"/>
              <a:t>conjuntos</a:t>
            </a:r>
            <a:r>
              <a:rPr spc="-55" dirty="0"/>
              <a:t> </a:t>
            </a:r>
            <a:r>
              <a:rPr lang="es-AR" spc="-10" dirty="0"/>
              <a:t>borrosos</a:t>
            </a:r>
            <a:endParaRPr spc="-10" dirty="0"/>
          </a:p>
        </p:txBody>
      </p:sp>
      <p:grpSp>
        <p:nvGrpSpPr>
          <p:cNvPr id="57" name="object 57"/>
          <p:cNvGrpSpPr/>
          <p:nvPr/>
        </p:nvGrpSpPr>
        <p:grpSpPr>
          <a:xfrm>
            <a:off x="212090" y="4159185"/>
            <a:ext cx="8719820" cy="690880"/>
            <a:chOff x="194043" y="2973592"/>
            <a:chExt cx="8719820" cy="690880"/>
          </a:xfrm>
        </p:grpSpPr>
        <p:pic>
          <p:nvPicPr>
            <p:cNvPr id="58" name="object 5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94043" y="2973592"/>
              <a:ext cx="8719197" cy="690486"/>
            </a:xfrm>
            <a:prstGeom prst="rect">
              <a:avLst/>
            </a:prstGeom>
          </p:spPr>
        </p:pic>
        <p:sp>
          <p:nvSpPr>
            <p:cNvPr id="59" name="object 59"/>
            <p:cNvSpPr/>
            <p:nvPr/>
          </p:nvSpPr>
          <p:spPr>
            <a:xfrm>
              <a:off x="319684" y="3063242"/>
              <a:ext cx="8503920" cy="475615"/>
            </a:xfrm>
            <a:custGeom>
              <a:avLst/>
              <a:gdLst/>
              <a:ahLst/>
              <a:cxnLst/>
              <a:rect l="l" t="t" r="r" b="b"/>
              <a:pathLst>
                <a:path w="8503920" h="475614">
                  <a:moveTo>
                    <a:pt x="8503551" y="0"/>
                  </a:moveTo>
                  <a:lnTo>
                    <a:pt x="0" y="0"/>
                  </a:lnTo>
                  <a:lnTo>
                    <a:pt x="0" y="475195"/>
                  </a:lnTo>
                  <a:lnTo>
                    <a:pt x="4251959" y="475195"/>
                  </a:lnTo>
                  <a:lnTo>
                    <a:pt x="8503551" y="475195"/>
                  </a:lnTo>
                  <a:lnTo>
                    <a:pt x="8503551" y="0"/>
                  </a:lnTo>
                  <a:close/>
                </a:path>
              </a:pathLst>
            </a:custGeom>
            <a:solidFill>
              <a:srgbClr val="191C2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0" name="object 60"/>
            <p:cNvSpPr/>
            <p:nvPr/>
          </p:nvSpPr>
          <p:spPr>
            <a:xfrm>
              <a:off x="319684" y="3063242"/>
              <a:ext cx="8503920" cy="475615"/>
            </a:xfrm>
            <a:custGeom>
              <a:avLst/>
              <a:gdLst/>
              <a:ahLst/>
              <a:cxnLst/>
              <a:rect l="l" t="t" r="r" b="b"/>
              <a:pathLst>
                <a:path w="8503920" h="475614">
                  <a:moveTo>
                    <a:pt x="4251959" y="475195"/>
                  </a:moveTo>
                  <a:lnTo>
                    <a:pt x="0" y="475195"/>
                  </a:lnTo>
                  <a:lnTo>
                    <a:pt x="0" y="0"/>
                  </a:lnTo>
                  <a:lnTo>
                    <a:pt x="8503551" y="0"/>
                  </a:lnTo>
                  <a:lnTo>
                    <a:pt x="8503551" y="475195"/>
                  </a:lnTo>
                  <a:lnTo>
                    <a:pt x="4251959" y="475195"/>
                  </a:lnTo>
                  <a:close/>
                </a:path>
              </a:pathLst>
            </a:custGeom>
            <a:ln w="12599">
              <a:solidFill>
                <a:srgbClr val="292C3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1" name="object 61"/>
          <p:cNvSpPr txBox="1"/>
          <p:nvPr/>
        </p:nvSpPr>
        <p:spPr>
          <a:xfrm>
            <a:off x="564883" y="4299139"/>
            <a:ext cx="914400" cy="1555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850" b="1" dirty="0">
                <a:solidFill>
                  <a:srgbClr val="C7CFE7"/>
                </a:solidFill>
                <a:latin typeface="Calibri"/>
                <a:cs typeface="Calibri"/>
              </a:rPr>
              <a:t>Conjuntos</a:t>
            </a:r>
            <a:r>
              <a:rPr sz="850" b="1" spc="-5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850" b="1" spc="-10" dirty="0">
                <a:solidFill>
                  <a:srgbClr val="C7CFE7"/>
                </a:solidFill>
                <a:latin typeface="Calibri"/>
                <a:cs typeface="Calibri"/>
              </a:rPr>
              <a:t>borrosos:</a:t>
            </a:r>
            <a:endParaRPr sz="850">
              <a:latin typeface="Calibri"/>
              <a:cs typeface="Calibri"/>
            </a:endParaRPr>
          </a:p>
        </p:txBody>
      </p:sp>
      <p:sp>
        <p:nvSpPr>
          <p:cNvPr id="78" name="object 78"/>
          <p:cNvSpPr txBox="1"/>
          <p:nvPr/>
        </p:nvSpPr>
        <p:spPr>
          <a:xfrm>
            <a:off x="2128367" y="4354219"/>
            <a:ext cx="221615" cy="1555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850" b="1" spc="-25" dirty="0">
                <a:solidFill>
                  <a:srgbClr val="DF5151"/>
                </a:solidFill>
                <a:latin typeface="Calibri"/>
                <a:cs typeface="Calibri"/>
              </a:rPr>
              <a:t>NGG</a:t>
            </a:r>
            <a:endParaRPr sz="850">
              <a:latin typeface="Calibri"/>
              <a:cs typeface="Calibri"/>
            </a:endParaRPr>
          </a:p>
        </p:txBody>
      </p:sp>
      <p:sp>
        <p:nvSpPr>
          <p:cNvPr id="79" name="object 79"/>
          <p:cNvSpPr txBox="1"/>
          <p:nvPr/>
        </p:nvSpPr>
        <p:spPr>
          <a:xfrm>
            <a:off x="3088487" y="4354219"/>
            <a:ext cx="151765" cy="1555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850" b="1" spc="-25" dirty="0">
                <a:solidFill>
                  <a:srgbClr val="DF8B51"/>
                </a:solidFill>
                <a:latin typeface="Calibri"/>
                <a:cs typeface="Calibri"/>
              </a:rPr>
              <a:t>NG</a:t>
            </a:r>
            <a:endParaRPr sz="850">
              <a:latin typeface="Calibri"/>
              <a:cs typeface="Calibri"/>
            </a:endParaRPr>
          </a:p>
        </p:txBody>
      </p:sp>
      <p:sp>
        <p:nvSpPr>
          <p:cNvPr id="80" name="object 80"/>
          <p:cNvSpPr txBox="1"/>
          <p:nvPr/>
        </p:nvSpPr>
        <p:spPr>
          <a:xfrm>
            <a:off x="4048607" y="4354219"/>
            <a:ext cx="140970" cy="1555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850" b="1" spc="-25" dirty="0">
                <a:solidFill>
                  <a:srgbClr val="D3C749"/>
                </a:solidFill>
                <a:latin typeface="Calibri"/>
                <a:cs typeface="Calibri"/>
              </a:rPr>
              <a:t>NP</a:t>
            </a:r>
            <a:endParaRPr sz="850">
              <a:latin typeface="Calibri"/>
              <a:cs typeface="Calibri"/>
            </a:endParaRPr>
          </a:p>
        </p:txBody>
      </p:sp>
      <p:sp>
        <p:nvSpPr>
          <p:cNvPr id="81" name="object 81"/>
          <p:cNvSpPr txBox="1"/>
          <p:nvPr/>
        </p:nvSpPr>
        <p:spPr>
          <a:xfrm>
            <a:off x="5008728" y="4354219"/>
            <a:ext cx="64769" cy="1555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850" b="1" spc="-50" dirty="0">
                <a:solidFill>
                  <a:srgbClr val="51C379"/>
                </a:solidFill>
                <a:latin typeface="Calibri"/>
                <a:cs typeface="Calibri"/>
              </a:rPr>
              <a:t>Z</a:t>
            </a:r>
            <a:endParaRPr sz="850">
              <a:latin typeface="Calibri"/>
              <a:cs typeface="Calibri"/>
            </a:endParaRPr>
          </a:p>
        </p:txBody>
      </p:sp>
      <p:sp>
        <p:nvSpPr>
          <p:cNvPr id="82" name="object 82"/>
          <p:cNvSpPr txBox="1"/>
          <p:nvPr/>
        </p:nvSpPr>
        <p:spPr>
          <a:xfrm>
            <a:off x="5968847" y="4354219"/>
            <a:ext cx="127000" cy="1555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850" b="1" spc="-25" dirty="0">
                <a:solidFill>
                  <a:srgbClr val="51A7DF"/>
                </a:solidFill>
                <a:latin typeface="Calibri"/>
                <a:cs typeface="Calibri"/>
              </a:rPr>
              <a:t>PP</a:t>
            </a:r>
            <a:endParaRPr sz="850">
              <a:latin typeface="Calibri"/>
              <a:cs typeface="Calibri"/>
            </a:endParaRPr>
          </a:p>
        </p:txBody>
      </p:sp>
      <p:sp>
        <p:nvSpPr>
          <p:cNvPr id="83" name="object 83"/>
          <p:cNvSpPr txBox="1"/>
          <p:nvPr/>
        </p:nvSpPr>
        <p:spPr>
          <a:xfrm>
            <a:off x="6928967" y="4354219"/>
            <a:ext cx="138430" cy="1555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850" b="1" spc="-25" dirty="0">
                <a:solidFill>
                  <a:srgbClr val="796DDF"/>
                </a:solidFill>
                <a:latin typeface="Calibri"/>
                <a:cs typeface="Calibri"/>
              </a:rPr>
              <a:t>PG</a:t>
            </a:r>
            <a:endParaRPr sz="850">
              <a:latin typeface="Calibri"/>
              <a:cs typeface="Calibri"/>
            </a:endParaRPr>
          </a:p>
        </p:txBody>
      </p:sp>
      <p:sp>
        <p:nvSpPr>
          <p:cNvPr id="84" name="object 84"/>
          <p:cNvSpPr txBox="1"/>
          <p:nvPr/>
        </p:nvSpPr>
        <p:spPr>
          <a:xfrm>
            <a:off x="7889088" y="4354219"/>
            <a:ext cx="208279" cy="1555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850" b="1" spc="-25" dirty="0">
                <a:solidFill>
                  <a:srgbClr val="BF51DF"/>
                </a:solidFill>
                <a:latin typeface="Calibri"/>
                <a:cs typeface="Calibri"/>
              </a:rPr>
              <a:t>PGG</a:t>
            </a:r>
            <a:endParaRPr sz="850">
              <a:latin typeface="Calibri"/>
              <a:cs typeface="Calibri"/>
            </a:endParaRPr>
          </a:p>
        </p:txBody>
      </p:sp>
      <p:pic>
        <p:nvPicPr>
          <p:cNvPr id="98" name="Imagen 97">
            <a:extLst>
              <a:ext uri="{FF2B5EF4-FFF2-40B4-BE49-F238E27FC236}">
                <a16:creationId xmlns:a16="http://schemas.microsoft.com/office/drawing/2014/main" id="{D3614906-7D79-419A-A6C6-7A8B7EE8A4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1766" y="1122814"/>
            <a:ext cx="9175766" cy="264984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Proceso</a:t>
            </a:r>
            <a:r>
              <a:rPr spc="-40" dirty="0"/>
              <a:t> </a:t>
            </a:r>
            <a:r>
              <a:rPr dirty="0"/>
              <a:t>de</a:t>
            </a:r>
            <a:r>
              <a:rPr spc="-45" dirty="0"/>
              <a:t> </a:t>
            </a:r>
            <a:r>
              <a:rPr spc="-10" dirty="0" err="1"/>
              <a:t>Inferencia</a:t>
            </a:r>
            <a:r>
              <a:rPr spc="-40" dirty="0"/>
              <a:t> </a:t>
            </a:r>
            <a:r>
              <a:rPr dirty="0" err="1"/>
              <a:t>Difusa</a:t>
            </a:r>
            <a:endParaRPr spc="-10" dirty="0"/>
          </a:p>
        </p:txBody>
      </p:sp>
      <p:grpSp>
        <p:nvGrpSpPr>
          <p:cNvPr id="3" name="object 3"/>
          <p:cNvGrpSpPr/>
          <p:nvPr/>
        </p:nvGrpSpPr>
        <p:grpSpPr>
          <a:xfrm>
            <a:off x="450544" y="743218"/>
            <a:ext cx="8242300" cy="35560"/>
            <a:chOff x="450544" y="743218"/>
            <a:chExt cx="8242300" cy="35560"/>
          </a:xfrm>
        </p:grpSpPr>
        <p:sp>
          <p:nvSpPr>
            <p:cNvPr id="4" name="object 4"/>
            <p:cNvSpPr/>
            <p:nvPr/>
          </p:nvSpPr>
          <p:spPr>
            <a:xfrm>
              <a:off x="456844" y="749517"/>
              <a:ext cx="8229600" cy="22860"/>
            </a:xfrm>
            <a:custGeom>
              <a:avLst/>
              <a:gdLst/>
              <a:ahLst/>
              <a:cxnLst/>
              <a:rect l="l" t="t" r="r" b="b"/>
              <a:pathLst>
                <a:path w="8229600" h="22859">
                  <a:moveTo>
                    <a:pt x="8229231" y="0"/>
                  </a:moveTo>
                  <a:lnTo>
                    <a:pt x="0" y="0"/>
                  </a:lnTo>
                  <a:lnTo>
                    <a:pt x="0" y="22682"/>
                  </a:lnTo>
                  <a:lnTo>
                    <a:pt x="4114800" y="22682"/>
                  </a:lnTo>
                  <a:lnTo>
                    <a:pt x="8229231" y="22682"/>
                  </a:lnTo>
                  <a:lnTo>
                    <a:pt x="8229231" y="0"/>
                  </a:lnTo>
                  <a:close/>
                </a:path>
              </a:pathLst>
            </a:custGeom>
            <a:solidFill>
              <a:srgbClr val="292C3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456844" y="749517"/>
              <a:ext cx="8229600" cy="22860"/>
            </a:xfrm>
            <a:custGeom>
              <a:avLst/>
              <a:gdLst/>
              <a:ahLst/>
              <a:cxnLst/>
              <a:rect l="l" t="t" r="r" b="b"/>
              <a:pathLst>
                <a:path w="8229600" h="22859">
                  <a:moveTo>
                    <a:pt x="4114800" y="22682"/>
                  </a:moveTo>
                  <a:lnTo>
                    <a:pt x="0" y="22682"/>
                  </a:lnTo>
                  <a:lnTo>
                    <a:pt x="0" y="0"/>
                  </a:lnTo>
                  <a:lnTo>
                    <a:pt x="8229231" y="0"/>
                  </a:lnTo>
                  <a:lnTo>
                    <a:pt x="8229231" y="22682"/>
                  </a:lnTo>
                  <a:lnTo>
                    <a:pt x="4114800" y="22682"/>
                  </a:lnTo>
                  <a:close/>
                </a:path>
              </a:pathLst>
            </a:custGeom>
            <a:ln w="12599">
              <a:solidFill>
                <a:srgbClr val="292C3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534136" y="915379"/>
            <a:ext cx="8053070" cy="17376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050" dirty="0">
                <a:solidFill>
                  <a:srgbClr val="C7CFE7"/>
                </a:solidFill>
                <a:latin typeface="Calibri"/>
                <a:cs typeface="Calibri"/>
              </a:rPr>
              <a:t>La</a:t>
            </a:r>
            <a:r>
              <a:rPr sz="1050" spc="-3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50" spc="-10" dirty="0">
                <a:solidFill>
                  <a:srgbClr val="C7CFE7"/>
                </a:solidFill>
                <a:latin typeface="Calibri"/>
                <a:cs typeface="Calibri"/>
              </a:rPr>
              <a:t>inferencia</a:t>
            </a:r>
            <a:r>
              <a:rPr sz="105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50" dirty="0">
                <a:solidFill>
                  <a:srgbClr val="C7CFE7"/>
                </a:solidFill>
                <a:latin typeface="Calibri"/>
                <a:cs typeface="Calibri"/>
              </a:rPr>
              <a:t>Mamdani</a:t>
            </a:r>
            <a:r>
              <a:rPr sz="1050" spc="-2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50" spc="-10" dirty="0">
                <a:solidFill>
                  <a:srgbClr val="C7CFE7"/>
                </a:solidFill>
                <a:latin typeface="Calibri"/>
                <a:cs typeface="Calibri"/>
              </a:rPr>
              <a:t>transforma</a:t>
            </a:r>
            <a:r>
              <a:rPr sz="1050" spc="-3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50" spc="-10" dirty="0">
                <a:solidFill>
                  <a:srgbClr val="C7CFE7"/>
                </a:solidFill>
                <a:latin typeface="Calibri"/>
                <a:cs typeface="Calibri"/>
              </a:rPr>
              <a:t>entradas</a:t>
            </a:r>
            <a:r>
              <a:rPr sz="1050" spc="-2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50" dirty="0">
                <a:solidFill>
                  <a:srgbClr val="C7CFE7"/>
                </a:solidFill>
                <a:latin typeface="Calibri"/>
                <a:cs typeface="Calibri"/>
              </a:rPr>
              <a:t>nítidas</a:t>
            </a:r>
            <a:r>
              <a:rPr sz="1050" spc="-3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50" dirty="0">
                <a:solidFill>
                  <a:srgbClr val="C7CFE7"/>
                </a:solidFill>
                <a:latin typeface="Calibri"/>
                <a:cs typeface="Calibri"/>
              </a:rPr>
              <a:t>(θ,</a:t>
            </a:r>
            <a:r>
              <a:rPr sz="105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50" dirty="0">
                <a:solidFill>
                  <a:srgbClr val="C7CFE7"/>
                </a:solidFill>
                <a:latin typeface="Calibri"/>
                <a:cs typeface="Calibri"/>
              </a:rPr>
              <a:t>θ')</a:t>
            </a:r>
            <a:r>
              <a:rPr sz="1050" spc="-2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50" dirty="0">
                <a:solidFill>
                  <a:srgbClr val="C7CFE7"/>
                </a:solidFill>
                <a:latin typeface="Calibri"/>
                <a:cs typeface="Calibri"/>
              </a:rPr>
              <a:t>en</a:t>
            </a:r>
            <a:r>
              <a:rPr sz="1050" spc="-3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50" dirty="0">
                <a:solidFill>
                  <a:srgbClr val="C7CFE7"/>
                </a:solidFill>
                <a:latin typeface="Calibri"/>
                <a:cs typeface="Calibri"/>
              </a:rPr>
              <a:t>una</a:t>
            </a:r>
            <a:r>
              <a:rPr sz="1050" spc="-2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50" spc="-10" dirty="0">
                <a:solidFill>
                  <a:srgbClr val="C7CFE7"/>
                </a:solidFill>
                <a:latin typeface="Calibri"/>
                <a:cs typeface="Calibri"/>
              </a:rPr>
              <a:t>fuerza</a:t>
            </a:r>
            <a:r>
              <a:rPr sz="105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50" dirty="0">
                <a:solidFill>
                  <a:srgbClr val="C7CFE7"/>
                </a:solidFill>
                <a:latin typeface="Calibri"/>
                <a:cs typeface="Calibri"/>
              </a:rPr>
              <a:t>de</a:t>
            </a:r>
            <a:r>
              <a:rPr sz="1050" spc="-4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50" dirty="0">
                <a:solidFill>
                  <a:srgbClr val="C7CFE7"/>
                </a:solidFill>
                <a:latin typeface="Calibri"/>
                <a:cs typeface="Calibri"/>
              </a:rPr>
              <a:t>salida</a:t>
            </a:r>
            <a:r>
              <a:rPr sz="1050" spc="-3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50" dirty="0" err="1">
                <a:solidFill>
                  <a:srgbClr val="C7CFE7"/>
                </a:solidFill>
                <a:latin typeface="Calibri"/>
                <a:cs typeface="Calibri"/>
              </a:rPr>
              <a:t>nítida</a:t>
            </a:r>
            <a:r>
              <a:rPr sz="1050" spc="-3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50" dirty="0">
                <a:solidFill>
                  <a:srgbClr val="C7CFE7"/>
                </a:solidFill>
                <a:latin typeface="Calibri"/>
                <a:cs typeface="Calibri"/>
              </a:rPr>
              <a:t>F</a:t>
            </a:r>
            <a:r>
              <a:rPr sz="1050" spc="-2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50" dirty="0">
                <a:solidFill>
                  <a:srgbClr val="C7CFE7"/>
                </a:solidFill>
                <a:latin typeface="Calibri"/>
                <a:cs typeface="Calibri"/>
              </a:rPr>
              <a:t>pasando</a:t>
            </a:r>
            <a:r>
              <a:rPr sz="1050" spc="-3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50" dirty="0">
                <a:solidFill>
                  <a:srgbClr val="C7CFE7"/>
                </a:solidFill>
                <a:latin typeface="Calibri"/>
                <a:cs typeface="Calibri"/>
              </a:rPr>
              <a:t>por</a:t>
            </a:r>
            <a:r>
              <a:rPr sz="1050" spc="-3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50" dirty="0">
                <a:solidFill>
                  <a:srgbClr val="C7CFE7"/>
                </a:solidFill>
                <a:latin typeface="Calibri"/>
                <a:cs typeface="Calibri"/>
              </a:rPr>
              <a:t>cinco</a:t>
            </a:r>
            <a:r>
              <a:rPr sz="1050" spc="-3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50" dirty="0">
                <a:solidFill>
                  <a:srgbClr val="C7CFE7"/>
                </a:solidFill>
                <a:latin typeface="Calibri"/>
                <a:cs typeface="Calibri"/>
              </a:rPr>
              <a:t>etapas</a:t>
            </a:r>
            <a:r>
              <a:rPr sz="1050" spc="-2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50" dirty="0">
                <a:solidFill>
                  <a:srgbClr val="C7CFE7"/>
                </a:solidFill>
                <a:latin typeface="Calibri"/>
                <a:cs typeface="Calibri"/>
              </a:rPr>
              <a:t>bien</a:t>
            </a:r>
            <a:r>
              <a:rPr sz="1050" spc="-3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50" spc="-10" dirty="0">
                <a:solidFill>
                  <a:srgbClr val="C7CFE7"/>
                </a:solidFill>
                <a:latin typeface="Calibri"/>
                <a:cs typeface="Calibri"/>
              </a:rPr>
              <a:t>definidas.</a:t>
            </a:r>
            <a:r>
              <a:rPr sz="1050" spc="-2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endParaRPr sz="1050" dirty="0">
              <a:latin typeface="Calibri"/>
              <a:cs typeface="Calibri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145084" y="1369785"/>
            <a:ext cx="1685289" cy="2141855"/>
            <a:chOff x="145084" y="1369785"/>
            <a:chExt cx="1685289" cy="2141855"/>
          </a:xfrm>
        </p:grpSpPr>
        <p:pic>
          <p:nvPicPr>
            <p:cNvPr id="8" name="object 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45084" y="1369785"/>
              <a:ext cx="1684794" cy="2141651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273964" y="1462686"/>
              <a:ext cx="1463040" cy="1920239"/>
            </a:xfrm>
            <a:custGeom>
              <a:avLst/>
              <a:gdLst/>
              <a:ahLst/>
              <a:cxnLst/>
              <a:rect l="l" t="t" r="r" b="b"/>
              <a:pathLst>
                <a:path w="1463039" h="1920239">
                  <a:moveTo>
                    <a:pt x="1462671" y="0"/>
                  </a:moveTo>
                  <a:lnTo>
                    <a:pt x="0" y="0"/>
                  </a:lnTo>
                  <a:lnTo>
                    <a:pt x="0" y="1919871"/>
                  </a:lnTo>
                  <a:lnTo>
                    <a:pt x="731519" y="1919871"/>
                  </a:lnTo>
                  <a:lnTo>
                    <a:pt x="1462671" y="1919871"/>
                  </a:lnTo>
                  <a:lnTo>
                    <a:pt x="1462671" y="0"/>
                  </a:lnTo>
                  <a:close/>
                </a:path>
              </a:pathLst>
            </a:custGeom>
            <a:solidFill>
              <a:srgbClr val="191C2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273964" y="1462686"/>
              <a:ext cx="1463040" cy="1920239"/>
            </a:xfrm>
            <a:custGeom>
              <a:avLst/>
              <a:gdLst/>
              <a:ahLst/>
              <a:cxnLst/>
              <a:rect l="l" t="t" r="r" b="b"/>
              <a:pathLst>
                <a:path w="1463039" h="1920239">
                  <a:moveTo>
                    <a:pt x="731519" y="1919871"/>
                  </a:moveTo>
                  <a:lnTo>
                    <a:pt x="0" y="1919871"/>
                  </a:lnTo>
                  <a:lnTo>
                    <a:pt x="0" y="0"/>
                  </a:lnTo>
                  <a:lnTo>
                    <a:pt x="1462671" y="0"/>
                  </a:lnTo>
                  <a:lnTo>
                    <a:pt x="1462671" y="1919871"/>
                  </a:lnTo>
                  <a:lnTo>
                    <a:pt x="731519" y="1919871"/>
                  </a:lnTo>
                  <a:close/>
                </a:path>
              </a:pathLst>
            </a:custGeom>
            <a:ln w="19079">
              <a:solidFill>
                <a:srgbClr val="499D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73964" y="1463042"/>
              <a:ext cx="1463040" cy="255904"/>
            </a:xfrm>
            <a:custGeom>
              <a:avLst/>
              <a:gdLst/>
              <a:ahLst/>
              <a:cxnLst/>
              <a:rect l="l" t="t" r="r" b="b"/>
              <a:pathLst>
                <a:path w="1463039" h="255905">
                  <a:moveTo>
                    <a:pt x="1462671" y="0"/>
                  </a:moveTo>
                  <a:lnTo>
                    <a:pt x="0" y="0"/>
                  </a:lnTo>
                  <a:lnTo>
                    <a:pt x="0" y="255600"/>
                  </a:lnTo>
                  <a:lnTo>
                    <a:pt x="731519" y="255600"/>
                  </a:lnTo>
                  <a:lnTo>
                    <a:pt x="1462671" y="255600"/>
                  </a:lnTo>
                  <a:lnTo>
                    <a:pt x="1462671" y="0"/>
                  </a:lnTo>
                  <a:close/>
                </a:path>
              </a:pathLst>
            </a:custGeom>
            <a:solidFill>
              <a:srgbClr val="499DFF">
                <a:alpha val="79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273964" y="1463042"/>
              <a:ext cx="1463040" cy="255904"/>
            </a:xfrm>
            <a:custGeom>
              <a:avLst/>
              <a:gdLst/>
              <a:ahLst/>
              <a:cxnLst/>
              <a:rect l="l" t="t" r="r" b="b"/>
              <a:pathLst>
                <a:path w="1463039" h="255905">
                  <a:moveTo>
                    <a:pt x="731519" y="255600"/>
                  </a:moveTo>
                  <a:lnTo>
                    <a:pt x="0" y="255600"/>
                  </a:lnTo>
                  <a:lnTo>
                    <a:pt x="0" y="0"/>
                  </a:lnTo>
                  <a:lnTo>
                    <a:pt x="1462671" y="0"/>
                  </a:lnTo>
                  <a:lnTo>
                    <a:pt x="1462671" y="255600"/>
                  </a:lnTo>
                  <a:lnTo>
                    <a:pt x="731519" y="255600"/>
                  </a:lnTo>
                  <a:close/>
                </a:path>
              </a:pathLst>
            </a:custGeom>
            <a:ln w="12599">
              <a:solidFill>
                <a:srgbClr val="499D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831964" y="1783082"/>
              <a:ext cx="347980" cy="347980"/>
            </a:xfrm>
            <a:custGeom>
              <a:avLst/>
              <a:gdLst/>
              <a:ahLst/>
              <a:cxnLst/>
              <a:rect l="l" t="t" r="r" b="b"/>
              <a:pathLst>
                <a:path w="347980" h="347980">
                  <a:moveTo>
                    <a:pt x="173875" y="0"/>
                  </a:moveTo>
                  <a:lnTo>
                    <a:pt x="128833" y="5851"/>
                  </a:lnTo>
                  <a:lnTo>
                    <a:pt x="86753" y="23037"/>
                  </a:lnTo>
                  <a:lnTo>
                    <a:pt x="50892" y="50580"/>
                  </a:lnTo>
                  <a:lnTo>
                    <a:pt x="23393" y="86753"/>
                  </a:lnTo>
                  <a:lnTo>
                    <a:pt x="5891" y="128522"/>
                  </a:lnTo>
                  <a:lnTo>
                    <a:pt x="0" y="173520"/>
                  </a:lnTo>
                  <a:lnTo>
                    <a:pt x="1478" y="196287"/>
                  </a:lnTo>
                  <a:lnTo>
                    <a:pt x="13207" y="239935"/>
                  </a:lnTo>
                  <a:lnTo>
                    <a:pt x="35979" y="279345"/>
                  </a:lnTo>
                  <a:lnTo>
                    <a:pt x="67895" y="311410"/>
                  </a:lnTo>
                  <a:lnTo>
                    <a:pt x="107304" y="334033"/>
                  </a:lnTo>
                  <a:lnTo>
                    <a:pt x="151102" y="345865"/>
                  </a:lnTo>
                  <a:lnTo>
                    <a:pt x="173875" y="347395"/>
                  </a:lnTo>
                  <a:lnTo>
                    <a:pt x="196442" y="345865"/>
                  </a:lnTo>
                  <a:lnTo>
                    <a:pt x="240091" y="334033"/>
                  </a:lnTo>
                  <a:lnTo>
                    <a:pt x="279494" y="311410"/>
                  </a:lnTo>
                  <a:lnTo>
                    <a:pt x="311410" y="279345"/>
                  </a:lnTo>
                  <a:lnTo>
                    <a:pt x="334178" y="239935"/>
                  </a:lnTo>
                  <a:lnTo>
                    <a:pt x="345915" y="196287"/>
                  </a:lnTo>
                  <a:lnTo>
                    <a:pt x="347395" y="173520"/>
                  </a:lnTo>
                  <a:lnTo>
                    <a:pt x="345915" y="150752"/>
                  </a:lnTo>
                  <a:lnTo>
                    <a:pt x="334178" y="107099"/>
                  </a:lnTo>
                  <a:lnTo>
                    <a:pt x="311410" y="67689"/>
                  </a:lnTo>
                  <a:lnTo>
                    <a:pt x="279494" y="35629"/>
                  </a:lnTo>
                  <a:lnTo>
                    <a:pt x="240091" y="13062"/>
                  </a:lnTo>
                  <a:lnTo>
                    <a:pt x="196442" y="1474"/>
                  </a:lnTo>
                  <a:lnTo>
                    <a:pt x="173875" y="0"/>
                  </a:lnTo>
                  <a:close/>
                </a:path>
              </a:pathLst>
            </a:custGeom>
            <a:solidFill>
              <a:srgbClr val="499D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831964" y="1783082"/>
              <a:ext cx="347980" cy="347980"/>
            </a:xfrm>
            <a:custGeom>
              <a:avLst/>
              <a:gdLst/>
              <a:ahLst/>
              <a:cxnLst/>
              <a:rect l="l" t="t" r="r" b="b"/>
              <a:pathLst>
                <a:path w="347980" h="347980">
                  <a:moveTo>
                    <a:pt x="0" y="173520"/>
                  </a:moveTo>
                  <a:lnTo>
                    <a:pt x="1478" y="150752"/>
                  </a:lnTo>
                  <a:lnTo>
                    <a:pt x="5891" y="128522"/>
                  </a:lnTo>
                  <a:lnTo>
                    <a:pt x="23393" y="86753"/>
                  </a:lnTo>
                  <a:lnTo>
                    <a:pt x="50892" y="50580"/>
                  </a:lnTo>
                  <a:lnTo>
                    <a:pt x="86753" y="23037"/>
                  </a:lnTo>
                  <a:lnTo>
                    <a:pt x="128833" y="5851"/>
                  </a:lnTo>
                  <a:lnTo>
                    <a:pt x="173875" y="0"/>
                  </a:lnTo>
                  <a:lnTo>
                    <a:pt x="218605" y="5851"/>
                  </a:lnTo>
                  <a:lnTo>
                    <a:pt x="260629" y="23037"/>
                  </a:lnTo>
                  <a:lnTo>
                    <a:pt x="296500" y="50580"/>
                  </a:lnTo>
                  <a:lnTo>
                    <a:pt x="323989" y="86753"/>
                  </a:lnTo>
                  <a:lnTo>
                    <a:pt x="341498" y="128522"/>
                  </a:lnTo>
                  <a:lnTo>
                    <a:pt x="347395" y="173520"/>
                  </a:lnTo>
                  <a:lnTo>
                    <a:pt x="345915" y="196287"/>
                  </a:lnTo>
                  <a:lnTo>
                    <a:pt x="341498" y="218516"/>
                  </a:lnTo>
                  <a:lnTo>
                    <a:pt x="323989" y="260273"/>
                  </a:lnTo>
                  <a:lnTo>
                    <a:pt x="296500" y="296457"/>
                  </a:lnTo>
                  <a:lnTo>
                    <a:pt x="260629" y="324002"/>
                  </a:lnTo>
                  <a:lnTo>
                    <a:pt x="218605" y="341366"/>
                  </a:lnTo>
                  <a:lnTo>
                    <a:pt x="173875" y="347395"/>
                  </a:lnTo>
                  <a:lnTo>
                    <a:pt x="128833" y="341366"/>
                  </a:lnTo>
                  <a:lnTo>
                    <a:pt x="86753" y="324002"/>
                  </a:lnTo>
                  <a:lnTo>
                    <a:pt x="50892" y="296457"/>
                  </a:lnTo>
                  <a:lnTo>
                    <a:pt x="23393" y="260273"/>
                  </a:lnTo>
                  <a:lnTo>
                    <a:pt x="5891" y="218516"/>
                  </a:lnTo>
                  <a:lnTo>
                    <a:pt x="1478" y="196287"/>
                  </a:lnTo>
                  <a:lnTo>
                    <a:pt x="0" y="173520"/>
                  </a:lnTo>
                  <a:close/>
                </a:path>
              </a:pathLst>
            </a:custGeom>
            <a:ln w="12599">
              <a:solidFill>
                <a:srgbClr val="499D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 txBox="1"/>
          <p:nvPr/>
        </p:nvSpPr>
        <p:spPr>
          <a:xfrm>
            <a:off x="964082" y="1844905"/>
            <a:ext cx="96520" cy="224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1300" b="1" spc="-50" dirty="0">
                <a:solidFill>
                  <a:srgbClr val="FFFFFF"/>
                </a:solidFill>
                <a:latin typeface="Calibri"/>
                <a:cs typeface="Calibri"/>
              </a:rPr>
              <a:t>1</a:t>
            </a:r>
            <a:endParaRPr sz="1300">
              <a:latin typeface="Calibri"/>
              <a:cs typeface="Calibri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484924" y="2315428"/>
            <a:ext cx="1054735" cy="7645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5715" algn="ctr">
              <a:lnSpc>
                <a:spcPct val="100000"/>
              </a:lnSpc>
              <a:spcBef>
                <a:spcPts val="100"/>
              </a:spcBef>
            </a:pPr>
            <a:r>
              <a:rPr sz="1000" b="1" spc="-10" dirty="0">
                <a:solidFill>
                  <a:srgbClr val="499DFF"/>
                </a:solidFill>
                <a:latin typeface="Calibri"/>
                <a:cs typeface="Calibri"/>
              </a:rPr>
              <a:t>Fuzzificación</a:t>
            </a:r>
            <a:endParaRPr sz="10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330"/>
              </a:spcBef>
            </a:pPr>
            <a:endParaRPr sz="1000">
              <a:latin typeface="Calibri"/>
              <a:cs typeface="Calibri"/>
            </a:endParaRP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850" spc="120" dirty="0">
                <a:solidFill>
                  <a:srgbClr val="C7CFE7"/>
                </a:solidFill>
                <a:latin typeface="Cambria"/>
                <a:cs typeface="Cambria"/>
              </a:rPr>
              <a:t>Convertir</a:t>
            </a:r>
            <a:r>
              <a:rPr sz="850" spc="350" dirty="0">
                <a:solidFill>
                  <a:srgbClr val="C7CFE7"/>
                </a:solidFill>
                <a:latin typeface="Cambria"/>
                <a:cs typeface="Cambria"/>
              </a:rPr>
              <a:t> </a:t>
            </a:r>
            <a:r>
              <a:rPr sz="850" dirty="0">
                <a:solidFill>
                  <a:srgbClr val="C7CFE7"/>
                </a:solidFill>
                <a:latin typeface="Cambria"/>
                <a:cs typeface="Cambria"/>
              </a:rPr>
              <a:t>θ</a:t>
            </a:r>
            <a:r>
              <a:rPr sz="850" spc="335" dirty="0">
                <a:solidFill>
                  <a:srgbClr val="C7CFE7"/>
                </a:solidFill>
                <a:latin typeface="Cambria"/>
                <a:cs typeface="Cambria"/>
              </a:rPr>
              <a:t> </a:t>
            </a:r>
            <a:r>
              <a:rPr sz="850" spc="85" dirty="0">
                <a:solidFill>
                  <a:srgbClr val="C7CFE7"/>
                </a:solidFill>
                <a:latin typeface="Cambria"/>
                <a:cs typeface="Cambria"/>
              </a:rPr>
              <a:t>y</a:t>
            </a:r>
            <a:r>
              <a:rPr sz="850" spc="350" dirty="0">
                <a:solidFill>
                  <a:srgbClr val="C7CFE7"/>
                </a:solidFill>
                <a:latin typeface="Cambria"/>
                <a:cs typeface="Cambria"/>
              </a:rPr>
              <a:t> </a:t>
            </a:r>
            <a:r>
              <a:rPr sz="850" spc="150" dirty="0">
                <a:solidFill>
                  <a:srgbClr val="C7CFE7"/>
                </a:solidFill>
                <a:latin typeface="Cambria"/>
                <a:cs typeface="Cambria"/>
              </a:rPr>
              <a:t>θ' </a:t>
            </a:r>
            <a:r>
              <a:rPr sz="850" spc="60" dirty="0">
                <a:solidFill>
                  <a:srgbClr val="C7CFE7"/>
                </a:solidFill>
                <a:latin typeface="Cambria"/>
                <a:cs typeface="Cambria"/>
              </a:rPr>
              <a:t>en</a:t>
            </a:r>
            <a:r>
              <a:rPr sz="850" spc="330" dirty="0">
                <a:solidFill>
                  <a:srgbClr val="C7CFE7"/>
                </a:solidFill>
                <a:latin typeface="Cambria"/>
                <a:cs typeface="Cambria"/>
              </a:rPr>
              <a:t> </a:t>
            </a:r>
            <a:r>
              <a:rPr sz="850" spc="50" dirty="0">
                <a:solidFill>
                  <a:srgbClr val="C7CFE7"/>
                </a:solidFill>
                <a:latin typeface="Cambria"/>
                <a:cs typeface="Cambria"/>
              </a:rPr>
              <a:t>membresías </a:t>
            </a:r>
            <a:r>
              <a:rPr sz="850" spc="155" dirty="0">
                <a:solidFill>
                  <a:srgbClr val="C7CFE7"/>
                </a:solidFill>
                <a:latin typeface="Cambria"/>
                <a:cs typeface="Cambria"/>
              </a:rPr>
              <a:t>μ(θ),</a:t>
            </a:r>
            <a:r>
              <a:rPr sz="850" spc="330" dirty="0">
                <a:solidFill>
                  <a:srgbClr val="C7CFE7"/>
                </a:solidFill>
                <a:latin typeface="Cambria"/>
                <a:cs typeface="Cambria"/>
              </a:rPr>
              <a:t> </a:t>
            </a:r>
            <a:r>
              <a:rPr sz="850" spc="140" dirty="0">
                <a:solidFill>
                  <a:srgbClr val="C7CFE7"/>
                </a:solidFill>
                <a:latin typeface="Cambria"/>
                <a:cs typeface="Cambria"/>
              </a:rPr>
              <a:t>μ(θ')</a:t>
            </a:r>
            <a:endParaRPr sz="850">
              <a:latin typeface="Cambria"/>
              <a:cs typeface="Cambria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1737360" y="2423161"/>
            <a:ext cx="365760" cy="635"/>
          </a:xfrm>
          <a:custGeom>
            <a:avLst/>
            <a:gdLst/>
            <a:ahLst/>
            <a:cxnLst/>
            <a:rect l="l" t="t" r="r" b="b"/>
            <a:pathLst>
              <a:path w="365760" h="635">
                <a:moveTo>
                  <a:pt x="0" y="0"/>
                </a:moveTo>
                <a:lnTo>
                  <a:pt x="365759" y="355"/>
                </a:lnTo>
              </a:path>
            </a:pathLst>
          </a:custGeom>
          <a:ln w="19079">
            <a:solidFill>
              <a:srgbClr val="878FA7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 txBox="1"/>
          <p:nvPr/>
        </p:nvSpPr>
        <p:spPr>
          <a:xfrm>
            <a:off x="1942464" y="2321113"/>
            <a:ext cx="168275" cy="1873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050" spc="195" dirty="0">
                <a:solidFill>
                  <a:srgbClr val="878FA7"/>
                </a:solidFill>
                <a:latin typeface="Cambria"/>
                <a:cs typeface="Cambria"/>
              </a:rPr>
              <a:t>▶</a:t>
            </a:r>
            <a:endParaRPr sz="1050">
              <a:latin typeface="Cambria"/>
              <a:cs typeface="Cambria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1992236" y="1369785"/>
            <a:ext cx="1685289" cy="2141855"/>
            <a:chOff x="1992236" y="1369785"/>
            <a:chExt cx="1685289" cy="2141855"/>
          </a:xfrm>
        </p:grpSpPr>
        <p:pic>
          <p:nvPicPr>
            <p:cNvPr id="20" name="object 20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992236" y="1369785"/>
              <a:ext cx="1684794" cy="2141651"/>
            </a:xfrm>
            <a:prstGeom prst="rect">
              <a:avLst/>
            </a:prstGeom>
          </p:spPr>
        </p:pic>
        <p:sp>
          <p:nvSpPr>
            <p:cNvPr id="21" name="object 21"/>
            <p:cNvSpPr/>
            <p:nvPr/>
          </p:nvSpPr>
          <p:spPr>
            <a:xfrm>
              <a:off x="2121115" y="1462686"/>
              <a:ext cx="1463040" cy="1920239"/>
            </a:xfrm>
            <a:custGeom>
              <a:avLst/>
              <a:gdLst/>
              <a:ahLst/>
              <a:cxnLst/>
              <a:rect l="l" t="t" r="r" b="b"/>
              <a:pathLst>
                <a:path w="1463039" h="1920239">
                  <a:moveTo>
                    <a:pt x="1462684" y="0"/>
                  </a:moveTo>
                  <a:lnTo>
                    <a:pt x="0" y="0"/>
                  </a:lnTo>
                  <a:lnTo>
                    <a:pt x="0" y="1919871"/>
                  </a:lnTo>
                  <a:lnTo>
                    <a:pt x="731519" y="1919871"/>
                  </a:lnTo>
                  <a:lnTo>
                    <a:pt x="1462684" y="1919871"/>
                  </a:lnTo>
                  <a:lnTo>
                    <a:pt x="1462684" y="0"/>
                  </a:lnTo>
                  <a:close/>
                </a:path>
              </a:pathLst>
            </a:custGeom>
            <a:solidFill>
              <a:srgbClr val="191C2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2121115" y="1462686"/>
              <a:ext cx="1463040" cy="1920239"/>
            </a:xfrm>
            <a:custGeom>
              <a:avLst/>
              <a:gdLst/>
              <a:ahLst/>
              <a:cxnLst/>
              <a:rect l="l" t="t" r="r" b="b"/>
              <a:pathLst>
                <a:path w="1463039" h="1920239">
                  <a:moveTo>
                    <a:pt x="731519" y="1919871"/>
                  </a:moveTo>
                  <a:lnTo>
                    <a:pt x="0" y="1919871"/>
                  </a:lnTo>
                  <a:lnTo>
                    <a:pt x="0" y="0"/>
                  </a:lnTo>
                  <a:lnTo>
                    <a:pt x="1462684" y="0"/>
                  </a:lnTo>
                  <a:lnTo>
                    <a:pt x="1462684" y="1919871"/>
                  </a:lnTo>
                  <a:lnTo>
                    <a:pt x="731519" y="1919871"/>
                  </a:lnTo>
                  <a:close/>
                </a:path>
              </a:pathLst>
            </a:custGeom>
            <a:ln w="19079">
              <a:solidFill>
                <a:srgbClr val="A68AF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2121115" y="1463042"/>
              <a:ext cx="1463040" cy="255904"/>
            </a:xfrm>
            <a:custGeom>
              <a:avLst/>
              <a:gdLst/>
              <a:ahLst/>
              <a:cxnLst/>
              <a:rect l="l" t="t" r="r" b="b"/>
              <a:pathLst>
                <a:path w="1463039" h="255905">
                  <a:moveTo>
                    <a:pt x="1462684" y="0"/>
                  </a:moveTo>
                  <a:lnTo>
                    <a:pt x="0" y="0"/>
                  </a:lnTo>
                  <a:lnTo>
                    <a:pt x="0" y="255600"/>
                  </a:lnTo>
                  <a:lnTo>
                    <a:pt x="731519" y="255600"/>
                  </a:lnTo>
                  <a:lnTo>
                    <a:pt x="1462684" y="255600"/>
                  </a:lnTo>
                  <a:lnTo>
                    <a:pt x="1462684" y="0"/>
                  </a:lnTo>
                  <a:close/>
                </a:path>
              </a:pathLst>
            </a:custGeom>
            <a:solidFill>
              <a:srgbClr val="A68AF9">
                <a:alpha val="79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2121115" y="1463042"/>
              <a:ext cx="1463040" cy="255904"/>
            </a:xfrm>
            <a:custGeom>
              <a:avLst/>
              <a:gdLst/>
              <a:ahLst/>
              <a:cxnLst/>
              <a:rect l="l" t="t" r="r" b="b"/>
              <a:pathLst>
                <a:path w="1463039" h="255905">
                  <a:moveTo>
                    <a:pt x="731519" y="255600"/>
                  </a:moveTo>
                  <a:lnTo>
                    <a:pt x="0" y="255600"/>
                  </a:lnTo>
                  <a:lnTo>
                    <a:pt x="0" y="0"/>
                  </a:lnTo>
                  <a:lnTo>
                    <a:pt x="1462684" y="0"/>
                  </a:lnTo>
                  <a:lnTo>
                    <a:pt x="1462684" y="255600"/>
                  </a:lnTo>
                  <a:lnTo>
                    <a:pt x="731519" y="255600"/>
                  </a:lnTo>
                  <a:close/>
                </a:path>
              </a:pathLst>
            </a:custGeom>
            <a:ln w="12599">
              <a:solidFill>
                <a:srgbClr val="A68AF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2679115" y="1783082"/>
              <a:ext cx="347980" cy="347980"/>
            </a:xfrm>
            <a:custGeom>
              <a:avLst/>
              <a:gdLst/>
              <a:ahLst/>
              <a:cxnLst/>
              <a:rect l="l" t="t" r="r" b="b"/>
              <a:pathLst>
                <a:path w="347980" h="347980">
                  <a:moveTo>
                    <a:pt x="173888" y="0"/>
                  </a:moveTo>
                  <a:lnTo>
                    <a:pt x="128836" y="5851"/>
                  </a:lnTo>
                  <a:lnTo>
                    <a:pt x="86766" y="23037"/>
                  </a:lnTo>
                  <a:lnTo>
                    <a:pt x="50900" y="50580"/>
                  </a:lnTo>
                  <a:lnTo>
                    <a:pt x="23406" y="86753"/>
                  </a:lnTo>
                  <a:lnTo>
                    <a:pt x="5897" y="128522"/>
                  </a:lnTo>
                  <a:lnTo>
                    <a:pt x="0" y="173520"/>
                  </a:lnTo>
                  <a:lnTo>
                    <a:pt x="1480" y="196287"/>
                  </a:lnTo>
                  <a:lnTo>
                    <a:pt x="13217" y="239935"/>
                  </a:lnTo>
                  <a:lnTo>
                    <a:pt x="35986" y="279345"/>
                  </a:lnTo>
                  <a:lnTo>
                    <a:pt x="67906" y="311410"/>
                  </a:lnTo>
                  <a:lnTo>
                    <a:pt x="107310" y="334033"/>
                  </a:lnTo>
                  <a:lnTo>
                    <a:pt x="151108" y="345865"/>
                  </a:lnTo>
                  <a:lnTo>
                    <a:pt x="173888" y="347395"/>
                  </a:lnTo>
                  <a:lnTo>
                    <a:pt x="196455" y="345865"/>
                  </a:lnTo>
                  <a:lnTo>
                    <a:pt x="240103" y="334033"/>
                  </a:lnTo>
                  <a:lnTo>
                    <a:pt x="279502" y="311410"/>
                  </a:lnTo>
                  <a:lnTo>
                    <a:pt x="311421" y="279345"/>
                  </a:lnTo>
                  <a:lnTo>
                    <a:pt x="334190" y="239935"/>
                  </a:lnTo>
                  <a:lnTo>
                    <a:pt x="345928" y="196287"/>
                  </a:lnTo>
                  <a:lnTo>
                    <a:pt x="347408" y="173520"/>
                  </a:lnTo>
                  <a:lnTo>
                    <a:pt x="345928" y="150752"/>
                  </a:lnTo>
                  <a:lnTo>
                    <a:pt x="334190" y="107099"/>
                  </a:lnTo>
                  <a:lnTo>
                    <a:pt x="311421" y="67689"/>
                  </a:lnTo>
                  <a:lnTo>
                    <a:pt x="279502" y="35629"/>
                  </a:lnTo>
                  <a:lnTo>
                    <a:pt x="240103" y="13062"/>
                  </a:lnTo>
                  <a:lnTo>
                    <a:pt x="196455" y="1474"/>
                  </a:lnTo>
                  <a:lnTo>
                    <a:pt x="173888" y="0"/>
                  </a:lnTo>
                  <a:close/>
                </a:path>
              </a:pathLst>
            </a:custGeom>
            <a:solidFill>
              <a:srgbClr val="A68AF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2679115" y="1783082"/>
              <a:ext cx="347980" cy="347980"/>
            </a:xfrm>
            <a:custGeom>
              <a:avLst/>
              <a:gdLst/>
              <a:ahLst/>
              <a:cxnLst/>
              <a:rect l="l" t="t" r="r" b="b"/>
              <a:pathLst>
                <a:path w="347980" h="347980">
                  <a:moveTo>
                    <a:pt x="0" y="173520"/>
                  </a:moveTo>
                  <a:lnTo>
                    <a:pt x="1480" y="150752"/>
                  </a:lnTo>
                  <a:lnTo>
                    <a:pt x="5897" y="128522"/>
                  </a:lnTo>
                  <a:lnTo>
                    <a:pt x="23406" y="86753"/>
                  </a:lnTo>
                  <a:lnTo>
                    <a:pt x="50900" y="50580"/>
                  </a:lnTo>
                  <a:lnTo>
                    <a:pt x="86766" y="23037"/>
                  </a:lnTo>
                  <a:lnTo>
                    <a:pt x="128836" y="5851"/>
                  </a:lnTo>
                  <a:lnTo>
                    <a:pt x="173888" y="0"/>
                  </a:lnTo>
                  <a:lnTo>
                    <a:pt x="218617" y="5851"/>
                  </a:lnTo>
                  <a:lnTo>
                    <a:pt x="260642" y="23037"/>
                  </a:lnTo>
                  <a:lnTo>
                    <a:pt x="296508" y="50580"/>
                  </a:lnTo>
                  <a:lnTo>
                    <a:pt x="324002" y="86753"/>
                  </a:lnTo>
                  <a:lnTo>
                    <a:pt x="341510" y="128522"/>
                  </a:lnTo>
                  <a:lnTo>
                    <a:pt x="347408" y="173520"/>
                  </a:lnTo>
                  <a:lnTo>
                    <a:pt x="345928" y="196287"/>
                  </a:lnTo>
                  <a:lnTo>
                    <a:pt x="341510" y="218516"/>
                  </a:lnTo>
                  <a:lnTo>
                    <a:pt x="324002" y="260273"/>
                  </a:lnTo>
                  <a:lnTo>
                    <a:pt x="296508" y="296457"/>
                  </a:lnTo>
                  <a:lnTo>
                    <a:pt x="260642" y="324002"/>
                  </a:lnTo>
                  <a:lnTo>
                    <a:pt x="218617" y="341366"/>
                  </a:lnTo>
                  <a:lnTo>
                    <a:pt x="173888" y="347395"/>
                  </a:lnTo>
                  <a:lnTo>
                    <a:pt x="128836" y="341366"/>
                  </a:lnTo>
                  <a:lnTo>
                    <a:pt x="86766" y="324002"/>
                  </a:lnTo>
                  <a:lnTo>
                    <a:pt x="50900" y="296457"/>
                  </a:lnTo>
                  <a:lnTo>
                    <a:pt x="23406" y="260273"/>
                  </a:lnTo>
                  <a:lnTo>
                    <a:pt x="5897" y="218516"/>
                  </a:lnTo>
                  <a:lnTo>
                    <a:pt x="1480" y="196287"/>
                  </a:lnTo>
                  <a:lnTo>
                    <a:pt x="0" y="173520"/>
                  </a:lnTo>
                  <a:close/>
                </a:path>
              </a:pathLst>
            </a:custGeom>
            <a:ln w="12599">
              <a:solidFill>
                <a:srgbClr val="A68AF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7" name="object 27"/>
          <p:cNvSpPr txBox="1"/>
          <p:nvPr/>
        </p:nvSpPr>
        <p:spPr>
          <a:xfrm>
            <a:off x="2130655" y="1844905"/>
            <a:ext cx="1443990" cy="12350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" algn="ctr">
              <a:lnSpc>
                <a:spcPct val="100000"/>
              </a:lnSpc>
              <a:spcBef>
                <a:spcPts val="100"/>
              </a:spcBef>
            </a:pPr>
            <a:r>
              <a:rPr sz="1300" b="1" spc="-50" dirty="0">
                <a:solidFill>
                  <a:srgbClr val="FFFFFF"/>
                </a:solidFill>
                <a:latin typeface="Calibri"/>
                <a:cs typeface="Calibri"/>
              </a:rPr>
              <a:t>2</a:t>
            </a:r>
            <a:endParaRPr sz="1300">
              <a:latin typeface="Calibri"/>
              <a:cs typeface="Calibri"/>
            </a:endParaRPr>
          </a:p>
          <a:p>
            <a:pPr marL="426720" marR="418465" algn="ctr">
              <a:lnSpc>
                <a:spcPct val="100000"/>
              </a:lnSpc>
              <a:spcBef>
                <a:spcPts val="1545"/>
              </a:spcBef>
            </a:pPr>
            <a:r>
              <a:rPr sz="1000" b="1" spc="-10" dirty="0">
                <a:solidFill>
                  <a:srgbClr val="A68AF9"/>
                </a:solidFill>
                <a:latin typeface="Calibri"/>
                <a:cs typeface="Calibri"/>
              </a:rPr>
              <a:t>Conjunción </a:t>
            </a:r>
            <a:r>
              <a:rPr sz="1000" b="1" spc="-40" dirty="0">
                <a:solidFill>
                  <a:srgbClr val="A68AF9"/>
                </a:solidFill>
                <a:latin typeface="Calibri"/>
                <a:cs typeface="Calibri"/>
              </a:rPr>
              <a:t>(T-</a:t>
            </a:r>
            <a:r>
              <a:rPr sz="1000" b="1" spc="-10" dirty="0">
                <a:solidFill>
                  <a:srgbClr val="A68AF9"/>
                </a:solidFill>
                <a:latin typeface="Calibri"/>
                <a:cs typeface="Calibri"/>
              </a:rPr>
              <a:t>norm)</a:t>
            </a:r>
            <a:endParaRPr sz="1000">
              <a:latin typeface="Calibri"/>
              <a:cs typeface="Calibri"/>
            </a:endParaRPr>
          </a:p>
          <a:p>
            <a:pPr marL="201295" marR="193040" indent="-2540" algn="ctr">
              <a:lnSpc>
                <a:spcPct val="100000"/>
              </a:lnSpc>
              <a:spcBef>
                <a:spcPts val="955"/>
              </a:spcBef>
            </a:pPr>
            <a:r>
              <a:rPr sz="850" spc="215" dirty="0">
                <a:solidFill>
                  <a:srgbClr val="C7CFE7"/>
                </a:solidFill>
                <a:latin typeface="Cambria"/>
                <a:cs typeface="Cambria"/>
              </a:rPr>
              <a:t>α[i,j]</a:t>
            </a:r>
            <a:r>
              <a:rPr sz="850" spc="355" dirty="0">
                <a:solidFill>
                  <a:srgbClr val="C7CFE7"/>
                </a:solidFill>
                <a:latin typeface="Cambria"/>
                <a:cs typeface="Cambria"/>
              </a:rPr>
              <a:t> </a:t>
            </a:r>
            <a:r>
              <a:rPr sz="850" dirty="0">
                <a:solidFill>
                  <a:srgbClr val="C7CFE7"/>
                </a:solidFill>
                <a:latin typeface="Cambria"/>
                <a:cs typeface="Cambria"/>
              </a:rPr>
              <a:t>=</a:t>
            </a:r>
            <a:r>
              <a:rPr sz="850" spc="350" dirty="0">
                <a:solidFill>
                  <a:srgbClr val="C7CFE7"/>
                </a:solidFill>
                <a:latin typeface="Cambria"/>
                <a:cs typeface="Cambria"/>
              </a:rPr>
              <a:t> </a:t>
            </a:r>
            <a:r>
              <a:rPr sz="850" spc="45" dirty="0">
                <a:solidFill>
                  <a:srgbClr val="C7CFE7"/>
                </a:solidFill>
                <a:latin typeface="Cambria"/>
                <a:cs typeface="Cambria"/>
              </a:rPr>
              <a:t>min( </a:t>
            </a:r>
            <a:r>
              <a:rPr sz="850" spc="185" dirty="0">
                <a:solidFill>
                  <a:srgbClr val="C7CFE7"/>
                </a:solidFill>
                <a:latin typeface="Cambria"/>
                <a:cs typeface="Cambria"/>
              </a:rPr>
              <a:t>μ_θ[i],</a:t>
            </a:r>
            <a:r>
              <a:rPr sz="850" spc="320" dirty="0">
                <a:solidFill>
                  <a:srgbClr val="C7CFE7"/>
                </a:solidFill>
                <a:latin typeface="Cambria"/>
                <a:cs typeface="Cambria"/>
              </a:rPr>
              <a:t> </a:t>
            </a:r>
            <a:r>
              <a:rPr sz="850" spc="175" dirty="0">
                <a:solidFill>
                  <a:srgbClr val="C7CFE7"/>
                </a:solidFill>
                <a:latin typeface="Cambria"/>
                <a:cs typeface="Cambria"/>
              </a:rPr>
              <a:t>μ_θ'[j]) </a:t>
            </a:r>
            <a:r>
              <a:rPr sz="850" spc="95" dirty="0">
                <a:solidFill>
                  <a:srgbClr val="C7CFE7"/>
                </a:solidFill>
                <a:latin typeface="Cambria"/>
                <a:cs typeface="Cambria"/>
              </a:rPr>
              <a:t>para</a:t>
            </a:r>
            <a:r>
              <a:rPr sz="850" spc="350" dirty="0">
                <a:solidFill>
                  <a:srgbClr val="C7CFE7"/>
                </a:solidFill>
                <a:latin typeface="Cambria"/>
                <a:cs typeface="Cambria"/>
              </a:rPr>
              <a:t> </a:t>
            </a:r>
            <a:r>
              <a:rPr sz="850" dirty="0">
                <a:solidFill>
                  <a:srgbClr val="C7CFE7"/>
                </a:solidFill>
                <a:latin typeface="Cambria"/>
                <a:cs typeface="Cambria"/>
              </a:rPr>
              <a:t>49</a:t>
            </a:r>
            <a:r>
              <a:rPr sz="850" spc="355" dirty="0">
                <a:solidFill>
                  <a:srgbClr val="C7CFE7"/>
                </a:solidFill>
                <a:latin typeface="Cambria"/>
                <a:cs typeface="Cambria"/>
              </a:rPr>
              <a:t> </a:t>
            </a:r>
            <a:r>
              <a:rPr sz="850" spc="130" dirty="0">
                <a:solidFill>
                  <a:srgbClr val="C7CFE7"/>
                </a:solidFill>
                <a:latin typeface="Cambria"/>
                <a:cs typeface="Cambria"/>
              </a:rPr>
              <a:t>reglas</a:t>
            </a:r>
            <a:endParaRPr sz="850">
              <a:latin typeface="Cambria"/>
              <a:cs typeface="Cambria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3584156" y="2423161"/>
            <a:ext cx="365760" cy="635"/>
          </a:xfrm>
          <a:custGeom>
            <a:avLst/>
            <a:gdLst/>
            <a:ahLst/>
            <a:cxnLst/>
            <a:rect l="l" t="t" r="r" b="b"/>
            <a:pathLst>
              <a:path w="365760" h="635">
                <a:moveTo>
                  <a:pt x="0" y="0"/>
                </a:moveTo>
                <a:lnTo>
                  <a:pt x="365760" y="355"/>
                </a:lnTo>
              </a:path>
            </a:pathLst>
          </a:custGeom>
          <a:ln w="19079">
            <a:solidFill>
              <a:srgbClr val="878FA7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 txBox="1"/>
          <p:nvPr/>
        </p:nvSpPr>
        <p:spPr>
          <a:xfrm>
            <a:off x="3789260" y="2321113"/>
            <a:ext cx="168275" cy="1873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050" spc="195" dirty="0">
                <a:solidFill>
                  <a:srgbClr val="878FA7"/>
                </a:solidFill>
                <a:latin typeface="Cambria"/>
                <a:cs typeface="Cambria"/>
              </a:rPr>
              <a:t>▶</a:t>
            </a:r>
            <a:endParaRPr sz="1050">
              <a:latin typeface="Cambria"/>
              <a:cs typeface="Cambria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3839400" y="1369785"/>
            <a:ext cx="1685289" cy="2141855"/>
            <a:chOff x="3839400" y="1369785"/>
            <a:chExt cx="1685289" cy="2141855"/>
          </a:xfrm>
        </p:grpSpPr>
        <p:pic>
          <p:nvPicPr>
            <p:cNvPr id="31" name="object 3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839400" y="1369785"/>
              <a:ext cx="1684794" cy="2141651"/>
            </a:xfrm>
            <a:prstGeom prst="rect">
              <a:avLst/>
            </a:prstGeom>
          </p:spPr>
        </p:pic>
        <p:sp>
          <p:nvSpPr>
            <p:cNvPr id="32" name="object 32"/>
            <p:cNvSpPr/>
            <p:nvPr/>
          </p:nvSpPr>
          <p:spPr>
            <a:xfrm>
              <a:off x="3968280" y="1462686"/>
              <a:ext cx="1463040" cy="1920239"/>
            </a:xfrm>
            <a:custGeom>
              <a:avLst/>
              <a:gdLst/>
              <a:ahLst/>
              <a:cxnLst/>
              <a:rect l="l" t="t" r="r" b="b"/>
              <a:pathLst>
                <a:path w="1463039" h="1920239">
                  <a:moveTo>
                    <a:pt x="1462684" y="0"/>
                  </a:moveTo>
                  <a:lnTo>
                    <a:pt x="0" y="0"/>
                  </a:lnTo>
                  <a:lnTo>
                    <a:pt x="0" y="1919871"/>
                  </a:lnTo>
                  <a:lnTo>
                    <a:pt x="731519" y="1919871"/>
                  </a:lnTo>
                  <a:lnTo>
                    <a:pt x="1462684" y="1919871"/>
                  </a:lnTo>
                  <a:lnTo>
                    <a:pt x="1462684" y="0"/>
                  </a:lnTo>
                  <a:close/>
                </a:path>
              </a:pathLst>
            </a:custGeom>
            <a:solidFill>
              <a:srgbClr val="191C2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3968280" y="1462686"/>
              <a:ext cx="1463040" cy="1920239"/>
            </a:xfrm>
            <a:custGeom>
              <a:avLst/>
              <a:gdLst/>
              <a:ahLst/>
              <a:cxnLst/>
              <a:rect l="l" t="t" r="r" b="b"/>
              <a:pathLst>
                <a:path w="1463039" h="1920239">
                  <a:moveTo>
                    <a:pt x="731519" y="1919871"/>
                  </a:moveTo>
                  <a:lnTo>
                    <a:pt x="0" y="1919871"/>
                  </a:lnTo>
                  <a:lnTo>
                    <a:pt x="0" y="0"/>
                  </a:lnTo>
                  <a:lnTo>
                    <a:pt x="1462684" y="0"/>
                  </a:lnTo>
                  <a:lnTo>
                    <a:pt x="1462684" y="1919871"/>
                  </a:lnTo>
                  <a:lnTo>
                    <a:pt x="731519" y="1919871"/>
                  </a:lnTo>
                  <a:close/>
                </a:path>
              </a:pathLst>
            </a:custGeom>
            <a:ln w="19079">
              <a:solidFill>
                <a:srgbClr val="F49D0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3968280" y="1463042"/>
              <a:ext cx="1463040" cy="255904"/>
            </a:xfrm>
            <a:custGeom>
              <a:avLst/>
              <a:gdLst/>
              <a:ahLst/>
              <a:cxnLst/>
              <a:rect l="l" t="t" r="r" b="b"/>
              <a:pathLst>
                <a:path w="1463039" h="255905">
                  <a:moveTo>
                    <a:pt x="1462684" y="0"/>
                  </a:moveTo>
                  <a:lnTo>
                    <a:pt x="0" y="0"/>
                  </a:lnTo>
                  <a:lnTo>
                    <a:pt x="0" y="255600"/>
                  </a:lnTo>
                  <a:lnTo>
                    <a:pt x="731519" y="255600"/>
                  </a:lnTo>
                  <a:lnTo>
                    <a:pt x="1462684" y="255600"/>
                  </a:lnTo>
                  <a:lnTo>
                    <a:pt x="1462684" y="0"/>
                  </a:lnTo>
                  <a:close/>
                </a:path>
              </a:pathLst>
            </a:custGeom>
            <a:solidFill>
              <a:srgbClr val="F49D0A">
                <a:alpha val="79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3968280" y="1463042"/>
              <a:ext cx="1463040" cy="255904"/>
            </a:xfrm>
            <a:custGeom>
              <a:avLst/>
              <a:gdLst/>
              <a:ahLst/>
              <a:cxnLst/>
              <a:rect l="l" t="t" r="r" b="b"/>
              <a:pathLst>
                <a:path w="1463039" h="255905">
                  <a:moveTo>
                    <a:pt x="731519" y="255600"/>
                  </a:moveTo>
                  <a:lnTo>
                    <a:pt x="0" y="255600"/>
                  </a:lnTo>
                  <a:lnTo>
                    <a:pt x="0" y="0"/>
                  </a:lnTo>
                  <a:lnTo>
                    <a:pt x="1462684" y="0"/>
                  </a:lnTo>
                  <a:lnTo>
                    <a:pt x="1462684" y="255600"/>
                  </a:lnTo>
                  <a:lnTo>
                    <a:pt x="731519" y="255600"/>
                  </a:lnTo>
                  <a:close/>
                </a:path>
              </a:pathLst>
            </a:custGeom>
            <a:ln w="12599">
              <a:solidFill>
                <a:srgbClr val="F49D0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4526280" y="1783082"/>
              <a:ext cx="347980" cy="347980"/>
            </a:xfrm>
            <a:custGeom>
              <a:avLst/>
              <a:gdLst/>
              <a:ahLst/>
              <a:cxnLst/>
              <a:rect l="l" t="t" r="r" b="b"/>
              <a:pathLst>
                <a:path w="347979" h="347980">
                  <a:moveTo>
                    <a:pt x="173875" y="0"/>
                  </a:moveTo>
                  <a:lnTo>
                    <a:pt x="128833" y="5851"/>
                  </a:lnTo>
                  <a:lnTo>
                    <a:pt x="86753" y="23037"/>
                  </a:lnTo>
                  <a:lnTo>
                    <a:pt x="50893" y="50580"/>
                  </a:lnTo>
                  <a:lnTo>
                    <a:pt x="23406" y="86753"/>
                  </a:lnTo>
                  <a:lnTo>
                    <a:pt x="5897" y="128522"/>
                  </a:lnTo>
                  <a:lnTo>
                    <a:pt x="0" y="173520"/>
                  </a:lnTo>
                  <a:lnTo>
                    <a:pt x="1480" y="196287"/>
                  </a:lnTo>
                  <a:lnTo>
                    <a:pt x="13217" y="239935"/>
                  </a:lnTo>
                  <a:lnTo>
                    <a:pt x="35984" y="279345"/>
                  </a:lnTo>
                  <a:lnTo>
                    <a:pt x="67895" y="311410"/>
                  </a:lnTo>
                  <a:lnTo>
                    <a:pt x="107304" y="334033"/>
                  </a:lnTo>
                  <a:lnTo>
                    <a:pt x="151102" y="345865"/>
                  </a:lnTo>
                  <a:lnTo>
                    <a:pt x="173875" y="347395"/>
                  </a:lnTo>
                  <a:lnTo>
                    <a:pt x="196443" y="345865"/>
                  </a:lnTo>
                  <a:lnTo>
                    <a:pt x="240096" y="334033"/>
                  </a:lnTo>
                  <a:lnTo>
                    <a:pt x="279500" y="311410"/>
                  </a:lnTo>
                  <a:lnTo>
                    <a:pt x="311416" y="279345"/>
                  </a:lnTo>
                  <a:lnTo>
                    <a:pt x="334188" y="239935"/>
                  </a:lnTo>
                  <a:lnTo>
                    <a:pt x="345917" y="196287"/>
                  </a:lnTo>
                  <a:lnTo>
                    <a:pt x="347395" y="173520"/>
                  </a:lnTo>
                  <a:lnTo>
                    <a:pt x="345917" y="150752"/>
                  </a:lnTo>
                  <a:lnTo>
                    <a:pt x="334188" y="107099"/>
                  </a:lnTo>
                  <a:lnTo>
                    <a:pt x="311416" y="67689"/>
                  </a:lnTo>
                  <a:lnTo>
                    <a:pt x="279500" y="35629"/>
                  </a:lnTo>
                  <a:lnTo>
                    <a:pt x="240096" y="13062"/>
                  </a:lnTo>
                  <a:lnTo>
                    <a:pt x="196443" y="1474"/>
                  </a:lnTo>
                  <a:lnTo>
                    <a:pt x="173875" y="0"/>
                  </a:lnTo>
                  <a:close/>
                </a:path>
              </a:pathLst>
            </a:custGeom>
            <a:solidFill>
              <a:srgbClr val="F49D0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4526280" y="1783082"/>
              <a:ext cx="347980" cy="347980"/>
            </a:xfrm>
            <a:custGeom>
              <a:avLst/>
              <a:gdLst/>
              <a:ahLst/>
              <a:cxnLst/>
              <a:rect l="l" t="t" r="r" b="b"/>
              <a:pathLst>
                <a:path w="347979" h="347980">
                  <a:moveTo>
                    <a:pt x="0" y="173520"/>
                  </a:moveTo>
                  <a:lnTo>
                    <a:pt x="1480" y="150752"/>
                  </a:lnTo>
                  <a:lnTo>
                    <a:pt x="5897" y="128522"/>
                  </a:lnTo>
                  <a:lnTo>
                    <a:pt x="23406" y="86753"/>
                  </a:lnTo>
                  <a:lnTo>
                    <a:pt x="50893" y="50580"/>
                  </a:lnTo>
                  <a:lnTo>
                    <a:pt x="86753" y="23037"/>
                  </a:lnTo>
                  <a:lnTo>
                    <a:pt x="128833" y="5851"/>
                  </a:lnTo>
                  <a:lnTo>
                    <a:pt x="173875" y="0"/>
                  </a:lnTo>
                  <a:lnTo>
                    <a:pt x="218606" y="5851"/>
                  </a:lnTo>
                  <a:lnTo>
                    <a:pt x="260642" y="23037"/>
                  </a:lnTo>
                  <a:lnTo>
                    <a:pt x="296503" y="50580"/>
                  </a:lnTo>
                  <a:lnTo>
                    <a:pt x="324002" y="86753"/>
                  </a:lnTo>
                  <a:lnTo>
                    <a:pt x="341504" y="128522"/>
                  </a:lnTo>
                  <a:lnTo>
                    <a:pt x="347395" y="173520"/>
                  </a:lnTo>
                  <a:lnTo>
                    <a:pt x="345917" y="196287"/>
                  </a:lnTo>
                  <a:lnTo>
                    <a:pt x="341504" y="218516"/>
                  </a:lnTo>
                  <a:lnTo>
                    <a:pt x="324002" y="260273"/>
                  </a:lnTo>
                  <a:lnTo>
                    <a:pt x="296503" y="296457"/>
                  </a:lnTo>
                  <a:lnTo>
                    <a:pt x="260642" y="324002"/>
                  </a:lnTo>
                  <a:lnTo>
                    <a:pt x="218606" y="341366"/>
                  </a:lnTo>
                  <a:lnTo>
                    <a:pt x="173875" y="347395"/>
                  </a:lnTo>
                  <a:lnTo>
                    <a:pt x="128833" y="341366"/>
                  </a:lnTo>
                  <a:lnTo>
                    <a:pt x="86753" y="324002"/>
                  </a:lnTo>
                  <a:lnTo>
                    <a:pt x="50893" y="296457"/>
                  </a:lnTo>
                  <a:lnTo>
                    <a:pt x="23406" y="260273"/>
                  </a:lnTo>
                  <a:lnTo>
                    <a:pt x="5897" y="218516"/>
                  </a:lnTo>
                  <a:lnTo>
                    <a:pt x="1480" y="196287"/>
                  </a:lnTo>
                  <a:lnTo>
                    <a:pt x="0" y="173520"/>
                  </a:lnTo>
                  <a:close/>
                </a:path>
              </a:pathLst>
            </a:custGeom>
            <a:ln w="12599">
              <a:solidFill>
                <a:srgbClr val="F49D0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8" name="object 38"/>
          <p:cNvSpPr txBox="1"/>
          <p:nvPr/>
        </p:nvSpPr>
        <p:spPr>
          <a:xfrm>
            <a:off x="4645698" y="1844905"/>
            <a:ext cx="109220" cy="224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00" b="1" spc="-50" dirty="0">
                <a:solidFill>
                  <a:srgbClr val="FFFFFF"/>
                </a:solidFill>
                <a:latin typeface="Calibri"/>
                <a:cs typeface="Calibri"/>
              </a:rPr>
              <a:t>3</a:t>
            </a:r>
            <a:endParaRPr sz="1300">
              <a:latin typeface="Calibri"/>
              <a:cs typeface="Calibri"/>
            </a:endParaRPr>
          </a:p>
        </p:txBody>
      </p:sp>
      <p:sp>
        <p:nvSpPr>
          <p:cNvPr id="39" name="object 39"/>
          <p:cNvSpPr txBox="1"/>
          <p:nvPr/>
        </p:nvSpPr>
        <p:spPr>
          <a:xfrm>
            <a:off x="4277017" y="1987026"/>
            <a:ext cx="935990" cy="140038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7640" marR="160020" algn="ctr">
              <a:lnSpc>
                <a:spcPct val="100000"/>
              </a:lnSpc>
              <a:spcBef>
                <a:spcPts val="100"/>
              </a:spcBef>
            </a:pPr>
            <a:endParaRPr lang="es-AR" sz="1000" b="1" spc="-10" dirty="0">
              <a:solidFill>
                <a:srgbClr val="F49D0A"/>
              </a:solidFill>
              <a:latin typeface="Calibri"/>
              <a:cs typeface="Calibri"/>
            </a:endParaRPr>
          </a:p>
          <a:p>
            <a:pPr marL="167640" marR="160020" algn="ctr">
              <a:lnSpc>
                <a:spcPct val="100000"/>
              </a:lnSpc>
              <a:spcBef>
                <a:spcPts val="100"/>
              </a:spcBef>
            </a:pPr>
            <a:r>
              <a:rPr sz="1000" b="1" spc="-10" dirty="0" err="1">
                <a:solidFill>
                  <a:srgbClr val="F49D0A"/>
                </a:solidFill>
                <a:latin typeface="Calibri"/>
                <a:cs typeface="Calibri"/>
              </a:rPr>
              <a:t>Implicación</a:t>
            </a:r>
            <a:r>
              <a:rPr sz="1000" b="1" spc="-10" dirty="0">
                <a:solidFill>
                  <a:srgbClr val="F49D0A"/>
                </a:solidFill>
                <a:latin typeface="Calibri"/>
                <a:cs typeface="Calibri"/>
              </a:rPr>
              <a:t> (Mamdani)</a:t>
            </a:r>
            <a:endParaRPr sz="1000" dirty="0">
              <a:latin typeface="Calibri"/>
              <a:cs typeface="Calibri"/>
            </a:endParaRPr>
          </a:p>
          <a:p>
            <a:pPr marL="12700" marR="5080" algn="ctr">
              <a:lnSpc>
                <a:spcPct val="100000"/>
              </a:lnSpc>
              <a:spcBef>
                <a:spcPts val="955"/>
              </a:spcBef>
            </a:pPr>
            <a:r>
              <a:rPr sz="850" spc="135" dirty="0">
                <a:solidFill>
                  <a:srgbClr val="C7CFE7"/>
                </a:solidFill>
                <a:latin typeface="Cambria"/>
                <a:cs typeface="Cambria"/>
              </a:rPr>
              <a:t>Clipping: </a:t>
            </a:r>
            <a:r>
              <a:rPr sz="850" spc="120" dirty="0">
                <a:solidFill>
                  <a:srgbClr val="C7CFE7"/>
                </a:solidFill>
                <a:latin typeface="Cambria"/>
                <a:cs typeface="Cambria"/>
              </a:rPr>
              <a:t>recortar </a:t>
            </a:r>
            <a:r>
              <a:rPr sz="850" spc="95" dirty="0">
                <a:solidFill>
                  <a:srgbClr val="C7CFE7"/>
                </a:solidFill>
                <a:latin typeface="Cambria"/>
                <a:cs typeface="Cambria"/>
              </a:rPr>
              <a:t>consecuente</a:t>
            </a:r>
            <a:r>
              <a:rPr sz="850" spc="335" dirty="0">
                <a:solidFill>
                  <a:srgbClr val="C7CFE7"/>
                </a:solidFill>
                <a:latin typeface="Cambria"/>
                <a:cs typeface="Cambria"/>
              </a:rPr>
              <a:t> </a:t>
            </a:r>
            <a:r>
              <a:rPr sz="850" spc="165" dirty="0">
                <a:solidFill>
                  <a:srgbClr val="C7CFE7"/>
                </a:solidFill>
                <a:latin typeface="Cambria"/>
                <a:cs typeface="Cambria"/>
              </a:rPr>
              <a:t>al </a:t>
            </a:r>
            <a:r>
              <a:rPr sz="850" spc="140" dirty="0">
                <a:solidFill>
                  <a:srgbClr val="C7CFE7"/>
                </a:solidFill>
                <a:latin typeface="Cambria"/>
                <a:cs typeface="Cambria"/>
              </a:rPr>
              <a:t>nivel</a:t>
            </a:r>
            <a:endParaRPr sz="850" dirty="0">
              <a:latin typeface="Cambria"/>
              <a:cs typeface="Cambria"/>
            </a:endParaRPr>
          </a:p>
          <a:p>
            <a:pPr marL="45085" marR="37465" algn="ctr">
              <a:lnSpc>
                <a:spcPct val="100000"/>
              </a:lnSpc>
            </a:pPr>
            <a:r>
              <a:rPr sz="850" spc="60" dirty="0">
                <a:solidFill>
                  <a:srgbClr val="C7CFE7"/>
                </a:solidFill>
                <a:latin typeface="Cambria"/>
                <a:cs typeface="Cambria"/>
              </a:rPr>
              <a:t>de</a:t>
            </a:r>
            <a:r>
              <a:rPr sz="850" spc="330" dirty="0">
                <a:solidFill>
                  <a:srgbClr val="C7CFE7"/>
                </a:solidFill>
                <a:latin typeface="Cambria"/>
                <a:cs typeface="Cambria"/>
              </a:rPr>
              <a:t> </a:t>
            </a:r>
            <a:r>
              <a:rPr sz="850" spc="125" dirty="0">
                <a:solidFill>
                  <a:srgbClr val="C7CFE7"/>
                </a:solidFill>
                <a:latin typeface="Cambria"/>
                <a:cs typeface="Cambria"/>
              </a:rPr>
              <a:t>activación </a:t>
            </a:r>
            <a:r>
              <a:rPr sz="850" spc="204" dirty="0">
                <a:solidFill>
                  <a:srgbClr val="C7CFE7"/>
                </a:solidFill>
                <a:latin typeface="Cambria"/>
                <a:cs typeface="Cambria"/>
              </a:rPr>
              <a:t>α[i,j]</a:t>
            </a:r>
            <a:endParaRPr sz="850" dirty="0">
              <a:latin typeface="Cambria"/>
              <a:cs typeface="Cambria"/>
            </a:endParaRPr>
          </a:p>
        </p:txBody>
      </p:sp>
      <p:sp>
        <p:nvSpPr>
          <p:cNvPr id="40" name="object 40"/>
          <p:cNvSpPr/>
          <p:nvPr/>
        </p:nvSpPr>
        <p:spPr>
          <a:xfrm>
            <a:off x="5431320" y="2423161"/>
            <a:ext cx="365760" cy="635"/>
          </a:xfrm>
          <a:custGeom>
            <a:avLst/>
            <a:gdLst/>
            <a:ahLst/>
            <a:cxnLst/>
            <a:rect l="l" t="t" r="r" b="b"/>
            <a:pathLst>
              <a:path w="365760" h="635">
                <a:moveTo>
                  <a:pt x="0" y="0"/>
                </a:moveTo>
                <a:lnTo>
                  <a:pt x="365760" y="355"/>
                </a:lnTo>
              </a:path>
            </a:pathLst>
          </a:custGeom>
          <a:ln w="19079">
            <a:solidFill>
              <a:srgbClr val="878FA7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/>
          <p:cNvSpPr txBox="1"/>
          <p:nvPr/>
        </p:nvSpPr>
        <p:spPr>
          <a:xfrm>
            <a:off x="5636424" y="2321113"/>
            <a:ext cx="168275" cy="1873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050" spc="195" dirty="0">
                <a:solidFill>
                  <a:srgbClr val="878FA7"/>
                </a:solidFill>
                <a:latin typeface="Cambria"/>
                <a:cs typeface="Cambria"/>
              </a:rPr>
              <a:t>▶</a:t>
            </a:r>
            <a:endParaRPr sz="1050">
              <a:latin typeface="Cambria"/>
              <a:cs typeface="Cambria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686196" y="1369785"/>
            <a:ext cx="1685289" cy="2141855"/>
            <a:chOff x="5686196" y="1369785"/>
            <a:chExt cx="1685289" cy="2141855"/>
          </a:xfrm>
        </p:grpSpPr>
        <p:pic>
          <p:nvPicPr>
            <p:cNvPr id="43" name="object 4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686196" y="1369785"/>
              <a:ext cx="1684794" cy="2141651"/>
            </a:xfrm>
            <a:prstGeom prst="rect">
              <a:avLst/>
            </a:prstGeom>
          </p:spPr>
        </p:pic>
        <p:sp>
          <p:nvSpPr>
            <p:cNvPr id="44" name="object 44"/>
            <p:cNvSpPr/>
            <p:nvPr/>
          </p:nvSpPr>
          <p:spPr>
            <a:xfrm>
              <a:off x="5815075" y="1462686"/>
              <a:ext cx="1463040" cy="1920239"/>
            </a:xfrm>
            <a:custGeom>
              <a:avLst/>
              <a:gdLst/>
              <a:ahLst/>
              <a:cxnLst/>
              <a:rect l="l" t="t" r="r" b="b"/>
              <a:pathLst>
                <a:path w="1463040" h="1920239">
                  <a:moveTo>
                    <a:pt x="1462684" y="0"/>
                  </a:moveTo>
                  <a:lnTo>
                    <a:pt x="0" y="0"/>
                  </a:lnTo>
                  <a:lnTo>
                    <a:pt x="0" y="1919871"/>
                  </a:lnTo>
                  <a:lnTo>
                    <a:pt x="731520" y="1919871"/>
                  </a:lnTo>
                  <a:lnTo>
                    <a:pt x="1462684" y="1919871"/>
                  </a:lnTo>
                  <a:lnTo>
                    <a:pt x="1462684" y="0"/>
                  </a:lnTo>
                  <a:close/>
                </a:path>
              </a:pathLst>
            </a:custGeom>
            <a:solidFill>
              <a:srgbClr val="191C2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815075" y="1462686"/>
              <a:ext cx="1463040" cy="1920239"/>
            </a:xfrm>
            <a:custGeom>
              <a:avLst/>
              <a:gdLst/>
              <a:ahLst/>
              <a:cxnLst/>
              <a:rect l="l" t="t" r="r" b="b"/>
              <a:pathLst>
                <a:path w="1463040" h="1920239">
                  <a:moveTo>
                    <a:pt x="731520" y="1919871"/>
                  </a:moveTo>
                  <a:lnTo>
                    <a:pt x="0" y="1919871"/>
                  </a:lnTo>
                  <a:lnTo>
                    <a:pt x="0" y="0"/>
                  </a:lnTo>
                  <a:lnTo>
                    <a:pt x="1462684" y="0"/>
                  </a:lnTo>
                  <a:lnTo>
                    <a:pt x="1462684" y="1919871"/>
                  </a:lnTo>
                  <a:lnTo>
                    <a:pt x="731520" y="1919871"/>
                  </a:lnTo>
                  <a:close/>
                </a:path>
              </a:pathLst>
            </a:custGeom>
            <a:ln w="19079">
              <a:solidFill>
                <a:srgbClr val="7CD2F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5815075" y="1463042"/>
              <a:ext cx="1463040" cy="255904"/>
            </a:xfrm>
            <a:custGeom>
              <a:avLst/>
              <a:gdLst/>
              <a:ahLst/>
              <a:cxnLst/>
              <a:rect l="l" t="t" r="r" b="b"/>
              <a:pathLst>
                <a:path w="1463040" h="255905">
                  <a:moveTo>
                    <a:pt x="1462684" y="0"/>
                  </a:moveTo>
                  <a:lnTo>
                    <a:pt x="0" y="0"/>
                  </a:lnTo>
                  <a:lnTo>
                    <a:pt x="0" y="255600"/>
                  </a:lnTo>
                  <a:lnTo>
                    <a:pt x="731520" y="255600"/>
                  </a:lnTo>
                  <a:lnTo>
                    <a:pt x="1462684" y="255600"/>
                  </a:lnTo>
                  <a:lnTo>
                    <a:pt x="1462684" y="0"/>
                  </a:lnTo>
                  <a:close/>
                </a:path>
              </a:pathLst>
            </a:custGeom>
            <a:solidFill>
              <a:srgbClr val="7CD2FB">
                <a:alpha val="79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5815075" y="1463042"/>
              <a:ext cx="1463040" cy="255904"/>
            </a:xfrm>
            <a:custGeom>
              <a:avLst/>
              <a:gdLst/>
              <a:ahLst/>
              <a:cxnLst/>
              <a:rect l="l" t="t" r="r" b="b"/>
              <a:pathLst>
                <a:path w="1463040" h="255905">
                  <a:moveTo>
                    <a:pt x="731520" y="255600"/>
                  </a:moveTo>
                  <a:lnTo>
                    <a:pt x="0" y="255600"/>
                  </a:lnTo>
                  <a:lnTo>
                    <a:pt x="0" y="0"/>
                  </a:lnTo>
                  <a:lnTo>
                    <a:pt x="1462684" y="0"/>
                  </a:lnTo>
                  <a:lnTo>
                    <a:pt x="1462684" y="255600"/>
                  </a:lnTo>
                  <a:lnTo>
                    <a:pt x="731520" y="255600"/>
                  </a:lnTo>
                  <a:close/>
                </a:path>
              </a:pathLst>
            </a:custGeom>
            <a:ln w="12599">
              <a:solidFill>
                <a:srgbClr val="7CD2F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6373444" y="1783082"/>
              <a:ext cx="347980" cy="347980"/>
            </a:xfrm>
            <a:custGeom>
              <a:avLst/>
              <a:gdLst/>
              <a:ahLst/>
              <a:cxnLst/>
              <a:rect l="l" t="t" r="r" b="b"/>
              <a:pathLst>
                <a:path w="347979" h="347980">
                  <a:moveTo>
                    <a:pt x="173875" y="0"/>
                  </a:moveTo>
                  <a:lnTo>
                    <a:pt x="128833" y="5851"/>
                  </a:lnTo>
                  <a:lnTo>
                    <a:pt x="86753" y="23037"/>
                  </a:lnTo>
                  <a:lnTo>
                    <a:pt x="50892" y="50580"/>
                  </a:lnTo>
                  <a:lnTo>
                    <a:pt x="23393" y="86753"/>
                  </a:lnTo>
                  <a:lnTo>
                    <a:pt x="5891" y="128522"/>
                  </a:lnTo>
                  <a:lnTo>
                    <a:pt x="0" y="173520"/>
                  </a:lnTo>
                  <a:lnTo>
                    <a:pt x="1478" y="196287"/>
                  </a:lnTo>
                  <a:lnTo>
                    <a:pt x="13207" y="239935"/>
                  </a:lnTo>
                  <a:lnTo>
                    <a:pt x="35979" y="279345"/>
                  </a:lnTo>
                  <a:lnTo>
                    <a:pt x="67895" y="311410"/>
                  </a:lnTo>
                  <a:lnTo>
                    <a:pt x="107304" y="334033"/>
                  </a:lnTo>
                  <a:lnTo>
                    <a:pt x="151102" y="345865"/>
                  </a:lnTo>
                  <a:lnTo>
                    <a:pt x="173875" y="347395"/>
                  </a:lnTo>
                  <a:lnTo>
                    <a:pt x="196443" y="345865"/>
                  </a:lnTo>
                  <a:lnTo>
                    <a:pt x="240096" y="334033"/>
                  </a:lnTo>
                  <a:lnTo>
                    <a:pt x="279500" y="311410"/>
                  </a:lnTo>
                  <a:lnTo>
                    <a:pt x="311410" y="279345"/>
                  </a:lnTo>
                  <a:lnTo>
                    <a:pt x="334178" y="239935"/>
                  </a:lnTo>
                  <a:lnTo>
                    <a:pt x="345915" y="196287"/>
                  </a:lnTo>
                  <a:lnTo>
                    <a:pt x="347395" y="173520"/>
                  </a:lnTo>
                  <a:lnTo>
                    <a:pt x="345915" y="150752"/>
                  </a:lnTo>
                  <a:lnTo>
                    <a:pt x="334178" y="107099"/>
                  </a:lnTo>
                  <a:lnTo>
                    <a:pt x="311410" y="67689"/>
                  </a:lnTo>
                  <a:lnTo>
                    <a:pt x="279500" y="35629"/>
                  </a:lnTo>
                  <a:lnTo>
                    <a:pt x="240096" y="13062"/>
                  </a:lnTo>
                  <a:lnTo>
                    <a:pt x="196443" y="1474"/>
                  </a:lnTo>
                  <a:lnTo>
                    <a:pt x="173875" y="0"/>
                  </a:lnTo>
                  <a:close/>
                </a:path>
              </a:pathLst>
            </a:custGeom>
            <a:solidFill>
              <a:srgbClr val="7CD2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6373444" y="1783082"/>
              <a:ext cx="347980" cy="347980"/>
            </a:xfrm>
            <a:custGeom>
              <a:avLst/>
              <a:gdLst/>
              <a:ahLst/>
              <a:cxnLst/>
              <a:rect l="l" t="t" r="r" b="b"/>
              <a:pathLst>
                <a:path w="347979" h="347980">
                  <a:moveTo>
                    <a:pt x="0" y="173520"/>
                  </a:moveTo>
                  <a:lnTo>
                    <a:pt x="1478" y="150752"/>
                  </a:lnTo>
                  <a:lnTo>
                    <a:pt x="5891" y="128522"/>
                  </a:lnTo>
                  <a:lnTo>
                    <a:pt x="23393" y="86753"/>
                  </a:lnTo>
                  <a:lnTo>
                    <a:pt x="50892" y="50580"/>
                  </a:lnTo>
                  <a:lnTo>
                    <a:pt x="86753" y="23037"/>
                  </a:lnTo>
                  <a:lnTo>
                    <a:pt x="128833" y="5851"/>
                  </a:lnTo>
                  <a:lnTo>
                    <a:pt x="173875" y="0"/>
                  </a:lnTo>
                  <a:lnTo>
                    <a:pt x="218606" y="5851"/>
                  </a:lnTo>
                  <a:lnTo>
                    <a:pt x="260642" y="23037"/>
                  </a:lnTo>
                  <a:lnTo>
                    <a:pt x="296502" y="50580"/>
                  </a:lnTo>
                  <a:lnTo>
                    <a:pt x="323989" y="86753"/>
                  </a:lnTo>
                  <a:lnTo>
                    <a:pt x="341498" y="128522"/>
                  </a:lnTo>
                  <a:lnTo>
                    <a:pt x="347395" y="173520"/>
                  </a:lnTo>
                  <a:lnTo>
                    <a:pt x="345915" y="196287"/>
                  </a:lnTo>
                  <a:lnTo>
                    <a:pt x="341498" y="218516"/>
                  </a:lnTo>
                  <a:lnTo>
                    <a:pt x="323989" y="260273"/>
                  </a:lnTo>
                  <a:lnTo>
                    <a:pt x="296502" y="296457"/>
                  </a:lnTo>
                  <a:lnTo>
                    <a:pt x="260642" y="324002"/>
                  </a:lnTo>
                  <a:lnTo>
                    <a:pt x="218606" y="341366"/>
                  </a:lnTo>
                  <a:lnTo>
                    <a:pt x="173875" y="347395"/>
                  </a:lnTo>
                  <a:lnTo>
                    <a:pt x="128833" y="341366"/>
                  </a:lnTo>
                  <a:lnTo>
                    <a:pt x="86753" y="324002"/>
                  </a:lnTo>
                  <a:lnTo>
                    <a:pt x="50892" y="296457"/>
                  </a:lnTo>
                  <a:lnTo>
                    <a:pt x="23393" y="260273"/>
                  </a:lnTo>
                  <a:lnTo>
                    <a:pt x="5891" y="218516"/>
                  </a:lnTo>
                  <a:lnTo>
                    <a:pt x="1478" y="196287"/>
                  </a:lnTo>
                  <a:lnTo>
                    <a:pt x="0" y="173520"/>
                  </a:lnTo>
                  <a:close/>
                </a:path>
              </a:pathLst>
            </a:custGeom>
            <a:ln w="12599">
              <a:solidFill>
                <a:srgbClr val="7CD2F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0" name="object 50"/>
          <p:cNvSpPr txBox="1"/>
          <p:nvPr/>
        </p:nvSpPr>
        <p:spPr>
          <a:xfrm>
            <a:off x="6505562" y="1844905"/>
            <a:ext cx="96520" cy="224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1300" b="1" spc="-50" dirty="0">
                <a:solidFill>
                  <a:srgbClr val="FFFFFF"/>
                </a:solidFill>
                <a:latin typeface="Calibri"/>
                <a:cs typeface="Calibri"/>
              </a:rPr>
              <a:t>4</a:t>
            </a:r>
            <a:endParaRPr sz="1300">
              <a:latin typeface="Calibri"/>
              <a:cs typeface="Calibri"/>
            </a:endParaRPr>
          </a:p>
        </p:txBody>
      </p:sp>
      <p:sp>
        <p:nvSpPr>
          <p:cNvPr id="51" name="object 51"/>
          <p:cNvSpPr txBox="1"/>
          <p:nvPr/>
        </p:nvSpPr>
        <p:spPr>
          <a:xfrm>
            <a:off x="5993638" y="2315428"/>
            <a:ext cx="1118235" cy="894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4445" algn="ctr">
              <a:lnSpc>
                <a:spcPct val="100000"/>
              </a:lnSpc>
              <a:spcBef>
                <a:spcPts val="100"/>
              </a:spcBef>
            </a:pPr>
            <a:r>
              <a:rPr sz="1000" b="1" spc="-10" dirty="0">
                <a:solidFill>
                  <a:srgbClr val="7CD2FB"/>
                </a:solidFill>
                <a:latin typeface="Calibri"/>
                <a:cs typeface="Calibri"/>
              </a:rPr>
              <a:t>Agregación</a:t>
            </a:r>
            <a:endParaRPr sz="10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330"/>
              </a:spcBef>
            </a:pPr>
            <a:endParaRPr sz="1000" dirty="0">
              <a:latin typeface="Calibri"/>
              <a:cs typeface="Calibri"/>
            </a:endParaRPr>
          </a:p>
          <a:p>
            <a:pPr marR="5080" indent="-635" algn="ctr">
              <a:lnSpc>
                <a:spcPct val="100000"/>
              </a:lnSpc>
              <a:spcBef>
                <a:spcPts val="5"/>
              </a:spcBef>
            </a:pPr>
            <a:r>
              <a:rPr sz="850" spc="65" dirty="0">
                <a:solidFill>
                  <a:srgbClr val="C7CFE7"/>
                </a:solidFill>
                <a:latin typeface="Cambria"/>
                <a:cs typeface="Cambria"/>
              </a:rPr>
              <a:t>Unión</a:t>
            </a:r>
            <a:r>
              <a:rPr sz="850" spc="335" dirty="0">
                <a:solidFill>
                  <a:srgbClr val="C7CFE7"/>
                </a:solidFill>
                <a:latin typeface="Cambria"/>
                <a:cs typeface="Cambria"/>
              </a:rPr>
              <a:t> </a:t>
            </a:r>
            <a:r>
              <a:rPr sz="850" spc="65" dirty="0">
                <a:solidFill>
                  <a:srgbClr val="C7CFE7"/>
                </a:solidFill>
                <a:latin typeface="Cambria"/>
                <a:cs typeface="Cambria"/>
              </a:rPr>
              <a:t>de</a:t>
            </a:r>
            <a:r>
              <a:rPr sz="850" spc="330" dirty="0">
                <a:solidFill>
                  <a:srgbClr val="C7CFE7"/>
                </a:solidFill>
                <a:latin typeface="Cambria"/>
                <a:cs typeface="Cambria"/>
              </a:rPr>
              <a:t> </a:t>
            </a:r>
            <a:r>
              <a:rPr sz="850" spc="90" dirty="0">
                <a:solidFill>
                  <a:srgbClr val="C7CFE7"/>
                </a:solidFill>
                <a:latin typeface="Cambria"/>
                <a:cs typeface="Cambria"/>
              </a:rPr>
              <a:t>todos</a:t>
            </a:r>
            <a:r>
              <a:rPr sz="850" spc="500" dirty="0">
                <a:solidFill>
                  <a:srgbClr val="C7CFE7"/>
                </a:solidFill>
                <a:latin typeface="Cambria"/>
                <a:cs typeface="Cambria"/>
              </a:rPr>
              <a:t> </a:t>
            </a:r>
            <a:r>
              <a:rPr sz="850" spc="160" dirty="0">
                <a:solidFill>
                  <a:srgbClr val="C7CFE7"/>
                </a:solidFill>
                <a:latin typeface="Cambria"/>
                <a:cs typeface="Cambria"/>
              </a:rPr>
              <a:t>los</a:t>
            </a:r>
            <a:r>
              <a:rPr sz="850" spc="320" dirty="0">
                <a:solidFill>
                  <a:srgbClr val="C7CFE7"/>
                </a:solidFill>
                <a:latin typeface="Cambria"/>
                <a:cs typeface="Cambria"/>
              </a:rPr>
              <a:t> </a:t>
            </a:r>
            <a:r>
              <a:rPr sz="850" spc="105" dirty="0">
                <a:solidFill>
                  <a:srgbClr val="C7CFE7"/>
                </a:solidFill>
                <a:latin typeface="Cambria"/>
                <a:cs typeface="Cambria"/>
              </a:rPr>
              <a:t>consecuentes: </a:t>
            </a:r>
            <a:r>
              <a:rPr sz="850" dirty="0">
                <a:solidFill>
                  <a:srgbClr val="C7CFE7"/>
                </a:solidFill>
                <a:latin typeface="Cambria"/>
                <a:cs typeface="Cambria"/>
              </a:rPr>
              <a:t>max</a:t>
            </a:r>
            <a:r>
              <a:rPr sz="850" spc="310" dirty="0">
                <a:solidFill>
                  <a:srgbClr val="C7CFE7"/>
                </a:solidFill>
                <a:latin typeface="Cambria"/>
                <a:cs typeface="Cambria"/>
              </a:rPr>
              <a:t> </a:t>
            </a:r>
            <a:r>
              <a:rPr sz="850" spc="100" dirty="0">
                <a:solidFill>
                  <a:srgbClr val="C7CFE7"/>
                </a:solidFill>
                <a:latin typeface="Cambria"/>
                <a:cs typeface="Cambria"/>
              </a:rPr>
              <a:t>sobre</a:t>
            </a:r>
            <a:r>
              <a:rPr sz="850" spc="320" dirty="0">
                <a:solidFill>
                  <a:srgbClr val="C7CFE7"/>
                </a:solidFill>
                <a:latin typeface="Cambria"/>
                <a:cs typeface="Cambria"/>
              </a:rPr>
              <a:t> </a:t>
            </a:r>
            <a:r>
              <a:rPr sz="850" spc="-35" dirty="0">
                <a:solidFill>
                  <a:srgbClr val="C7CFE7"/>
                </a:solidFill>
                <a:latin typeface="Cambria"/>
                <a:cs typeface="Cambria"/>
              </a:rPr>
              <a:t>49</a:t>
            </a:r>
            <a:r>
              <a:rPr sz="850" spc="130" dirty="0">
                <a:solidFill>
                  <a:srgbClr val="C7CFE7"/>
                </a:solidFill>
                <a:latin typeface="Cambria"/>
                <a:cs typeface="Cambria"/>
              </a:rPr>
              <a:t> reglas</a:t>
            </a:r>
            <a:endParaRPr sz="850" dirty="0">
              <a:latin typeface="Cambria"/>
              <a:cs typeface="Cambria"/>
            </a:endParaRPr>
          </a:p>
        </p:txBody>
      </p:sp>
      <p:sp>
        <p:nvSpPr>
          <p:cNvPr id="52" name="object 52"/>
          <p:cNvSpPr/>
          <p:nvPr/>
        </p:nvSpPr>
        <p:spPr>
          <a:xfrm>
            <a:off x="7278484" y="2423161"/>
            <a:ext cx="365760" cy="635"/>
          </a:xfrm>
          <a:custGeom>
            <a:avLst/>
            <a:gdLst/>
            <a:ahLst/>
            <a:cxnLst/>
            <a:rect l="l" t="t" r="r" b="b"/>
            <a:pathLst>
              <a:path w="365759" h="635">
                <a:moveTo>
                  <a:pt x="0" y="0"/>
                </a:moveTo>
                <a:lnTo>
                  <a:pt x="365759" y="355"/>
                </a:lnTo>
              </a:path>
            </a:pathLst>
          </a:custGeom>
          <a:ln w="19079">
            <a:solidFill>
              <a:srgbClr val="878FA7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/>
          <p:cNvSpPr txBox="1"/>
          <p:nvPr/>
        </p:nvSpPr>
        <p:spPr>
          <a:xfrm>
            <a:off x="7483576" y="2321113"/>
            <a:ext cx="168275" cy="1873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050" spc="195" dirty="0">
                <a:solidFill>
                  <a:srgbClr val="878FA7"/>
                </a:solidFill>
                <a:latin typeface="Cambria"/>
                <a:cs typeface="Cambria"/>
              </a:rPr>
              <a:t>▶</a:t>
            </a:r>
            <a:endParaRPr sz="1050">
              <a:latin typeface="Cambria"/>
              <a:cs typeface="Cambria"/>
            </a:endParaRPr>
          </a:p>
        </p:txBody>
      </p:sp>
      <p:grpSp>
        <p:nvGrpSpPr>
          <p:cNvPr id="54" name="object 54"/>
          <p:cNvGrpSpPr/>
          <p:nvPr/>
        </p:nvGrpSpPr>
        <p:grpSpPr>
          <a:xfrm>
            <a:off x="7533360" y="1369785"/>
            <a:ext cx="1610360" cy="2141855"/>
            <a:chOff x="7533360" y="1369785"/>
            <a:chExt cx="1610360" cy="2141855"/>
          </a:xfrm>
        </p:grpSpPr>
        <p:pic>
          <p:nvPicPr>
            <p:cNvPr id="55" name="object 5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533360" y="1369785"/>
              <a:ext cx="1610271" cy="2141651"/>
            </a:xfrm>
            <a:prstGeom prst="rect">
              <a:avLst/>
            </a:prstGeom>
          </p:spPr>
        </p:pic>
        <p:sp>
          <p:nvSpPr>
            <p:cNvPr id="56" name="object 56"/>
            <p:cNvSpPr/>
            <p:nvPr/>
          </p:nvSpPr>
          <p:spPr>
            <a:xfrm>
              <a:off x="7662239" y="1462686"/>
              <a:ext cx="1463040" cy="1920239"/>
            </a:xfrm>
            <a:custGeom>
              <a:avLst/>
              <a:gdLst/>
              <a:ahLst/>
              <a:cxnLst/>
              <a:rect l="l" t="t" r="r" b="b"/>
              <a:pathLst>
                <a:path w="1463040" h="1920239">
                  <a:moveTo>
                    <a:pt x="1462684" y="0"/>
                  </a:moveTo>
                  <a:lnTo>
                    <a:pt x="0" y="0"/>
                  </a:lnTo>
                  <a:lnTo>
                    <a:pt x="0" y="1919871"/>
                  </a:lnTo>
                  <a:lnTo>
                    <a:pt x="731520" y="1919871"/>
                  </a:lnTo>
                  <a:lnTo>
                    <a:pt x="1462684" y="1919871"/>
                  </a:lnTo>
                  <a:lnTo>
                    <a:pt x="1462684" y="0"/>
                  </a:lnTo>
                  <a:close/>
                </a:path>
              </a:pathLst>
            </a:custGeom>
            <a:solidFill>
              <a:srgbClr val="191C2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7" name="object 57"/>
            <p:cNvSpPr/>
            <p:nvPr/>
          </p:nvSpPr>
          <p:spPr>
            <a:xfrm>
              <a:off x="7662239" y="1462686"/>
              <a:ext cx="1463040" cy="1920239"/>
            </a:xfrm>
            <a:custGeom>
              <a:avLst/>
              <a:gdLst/>
              <a:ahLst/>
              <a:cxnLst/>
              <a:rect l="l" t="t" r="r" b="b"/>
              <a:pathLst>
                <a:path w="1463040" h="1920239">
                  <a:moveTo>
                    <a:pt x="731520" y="1919871"/>
                  </a:moveTo>
                  <a:lnTo>
                    <a:pt x="0" y="1919871"/>
                  </a:lnTo>
                  <a:lnTo>
                    <a:pt x="0" y="0"/>
                  </a:lnTo>
                  <a:lnTo>
                    <a:pt x="1462684" y="0"/>
                  </a:lnTo>
                  <a:lnTo>
                    <a:pt x="1462684" y="1919871"/>
                  </a:lnTo>
                  <a:lnTo>
                    <a:pt x="731520" y="1919871"/>
                  </a:lnTo>
                  <a:close/>
                </a:path>
              </a:pathLst>
            </a:custGeom>
            <a:ln w="19079">
              <a:solidFill>
                <a:srgbClr val="51C37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8" name="object 58"/>
            <p:cNvSpPr/>
            <p:nvPr/>
          </p:nvSpPr>
          <p:spPr>
            <a:xfrm>
              <a:off x="7662239" y="1463042"/>
              <a:ext cx="1463040" cy="255904"/>
            </a:xfrm>
            <a:custGeom>
              <a:avLst/>
              <a:gdLst/>
              <a:ahLst/>
              <a:cxnLst/>
              <a:rect l="l" t="t" r="r" b="b"/>
              <a:pathLst>
                <a:path w="1463040" h="255905">
                  <a:moveTo>
                    <a:pt x="1462684" y="0"/>
                  </a:moveTo>
                  <a:lnTo>
                    <a:pt x="0" y="0"/>
                  </a:lnTo>
                  <a:lnTo>
                    <a:pt x="0" y="255600"/>
                  </a:lnTo>
                  <a:lnTo>
                    <a:pt x="731520" y="255600"/>
                  </a:lnTo>
                  <a:lnTo>
                    <a:pt x="1462684" y="255600"/>
                  </a:lnTo>
                  <a:lnTo>
                    <a:pt x="1462684" y="0"/>
                  </a:lnTo>
                  <a:close/>
                </a:path>
              </a:pathLst>
            </a:custGeom>
            <a:solidFill>
              <a:srgbClr val="51C379">
                <a:alpha val="79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9" name="object 59"/>
            <p:cNvSpPr/>
            <p:nvPr/>
          </p:nvSpPr>
          <p:spPr>
            <a:xfrm>
              <a:off x="7662239" y="1463042"/>
              <a:ext cx="1463040" cy="255904"/>
            </a:xfrm>
            <a:custGeom>
              <a:avLst/>
              <a:gdLst/>
              <a:ahLst/>
              <a:cxnLst/>
              <a:rect l="l" t="t" r="r" b="b"/>
              <a:pathLst>
                <a:path w="1463040" h="255905">
                  <a:moveTo>
                    <a:pt x="731520" y="255600"/>
                  </a:moveTo>
                  <a:lnTo>
                    <a:pt x="0" y="255600"/>
                  </a:lnTo>
                  <a:lnTo>
                    <a:pt x="0" y="0"/>
                  </a:lnTo>
                  <a:lnTo>
                    <a:pt x="1462684" y="0"/>
                  </a:lnTo>
                  <a:lnTo>
                    <a:pt x="1462684" y="255600"/>
                  </a:lnTo>
                  <a:lnTo>
                    <a:pt x="731520" y="255600"/>
                  </a:lnTo>
                  <a:close/>
                </a:path>
              </a:pathLst>
            </a:custGeom>
            <a:ln w="12599">
              <a:solidFill>
                <a:srgbClr val="51C37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0" name="object 60"/>
            <p:cNvSpPr/>
            <p:nvPr/>
          </p:nvSpPr>
          <p:spPr>
            <a:xfrm>
              <a:off x="8220595" y="1783082"/>
              <a:ext cx="347980" cy="347980"/>
            </a:xfrm>
            <a:custGeom>
              <a:avLst/>
              <a:gdLst/>
              <a:ahLst/>
              <a:cxnLst/>
              <a:rect l="l" t="t" r="r" b="b"/>
              <a:pathLst>
                <a:path w="347979" h="347980">
                  <a:moveTo>
                    <a:pt x="173888" y="0"/>
                  </a:moveTo>
                  <a:lnTo>
                    <a:pt x="128836" y="5851"/>
                  </a:lnTo>
                  <a:lnTo>
                    <a:pt x="86766" y="23037"/>
                  </a:lnTo>
                  <a:lnTo>
                    <a:pt x="50900" y="50580"/>
                  </a:lnTo>
                  <a:lnTo>
                    <a:pt x="23406" y="86753"/>
                  </a:lnTo>
                  <a:lnTo>
                    <a:pt x="5897" y="128522"/>
                  </a:lnTo>
                  <a:lnTo>
                    <a:pt x="0" y="173520"/>
                  </a:lnTo>
                  <a:lnTo>
                    <a:pt x="1480" y="196287"/>
                  </a:lnTo>
                  <a:lnTo>
                    <a:pt x="13217" y="239935"/>
                  </a:lnTo>
                  <a:lnTo>
                    <a:pt x="35986" y="279345"/>
                  </a:lnTo>
                  <a:lnTo>
                    <a:pt x="67906" y="311410"/>
                  </a:lnTo>
                  <a:lnTo>
                    <a:pt x="107310" y="334033"/>
                  </a:lnTo>
                  <a:lnTo>
                    <a:pt x="151108" y="345865"/>
                  </a:lnTo>
                  <a:lnTo>
                    <a:pt x="173888" y="347395"/>
                  </a:lnTo>
                  <a:lnTo>
                    <a:pt x="196455" y="345865"/>
                  </a:lnTo>
                  <a:lnTo>
                    <a:pt x="240103" y="334033"/>
                  </a:lnTo>
                  <a:lnTo>
                    <a:pt x="279502" y="311410"/>
                  </a:lnTo>
                  <a:lnTo>
                    <a:pt x="311421" y="279345"/>
                  </a:lnTo>
                  <a:lnTo>
                    <a:pt x="334190" y="239935"/>
                  </a:lnTo>
                  <a:lnTo>
                    <a:pt x="345928" y="196287"/>
                  </a:lnTo>
                  <a:lnTo>
                    <a:pt x="347408" y="173520"/>
                  </a:lnTo>
                  <a:lnTo>
                    <a:pt x="345928" y="150752"/>
                  </a:lnTo>
                  <a:lnTo>
                    <a:pt x="334190" y="107099"/>
                  </a:lnTo>
                  <a:lnTo>
                    <a:pt x="311421" y="67689"/>
                  </a:lnTo>
                  <a:lnTo>
                    <a:pt x="279502" y="35629"/>
                  </a:lnTo>
                  <a:lnTo>
                    <a:pt x="240103" y="13062"/>
                  </a:lnTo>
                  <a:lnTo>
                    <a:pt x="196455" y="1474"/>
                  </a:lnTo>
                  <a:lnTo>
                    <a:pt x="173888" y="0"/>
                  </a:lnTo>
                  <a:close/>
                </a:path>
              </a:pathLst>
            </a:custGeom>
            <a:solidFill>
              <a:srgbClr val="51C37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1" name="object 61"/>
            <p:cNvSpPr/>
            <p:nvPr/>
          </p:nvSpPr>
          <p:spPr>
            <a:xfrm>
              <a:off x="8220595" y="1783082"/>
              <a:ext cx="347980" cy="347980"/>
            </a:xfrm>
            <a:custGeom>
              <a:avLst/>
              <a:gdLst/>
              <a:ahLst/>
              <a:cxnLst/>
              <a:rect l="l" t="t" r="r" b="b"/>
              <a:pathLst>
                <a:path w="347979" h="347980">
                  <a:moveTo>
                    <a:pt x="0" y="173520"/>
                  </a:moveTo>
                  <a:lnTo>
                    <a:pt x="1480" y="150752"/>
                  </a:lnTo>
                  <a:lnTo>
                    <a:pt x="5897" y="128522"/>
                  </a:lnTo>
                  <a:lnTo>
                    <a:pt x="23406" y="86753"/>
                  </a:lnTo>
                  <a:lnTo>
                    <a:pt x="50900" y="50580"/>
                  </a:lnTo>
                  <a:lnTo>
                    <a:pt x="86766" y="23037"/>
                  </a:lnTo>
                  <a:lnTo>
                    <a:pt x="128836" y="5851"/>
                  </a:lnTo>
                  <a:lnTo>
                    <a:pt x="173888" y="0"/>
                  </a:lnTo>
                  <a:lnTo>
                    <a:pt x="218617" y="5851"/>
                  </a:lnTo>
                  <a:lnTo>
                    <a:pt x="260642" y="23037"/>
                  </a:lnTo>
                  <a:lnTo>
                    <a:pt x="296508" y="50580"/>
                  </a:lnTo>
                  <a:lnTo>
                    <a:pt x="324002" y="86753"/>
                  </a:lnTo>
                  <a:lnTo>
                    <a:pt x="341510" y="128522"/>
                  </a:lnTo>
                  <a:lnTo>
                    <a:pt x="347408" y="173520"/>
                  </a:lnTo>
                  <a:lnTo>
                    <a:pt x="345928" y="196287"/>
                  </a:lnTo>
                  <a:lnTo>
                    <a:pt x="341510" y="218516"/>
                  </a:lnTo>
                  <a:lnTo>
                    <a:pt x="324002" y="260273"/>
                  </a:lnTo>
                  <a:lnTo>
                    <a:pt x="296508" y="296457"/>
                  </a:lnTo>
                  <a:lnTo>
                    <a:pt x="260642" y="324002"/>
                  </a:lnTo>
                  <a:lnTo>
                    <a:pt x="218617" y="341366"/>
                  </a:lnTo>
                  <a:lnTo>
                    <a:pt x="173888" y="347395"/>
                  </a:lnTo>
                  <a:lnTo>
                    <a:pt x="128836" y="341366"/>
                  </a:lnTo>
                  <a:lnTo>
                    <a:pt x="86766" y="324002"/>
                  </a:lnTo>
                  <a:lnTo>
                    <a:pt x="50900" y="296457"/>
                  </a:lnTo>
                  <a:lnTo>
                    <a:pt x="23406" y="260273"/>
                  </a:lnTo>
                  <a:lnTo>
                    <a:pt x="5897" y="218516"/>
                  </a:lnTo>
                  <a:lnTo>
                    <a:pt x="1480" y="196287"/>
                  </a:lnTo>
                  <a:lnTo>
                    <a:pt x="0" y="173520"/>
                  </a:lnTo>
                  <a:close/>
                </a:path>
              </a:pathLst>
            </a:custGeom>
            <a:ln w="12599">
              <a:solidFill>
                <a:srgbClr val="51C37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2" name="object 62"/>
          <p:cNvSpPr txBox="1"/>
          <p:nvPr/>
        </p:nvSpPr>
        <p:spPr>
          <a:xfrm>
            <a:off x="7671779" y="1844905"/>
            <a:ext cx="1443990" cy="12350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905" algn="ctr">
              <a:lnSpc>
                <a:spcPct val="100000"/>
              </a:lnSpc>
              <a:spcBef>
                <a:spcPts val="100"/>
              </a:spcBef>
            </a:pPr>
            <a:r>
              <a:rPr sz="1300" b="1" spc="-50" dirty="0">
                <a:solidFill>
                  <a:srgbClr val="FFFFFF"/>
                </a:solidFill>
                <a:latin typeface="Calibri"/>
                <a:cs typeface="Calibri"/>
              </a:rPr>
              <a:t>5</a:t>
            </a:r>
            <a:endParaRPr sz="1300" dirty="0">
              <a:latin typeface="Calibri"/>
              <a:cs typeface="Calibri"/>
            </a:endParaRPr>
          </a:p>
          <a:p>
            <a:pPr marL="328295" marR="321310" algn="ctr">
              <a:lnSpc>
                <a:spcPct val="100000"/>
              </a:lnSpc>
              <a:spcBef>
                <a:spcPts val="1545"/>
              </a:spcBef>
            </a:pPr>
            <a:r>
              <a:rPr sz="1000" b="1" spc="-10" dirty="0">
                <a:solidFill>
                  <a:srgbClr val="51C379"/>
                </a:solidFill>
                <a:latin typeface="Calibri"/>
                <a:cs typeface="Calibri"/>
              </a:rPr>
              <a:t>Defuzzificación (CoG)</a:t>
            </a:r>
            <a:endParaRPr sz="1000" dirty="0">
              <a:latin typeface="Calibri"/>
              <a:cs typeface="Calibri"/>
            </a:endParaRPr>
          </a:p>
          <a:p>
            <a:pPr marR="322580" algn="r">
              <a:lnSpc>
                <a:spcPct val="100000"/>
              </a:lnSpc>
              <a:spcBef>
                <a:spcPts val="955"/>
              </a:spcBef>
            </a:pPr>
            <a:r>
              <a:rPr sz="850" spc="95" dirty="0">
                <a:solidFill>
                  <a:srgbClr val="C7CFE7"/>
                </a:solidFill>
                <a:latin typeface="Cambria"/>
                <a:cs typeface="Cambria"/>
              </a:rPr>
              <a:t>F*</a:t>
            </a:r>
            <a:r>
              <a:rPr sz="850" spc="345" dirty="0">
                <a:solidFill>
                  <a:srgbClr val="C7CFE7"/>
                </a:solidFill>
                <a:latin typeface="Cambria"/>
                <a:cs typeface="Cambria"/>
              </a:rPr>
              <a:t> </a:t>
            </a:r>
            <a:r>
              <a:rPr sz="850" dirty="0">
                <a:solidFill>
                  <a:srgbClr val="C7CFE7"/>
                </a:solidFill>
                <a:latin typeface="Cambria"/>
                <a:cs typeface="Cambria"/>
              </a:rPr>
              <a:t>=</a:t>
            </a:r>
            <a:r>
              <a:rPr sz="850" spc="335" dirty="0">
                <a:solidFill>
                  <a:srgbClr val="C7CFE7"/>
                </a:solidFill>
                <a:latin typeface="Cambria"/>
                <a:cs typeface="Cambria"/>
              </a:rPr>
              <a:t> </a:t>
            </a:r>
            <a:r>
              <a:rPr sz="850" spc="120" dirty="0">
                <a:solidFill>
                  <a:srgbClr val="C7CFE7"/>
                </a:solidFill>
                <a:latin typeface="Cambria"/>
                <a:cs typeface="Cambria"/>
              </a:rPr>
              <a:t>∫u·μ</a:t>
            </a:r>
            <a:r>
              <a:rPr sz="850" spc="350" dirty="0">
                <a:solidFill>
                  <a:srgbClr val="C7CFE7"/>
                </a:solidFill>
                <a:latin typeface="Cambria"/>
                <a:cs typeface="Cambria"/>
              </a:rPr>
              <a:t> </a:t>
            </a:r>
            <a:r>
              <a:rPr sz="850" spc="-25" dirty="0">
                <a:solidFill>
                  <a:srgbClr val="C7CFE7"/>
                </a:solidFill>
                <a:latin typeface="Cambria"/>
                <a:cs typeface="Cambria"/>
              </a:rPr>
              <a:t>du</a:t>
            </a:r>
            <a:endParaRPr sz="850" dirty="0">
              <a:latin typeface="Cambria"/>
              <a:cs typeface="Cambria"/>
            </a:endParaRPr>
          </a:p>
          <a:p>
            <a:pPr marR="292100" algn="r">
              <a:lnSpc>
                <a:spcPct val="100000"/>
              </a:lnSpc>
            </a:pPr>
            <a:r>
              <a:rPr sz="850" spc="-10" dirty="0">
                <a:solidFill>
                  <a:srgbClr val="C7CFE7"/>
                </a:solidFill>
                <a:latin typeface="Cambria"/>
                <a:cs typeface="Cambria"/>
              </a:rPr>
              <a:t>────────</a:t>
            </a:r>
            <a:endParaRPr sz="850" dirty="0">
              <a:latin typeface="Cambria"/>
              <a:cs typeface="Cambria"/>
            </a:endParaRPr>
          </a:p>
          <a:p>
            <a:pPr marR="355600" algn="r">
              <a:lnSpc>
                <a:spcPct val="100000"/>
              </a:lnSpc>
            </a:pPr>
            <a:r>
              <a:rPr sz="850" spc="95" dirty="0">
                <a:solidFill>
                  <a:srgbClr val="C7CFE7"/>
                </a:solidFill>
                <a:latin typeface="Cambria"/>
                <a:cs typeface="Cambria"/>
              </a:rPr>
              <a:t>∫μ</a:t>
            </a:r>
            <a:r>
              <a:rPr sz="850" spc="325" dirty="0">
                <a:solidFill>
                  <a:srgbClr val="C7CFE7"/>
                </a:solidFill>
                <a:latin typeface="Cambria"/>
                <a:cs typeface="Cambria"/>
              </a:rPr>
              <a:t> </a:t>
            </a:r>
            <a:r>
              <a:rPr sz="850" spc="-25" dirty="0">
                <a:solidFill>
                  <a:srgbClr val="C7CFE7"/>
                </a:solidFill>
                <a:latin typeface="Cambria"/>
                <a:cs typeface="Cambria"/>
              </a:rPr>
              <a:t>du</a:t>
            </a:r>
            <a:endParaRPr sz="850" dirty="0">
              <a:latin typeface="Cambria"/>
              <a:cs typeface="Cambria"/>
            </a:endParaRPr>
          </a:p>
        </p:txBody>
      </p:sp>
      <p:sp>
        <p:nvSpPr>
          <p:cNvPr id="63" name="object 63"/>
          <p:cNvSpPr txBox="1"/>
          <p:nvPr/>
        </p:nvSpPr>
        <p:spPr>
          <a:xfrm>
            <a:off x="472532" y="3453014"/>
            <a:ext cx="1210768" cy="1513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11125" marR="5080" indent="-99060">
              <a:lnSpc>
                <a:spcPct val="100000"/>
              </a:lnSpc>
              <a:spcBef>
                <a:spcPts val="100"/>
              </a:spcBef>
            </a:pPr>
            <a:r>
              <a:rPr sz="900" i="1" spc="-10" dirty="0">
                <a:solidFill>
                  <a:srgbClr val="499DFF"/>
                </a:solidFill>
                <a:latin typeface="Calibri"/>
                <a:cs typeface="Calibri"/>
              </a:rPr>
              <a:t>Entradas</a:t>
            </a:r>
            <a:r>
              <a:rPr sz="900" i="1" spc="15" dirty="0">
                <a:solidFill>
                  <a:srgbClr val="499DFF"/>
                </a:solidFill>
                <a:latin typeface="Calibri"/>
                <a:cs typeface="Calibri"/>
              </a:rPr>
              <a:t> </a:t>
            </a:r>
            <a:r>
              <a:rPr sz="900" i="1" spc="-10" dirty="0">
                <a:solidFill>
                  <a:srgbClr val="499DFF"/>
                </a:solidFill>
                <a:latin typeface="Calibri"/>
                <a:cs typeface="Calibri"/>
              </a:rPr>
              <a:t>nítidas</a:t>
            </a:r>
            <a:r>
              <a:rPr sz="900" i="1" spc="500" dirty="0">
                <a:solidFill>
                  <a:srgbClr val="499DFF"/>
                </a:solidFill>
                <a:latin typeface="Calibri"/>
                <a:cs typeface="Calibri"/>
              </a:rPr>
              <a:t> </a:t>
            </a:r>
            <a:r>
              <a:rPr sz="900" i="1" dirty="0">
                <a:solidFill>
                  <a:srgbClr val="499DFF"/>
                </a:solidFill>
                <a:latin typeface="Calibri"/>
                <a:cs typeface="Calibri"/>
              </a:rPr>
              <a:t>θ,</a:t>
            </a:r>
            <a:r>
              <a:rPr sz="900" i="1" spc="-5" dirty="0">
                <a:solidFill>
                  <a:srgbClr val="499DFF"/>
                </a:solidFill>
                <a:latin typeface="Calibri"/>
                <a:cs typeface="Calibri"/>
              </a:rPr>
              <a:t> </a:t>
            </a:r>
            <a:r>
              <a:rPr sz="900" i="1" dirty="0">
                <a:solidFill>
                  <a:srgbClr val="499DFF"/>
                </a:solidFill>
                <a:latin typeface="Calibri"/>
                <a:cs typeface="Calibri"/>
              </a:rPr>
              <a:t>θ'</a:t>
            </a:r>
            <a:endParaRPr sz="900" dirty="0">
              <a:latin typeface="Calibri"/>
              <a:cs typeface="Calibri"/>
            </a:endParaRPr>
          </a:p>
        </p:txBody>
      </p:sp>
      <p:sp>
        <p:nvSpPr>
          <p:cNvPr id="64" name="object 64"/>
          <p:cNvSpPr txBox="1"/>
          <p:nvPr/>
        </p:nvSpPr>
        <p:spPr>
          <a:xfrm>
            <a:off x="7838897" y="3507018"/>
            <a:ext cx="1210768" cy="1513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46050" marR="5080" indent="-133985">
              <a:lnSpc>
                <a:spcPct val="100000"/>
              </a:lnSpc>
              <a:spcBef>
                <a:spcPts val="100"/>
              </a:spcBef>
            </a:pPr>
            <a:r>
              <a:rPr sz="900" i="1" spc="-10" dirty="0">
                <a:solidFill>
                  <a:srgbClr val="51C379"/>
                </a:solidFill>
                <a:latin typeface="Calibri"/>
                <a:cs typeface="Calibri"/>
              </a:rPr>
              <a:t>Salida</a:t>
            </a:r>
            <a:r>
              <a:rPr sz="900" i="1" spc="5" dirty="0">
                <a:solidFill>
                  <a:srgbClr val="51C379"/>
                </a:solidFill>
                <a:latin typeface="Calibri"/>
                <a:cs typeface="Calibri"/>
              </a:rPr>
              <a:t> </a:t>
            </a:r>
            <a:r>
              <a:rPr sz="900" i="1" spc="-10" dirty="0">
                <a:solidFill>
                  <a:srgbClr val="51C379"/>
                </a:solidFill>
                <a:latin typeface="Calibri"/>
                <a:cs typeface="Calibri"/>
              </a:rPr>
              <a:t>nítida</a:t>
            </a:r>
            <a:r>
              <a:rPr sz="900" i="1" spc="500" dirty="0">
                <a:solidFill>
                  <a:srgbClr val="51C379"/>
                </a:solidFill>
                <a:latin typeface="Calibri"/>
                <a:cs typeface="Calibri"/>
              </a:rPr>
              <a:t> </a:t>
            </a:r>
            <a:r>
              <a:rPr sz="900" i="1" dirty="0">
                <a:solidFill>
                  <a:srgbClr val="51C379"/>
                </a:solidFill>
                <a:latin typeface="Calibri"/>
                <a:cs typeface="Calibri"/>
              </a:rPr>
              <a:t>F*</a:t>
            </a:r>
            <a:r>
              <a:rPr sz="900" i="1" spc="185" dirty="0">
                <a:solidFill>
                  <a:srgbClr val="51C379"/>
                </a:solidFill>
                <a:latin typeface="Calibri"/>
                <a:cs typeface="Calibri"/>
              </a:rPr>
              <a:t> </a:t>
            </a:r>
            <a:r>
              <a:rPr sz="900" i="1" spc="-25" dirty="0">
                <a:solidFill>
                  <a:srgbClr val="51C379"/>
                </a:solidFill>
                <a:latin typeface="Calibri"/>
                <a:cs typeface="Calibri"/>
              </a:rPr>
              <a:t>[N]</a:t>
            </a:r>
            <a:endParaRPr sz="9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5" dirty="0" err="1"/>
              <a:t>Tabla</a:t>
            </a:r>
            <a:r>
              <a:rPr spc="-55" dirty="0"/>
              <a:t> </a:t>
            </a:r>
            <a:r>
              <a:rPr dirty="0"/>
              <a:t>7×7</a:t>
            </a:r>
            <a:r>
              <a:rPr spc="-50" dirty="0"/>
              <a:t> </a:t>
            </a:r>
            <a:r>
              <a:rPr dirty="0"/>
              <a:t>—</a:t>
            </a:r>
            <a:r>
              <a:rPr spc="-50" dirty="0"/>
              <a:t> </a:t>
            </a:r>
            <a:r>
              <a:rPr dirty="0"/>
              <a:t>Base</a:t>
            </a:r>
            <a:r>
              <a:rPr spc="-40" dirty="0"/>
              <a:t> </a:t>
            </a:r>
            <a:r>
              <a:rPr dirty="0"/>
              <a:t>de</a:t>
            </a:r>
            <a:r>
              <a:rPr spc="-50" dirty="0"/>
              <a:t> </a:t>
            </a:r>
            <a:r>
              <a:rPr spc="-10" dirty="0"/>
              <a:t>Reglas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450544" y="743218"/>
            <a:ext cx="8242300" cy="35560"/>
            <a:chOff x="450544" y="743218"/>
            <a:chExt cx="8242300" cy="35560"/>
          </a:xfrm>
        </p:grpSpPr>
        <p:sp>
          <p:nvSpPr>
            <p:cNvPr id="4" name="object 4"/>
            <p:cNvSpPr/>
            <p:nvPr/>
          </p:nvSpPr>
          <p:spPr>
            <a:xfrm>
              <a:off x="456844" y="749517"/>
              <a:ext cx="8229600" cy="22860"/>
            </a:xfrm>
            <a:custGeom>
              <a:avLst/>
              <a:gdLst/>
              <a:ahLst/>
              <a:cxnLst/>
              <a:rect l="l" t="t" r="r" b="b"/>
              <a:pathLst>
                <a:path w="8229600" h="22859">
                  <a:moveTo>
                    <a:pt x="8229231" y="0"/>
                  </a:moveTo>
                  <a:lnTo>
                    <a:pt x="0" y="0"/>
                  </a:lnTo>
                  <a:lnTo>
                    <a:pt x="0" y="22682"/>
                  </a:lnTo>
                  <a:lnTo>
                    <a:pt x="4114800" y="22682"/>
                  </a:lnTo>
                  <a:lnTo>
                    <a:pt x="8229231" y="22682"/>
                  </a:lnTo>
                  <a:lnTo>
                    <a:pt x="8229231" y="0"/>
                  </a:lnTo>
                  <a:close/>
                </a:path>
              </a:pathLst>
            </a:custGeom>
            <a:solidFill>
              <a:srgbClr val="292C3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456844" y="749517"/>
              <a:ext cx="8229600" cy="22860"/>
            </a:xfrm>
            <a:custGeom>
              <a:avLst/>
              <a:gdLst/>
              <a:ahLst/>
              <a:cxnLst/>
              <a:rect l="l" t="t" r="r" b="b"/>
              <a:pathLst>
                <a:path w="8229600" h="22859">
                  <a:moveTo>
                    <a:pt x="4114800" y="22682"/>
                  </a:moveTo>
                  <a:lnTo>
                    <a:pt x="0" y="22682"/>
                  </a:lnTo>
                  <a:lnTo>
                    <a:pt x="0" y="0"/>
                  </a:lnTo>
                  <a:lnTo>
                    <a:pt x="8229231" y="0"/>
                  </a:lnTo>
                  <a:lnTo>
                    <a:pt x="8229231" y="22682"/>
                  </a:lnTo>
                  <a:lnTo>
                    <a:pt x="4114800" y="22682"/>
                  </a:lnTo>
                  <a:close/>
                </a:path>
              </a:pathLst>
            </a:custGeom>
            <a:ln w="12599">
              <a:solidFill>
                <a:srgbClr val="292C3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8" name="Shape 26">
            <a:extLst>
              <a:ext uri="{FF2B5EF4-FFF2-40B4-BE49-F238E27FC236}">
                <a16:creationId xmlns:a16="http://schemas.microsoft.com/office/drawing/2014/main" id="{5E521095-A4CF-45F4-BBF6-E8FEDB3B4E2E}"/>
              </a:ext>
            </a:extLst>
          </p:cNvPr>
          <p:cNvSpPr/>
          <p:nvPr/>
        </p:nvSpPr>
        <p:spPr>
          <a:xfrm>
            <a:off x="914400" y="1127125"/>
            <a:ext cx="566928" cy="292608"/>
          </a:xfrm>
          <a:prstGeom prst="rect">
            <a:avLst/>
          </a:prstGeom>
          <a:solidFill>
            <a:srgbClr val="E05252"/>
          </a:solidFill>
          <a:ln w="3810">
            <a:solidFill>
              <a:srgbClr val="0B0F1A"/>
            </a:solidFill>
            <a:prstDash val="solid"/>
          </a:ln>
        </p:spPr>
      </p:sp>
      <p:sp>
        <p:nvSpPr>
          <p:cNvPr id="59" name="Text 27">
            <a:extLst>
              <a:ext uri="{FF2B5EF4-FFF2-40B4-BE49-F238E27FC236}">
                <a16:creationId xmlns:a16="http://schemas.microsoft.com/office/drawing/2014/main" id="{AFE47649-EC5C-46FC-A375-535D6B1AABF9}"/>
              </a:ext>
            </a:extLst>
          </p:cNvPr>
          <p:cNvSpPr/>
          <p:nvPr/>
        </p:nvSpPr>
        <p:spPr>
          <a:xfrm>
            <a:off x="914400" y="1145413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B0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NGG</a:t>
            </a:r>
            <a:endParaRPr lang="en-US" sz="750" dirty="0"/>
          </a:p>
        </p:txBody>
      </p:sp>
      <p:sp>
        <p:nvSpPr>
          <p:cNvPr id="60" name="Shape 28">
            <a:extLst>
              <a:ext uri="{FF2B5EF4-FFF2-40B4-BE49-F238E27FC236}">
                <a16:creationId xmlns:a16="http://schemas.microsoft.com/office/drawing/2014/main" id="{4978C962-F395-473C-BA44-553B2600E68F}"/>
              </a:ext>
            </a:extLst>
          </p:cNvPr>
          <p:cNvSpPr/>
          <p:nvPr/>
        </p:nvSpPr>
        <p:spPr>
          <a:xfrm>
            <a:off x="1481328" y="1127125"/>
            <a:ext cx="566928" cy="292608"/>
          </a:xfrm>
          <a:prstGeom prst="rect">
            <a:avLst/>
          </a:prstGeom>
          <a:solidFill>
            <a:srgbClr val="E08C52"/>
          </a:solidFill>
          <a:ln w="3810">
            <a:solidFill>
              <a:srgbClr val="0B0F1A"/>
            </a:solidFill>
            <a:prstDash val="solid"/>
          </a:ln>
        </p:spPr>
      </p:sp>
      <p:sp>
        <p:nvSpPr>
          <p:cNvPr id="61" name="Text 29">
            <a:extLst>
              <a:ext uri="{FF2B5EF4-FFF2-40B4-BE49-F238E27FC236}">
                <a16:creationId xmlns:a16="http://schemas.microsoft.com/office/drawing/2014/main" id="{61B08009-F80A-4A6C-84BD-24311D5C3D00}"/>
              </a:ext>
            </a:extLst>
          </p:cNvPr>
          <p:cNvSpPr/>
          <p:nvPr/>
        </p:nvSpPr>
        <p:spPr>
          <a:xfrm>
            <a:off x="1481328" y="1145413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B0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</a:t>
            </a:r>
            <a:endParaRPr lang="en-US" sz="750" dirty="0"/>
          </a:p>
        </p:txBody>
      </p:sp>
      <p:sp>
        <p:nvSpPr>
          <p:cNvPr id="62" name="Shape 30">
            <a:extLst>
              <a:ext uri="{FF2B5EF4-FFF2-40B4-BE49-F238E27FC236}">
                <a16:creationId xmlns:a16="http://schemas.microsoft.com/office/drawing/2014/main" id="{42D0FF1B-3A84-4B19-9043-6EB36C466A89}"/>
              </a:ext>
            </a:extLst>
          </p:cNvPr>
          <p:cNvSpPr/>
          <p:nvPr/>
        </p:nvSpPr>
        <p:spPr>
          <a:xfrm>
            <a:off x="2048256" y="1127125"/>
            <a:ext cx="566928" cy="292608"/>
          </a:xfrm>
          <a:prstGeom prst="rect">
            <a:avLst/>
          </a:prstGeom>
          <a:solidFill>
            <a:srgbClr val="D4C84A"/>
          </a:solidFill>
          <a:ln w="3810">
            <a:solidFill>
              <a:srgbClr val="0B0F1A"/>
            </a:solidFill>
            <a:prstDash val="solid"/>
          </a:ln>
        </p:spPr>
      </p:sp>
      <p:sp>
        <p:nvSpPr>
          <p:cNvPr id="63" name="Text 31">
            <a:extLst>
              <a:ext uri="{FF2B5EF4-FFF2-40B4-BE49-F238E27FC236}">
                <a16:creationId xmlns:a16="http://schemas.microsoft.com/office/drawing/2014/main" id="{8127B5C3-C672-4374-8206-08B673C3664F}"/>
              </a:ext>
            </a:extLst>
          </p:cNvPr>
          <p:cNvSpPr/>
          <p:nvPr/>
        </p:nvSpPr>
        <p:spPr>
          <a:xfrm>
            <a:off x="2048256" y="1145413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B0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</a:t>
            </a:r>
            <a:endParaRPr lang="en-US" sz="750" dirty="0"/>
          </a:p>
        </p:txBody>
      </p:sp>
      <p:sp>
        <p:nvSpPr>
          <p:cNvPr id="64" name="Shape 32">
            <a:extLst>
              <a:ext uri="{FF2B5EF4-FFF2-40B4-BE49-F238E27FC236}">
                <a16:creationId xmlns:a16="http://schemas.microsoft.com/office/drawing/2014/main" id="{03C3D634-E28A-4266-9244-2748D18E3AA7}"/>
              </a:ext>
            </a:extLst>
          </p:cNvPr>
          <p:cNvSpPr/>
          <p:nvPr/>
        </p:nvSpPr>
        <p:spPr>
          <a:xfrm>
            <a:off x="2615184" y="1127125"/>
            <a:ext cx="566928" cy="292608"/>
          </a:xfrm>
          <a:prstGeom prst="rect">
            <a:avLst/>
          </a:prstGeom>
          <a:solidFill>
            <a:srgbClr val="52C47A"/>
          </a:solidFill>
          <a:ln w="3810">
            <a:solidFill>
              <a:srgbClr val="0B0F1A"/>
            </a:solidFill>
            <a:prstDash val="solid"/>
          </a:ln>
        </p:spPr>
      </p:sp>
      <p:sp>
        <p:nvSpPr>
          <p:cNvPr id="65" name="Text 33">
            <a:extLst>
              <a:ext uri="{FF2B5EF4-FFF2-40B4-BE49-F238E27FC236}">
                <a16:creationId xmlns:a16="http://schemas.microsoft.com/office/drawing/2014/main" id="{44834E45-0465-4310-A8F9-8B8FDB7F48DA}"/>
              </a:ext>
            </a:extLst>
          </p:cNvPr>
          <p:cNvSpPr/>
          <p:nvPr/>
        </p:nvSpPr>
        <p:spPr>
          <a:xfrm>
            <a:off x="2615184" y="1145413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B0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</a:t>
            </a:r>
            <a:endParaRPr lang="en-US" sz="750" dirty="0"/>
          </a:p>
        </p:txBody>
      </p:sp>
      <p:sp>
        <p:nvSpPr>
          <p:cNvPr id="66" name="Shape 34">
            <a:extLst>
              <a:ext uri="{FF2B5EF4-FFF2-40B4-BE49-F238E27FC236}">
                <a16:creationId xmlns:a16="http://schemas.microsoft.com/office/drawing/2014/main" id="{559658B4-9868-43DC-8ADF-2BBF411419F3}"/>
              </a:ext>
            </a:extLst>
          </p:cNvPr>
          <p:cNvSpPr/>
          <p:nvPr/>
        </p:nvSpPr>
        <p:spPr>
          <a:xfrm>
            <a:off x="3182112" y="1127125"/>
            <a:ext cx="566928" cy="292608"/>
          </a:xfrm>
          <a:prstGeom prst="rect">
            <a:avLst/>
          </a:prstGeom>
          <a:solidFill>
            <a:srgbClr val="52A8E0"/>
          </a:solidFill>
          <a:ln w="3810">
            <a:solidFill>
              <a:srgbClr val="0B0F1A"/>
            </a:solidFill>
            <a:prstDash val="solid"/>
          </a:ln>
        </p:spPr>
      </p:sp>
      <p:sp>
        <p:nvSpPr>
          <p:cNvPr id="67" name="Text 35">
            <a:extLst>
              <a:ext uri="{FF2B5EF4-FFF2-40B4-BE49-F238E27FC236}">
                <a16:creationId xmlns:a16="http://schemas.microsoft.com/office/drawing/2014/main" id="{51E69B20-E60B-445F-8818-81DDDE66CCD8}"/>
              </a:ext>
            </a:extLst>
          </p:cNvPr>
          <p:cNvSpPr/>
          <p:nvPr/>
        </p:nvSpPr>
        <p:spPr>
          <a:xfrm>
            <a:off x="3182112" y="1145413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B0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PP</a:t>
            </a:r>
            <a:endParaRPr lang="en-US" sz="750" dirty="0"/>
          </a:p>
        </p:txBody>
      </p:sp>
      <p:sp>
        <p:nvSpPr>
          <p:cNvPr id="68" name="Shape 36">
            <a:extLst>
              <a:ext uri="{FF2B5EF4-FFF2-40B4-BE49-F238E27FC236}">
                <a16:creationId xmlns:a16="http://schemas.microsoft.com/office/drawing/2014/main" id="{70642038-AEC7-42D4-A6F1-3B4C00003795}"/>
              </a:ext>
            </a:extLst>
          </p:cNvPr>
          <p:cNvSpPr/>
          <p:nvPr/>
        </p:nvSpPr>
        <p:spPr>
          <a:xfrm>
            <a:off x="3749040" y="1127125"/>
            <a:ext cx="566928" cy="292608"/>
          </a:xfrm>
          <a:prstGeom prst="rect">
            <a:avLst/>
          </a:prstGeom>
          <a:solidFill>
            <a:srgbClr val="7A6EE0"/>
          </a:solidFill>
          <a:ln w="3810">
            <a:solidFill>
              <a:srgbClr val="0B0F1A"/>
            </a:solidFill>
            <a:prstDash val="solid"/>
          </a:ln>
        </p:spPr>
      </p:sp>
      <p:sp>
        <p:nvSpPr>
          <p:cNvPr id="69" name="Text 37">
            <a:extLst>
              <a:ext uri="{FF2B5EF4-FFF2-40B4-BE49-F238E27FC236}">
                <a16:creationId xmlns:a16="http://schemas.microsoft.com/office/drawing/2014/main" id="{AEC9A2F3-A83B-4710-8FF1-4F72BB6F1AED}"/>
              </a:ext>
            </a:extLst>
          </p:cNvPr>
          <p:cNvSpPr/>
          <p:nvPr/>
        </p:nvSpPr>
        <p:spPr>
          <a:xfrm>
            <a:off x="3749040" y="1145413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B0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PG</a:t>
            </a:r>
            <a:endParaRPr lang="en-US" sz="750" dirty="0"/>
          </a:p>
        </p:txBody>
      </p:sp>
      <p:sp>
        <p:nvSpPr>
          <p:cNvPr id="70" name="Shape 38">
            <a:extLst>
              <a:ext uri="{FF2B5EF4-FFF2-40B4-BE49-F238E27FC236}">
                <a16:creationId xmlns:a16="http://schemas.microsoft.com/office/drawing/2014/main" id="{494A9608-160E-4C8D-8AB4-C9C16B309A30}"/>
              </a:ext>
            </a:extLst>
          </p:cNvPr>
          <p:cNvSpPr/>
          <p:nvPr/>
        </p:nvSpPr>
        <p:spPr>
          <a:xfrm>
            <a:off x="4315968" y="1127125"/>
            <a:ext cx="566928" cy="292608"/>
          </a:xfrm>
          <a:prstGeom prst="rect">
            <a:avLst/>
          </a:prstGeom>
          <a:solidFill>
            <a:srgbClr val="C052E0"/>
          </a:solidFill>
          <a:ln w="3810">
            <a:solidFill>
              <a:srgbClr val="0B0F1A"/>
            </a:solidFill>
            <a:prstDash val="solid"/>
          </a:ln>
        </p:spPr>
      </p:sp>
      <p:sp>
        <p:nvSpPr>
          <p:cNvPr id="71" name="Text 39">
            <a:extLst>
              <a:ext uri="{FF2B5EF4-FFF2-40B4-BE49-F238E27FC236}">
                <a16:creationId xmlns:a16="http://schemas.microsoft.com/office/drawing/2014/main" id="{CA8BF2FC-7695-4F7F-AF54-A217FA78B8DE}"/>
              </a:ext>
            </a:extLst>
          </p:cNvPr>
          <p:cNvSpPr/>
          <p:nvPr/>
        </p:nvSpPr>
        <p:spPr>
          <a:xfrm>
            <a:off x="4315968" y="1145413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B0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PGG</a:t>
            </a:r>
            <a:endParaRPr lang="en-US" sz="750" dirty="0"/>
          </a:p>
        </p:txBody>
      </p:sp>
      <p:sp>
        <p:nvSpPr>
          <p:cNvPr id="72" name="Shape 40">
            <a:extLst>
              <a:ext uri="{FF2B5EF4-FFF2-40B4-BE49-F238E27FC236}">
                <a16:creationId xmlns:a16="http://schemas.microsoft.com/office/drawing/2014/main" id="{E7A92C68-3E79-4E46-A100-FBA9E29691F2}"/>
              </a:ext>
            </a:extLst>
          </p:cNvPr>
          <p:cNvSpPr/>
          <p:nvPr/>
        </p:nvSpPr>
        <p:spPr>
          <a:xfrm>
            <a:off x="292608" y="1419733"/>
            <a:ext cx="594360" cy="384048"/>
          </a:xfrm>
          <a:prstGeom prst="rect">
            <a:avLst/>
          </a:prstGeom>
          <a:solidFill>
            <a:srgbClr val="E05252"/>
          </a:solidFill>
          <a:ln w="3810">
            <a:solidFill>
              <a:srgbClr val="0B0F1A"/>
            </a:solidFill>
            <a:prstDash val="solid"/>
          </a:ln>
        </p:spPr>
      </p:sp>
      <p:sp>
        <p:nvSpPr>
          <p:cNvPr id="73" name="Text 41">
            <a:extLst>
              <a:ext uri="{FF2B5EF4-FFF2-40B4-BE49-F238E27FC236}">
                <a16:creationId xmlns:a16="http://schemas.microsoft.com/office/drawing/2014/main" id="{F4B6488C-D300-4D17-8286-18CCBE717D96}"/>
              </a:ext>
            </a:extLst>
          </p:cNvPr>
          <p:cNvSpPr/>
          <p:nvPr/>
        </p:nvSpPr>
        <p:spPr>
          <a:xfrm>
            <a:off x="292608" y="1483741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B0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NGG</a:t>
            </a:r>
            <a:endParaRPr lang="en-US" sz="750" dirty="0"/>
          </a:p>
        </p:txBody>
      </p:sp>
      <p:sp>
        <p:nvSpPr>
          <p:cNvPr id="74" name="Shape 42">
            <a:extLst>
              <a:ext uri="{FF2B5EF4-FFF2-40B4-BE49-F238E27FC236}">
                <a16:creationId xmlns:a16="http://schemas.microsoft.com/office/drawing/2014/main" id="{9AE96038-2A77-4651-81FF-22C06495A626}"/>
              </a:ext>
            </a:extLst>
          </p:cNvPr>
          <p:cNvSpPr/>
          <p:nvPr/>
        </p:nvSpPr>
        <p:spPr>
          <a:xfrm>
            <a:off x="914400" y="1419733"/>
            <a:ext cx="566928" cy="384048"/>
          </a:xfrm>
          <a:prstGeom prst="rect">
            <a:avLst/>
          </a:prstGeom>
          <a:solidFill>
            <a:srgbClr val="1A2240"/>
          </a:solidFill>
          <a:ln w="3810">
            <a:solidFill>
              <a:srgbClr val="0B0F1A"/>
            </a:solidFill>
            <a:prstDash val="solid"/>
          </a:ln>
        </p:spPr>
      </p:sp>
      <p:sp>
        <p:nvSpPr>
          <p:cNvPr id="75" name="Text 43">
            <a:extLst>
              <a:ext uri="{FF2B5EF4-FFF2-40B4-BE49-F238E27FC236}">
                <a16:creationId xmlns:a16="http://schemas.microsoft.com/office/drawing/2014/main" id="{1212B9E0-A8A6-4096-8095-D0E4170F6AC3}"/>
              </a:ext>
            </a:extLst>
          </p:cNvPr>
          <p:cNvSpPr/>
          <p:nvPr/>
        </p:nvSpPr>
        <p:spPr>
          <a:xfrm>
            <a:off x="914400" y="1483741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C052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PGG</a:t>
            </a:r>
            <a:endParaRPr lang="en-US" sz="750" dirty="0"/>
          </a:p>
        </p:txBody>
      </p:sp>
      <p:sp>
        <p:nvSpPr>
          <p:cNvPr id="76" name="Shape 44">
            <a:extLst>
              <a:ext uri="{FF2B5EF4-FFF2-40B4-BE49-F238E27FC236}">
                <a16:creationId xmlns:a16="http://schemas.microsoft.com/office/drawing/2014/main" id="{57824938-E799-43DA-B043-2678E8416CC2}"/>
              </a:ext>
            </a:extLst>
          </p:cNvPr>
          <p:cNvSpPr/>
          <p:nvPr/>
        </p:nvSpPr>
        <p:spPr>
          <a:xfrm>
            <a:off x="1481328" y="1419733"/>
            <a:ext cx="566928" cy="384048"/>
          </a:xfrm>
          <a:prstGeom prst="rect">
            <a:avLst/>
          </a:prstGeom>
          <a:solidFill>
            <a:srgbClr val="141A2E"/>
          </a:solidFill>
          <a:ln w="3810">
            <a:solidFill>
              <a:srgbClr val="0B0F1A"/>
            </a:solidFill>
            <a:prstDash val="solid"/>
          </a:ln>
        </p:spPr>
      </p:sp>
      <p:sp>
        <p:nvSpPr>
          <p:cNvPr id="77" name="Text 45">
            <a:extLst>
              <a:ext uri="{FF2B5EF4-FFF2-40B4-BE49-F238E27FC236}">
                <a16:creationId xmlns:a16="http://schemas.microsoft.com/office/drawing/2014/main" id="{2A3BA24E-7E8C-4C92-9D4A-053CEF76383B}"/>
              </a:ext>
            </a:extLst>
          </p:cNvPr>
          <p:cNvSpPr/>
          <p:nvPr/>
        </p:nvSpPr>
        <p:spPr>
          <a:xfrm>
            <a:off x="1481328" y="1483741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C052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PGG</a:t>
            </a:r>
            <a:endParaRPr lang="en-US" sz="750" dirty="0"/>
          </a:p>
        </p:txBody>
      </p:sp>
      <p:sp>
        <p:nvSpPr>
          <p:cNvPr id="78" name="Shape 46">
            <a:extLst>
              <a:ext uri="{FF2B5EF4-FFF2-40B4-BE49-F238E27FC236}">
                <a16:creationId xmlns:a16="http://schemas.microsoft.com/office/drawing/2014/main" id="{3AAC3427-4C0A-491E-92B3-9E8E4309E3CE}"/>
              </a:ext>
            </a:extLst>
          </p:cNvPr>
          <p:cNvSpPr/>
          <p:nvPr/>
        </p:nvSpPr>
        <p:spPr>
          <a:xfrm>
            <a:off x="2048256" y="1419733"/>
            <a:ext cx="566928" cy="384048"/>
          </a:xfrm>
          <a:prstGeom prst="rect">
            <a:avLst/>
          </a:prstGeom>
          <a:solidFill>
            <a:srgbClr val="141A2E"/>
          </a:solidFill>
          <a:ln w="3810">
            <a:solidFill>
              <a:srgbClr val="0B0F1A"/>
            </a:solidFill>
            <a:prstDash val="solid"/>
          </a:ln>
        </p:spPr>
      </p:sp>
      <p:sp>
        <p:nvSpPr>
          <p:cNvPr id="79" name="Text 47">
            <a:extLst>
              <a:ext uri="{FF2B5EF4-FFF2-40B4-BE49-F238E27FC236}">
                <a16:creationId xmlns:a16="http://schemas.microsoft.com/office/drawing/2014/main" id="{563B763E-41A7-4721-81B9-E0F233B8019D}"/>
              </a:ext>
            </a:extLst>
          </p:cNvPr>
          <p:cNvSpPr/>
          <p:nvPr/>
        </p:nvSpPr>
        <p:spPr>
          <a:xfrm>
            <a:off x="2048256" y="1483741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C052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PGG</a:t>
            </a:r>
            <a:endParaRPr lang="en-US" sz="750" dirty="0"/>
          </a:p>
        </p:txBody>
      </p:sp>
      <p:sp>
        <p:nvSpPr>
          <p:cNvPr id="80" name="Shape 48">
            <a:extLst>
              <a:ext uri="{FF2B5EF4-FFF2-40B4-BE49-F238E27FC236}">
                <a16:creationId xmlns:a16="http://schemas.microsoft.com/office/drawing/2014/main" id="{4C59C5DD-317C-4AE0-AD03-4B324FECA16B}"/>
              </a:ext>
            </a:extLst>
          </p:cNvPr>
          <p:cNvSpPr/>
          <p:nvPr/>
        </p:nvSpPr>
        <p:spPr>
          <a:xfrm>
            <a:off x="2615184" y="1419733"/>
            <a:ext cx="566928" cy="384048"/>
          </a:xfrm>
          <a:prstGeom prst="rect">
            <a:avLst/>
          </a:prstGeom>
          <a:solidFill>
            <a:srgbClr val="141A2E"/>
          </a:solidFill>
          <a:ln w="3810">
            <a:solidFill>
              <a:srgbClr val="0B0F1A"/>
            </a:solidFill>
            <a:prstDash val="solid"/>
          </a:ln>
        </p:spPr>
      </p:sp>
      <p:sp>
        <p:nvSpPr>
          <p:cNvPr id="81" name="Text 49">
            <a:extLst>
              <a:ext uri="{FF2B5EF4-FFF2-40B4-BE49-F238E27FC236}">
                <a16:creationId xmlns:a16="http://schemas.microsoft.com/office/drawing/2014/main" id="{D4BB6707-D6F2-473E-A7A0-2F8DAC9A8C75}"/>
              </a:ext>
            </a:extLst>
          </p:cNvPr>
          <p:cNvSpPr/>
          <p:nvPr/>
        </p:nvSpPr>
        <p:spPr>
          <a:xfrm>
            <a:off x="2615184" y="1483741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2A8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PP</a:t>
            </a:r>
            <a:endParaRPr lang="en-US" sz="750" dirty="0"/>
          </a:p>
        </p:txBody>
      </p:sp>
      <p:sp>
        <p:nvSpPr>
          <p:cNvPr id="82" name="Shape 50">
            <a:extLst>
              <a:ext uri="{FF2B5EF4-FFF2-40B4-BE49-F238E27FC236}">
                <a16:creationId xmlns:a16="http://schemas.microsoft.com/office/drawing/2014/main" id="{A6CE5374-460A-4205-989D-B6C9D8237122}"/>
              </a:ext>
            </a:extLst>
          </p:cNvPr>
          <p:cNvSpPr/>
          <p:nvPr/>
        </p:nvSpPr>
        <p:spPr>
          <a:xfrm>
            <a:off x="3182112" y="1419733"/>
            <a:ext cx="566928" cy="384048"/>
          </a:xfrm>
          <a:prstGeom prst="rect">
            <a:avLst/>
          </a:prstGeom>
          <a:solidFill>
            <a:srgbClr val="141A2E"/>
          </a:solidFill>
          <a:ln w="3810">
            <a:solidFill>
              <a:srgbClr val="0B0F1A"/>
            </a:solidFill>
            <a:prstDash val="solid"/>
          </a:ln>
        </p:spPr>
      </p:sp>
      <p:sp>
        <p:nvSpPr>
          <p:cNvPr id="83" name="Text 51">
            <a:extLst>
              <a:ext uri="{FF2B5EF4-FFF2-40B4-BE49-F238E27FC236}">
                <a16:creationId xmlns:a16="http://schemas.microsoft.com/office/drawing/2014/main" id="{94BE2373-5500-446A-AE9F-52B1D359D8C2}"/>
              </a:ext>
            </a:extLst>
          </p:cNvPr>
          <p:cNvSpPr/>
          <p:nvPr/>
        </p:nvSpPr>
        <p:spPr>
          <a:xfrm>
            <a:off x="3182112" y="1483741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2A8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PP</a:t>
            </a:r>
            <a:endParaRPr lang="en-US" sz="750" dirty="0"/>
          </a:p>
        </p:txBody>
      </p:sp>
      <p:sp>
        <p:nvSpPr>
          <p:cNvPr id="84" name="Shape 52">
            <a:extLst>
              <a:ext uri="{FF2B5EF4-FFF2-40B4-BE49-F238E27FC236}">
                <a16:creationId xmlns:a16="http://schemas.microsoft.com/office/drawing/2014/main" id="{C53C039A-1586-4993-B15D-5C8AAD1933E8}"/>
              </a:ext>
            </a:extLst>
          </p:cNvPr>
          <p:cNvSpPr/>
          <p:nvPr/>
        </p:nvSpPr>
        <p:spPr>
          <a:xfrm>
            <a:off x="3749040" y="1419733"/>
            <a:ext cx="566928" cy="384048"/>
          </a:xfrm>
          <a:prstGeom prst="rect">
            <a:avLst/>
          </a:prstGeom>
          <a:solidFill>
            <a:srgbClr val="141A2E"/>
          </a:solidFill>
          <a:ln w="3810">
            <a:solidFill>
              <a:srgbClr val="0B0F1A"/>
            </a:solidFill>
            <a:prstDash val="solid"/>
          </a:ln>
        </p:spPr>
      </p:sp>
      <p:sp>
        <p:nvSpPr>
          <p:cNvPr id="85" name="Text 53">
            <a:extLst>
              <a:ext uri="{FF2B5EF4-FFF2-40B4-BE49-F238E27FC236}">
                <a16:creationId xmlns:a16="http://schemas.microsoft.com/office/drawing/2014/main" id="{5B7E3B8C-25AA-4D7D-9EE8-B8B39C478CA4}"/>
              </a:ext>
            </a:extLst>
          </p:cNvPr>
          <p:cNvSpPr/>
          <p:nvPr/>
        </p:nvSpPr>
        <p:spPr>
          <a:xfrm>
            <a:off x="3749040" y="1483741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D4C8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</a:t>
            </a:r>
            <a:endParaRPr lang="en-US" sz="750" dirty="0"/>
          </a:p>
        </p:txBody>
      </p:sp>
      <p:sp>
        <p:nvSpPr>
          <p:cNvPr id="86" name="Shape 54">
            <a:extLst>
              <a:ext uri="{FF2B5EF4-FFF2-40B4-BE49-F238E27FC236}">
                <a16:creationId xmlns:a16="http://schemas.microsoft.com/office/drawing/2014/main" id="{099A782A-B599-4A00-9203-CC7753968F30}"/>
              </a:ext>
            </a:extLst>
          </p:cNvPr>
          <p:cNvSpPr/>
          <p:nvPr/>
        </p:nvSpPr>
        <p:spPr>
          <a:xfrm>
            <a:off x="4315968" y="1419733"/>
            <a:ext cx="566928" cy="384048"/>
          </a:xfrm>
          <a:prstGeom prst="rect">
            <a:avLst/>
          </a:prstGeom>
          <a:solidFill>
            <a:srgbClr val="1A2240"/>
          </a:solidFill>
          <a:ln w="3810">
            <a:solidFill>
              <a:srgbClr val="0B0F1A"/>
            </a:solidFill>
            <a:prstDash val="solid"/>
          </a:ln>
        </p:spPr>
      </p:sp>
      <p:sp>
        <p:nvSpPr>
          <p:cNvPr id="87" name="Text 55">
            <a:extLst>
              <a:ext uri="{FF2B5EF4-FFF2-40B4-BE49-F238E27FC236}">
                <a16:creationId xmlns:a16="http://schemas.microsoft.com/office/drawing/2014/main" id="{1A04D6DE-CC5E-4133-917A-D69D1815D48C}"/>
              </a:ext>
            </a:extLst>
          </p:cNvPr>
          <p:cNvSpPr/>
          <p:nvPr/>
        </p:nvSpPr>
        <p:spPr>
          <a:xfrm>
            <a:off x="4315968" y="1483741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D4C8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</a:t>
            </a:r>
            <a:endParaRPr lang="en-US" sz="750" dirty="0"/>
          </a:p>
        </p:txBody>
      </p:sp>
      <p:sp>
        <p:nvSpPr>
          <p:cNvPr id="88" name="Shape 56">
            <a:extLst>
              <a:ext uri="{FF2B5EF4-FFF2-40B4-BE49-F238E27FC236}">
                <a16:creationId xmlns:a16="http://schemas.microsoft.com/office/drawing/2014/main" id="{0EB9E37A-A597-4B1D-AD82-ACE6D9EA9AAE}"/>
              </a:ext>
            </a:extLst>
          </p:cNvPr>
          <p:cNvSpPr/>
          <p:nvPr/>
        </p:nvSpPr>
        <p:spPr>
          <a:xfrm>
            <a:off x="292608" y="1803781"/>
            <a:ext cx="594360" cy="384048"/>
          </a:xfrm>
          <a:prstGeom prst="rect">
            <a:avLst/>
          </a:prstGeom>
          <a:solidFill>
            <a:srgbClr val="E08C52"/>
          </a:solidFill>
          <a:ln w="3810">
            <a:solidFill>
              <a:srgbClr val="0B0F1A"/>
            </a:solidFill>
            <a:prstDash val="solid"/>
          </a:ln>
        </p:spPr>
      </p:sp>
      <p:sp>
        <p:nvSpPr>
          <p:cNvPr id="89" name="Text 57">
            <a:extLst>
              <a:ext uri="{FF2B5EF4-FFF2-40B4-BE49-F238E27FC236}">
                <a16:creationId xmlns:a16="http://schemas.microsoft.com/office/drawing/2014/main" id="{B1BA0905-86F7-4FFC-AA87-975D8B49C7F4}"/>
              </a:ext>
            </a:extLst>
          </p:cNvPr>
          <p:cNvSpPr/>
          <p:nvPr/>
        </p:nvSpPr>
        <p:spPr>
          <a:xfrm>
            <a:off x="292608" y="1867789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B0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</a:t>
            </a:r>
            <a:endParaRPr lang="en-US" sz="750" dirty="0"/>
          </a:p>
        </p:txBody>
      </p:sp>
      <p:sp>
        <p:nvSpPr>
          <p:cNvPr id="90" name="Shape 58">
            <a:extLst>
              <a:ext uri="{FF2B5EF4-FFF2-40B4-BE49-F238E27FC236}">
                <a16:creationId xmlns:a16="http://schemas.microsoft.com/office/drawing/2014/main" id="{0D2DFB1A-BABF-4000-927E-B172078D2CF2}"/>
              </a:ext>
            </a:extLst>
          </p:cNvPr>
          <p:cNvSpPr/>
          <p:nvPr/>
        </p:nvSpPr>
        <p:spPr>
          <a:xfrm>
            <a:off x="914400" y="1803781"/>
            <a:ext cx="566928" cy="384048"/>
          </a:xfrm>
          <a:prstGeom prst="rect">
            <a:avLst/>
          </a:prstGeom>
          <a:solidFill>
            <a:srgbClr val="141A2E"/>
          </a:solidFill>
          <a:ln w="3810">
            <a:solidFill>
              <a:srgbClr val="0B0F1A"/>
            </a:solidFill>
            <a:prstDash val="solid"/>
          </a:ln>
        </p:spPr>
      </p:sp>
      <p:sp>
        <p:nvSpPr>
          <p:cNvPr id="91" name="Text 59">
            <a:extLst>
              <a:ext uri="{FF2B5EF4-FFF2-40B4-BE49-F238E27FC236}">
                <a16:creationId xmlns:a16="http://schemas.microsoft.com/office/drawing/2014/main" id="{446D31DE-5A14-4914-942F-CB17366B0DC8}"/>
              </a:ext>
            </a:extLst>
          </p:cNvPr>
          <p:cNvSpPr/>
          <p:nvPr/>
        </p:nvSpPr>
        <p:spPr>
          <a:xfrm>
            <a:off x="914400" y="1867789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C052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PGG</a:t>
            </a:r>
            <a:endParaRPr lang="en-US" sz="750" dirty="0"/>
          </a:p>
        </p:txBody>
      </p:sp>
      <p:sp>
        <p:nvSpPr>
          <p:cNvPr id="92" name="Shape 60">
            <a:extLst>
              <a:ext uri="{FF2B5EF4-FFF2-40B4-BE49-F238E27FC236}">
                <a16:creationId xmlns:a16="http://schemas.microsoft.com/office/drawing/2014/main" id="{61BB5B40-6494-4651-B0E9-0747209672F9}"/>
              </a:ext>
            </a:extLst>
          </p:cNvPr>
          <p:cNvSpPr/>
          <p:nvPr/>
        </p:nvSpPr>
        <p:spPr>
          <a:xfrm>
            <a:off x="1481328" y="1803781"/>
            <a:ext cx="566928" cy="384048"/>
          </a:xfrm>
          <a:prstGeom prst="rect">
            <a:avLst/>
          </a:prstGeom>
          <a:solidFill>
            <a:srgbClr val="1A2240"/>
          </a:solidFill>
          <a:ln w="3810">
            <a:solidFill>
              <a:srgbClr val="0B0F1A"/>
            </a:solidFill>
            <a:prstDash val="solid"/>
          </a:ln>
        </p:spPr>
      </p:sp>
      <p:sp>
        <p:nvSpPr>
          <p:cNvPr id="93" name="Text 61">
            <a:extLst>
              <a:ext uri="{FF2B5EF4-FFF2-40B4-BE49-F238E27FC236}">
                <a16:creationId xmlns:a16="http://schemas.microsoft.com/office/drawing/2014/main" id="{19DBABEF-85C4-47C4-972D-D4BEA2161A22}"/>
              </a:ext>
            </a:extLst>
          </p:cNvPr>
          <p:cNvSpPr/>
          <p:nvPr/>
        </p:nvSpPr>
        <p:spPr>
          <a:xfrm>
            <a:off x="1481328" y="1867789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C052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PGG</a:t>
            </a:r>
            <a:endParaRPr lang="en-US" sz="750" dirty="0"/>
          </a:p>
        </p:txBody>
      </p:sp>
      <p:sp>
        <p:nvSpPr>
          <p:cNvPr id="94" name="Shape 62">
            <a:extLst>
              <a:ext uri="{FF2B5EF4-FFF2-40B4-BE49-F238E27FC236}">
                <a16:creationId xmlns:a16="http://schemas.microsoft.com/office/drawing/2014/main" id="{60330A8A-EC2F-4019-BD48-BA0F5D244E54}"/>
              </a:ext>
            </a:extLst>
          </p:cNvPr>
          <p:cNvSpPr/>
          <p:nvPr/>
        </p:nvSpPr>
        <p:spPr>
          <a:xfrm>
            <a:off x="2048256" y="1803781"/>
            <a:ext cx="566928" cy="384048"/>
          </a:xfrm>
          <a:prstGeom prst="rect">
            <a:avLst/>
          </a:prstGeom>
          <a:solidFill>
            <a:srgbClr val="141A2E"/>
          </a:solidFill>
          <a:ln w="3810">
            <a:solidFill>
              <a:srgbClr val="0B0F1A"/>
            </a:solidFill>
            <a:prstDash val="solid"/>
          </a:ln>
        </p:spPr>
      </p:sp>
      <p:sp>
        <p:nvSpPr>
          <p:cNvPr id="95" name="Text 63">
            <a:extLst>
              <a:ext uri="{FF2B5EF4-FFF2-40B4-BE49-F238E27FC236}">
                <a16:creationId xmlns:a16="http://schemas.microsoft.com/office/drawing/2014/main" id="{A7880D1F-B31C-47BA-AACA-F9D86AEA8C6D}"/>
              </a:ext>
            </a:extLst>
          </p:cNvPr>
          <p:cNvSpPr/>
          <p:nvPr/>
        </p:nvSpPr>
        <p:spPr>
          <a:xfrm>
            <a:off x="2048256" y="1867789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7A6E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PG</a:t>
            </a:r>
            <a:endParaRPr lang="en-US" sz="750" dirty="0"/>
          </a:p>
        </p:txBody>
      </p:sp>
      <p:sp>
        <p:nvSpPr>
          <p:cNvPr id="96" name="Shape 64">
            <a:extLst>
              <a:ext uri="{FF2B5EF4-FFF2-40B4-BE49-F238E27FC236}">
                <a16:creationId xmlns:a16="http://schemas.microsoft.com/office/drawing/2014/main" id="{F49222EC-CAF7-4930-AA76-F417EEB516C4}"/>
              </a:ext>
            </a:extLst>
          </p:cNvPr>
          <p:cNvSpPr/>
          <p:nvPr/>
        </p:nvSpPr>
        <p:spPr>
          <a:xfrm>
            <a:off x="2615184" y="1803781"/>
            <a:ext cx="566928" cy="384048"/>
          </a:xfrm>
          <a:prstGeom prst="rect">
            <a:avLst/>
          </a:prstGeom>
          <a:solidFill>
            <a:srgbClr val="141A2E"/>
          </a:solidFill>
          <a:ln w="3810">
            <a:solidFill>
              <a:srgbClr val="0B0F1A"/>
            </a:solidFill>
            <a:prstDash val="solid"/>
          </a:ln>
        </p:spPr>
      </p:sp>
      <p:sp>
        <p:nvSpPr>
          <p:cNvPr id="97" name="Text 65">
            <a:extLst>
              <a:ext uri="{FF2B5EF4-FFF2-40B4-BE49-F238E27FC236}">
                <a16:creationId xmlns:a16="http://schemas.microsoft.com/office/drawing/2014/main" id="{24B55F1E-86EA-4210-81B8-37EC28747E79}"/>
              </a:ext>
            </a:extLst>
          </p:cNvPr>
          <p:cNvSpPr/>
          <p:nvPr/>
        </p:nvSpPr>
        <p:spPr>
          <a:xfrm>
            <a:off x="2615184" y="1867789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2A8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PP</a:t>
            </a:r>
            <a:endParaRPr lang="en-US" sz="750" dirty="0"/>
          </a:p>
        </p:txBody>
      </p:sp>
      <p:sp>
        <p:nvSpPr>
          <p:cNvPr id="98" name="Shape 66">
            <a:extLst>
              <a:ext uri="{FF2B5EF4-FFF2-40B4-BE49-F238E27FC236}">
                <a16:creationId xmlns:a16="http://schemas.microsoft.com/office/drawing/2014/main" id="{34C50F97-830B-48E2-8CD1-FEB35E0C2576}"/>
              </a:ext>
            </a:extLst>
          </p:cNvPr>
          <p:cNvSpPr/>
          <p:nvPr/>
        </p:nvSpPr>
        <p:spPr>
          <a:xfrm>
            <a:off x="3182112" y="1803781"/>
            <a:ext cx="566928" cy="384048"/>
          </a:xfrm>
          <a:prstGeom prst="rect">
            <a:avLst/>
          </a:prstGeom>
          <a:solidFill>
            <a:srgbClr val="141A2E"/>
          </a:solidFill>
          <a:ln w="3810">
            <a:solidFill>
              <a:srgbClr val="0B0F1A"/>
            </a:solidFill>
            <a:prstDash val="solid"/>
          </a:ln>
        </p:spPr>
      </p:sp>
      <p:sp>
        <p:nvSpPr>
          <p:cNvPr id="99" name="Text 67">
            <a:extLst>
              <a:ext uri="{FF2B5EF4-FFF2-40B4-BE49-F238E27FC236}">
                <a16:creationId xmlns:a16="http://schemas.microsoft.com/office/drawing/2014/main" id="{E30EC87F-4622-4EAF-A253-1958AA230640}"/>
              </a:ext>
            </a:extLst>
          </p:cNvPr>
          <p:cNvSpPr/>
          <p:nvPr/>
        </p:nvSpPr>
        <p:spPr>
          <a:xfrm>
            <a:off x="3182112" y="1867789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2C4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</a:t>
            </a:r>
            <a:endParaRPr lang="en-US" sz="750" dirty="0"/>
          </a:p>
        </p:txBody>
      </p:sp>
      <p:sp>
        <p:nvSpPr>
          <p:cNvPr id="100" name="Shape 68">
            <a:extLst>
              <a:ext uri="{FF2B5EF4-FFF2-40B4-BE49-F238E27FC236}">
                <a16:creationId xmlns:a16="http://schemas.microsoft.com/office/drawing/2014/main" id="{B41A951A-627D-4BA0-8018-FD19AF9549A0}"/>
              </a:ext>
            </a:extLst>
          </p:cNvPr>
          <p:cNvSpPr/>
          <p:nvPr/>
        </p:nvSpPr>
        <p:spPr>
          <a:xfrm>
            <a:off x="3749040" y="1803781"/>
            <a:ext cx="566928" cy="384048"/>
          </a:xfrm>
          <a:prstGeom prst="rect">
            <a:avLst/>
          </a:prstGeom>
          <a:solidFill>
            <a:srgbClr val="1A2240"/>
          </a:solidFill>
          <a:ln w="3810">
            <a:solidFill>
              <a:srgbClr val="0B0F1A"/>
            </a:solidFill>
            <a:prstDash val="solid"/>
          </a:ln>
        </p:spPr>
      </p:sp>
      <p:sp>
        <p:nvSpPr>
          <p:cNvPr id="101" name="Text 69">
            <a:extLst>
              <a:ext uri="{FF2B5EF4-FFF2-40B4-BE49-F238E27FC236}">
                <a16:creationId xmlns:a16="http://schemas.microsoft.com/office/drawing/2014/main" id="{963EF451-1304-4B93-9005-205ADEB0839C}"/>
              </a:ext>
            </a:extLst>
          </p:cNvPr>
          <p:cNvSpPr/>
          <p:nvPr/>
        </p:nvSpPr>
        <p:spPr>
          <a:xfrm>
            <a:off x="3749040" y="1867789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D4C8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</a:t>
            </a:r>
            <a:endParaRPr lang="en-US" sz="750" dirty="0"/>
          </a:p>
        </p:txBody>
      </p:sp>
      <p:sp>
        <p:nvSpPr>
          <p:cNvPr id="102" name="Shape 70">
            <a:extLst>
              <a:ext uri="{FF2B5EF4-FFF2-40B4-BE49-F238E27FC236}">
                <a16:creationId xmlns:a16="http://schemas.microsoft.com/office/drawing/2014/main" id="{8400AA77-54D4-4B79-BCC9-D845A0B196C7}"/>
              </a:ext>
            </a:extLst>
          </p:cNvPr>
          <p:cNvSpPr/>
          <p:nvPr/>
        </p:nvSpPr>
        <p:spPr>
          <a:xfrm>
            <a:off x="4315968" y="1803781"/>
            <a:ext cx="566928" cy="384048"/>
          </a:xfrm>
          <a:prstGeom prst="rect">
            <a:avLst/>
          </a:prstGeom>
          <a:solidFill>
            <a:srgbClr val="141A2E"/>
          </a:solidFill>
          <a:ln w="3810">
            <a:solidFill>
              <a:srgbClr val="0B0F1A"/>
            </a:solidFill>
            <a:prstDash val="solid"/>
          </a:ln>
        </p:spPr>
      </p:sp>
      <p:sp>
        <p:nvSpPr>
          <p:cNvPr id="103" name="Text 71">
            <a:extLst>
              <a:ext uri="{FF2B5EF4-FFF2-40B4-BE49-F238E27FC236}">
                <a16:creationId xmlns:a16="http://schemas.microsoft.com/office/drawing/2014/main" id="{C80280F1-C256-49B1-8575-5CA4C0E6E93B}"/>
              </a:ext>
            </a:extLst>
          </p:cNvPr>
          <p:cNvSpPr/>
          <p:nvPr/>
        </p:nvSpPr>
        <p:spPr>
          <a:xfrm>
            <a:off x="4315968" y="1867789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E08C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</a:t>
            </a:r>
            <a:endParaRPr lang="en-US" sz="750" dirty="0"/>
          </a:p>
        </p:txBody>
      </p:sp>
      <p:sp>
        <p:nvSpPr>
          <p:cNvPr id="104" name="Shape 72">
            <a:extLst>
              <a:ext uri="{FF2B5EF4-FFF2-40B4-BE49-F238E27FC236}">
                <a16:creationId xmlns:a16="http://schemas.microsoft.com/office/drawing/2014/main" id="{C1F28BE2-E80C-406C-9F49-B3A8D3ABD08B}"/>
              </a:ext>
            </a:extLst>
          </p:cNvPr>
          <p:cNvSpPr/>
          <p:nvPr/>
        </p:nvSpPr>
        <p:spPr>
          <a:xfrm>
            <a:off x="292608" y="2187829"/>
            <a:ext cx="594360" cy="384048"/>
          </a:xfrm>
          <a:prstGeom prst="rect">
            <a:avLst/>
          </a:prstGeom>
          <a:solidFill>
            <a:srgbClr val="D4C84A"/>
          </a:solidFill>
          <a:ln w="3810">
            <a:solidFill>
              <a:srgbClr val="0B0F1A"/>
            </a:solidFill>
            <a:prstDash val="solid"/>
          </a:ln>
        </p:spPr>
      </p:sp>
      <p:sp>
        <p:nvSpPr>
          <p:cNvPr id="105" name="Text 73">
            <a:extLst>
              <a:ext uri="{FF2B5EF4-FFF2-40B4-BE49-F238E27FC236}">
                <a16:creationId xmlns:a16="http://schemas.microsoft.com/office/drawing/2014/main" id="{16835BD7-3949-4452-BCBC-10246070E73A}"/>
              </a:ext>
            </a:extLst>
          </p:cNvPr>
          <p:cNvSpPr/>
          <p:nvPr/>
        </p:nvSpPr>
        <p:spPr>
          <a:xfrm>
            <a:off x="292608" y="2251837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B0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</a:t>
            </a:r>
            <a:endParaRPr lang="en-US" sz="750" dirty="0"/>
          </a:p>
        </p:txBody>
      </p:sp>
      <p:sp>
        <p:nvSpPr>
          <p:cNvPr id="106" name="Shape 74">
            <a:extLst>
              <a:ext uri="{FF2B5EF4-FFF2-40B4-BE49-F238E27FC236}">
                <a16:creationId xmlns:a16="http://schemas.microsoft.com/office/drawing/2014/main" id="{7D137007-35C2-4597-9EE9-D6AC274AA00B}"/>
              </a:ext>
            </a:extLst>
          </p:cNvPr>
          <p:cNvSpPr/>
          <p:nvPr/>
        </p:nvSpPr>
        <p:spPr>
          <a:xfrm>
            <a:off x="914400" y="2187829"/>
            <a:ext cx="566928" cy="384048"/>
          </a:xfrm>
          <a:prstGeom prst="rect">
            <a:avLst/>
          </a:prstGeom>
          <a:solidFill>
            <a:srgbClr val="141A2E"/>
          </a:solidFill>
          <a:ln w="3810">
            <a:solidFill>
              <a:srgbClr val="0B0F1A"/>
            </a:solidFill>
            <a:prstDash val="solid"/>
          </a:ln>
        </p:spPr>
      </p:sp>
      <p:sp>
        <p:nvSpPr>
          <p:cNvPr id="107" name="Text 75">
            <a:extLst>
              <a:ext uri="{FF2B5EF4-FFF2-40B4-BE49-F238E27FC236}">
                <a16:creationId xmlns:a16="http://schemas.microsoft.com/office/drawing/2014/main" id="{C2C38145-DBEE-4ED9-BBD7-2514E30D6358}"/>
              </a:ext>
            </a:extLst>
          </p:cNvPr>
          <p:cNvSpPr/>
          <p:nvPr/>
        </p:nvSpPr>
        <p:spPr>
          <a:xfrm>
            <a:off x="914400" y="2251837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C052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PGG</a:t>
            </a:r>
            <a:endParaRPr lang="en-US" sz="750" dirty="0"/>
          </a:p>
        </p:txBody>
      </p:sp>
      <p:sp>
        <p:nvSpPr>
          <p:cNvPr id="108" name="Shape 76">
            <a:extLst>
              <a:ext uri="{FF2B5EF4-FFF2-40B4-BE49-F238E27FC236}">
                <a16:creationId xmlns:a16="http://schemas.microsoft.com/office/drawing/2014/main" id="{431C0AF6-5713-4051-A56A-8E3C3B8DA64B}"/>
              </a:ext>
            </a:extLst>
          </p:cNvPr>
          <p:cNvSpPr/>
          <p:nvPr/>
        </p:nvSpPr>
        <p:spPr>
          <a:xfrm>
            <a:off x="1481328" y="2187829"/>
            <a:ext cx="566928" cy="384048"/>
          </a:xfrm>
          <a:prstGeom prst="rect">
            <a:avLst/>
          </a:prstGeom>
          <a:solidFill>
            <a:srgbClr val="141A2E"/>
          </a:solidFill>
          <a:ln w="3810">
            <a:solidFill>
              <a:srgbClr val="0B0F1A"/>
            </a:solidFill>
            <a:prstDash val="solid"/>
          </a:ln>
        </p:spPr>
      </p:sp>
      <p:sp>
        <p:nvSpPr>
          <p:cNvPr id="109" name="Text 77">
            <a:extLst>
              <a:ext uri="{FF2B5EF4-FFF2-40B4-BE49-F238E27FC236}">
                <a16:creationId xmlns:a16="http://schemas.microsoft.com/office/drawing/2014/main" id="{C0D14CFF-2BED-400C-9F40-6B2FF8B5FC0A}"/>
              </a:ext>
            </a:extLst>
          </p:cNvPr>
          <p:cNvSpPr/>
          <p:nvPr/>
        </p:nvSpPr>
        <p:spPr>
          <a:xfrm>
            <a:off x="1481328" y="2251837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C052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PGG</a:t>
            </a:r>
            <a:endParaRPr lang="en-US" sz="750" dirty="0"/>
          </a:p>
        </p:txBody>
      </p:sp>
      <p:sp>
        <p:nvSpPr>
          <p:cNvPr id="110" name="Shape 78">
            <a:extLst>
              <a:ext uri="{FF2B5EF4-FFF2-40B4-BE49-F238E27FC236}">
                <a16:creationId xmlns:a16="http://schemas.microsoft.com/office/drawing/2014/main" id="{06553B68-7FD2-4780-8B27-1CF708236E0C}"/>
              </a:ext>
            </a:extLst>
          </p:cNvPr>
          <p:cNvSpPr/>
          <p:nvPr/>
        </p:nvSpPr>
        <p:spPr>
          <a:xfrm>
            <a:off x="2048256" y="2187829"/>
            <a:ext cx="566928" cy="384048"/>
          </a:xfrm>
          <a:prstGeom prst="rect">
            <a:avLst/>
          </a:prstGeom>
          <a:solidFill>
            <a:srgbClr val="1A2240"/>
          </a:solidFill>
          <a:ln w="3810">
            <a:solidFill>
              <a:srgbClr val="0B0F1A"/>
            </a:solidFill>
            <a:prstDash val="solid"/>
          </a:ln>
        </p:spPr>
      </p:sp>
      <p:sp>
        <p:nvSpPr>
          <p:cNvPr id="111" name="Text 79">
            <a:extLst>
              <a:ext uri="{FF2B5EF4-FFF2-40B4-BE49-F238E27FC236}">
                <a16:creationId xmlns:a16="http://schemas.microsoft.com/office/drawing/2014/main" id="{1A535E43-1364-4802-8AF6-4CA232CC3EBE}"/>
              </a:ext>
            </a:extLst>
          </p:cNvPr>
          <p:cNvSpPr/>
          <p:nvPr/>
        </p:nvSpPr>
        <p:spPr>
          <a:xfrm>
            <a:off x="2048256" y="2251837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7A6E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PG</a:t>
            </a:r>
            <a:endParaRPr lang="en-US" sz="750" dirty="0"/>
          </a:p>
        </p:txBody>
      </p:sp>
      <p:sp>
        <p:nvSpPr>
          <p:cNvPr id="112" name="Shape 80">
            <a:extLst>
              <a:ext uri="{FF2B5EF4-FFF2-40B4-BE49-F238E27FC236}">
                <a16:creationId xmlns:a16="http://schemas.microsoft.com/office/drawing/2014/main" id="{DF7A333D-EB66-4D77-AF9E-3BB68571396C}"/>
              </a:ext>
            </a:extLst>
          </p:cNvPr>
          <p:cNvSpPr/>
          <p:nvPr/>
        </p:nvSpPr>
        <p:spPr>
          <a:xfrm>
            <a:off x="2615184" y="2187829"/>
            <a:ext cx="566928" cy="384048"/>
          </a:xfrm>
          <a:prstGeom prst="rect">
            <a:avLst/>
          </a:prstGeom>
          <a:solidFill>
            <a:srgbClr val="141A2E"/>
          </a:solidFill>
          <a:ln w="3810">
            <a:solidFill>
              <a:srgbClr val="0B0F1A"/>
            </a:solidFill>
            <a:prstDash val="solid"/>
          </a:ln>
        </p:spPr>
      </p:sp>
      <p:sp>
        <p:nvSpPr>
          <p:cNvPr id="113" name="Text 81">
            <a:extLst>
              <a:ext uri="{FF2B5EF4-FFF2-40B4-BE49-F238E27FC236}">
                <a16:creationId xmlns:a16="http://schemas.microsoft.com/office/drawing/2014/main" id="{69269D04-76E5-4C48-8665-4315D58DB5FE}"/>
              </a:ext>
            </a:extLst>
          </p:cNvPr>
          <p:cNvSpPr/>
          <p:nvPr/>
        </p:nvSpPr>
        <p:spPr>
          <a:xfrm>
            <a:off x="2615184" y="2251837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2A8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PP</a:t>
            </a:r>
            <a:endParaRPr lang="en-US" sz="750" dirty="0"/>
          </a:p>
        </p:txBody>
      </p:sp>
      <p:sp>
        <p:nvSpPr>
          <p:cNvPr id="114" name="Shape 82">
            <a:extLst>
              <a:ext uri="{FF2B5EF4-FFF2-40B4-BE49-F238E27FC236}">
                <a16:creationId xmlns:a16="http://schemas.microsoft.com/office/drawing/2014/main" id="{E356997C-A1A9-4670-AFEE-AF53E845626C}"/>
              </a:ext>
            </a:extLst>
          </p:cNvPr>
          <p:cNvSpPr/>
          <p:nvPr/>
        </p:nvSpPr>
        <p:spPr>
          <a:xfrm>
            <a:off x="3182112" y="2187829"/>
            <a:ext cx="566928" cy="384048"/>
          </a:xfrm>
          <a:prstGeom prst="rect">
            <a:avLst/>
          </a:prstGeom>
          <a:solidFill>
            <a:srgbClr val="1A2240"/>
          </a:solidFill>
          <a:ln w="3810">
            <a:solidFill>
              <a:srgbClr val="0B0F1A"/>
            </a:solidFill>
            <a:prstDash val="solid"/>
          </a:ln>
        </p:spPr>
      </p:sp>
      <p:sp>
        <p:nvSpPr>
          <p:cNvPr id="115" name="Text 83">
            <a:extLst>
              <a:ext uri="{FF2B5EF4-FFF2-40B4-BE49-F238E27FC236}">
                <a16:creationId xmlns:a16="http://schemas.microsoft.com/office/drawing/2014/main" id="{6C69C964-518C-4B4D-BD84-57DDDFE3FD3B}"/>
              </a:ext>
            </a:extLst>
          </p:cNvPr>
          <p:cNvSpPr/>
          <p:nvPr/>
        </p:nvSpPr>
        <p:spPr>
          <a:xfrm>
            <a:off x="3182112" y="2251837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D4C8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</a:t>
            </a:r>
            <a:endParaRPr lang="en-US" sz="750" dirty="0"/>
          </a:p>
        </p:txBody>
      </p:sp>
      <p:sp>
        <p:nvSpPr>
          <p:cNvPr id="116" name="Shape 84">
            <a:extLst>
              <a:ext uri="{FF2B5EF4-FFF2-40B4-BE49-F238E27FC236}">
                <a16:creationId xmlns:a16="http://schemas.microsoft.com/office/drawing/2014/main" id="{EB71089A-CFF4-48AF-8446-118F2E02FDE9}"/>
              </a:ext>
            </a:extLst>
          </p:cNvPr>
          <p:cNvSpPr/>
          <p:nvPr/>
        </p:nvSpPr>
        <p:spPr>
          <a:xfrm>
            <a:off x="3749040" y="2187829"/>
            <a:ext cx="566928" cy="384048"/>
          </a:xfrm>
          <a:prstGeom prst="rect">
            <a:avLst/>
          </a:prstGeom>
          <a:solidFill>
            <a:srgbClr val="141A2E"/>
          </a:solidFill>
          <a:ln w="3810">
            <a:solidFill>
              <a:srgbClr val="0B0F1A"/>
            </a:solidFill>
            <a:prstDash val="solid"/>
          </a:ln>
        </p:spPr>
      </p:sp>
      <p:sp>
        <p:nvSpPr>
          <p:cNvPr id="117" name="Text 85">
            <a:extLst>
              <a:ext uri="{FF2B5EF4-FFF2-40B4-BE49-F238E27FC236}">
                <a16:creationId xmlns:a16="http://schemas.microsoft.com/office/drawing/2014/main" id="{A5F7EC4E-53DA-4F6D-BDA6-00DB5E405163}"/>
              </a:ext>
            </a:extLst>
          </p:cNvPr>
          <p:cNvSpPr/>
          <p:nvPr/>
        </p:nvSpPr>
        <p:spPr>
          <a:xfrm>
            <a:off x="3749040" y="2251837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D4C8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</a:t>
            </a:r>
            <a:endParaRPr lang="en-US" sz="750" dirty="0"/>
          </a:p>
        </p:txBody>
      </p:sp>
      <p:sp>
        <p:nvSpPr>
          <p:cNvPr id="118" name="Shape 86">
            <a:extLst>
              <a:ext uri="{FF2B5EF4-FFF2-40B4-BE49-F238E27FC236}">
                <a16:creationId xmlns:a16="http://schemas.microsoft.com/office/drawing/2014/main" id="{92DDE6FC-E774-4BED-8506-41AD48A85BDD}"/>
              </a:ext>
            </a:extLst>
          </p:cNvPr>
          <p:cNvSpPr/>
          <p:nvPr/>
        </p:nvSpPr>
        <p:spPr>
          <a:xfrm>
            <a:off x="4315968" y="2187829"/>
            <a:ext cx="566928" cy="384048"/>
          </a:xfrm>
          <a:prstGeom prst="rect">
            <a:avLst/>
          </a:prstGeom>
          <a:solidFill>
            <a:srgbClr val="141A2E"/>
          </a:solidFill>
          <a:ln w="3810">
            <a:solidFill>
              <a:srgbClr val="0B0F1A"/>
            </a:solidFill>
            <a:prstDash val="solid"/>
          </a:ln>
        </p:spPr>
      </p:sp>
      <p:sp>
        <p:nvSpPr>
          <p:cNvPr id="119" name="Text 87">
            <a:extLst>
              <a:ext uri="{FF2B5EF4-FFF2-40B4-BE49-F238E27FC236}">
                <a16:creationId xmlns:a16="http://schemas.microsoft.com/office/drawing/2014/main" id="{997B6084-CBDF-4B1D-9A4A-FBE33698EEC0}"/>
              </a:ext>
            </a:extLst>
          </p:cNvPr>
          <p:cNvSpPr/>
          <p:nvPr/>
        </p:nvSpPr>
        <p:spPr>
          <a:xfrm>
            <a:off x="4315968" y="2251837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E05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NGG</a:t>
            </a:r>
            <a:endParaRPr lang="en-US" sz="750" dirty="0"/>
          </a:p>
        </p:txBody>
      </p:sp>
      <p:sp>
        <p:nvSpPr>
          <p:cNvPr id="120" name="Shape 88">
            <a:extLst>
              <a:ext uri="{FF2B5EF4-FFF2-40B4-BE49-F238E27FC236}">
                <a16:creationId xmlns:a16="http://schemas.microsoft.com/office/drawing/2014/main" id="{AC580E43-F4BB-446C-B804-2CEFC24DC3AA}"/>
              </a:ext>
            </a:extLst>
          </p:cNvPr>
          <p:cNvSpPr/>
          <p:nvPr/>
        </p:nvSpPr>
        <p:spPr>
          <a:xfrm>
            <a:off x="292608" y="2571877"/>
            <a:ext cx="594360" cy="384048"/>
          </a:xfrm>
          <a:prstGeom prst="rect">
            <a:avLst/>
          </a:prstGeom>
          <a:solidFill>
            <a:srgbClr val="52C47A"/>
          </a:solidFill>
          <a:ln w="3810">
            <a:solidFill>
              <a:srgbClr val="0B0F1A"/>
            </a:solidFill>
            <a:prstDash val="solid"/>
          </a:ln>
        </p:spPr>
      </p:sp>
      <p:sp>
        <p:nvSpPr>
          <p:cNvPr id="121" name="Text 89">
            <a:extLst>
              <a:ext uri="{FF2B5EF4-FFF2-40B4-BE49-F238E27FC236}">
                <a16:creationId xmlns:a16="http://schemas.microsoft.com/office/drawing/2014/main" id="{31558FFD-1472-40DE-A26F-3585F289DD56}"/>
              </a:ext>
            </a:extLst>
          </p:cNvPr>
          <p:cNvSpPr/>
          <p:nvPr/>
        </p:nvSpPr>
        <p:spPr>
          <a:xfrm>
            <a:off x="292608" y="2635885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B0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</a:t>
            </a:r>
            <a:endParaRPr lang="en-US" sz="750" dirty="0"/>
          </a:p>
        </p:txBody>
      </p:sp>
      <p:sp>
        <p:nvSpPr>
          <p:cNvPr id="122" name="Shape 90">
            <a:extLst>
              <a:ext uri="{FF2B5EF4-FFF2-40B4-BE49-F238E27FC236}">
                <a16:creationId xmlns:a16="http://schemas.microsoft.com/office/drawing/2014/main" id="{94750D85-9BE9-4083-93A6-8AEA60E4C477}"/>
              </a:ext>
            </a:extLst>
          </p:cNvPr>
          <p:cNvSpPr/>
          <p:nvPr/>
        </p:nvSpPr>
        <p:spPr>
          <a:xfrm>
            <a:off x="914400" y="2571877"/>
            <a:ext cx="566928" cy="384048"/>
          </a:xfrm>
          <a:prstGeom prst="rect">
            <a:avLst/>
          </a:prstGeom>
          <a:solidFill>
            <a:srgbClr val="141A2E"/>
          </a:solidFill>
          <a:ln w="3810">
            <a:solidFill>
              <a:srgbClr val="0B0F1A"/>
            </a:solidFill>
            <a:prstDash val="solid"/>
          </a:ln>
        </p:spPr>
      </p:sp>
      <p:sp>
        <p:nvSpPr>
          <p:cNvPr id="123" name="Text 91">
            <a:extLst>
              <a:ext uri="{FF2B5EF4-FFF2-40B4-BE49-F238E27FC236}">
                <a16:creationId xmlns:a16="http://schemas.microsoft.com/office/drawing/2014/main" id="{3141CB2C-DC7A-46AD-AE50-7AE8E95573F1}"/>
              </a:ext>
            </a:extLst>
          </p:cNvPr>
          <p:cNvSpPr/>
          <p:nvPr/>
        </p:nvSpPr>
        <p:spPr>
          <a:xfrm>
            <a:off x="914400" y="2635885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C052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PGG</a:t>
            </a:r>
            <a:endParaRPr lang="en-US" sz="750" dirty="0"/>
          </a:p>
        </p:txBody>
      </p:sp>
      <p:sp>
        <p:nvSpPr>
          <p:cNvPr id="124" name="Shape 92">
            <a:extLst>
              <a:ext uri="{FF2B5EF4-FFF2-40B4-BE49-F238E27FC236}">
                <a16:creationId xmlns:a16="http://schemas.microsoft.com/office/drawing/2014/main" id="{4AEF1940-3FC7-4B83-8ECB-DC6647A95FE8}"/>
              </a:ext>
            </a:extLst>
          </p:cNvPr>
          <p:cNvSpPr/>
          <p:nvPr/>
        </p:nvSpPr>
        <p:spPr>
          <a:xfrm>
            <a:off x="1481328" y="2571877"/>
            <a:ext cx="566928" cy="384048"/>
          </a:xfrm>
          <a:prstGeom prst="rect">
            <a:avLst/>
          </a:prstGeom>
          <a:solidFill>
            <a:srgbClr val="141A2E"/>
          </a:solidFill>
          <a:ln w="3810">
            <a:solidFill>
              <a:srgbClr val="0B0F1A"/>
            </a:solidFill>
            <a:prstDash val="solid"/>
          </a:ln>
        </p:spPr>
      </p:sp>
      <p:sp>
        <p:nvSpPr>
          <p:cNvPr id="125" name="Text 93">
            <a:extLst>
              <a:ext uri="{FF2B5EF4-FFF2-40B4-BE49-F238E27FC236}">
                <a16:creationId xmlns:a16="http://schemas.microsoft.com/office/drawing/2014/main" id="{9D871A4E-528B-4B9D-B9D1-65250EE876EA}"/>
              </a:ext>
            </a:extLst>
          </p:cNvPr>
          <p:cNvSpPr/>
          <p:nvPr/>
        </p:nvSpPr>
        <p:spPr>
          <a:xfrm>
            <a:off x="1481328" y="2635885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7A6E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PG</a:t>
            </a:r>
            <a:endParaRPr lang="en-US" sz="750" dirty="0"/>
          </a:p>
        </p:txBody>
      </p:sp>
      <p:sp>
        <p:nvSpPr>
          <p:cNvPr id="126" name="Shape 94">
            <a:extLst>
              <a:ext uri="{FF2B5EF4-FFF2-40B4-BE49-F238E27FC236}">
                <a16:creationId xmlns:a16="http://schemas.microsoft.com/office/drawing/2014/main" id="{48F6E77D-C75F-4EBF-A81A-8C0732FA6F4E}"/>
              </a:ext>
            </a:extLst>
          </p:cNvPr>
          <p:cNvSpPr/>
          <p:nvPr/>
        </p:nvSpPr>
        <p:spPr>
          <a:xfrm>
            <a:off x="2048256" y="2571877"/>
            <a:ext cx="566928" cy="384048"/>
          </a:xfrm>
          <a:prstGeom prst="rect">
            <a:avLst/>
          </a:prstGeom>
          <a:solidFill>
            <a:srgbClr val="141A2E"/>
          </a:solidFill>
          <a:ln w="3810">
            <a:solidFill>
              <a:srgbClr val="0B0F1A"/>
            </a:solidFill>
            <a:prstDash val="solid"/>
          </a:ln>
        </p:spPr>
      </p:sp>
      <p:sp>
        <p:nvSpPr>
          <p:cNvPr id="127" name="Text 95">
            <a:extLst>
              <a:ext uri="{FF2B5EF4-FFF2-40B4-BE49-F238E27FC236}">
                <a16:creationId xmlns:a16="http://schemas.microsoft.com/office/drawing/2014/main" id="{F5F602B3-7C97-4390-BBC9-475819E3A7AE}"/>
              </a:ext>
            </a:extLst>
          </p:cNvPr>
          <p:cNvSpPr/>
          <p:nvPr/>
        </p:nvSpPr>
        <p:spPr>
          <a:xfrm>
            <a:off x="2048256" y="2635885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7A6E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PG</a:t>
            </a:r>
            <a:endParaRPr lang="en-US" sz="750" dirty="0"/>
          </a:p>
        </p:txBody>
      </p:sp>
      <p:sp>
        <p:nvSpPr>
          <p:cNvPr id="128" name="Shape 96">
            <a:extLst>
              <a:ext uri="{FF2B5EF4-FFF2-40B4-BE49-F238E27FC236}">
                <a16:creationId xmlns:a16="http://schemas.microsoft.com/office/drawing/2014/main" id="{3D3F900D-EC85-4A89-9F1A-B985E8A6C14D}"/>
              </a:ext>
            </a:extLst>
          </p:cNvPr>
          <p:cNvSpPr/>
          <p:nvPr/>
        </p:nvSpPr>
        <p:spPr>
          <a:xfrm>
            <a:off x="2615184" y="2571877"/>
            <a:ext cx="566928" cy="384048"/>
          </a:xfrm>
          <a:prstGeom prst="rect">
            <a:avLst/>
          </a:prstGeom>
          <a:solidFill>
            <a:srgbClr val="1A2240"/>
          </a:solidFill>
          <a:ln w="3810">
            <a:solidFill>
              <a:srgbClr val="0B0F1A"/>
            </a:solidFill>
            <a:prstDash val="solid"/>
          </a:ln>
        </p:spPr>
      </p:sp>
      <p:sp>
        <p:nvSpPr>
          <p:cNvPr id="129" name="Text 97">
            <a:extLst>
              <a:ext uri="{FF2B5EF4-FFF2-40B4-BE49-F238E27FC236}">
                <a16:creationId xmlns:a16="http://schemas.microsoft.com/office/drawing/2014/main" id="{195AA670-9D43-47A4-A03A-867CA86DEFCC}"/>
              </a:ext>
            </a:extLst>
          </p:cNvPr>
          <p:cNvSpPr/>
          <p:nvPr/>
        </p:nvSpPr>
        <p:spPr>
          <a:xfrm>
            <a:off x="2615184" y="2635885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2C4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</a:t>
            </a:r>
            <a:endParaRPr lang="en-US" sz="750" dirty="0"/>
          </a:p>
        </p:txBody>
      </p:sp>
      <p:sp>
        <p:nvSpPr>
          <p:cNvPr id="130" name="Shape 98">
            <a:extLst>
              <a:ext uri="{FF2B5EF4-FFF2-40B4-BE49-F238E27FC236}">
                <a16:creationId xmlns:a16="http://schemas.microsoft.com/office/drawing/2014/main" id="{B0E4CA55-E927-417A-AFAA-400DB560112B}"/>
              </a:ext>
            </a:extLst>
          </p:cNvPr>
          <p:cNvSpPr/>
          <p:nvPr/>
        </p:nvSpPr>
        <p:spPr>
          <a:xfrm>
            <a:off x="3182112" y="2571877"/>
            <a:ext cx="566928" cy="384048"/>
          </a:xfrm>
          <a:prstGeom prst="rect">
            <a:avLst/>
          </a:prstGeom>
          <a:solidFill>
            <a:srgbClr val="141A2E"/>
          </a:solidFill>
          <a:ln w="3810">
            <a:solidFill>
              <a:srgbClr val="0B0F1A"/>
            </a:solidFill>
            <a:prstDash val="solid"/>
          </a:ln>
        </p:spPr>
      </p:sp>
      <p:sp>
        <p:nvSpPr>
          <p:cNvPr id="131" name="Text 99">
            <a:extLst>
              <a:ext uri="{FF2B5EF4-FFF2-40B4-BE49-F238E27FC236}">
                <a16:creationId xmlns:a16="http://schemas.microsoft.com/office/drawing/2014/main" id="{126E8CDF-4C8E-412E-9EF4-D18BBBF6FFA4}"/>
              </a:ext>
            </a:extLst>
          </p:cNvPr>
          <p:cNvSpPr/>
          <p:nvPr/>
        </p:nvSpPr>
        <p:spPr>
          <a:xfrm>
            <a:off x="3182112" y="2635885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E08C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</a:t>
            </a:r>
            <a:endParaRPr lang="en-US" sz="750" dirty="0"/>
          </a:p>
        </p:txBody>
      </p:sp>
      <p:sp>
        <p:nvSpPr>
          <p:cNvPr id="132" name="Shape 100">
            <a:extLst>
              <a:ext uri="{FF2B5EF4-FFF2-40B4-BE49-F238E27FC236}">
                <a16:creationId xmlns:a16="http://schemas.microsoft.com/office/drawing/2014/main" id="{795F6B68-168A-4C68-82F0-C5010B1D21F1}"/>
              </a:ext>
            </a:extLst>
          </p:cNvPr>
          <p:cNvSpPr/>
          <p:nvPr/>
        </p:nvSpPr>
        <p:spPr>
          <a:xfrm>
            <a:off x="3749040" y="2571877"/>
            <a:ext cx="566928" cy="384048"/>
          </a:xfrm>
          <a:prstGeom prst="rect">
            <a:avLst/>
          </a:prstGeom>
          <a:solidFill>
            <a:srgbClr val="141A2E"/>
          </a:solidFill>
          <a:ln w="3810">
            <a:solidFill>
              <a:srgbClr val="0B0F1A"/>
            </a:solidFill>
            <a:prstDash val="solid"/>
          </a:ln>
        </p:spPr>
      </p:sp>
      <p:sp>
        <p:nvSpPr>
          <p:cNvPr id="133" name="Text 101">
            <a:extLst>
              <a:ext uri="{FF2B5EF4-FFF2-40B4-BE49-F238E27FC236}">
                <a16:creationId xmlns:a16="http://schemas.microsoft.com/office/drawing/2014/main" id="{5F06D358-DDFB-4287-B3F3-2542573BCF32}"/>
              </a:ext>
            </a:extLst>
          </p:cNvPr>
          <p:cNvSpPr/>
          <p:nvPr/>
        </p:nvSpPr>
        <p:spPr>
          <a:xfrm>
            <a:off x="3749040" y="2635885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E08C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</a:t>
            </a:r>
            <a:endParaRPr lang="en-US" sz="750" dirty="0"/>
          </a:p>
        </p:txBody>
      </p:sp>
      <p:sp>
        <p:nvSpPr>
          <p:cNvPr id="134" name="Shape 102">
            <a:extLst>
              <a:ext uri="{FF2B5EF4-FFF2-40B4-BE49-F238E27FC236}">
                <a16:creationId xmlns:a16="http://schemas.microsoft.com/office/drawing/2014/main" id="{22C1DECB-04CB-4FB3-A633-6E408B2F8863}"/>
              </a:ext>
            </a:extLst>
          </p:cNvPr>
          <p:cNvSpPr/>
          <p:nvPr/>
        </p:nvSpPr>
        <p:spPr>
          <a:xfrm>
            <a:off x="4315968" y="2571877"/>
            <a:ext cx="566928" cy="384048"/>
          </a:xfrm>
          <a:prstGeom prst="rect">
            <a:avLst/>
          </a:prstGeom>
          <a:solidFill>
            <a:srgbClr val="141A2E"/>
          </a:solidFill>
          <a:ln w="3810">
            <a:solidFill>
              <a:srgbClr val="0B0F1A"/>
            </a:solidFill>
            <a:prstDash val="solid"/>
          </a:ln>
        </p:spPr>
      </p:sp>
      <p:sp>
        <p:nvSpPr>
          <p:cNvPr id="135" name="Text 103">
            <a:extLst>
              <a:ext uri="{FF2B5EF4-FFF2-40B4-BE49-F238E27FC236}">
                <a16:creationId xmlns:a16="http://schemas.microsoft.com/office/drawing/2014/main" id="{6E1D8B35-6587-4FF3-853D-1D3201C3D353}"/>
              </a:ext>
            </a:extLst>
          </p:cNvPr>
          <p:cNvSpPr/>
          <p:nvPr/>
        </p:nvSpPr>
        <p:spPr>
          <a:xfrm>
            <a:off x="4315968" y="2635885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E05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NGG</a:t>
            </a:r>
            <a:endParaRPr lang="en-US" sz="750" dirty="0"/>
          </a:p>
        </p:txBody>
      </p:sp>
      <p:sp>
        <p:nvSpPr>
          <p:cNvPr id="136" name="Shape 104">
            <a:extLst>
              <a:ext uri="{FF2B5EF4-FFF2-40B4-BE49-F238E27FC236}">
                <a16:creationId xmlns:a16="http://schemas.microsoft.com/office/drawing/2014/main" id="{C43C1271-09C5-4F88-ABB9-C898CC662936}"/>
              </a:ext>
            </a:extLst>
          </p:cNvPr>
          <p:cNvSpPr/>
          <p:nvPr/>
        </p:nvSpPr>
        <p:spPr>
          <a:xfrm>
            <a:off x="292608" y="2955925"/>
            <a:ext cx="594360" cy="384048"/>
          </a:xfrm>
          <a:prstGeom prst="rect">
            <a:avLst/>
          </a:prstGeom>
          <a:solidFill>
            <a:srgbClr val="52A8E0"/>
          </a:solidFill>
          <a:ln w="3810">
            <a:solidFill>
              <a:srgbClr val="0B0F1A"/>
            </a:solidFill>
            <a:prstDash val="solid"/>
          </a:ln>
        </p:spPr>
      </p:sp>
      <p:sp>
        <p:nvSpPr>
          <p:cNvPr id="137" name="Text 105">
            <a:extLst>
              <a:ext uri="{FF2B5EF4-FFF2-40B4-BE49-F238E27FC236}">
                <a16:creationId xmlns:a16="http://schemas.microsoft.com/office/drawing/2014/main" id="{7DE27A83-C3C9-4E37-BD39-B31928F3103C}"/>
              </a:ext>
            </a:extLst>
          </p:cNvPr>
          <p:cNvSpPr/>
          <p:nvPr/>
        </p:nvSpPr>
        <p:spPr>
          <a:xfrm>
            <a:off x="292608" y="3019933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B0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PP</a:t>
            </a:r>
            <a:endParaRPr lang="en-US" sz="750" dirty="0"/>
          </a:p>
        </p:txBody>
      </p:sp>
      <p:sp>
        <p:nvSpPr>
          <p:cNvPr id="138" name="Shape 106">
            <a:extLst>
              <a:ext uri="{FF2B5EF4-FFF2-40B4-BE49-F238E27FC236}">
                <a16:creationId xmlns:a16="http://schemas.microsoft.com/office/drawing/2014/main" id="{18BB5C54-DFFE-45FE-B167-09E2B585B7CF}"/>
              </a:ext>
            </a:extLst>
          </p:cNvPr>
          <p:cNvSpPr/>
          <p:nvPr/>
        </p:nvSpPr>
        <p:spPr>
          <a:xfrm>
            <a:off x="914400" y="2955925"/>
            <a:ext cx="566928" cy="384048"/>
          </a:xfrm>
          <a:prstGeom prst="rect">
            <a:avLst/>
          </a:prstGeom>
          <a:solidFill>
            <a:srgbClr val="141A2E"/>
          </a:solidFill>
          <a:ln w="3810">
            <a:solidFill>
              <a:srgbClr val="0B0F1A"/>
            </a:solidFill>
            <a:prstDash val="solid"/>
          </a:ln>
        </p:spPr>
      </p:sp>
      <p:sp>
        <p:nvSpPr>
          <p:cNvPr id="139" name="Text 107">
            <a:extLst>
              <a:ext uri="{FF2B5EF4-FFF2-40B4-BE49-F238E27FC236}">
                <a16:creationId xmlns:a16="http://schemas.microsoft.com/office/drawing/2014/main" id="{39AFA638-1E83-4EC8-A6F4-8F114A37F68F}"/>
              </a:ext>
            </a:extLst>
          </p:cNvPr>
          <p:cNvSpPr/>
          <p:nvPr/>
        </p:nvSpPr>
        <p:spPr>
          <a:xfrm>
            <a:off x="914400" y="3019933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C052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PGG</a:t>
            </a:r>
            <a:endParaRPr lang="en-US" sz="750" dirty="0"/>
          </a:p>
        </p:txBody>
      </p:sp>
      <p:sp>
        <p:nvSpPr>
          <p:cNvPr id="140" name="Shape 108">
            <a:extLst>
              <a:ext uri="{FF2B5EF4-FFF2-40B4-BE49-F238E27FC236}">
                <a16:creationId xmlns:a16="http://schemas.microsoft.com/office/drawing/2014/main" id="{DEA38845-A531-4654-B5B2-3C6135541A98}"/>
              </a:ext>
            </a:extLst>
          </p:cNvPr>
          <p:cNvSpPr/>
          <p:nvPr/>
        </p:nvSpPr>
        <p:spPr>
          <a:xfrm>
            <a:off x="1481328" y="2955925"/>
            <a:ext cx="566928" cy="384048"/>
          </a:xfrm>
          <a:prstGeom prst="rect">
            <a:avLst/>
          </a:prstGeom>
          <a:solidFill>
            <a:srgbClr val="141A2E"/>
          </a:solidFill>
          <a:ln w="3810">
            <a:solidFill>
              <a:srgbClr val="0B0F1A"/>
            </a:solidFill>
            <a:prstDash val="solid"/>
          </a:ln>
        </p:spPr>
      </p:sp>
      <p:sp>
        <p:nvSpPr>
          <p:cNvPr id="141" name="Text 109">
            <a:extLst>
              <a:ext uri="{FF2B5EF4-FFF2-40B4-BE49-F238E27FC236}">
                <a16:creationId xmlns:a16="http://schemas.microsoft.com/office/drawing/2014/main" id="{4B2C093A-BDCA-465A-89F6-01E86A1DD445}"/>
              </a:ext>
            </a:extLst>
          </p:cNvPr>
          <p:cNvSpPr/>
          <p:nvPr/>
        </p:nvSpPr>
        <p:spPr>
          <a:xfrm>
            <a:off x="1481328" y="3019933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2A8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PP</a:t>
            </a:r>
            <a:endParaRPr lang="en-US" sz="750" dirty="0"/>
          </a:p>
        </p:txBody>
      </p:sp>
      <p:sp>
        <p:nvSpPr>
          <p:cNvPr id="142" name="Shape 110">
            <a:extLst>
              <a:ext uri="{FF2B5EF4-FFF2-40B4-BE49-F238E27FC236}">
                <a16:creationId xmlns:a16="http://schemas.microsoft.com/office/drawing/2014/main" id="{6E608659-8C1C-4958-8AF4-02BD8C9A61FD}"/>
              </a:ext>
            </a:extLst>
          </p:cNvPr>
          <p:cNvSpPr/>
          <p:nvPr/>
        </p:nvSpPr>
        <p:spPr>
          <a:xfrm>
            <a:off x="2048256" y="2955925"/>
            <a:ext cx="566928" cy="384048"/>
          </a:xfrm>
          <a:prstGeom prst="rect">
            <a:avLst/>
          </a:prstGeom>
          <a:solidFill>
            <a:srgbClr val="1A2240"/>
          </a:solidFill>
          <a:ln w="3810">
            <a:solidFill>
              <a:srgbClr val="0B0F1A"/>
            </a:solidFill>
            <a:prstDash val="solid"/>
          </a:ln>
        </p:spPr>
      </p:sp>
      <p:sp>
        <p:nvSpPr>
          <p:cNvPr id="143" name="Text 111">
            <a:extLst>
              <a:ext uri="{FF2B5EF4-FFF2-40B4-BE49-F238E27FC236}">
                <a16:creationId xmlns:a16="http://schemas.microsoft.com/office/drawing/2014/main" id="{7F4307A3-1D04-46BE-9BBD-22262BA045D3}"/>
              </a:ext>
            </a:extLst>
          </p:cNvPr>
          <p:cNvSpPr/>
          <p:nvPr/>
        </p:nvSpPr>
        <p:spPr>
          <a:xfrm>
            <a:off x="2048256" y="3019933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2A8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PP</a:t>
            </a:r>
            <a:endParaRPr lang="en-US" sz="750" dirty="0"/>
          </a:p>
        </p:txBody>
      </p:sp>
      <p:sp>
        <p:nvSpPr>
          <p:cNvPr id="144" name="Shape 112">
            <a:extLst>
              <a:ext uri="{FF2B5EF4-FFF2-40B4-BE49-F238E27FC236}">
                <a16:creationId xmlns:a16="http://schemas.microsoft.com/office/drawing/2014/main" id="{5E1C2C5D-A010-4D5E-A66F-CB2C2EFE596E}"/>
              </a:ext>
            </a:extLst>
          </p:cNvPr>
          <p:cNvSpPr/>
          <p:nvPr/>
        </p:nvSpPr>
        <p:spPr>
          <a:xfrm>
            <a:off x="2615184" y="2955925"/>
            <a:ext cx="566928" cy="384048"/>
          </a:xfrm>
          <a:prstGeom prst="rect">
            <a:avLst/>
          </a:prstGeom>
          <a:solidFill>
            <a:srgbClr val="141A2E"/>
          </a:solidFill>
          <a:ln w="3810">
            <a:solidFill>
              <a:srgbClr val="0B0F1A"/>
            </a:solidFill>
            <a:prstDash val="solid"/>
          </a:ln>
        </p:spPr>
      </p:sp>
      <p:sp>
        <p:nvSpPr>
          <p:cNvPr id="145" name="Text 113">
            <a:extLst>
              <a:ext uri="{FF2B5EF4-FFF2-40B4-BE49-F238E27FC236}">
                <a16:creationId xmlns:a16="http://schemas.microsoft.com/office/drawing/2014/main" id="{54E4A05D-3F1F-45B1-9D29-3885DF6DEE4F}"/>
              </a:ext>
            </a:extLst>
          </p:cNvPr>
          <p:cNvSpPr/>
          <p:nvPr/>
        </p:nvSpPr>
        <p:spPr>
          <a:xfrm>
            <a:off x="2615184" y="3019933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D4C8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</a:t>
            </a:r>
            <a:endParaRPr lang="en-US" sz="750" dirty="0"/>
          </a:p>
        </p:txBody>
      </p:sp>
      <p:sp>
        <p:nvSpPr>
          <p:cNvPr id="146" name="Shape 114">
            <a:extLst>
              <a:ext uri="{FF2B5EF4-FFF2-40B4-BE49-F238E27FC236}">
                <a16:creationId xmlns:a16="http://schemas.microsoft.com/office/drawing/2014/main" id="{83E5FC4B-4DED-43D2-8061-C6F4F01B9309}"/>
              </a:ext>
            </a:extLst>
          </p:cNvPr>
          <p:cNvSpPr/>
          <p:nvPr/>
        </p:nvSpPr>
        <p:spPr>
          <a:xfrm>
            <a:off x="3182112" y="2955925"/>
            <a:ext cx="566928" cy="384048"/>
          </a:xfrm>
          <a:prstGeom prst="rect">
            <a:avLst/>
          </a:prstGeom>
          <a:solidFill>
            <a:srgbClr val="1A2240"/>
          </a:solidFill>
          <a:ln w="3810">
            <a:solidFill>
              <a:srgbClr val="0B0F1A"/>
            </a:solidFill>
            <a:prstDash val="solid"/>
          </a:ln>
        </p:spPr>
      </p:sp>
      <p:sp>
        <p:nvSpPr>
          <p:cNvPr id="147" name="Text 115">
            <a:extLst>
              <a:ext uri="{FF2B5EF4-FFF2-40B4-BE49-F238E27FC236}">
                <a16:creationId xmlns:a16="http://schemas.microsoft.com/office/drawing/2014/main" id="{1D2EB1A5-4950-43F0-AC98-ED542E117D7A}"/>
              </a:ext>
            </a:extLst>
          </p:cNvPr>
          <p:cNvSpPr/>
          <p:nvPr/>
        </p:nvSpPr>
        <p:spPr>
          <a:xfrm>
            <a:off x="3182112" y="3019933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E08C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</a:t>
            </a:r>
            <a:endParaRPr lang="en-US" sz="750" dirty="0"/>
          </a:p>
        </p:txBody>
      </p:sp>
      <p:sp>
        <p:nvSpPr>
          <p:cNvPr id="148" name="Shape 116">
            <a:extLst>
              <a:ext uri="{FF2B5EF4-FFF2-40B4-BE49-F238E27FC236}">
                <a16:creationId xmlns:a16="http://schemas.microsoft.com/office/drawing/2014/main" id="{C94DF2C2-949A-4CDE-9C3E-23B9411B04EF}"/>
              </a:ext>
            </a:extLst>
          </p:cNvPr>
          <p:cNvSpPr/>
          <p:nvPr/>
        </p:nvSpPr>
        <p:spPr>
          <a:xfrm>
            <a:off x="3749040" y="2955925"/>
            <a:ext cx="566928" cy="384048"/>
          </a:xfrm>
          <a:prstGeom prst="rect">
            <a:avLst/>
          </a:prstGeom>
          <a:solidFill>
            <a:srgbClr val="141A2E"/>
          </a:solidFill>
          <a:ln w="3810">
            <a:solidFill>
              <a:srgbClr val="0B0F1A"/>
            </a:solidFill>
            <a:prstDash val="solid"/>
          </a:ln>
        </p:spPr>
      </p:sp>
      <p:sp>
        <p:nvSpPr>
          <p:cNvPr id="149" name="Text 117">
            <a:extLst>
              <a:ext uri="{FF2B5EF4-FFF2-40B4-BE49-F238E27FC236}">
                <a16:creationId xmlns:a16="http://schemas.microsoft.com/office/drawing/2014/main" id="{BA6A4FB5-532E-49EA-BE4E-58EB06E6D312}"/>
              </a:ext>
            </a:extLst>
          </p:cNvPr>
          <p:cNvSpPr/>
          <p:nvPr/>
        </p:nvSpPr>
        <p:spPr>
          <a:xfrm>
            <a:off x="3749040" y="3019933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E05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NGG</a:t>
            </a:r>
            <a:endParaRPr lang="en-US" sz="750" dirty="0"/>
          </a:p>
        </p:txBody>
      </p:sp>
      <p:sp>
        <p:nvSpPr>
          <p:cNvPr id="150" name="Shape 118">
            <a:extLst>
              <a:ext uri="{FF2B5EF4-FFF2-40B4-BE49-F238E27FC236}">
                <a16:creationId xmlns:a16="http://schemas.microsoft.com/office/drawing/2014/main" id="{B901CB76-622C-47CC-B213-76D434068D5E}"/>
              </a:ext>
            </a:extLst>
          </p:cNvPr>
          <p:cNvSpPr/>
          <p:nvPr/>
        </p:nvSpPr>
        <p:spPr>
          <a:xfrm>
            <a:off x="4315968" y="2955925"/>
            <a:ext cx="566928" cy="384048"/>
          </a:xfrm>
          <a:prstGeom prst="rect">
            <a:avLst/>
          </a:prstGeom>
          <a:solidFill>
            <a:srgbClr val="141A2E"/>
          </a:solidFill>
          <a:ln w="3810">
            <a:solidFill>
              <a:srgbClr val="0B0F1A"/>
            </a:solidFill>
            <a:prstDash val="solid"/>
          </a:ln>
        </p:spPr>
      </p:sp>
      <p:sp>
        <p:nvSpPr>
          <p:cNvPr id="151" name="Text 119">
            <a:extLst>
              <a:ext uri="{FF2B5EF4-FFF2-40B4-BE49-F238E27FC236}">
                <a16:creationId xmlns:a16="http://schemas.microsoft.com/office/drawing/2014/main" id="{A0EC3EFB-70A7-4173-A068-2E3AE86987A3}"/>
              </a:ext>
            </a:extLst>
          </p:cNvPr>
          <p:cNvSpPr/>
          <p:nvPr/>
        </p:nvSpPr>
        <p:spPr>
          <a:xfrm>
            <a:off x="4315968" y="3019933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E05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NGG</a:t>
            </a:r>
            <a:endParaRPr lang="en-US" sz="750" dirty="0"/>
          </a:p>
        </p:txBody>
      </p:sp>
      <p:sp>
        <p:nvSpPr>
          <p:cNvPr id="152" name="Shape 120">
            <a:extLst>
              <a:ext uri="{FF2B5EF4-FFF2-40B4-BE49-F238E27FC236}">
                <a16:creationId xmlns:a16="http://schemas.microsoft.com/office/drawing/2014/main" id="{826E185C-FDC7-48BA-BD74-47B057D4E383}"/>
              </a:ext>
            </a:extLst>
          </p:cNvPr>
          <p:cNvSpPr/>
          <p:nvPr/>
        </p:nvSpPr>
        <p:spPr>
          <a:xfrm>
            <a:off x="292608" y="3339973"/>
            <a:ext cx="594360" cy="384048"/>
          </a:xfrm>
          <a:prstGeom prst="rect">
            <a:avLst/>
          </a:prstGeom>
          <a:solidFill>
            <a:srgbClr val="7A6EE0"/>
          </a:solidFill>
          <a:ln w="3810">
            <a:solidFill>
              <a:srgbClr val="0B0F1A"/>
            </a:solidFill>
            <a:prstDash val="solid"/>
          </a:ln>
        </p:spPr>
      </p:sp>
      <p:sp>
        <p:nvSpPr>
          <p:cNvPr id="153" name="Text 121">
            <a:extLst>
              <a:ext uri="{FF2B5EF4-FFF2-40B4-BE49-F238E27FC236}">
                <a16:creationId xmlns:a16="http://schemas.microsoft.com/office/drawing/2014/main" id="{7D37A6D2-1726-49B6-9B83-25FF74B320F9}"/>
              </a:ext>
            </a:extLst>
          </p:cNvPr>
          <p:cNvSpPr/>
          <p:nvPr/>
        </p:nvSpPr>
        <p:spPr>
          <a:xfrm>
            <a:off x="292608" y="3403981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B0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PG</a:t>
            </a:r>
            <a:endParaRPr lang="en-US" sz="750" dirty="0"/>
          </a:p>
        </p:txBody>
      </p:sp>
      <p:sp>
        <p:nvSpPr>
          <p:cNvPr id="154" name="Shape 122">
            <a:extLst>
              <a:ext uri="{FF2B5EF4-FFF2-40B4-BE49-F238E27FC236}">
                <a16:creationId xmlns:a16="http://schemas.microsoft.com/office/drawing/2014/main" id="{C97FE3D0-7EA0-4A13-9B27-0830F51B7142}"/>
              </a:ext>
            </a:extLst>
          </p:cNvPr>
          <p:cNvSpPr/>
          <p:nvPr/>
        </p:nvSpPr>
        <p:spPr>
          <a:xfrm>
            <a:off x="914400" y="3339973"/>
            <a:ext cx="566928" cy="384048"/>
          </a:xfrm>
          <a:prstGeom prst="rect">
            <a:avLst/>
          </a:prstGeom>
          <a:solidFill>
            <a:srgbClr val="141A2E"/>
          </a:solidFill>
          <a:ln w="3810">
            <a:solidFill>
              <a:srgbClr val="0B0F1A"/>
            </a:solidFill>
            <a:prstDash val="solid"/>
          </a:ln>
        </p:spPr>
      </p:sp>
      <p:sp>
        <p:nvSpPr>
          <p:cNvPr id="155" name="Text 123">
            <a:extLst>
              <a:ext uri="{FF2B5EF4-FFF2-40B4-BE49-F238E27FC236}">
                <a16:creationId xmlns:a16="http://schemas.microsoft.com/office/drawing/2014/main" id="{8326F41F-143F-4AD2-9D58-73BE65DCC4F1}"/>
              </a:ext>
            </a:extLst>
          </p:cNvPr>
          <p:cNvSpPr/>
          <p:nvPr/>
        </p:nvSpPr>
        <p:spPr>
          <a:xfrm>
            <a:off x="914400" y="3403981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7A6E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PG</a:t>
            </a:r>
            <a:endParaRPr lang="en-US" sz="750" dirty="0"/>
          </a:p>
        </p:txBody>
      </p:sp>
      <p:sp>
        <p:nvSpPr>
          <p:cNvPr id="156" name="Shape 124">
            <a:extLst>
              <a:ext uri="{FF2B5EF4-FFF2-40B4-BE49-F238E27FC236}">
                <a16:creationId xmlns:a16="http://schemas.microsoft.com/office/drawing/2014/main" id="{D904F955-F310-4922-AB19-D172018AC89C}"/>
              </a:ext>
            </a:extLst>
          </p:cNvPr>
          <p:cNvSpPr/>
          <p:nvPr/>
        </p:nvSpPr>
        <p:spPr>
          <a:xfrm>
            <a:off x="1481328" y="3339973"/>
            <a:ext cx="566928" cy="384048"/>
          </a:xfrm>
          <a:prstGeom prst="rect">
            <a:avLst/>
          </a:prstGeom>
          <a:solidFill>
            <a:srgbClr val="1A2240"/>
          </a:solidFill>
          <a:ln w="3810">
            <a:solidFill>
              <a:srgbClr val="0B0F1A"/>
            </a:solidFill>
            <a:prstDash val="solid"/>
          </a:ln>
        </p:spPr>
      </p:sp>
      <p:sp>
        <p:nvSpPr>
          <p:cNvPr id="157" name="Text 125">
            <a:extLst>
              <a:ext uri="{FF2B5EF4-FFF2-40B4-BE49-F238E27FC236}">
                <a16:creationId xmlns:a16="http://schemas.microsoft.com/office/drawing/2014/main" id="{5B16D702-C883-47A6-9245-74E4575F4645}"/>
              </a:ext>
            </a:extLst>
          </p:cNvPr>
          <p:cNvSpPr/>
          <p:nvPr/>
        </p:nvSpPr>
        <p:spPr>
          <a:xfrm>
            <a:off x="1481328" y="3403981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2A8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PP</a:t>
            </a:r>
            <a:endParaRPr lang="en-US" sz="750" dirty="0"/>
          </a:p>
        </p:txBody>
      </p:sp>
      <p:sp>
        <p:nvSpPr>
          <p:cNvPr id="158" name="Shape 126">
            <a:extLst>
              <a:ext uri="{FF2B5EF4-FFF2-40B4-BE49-F238E27FC236}">
                <a16:creationId xmlns:a16="http://schemas.microsoft.com/office/drawing/2014/main" id="{AAE69F5B-52A5-4648-8E9E-1436DD8B6062}"/>
              </a:ext>
            </a:extLst>
          </p:cNvPr>
          <p:cNvSpPr/>
          <p:nvPr/>
        </p:nvSpPr>
        <p:spPr>
          <a:xfrm>
            <a:off x="2048256" y="3339973"/>
            <a:ext cx="566928" cy="384048"/>
          </a:xfrm>
          <a:prstGeom prst="rect">
            <a:avLst/>
          </a:prstGeom>
          <a:solidFill>
            <a:srgbClr val="141A2E"/>
          </a:solidFill>
          <a:ln w="3810">
            <a:solidFill>
              <a:srgbClr val="0B0F1A"/>
            </a:solidFill>
            <a:prstDash val="solid"/>
          </a:ln>
        </p:spPr>
      </p:sp>
      <p:sp>
        <p:nvSpPr>
          <p:cNvPr id="159" name="Text 127">
            <a:extLst>
              <a:ext uri="{FF2B5EF4-FFF2-40B4-BE49-F238E27FC236}">
                <a16:creationId xmlns:a16="http://schemas.microsoft.com/office/drawing/2014/main" id="{888ABE26-7115-4B55-BEB9-E710B7D0009F}"/>
              </a:ext>
            </a:extLst>
          </p:cNvPr>
          <p:cNvSpPr/>
          <p:nvPr/>
        </p:nvSpPr>
        <p:spPr>
          <a:xfrm>
            <a:off x="2048256" y="3403981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2C4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</a:t>
            </a:r>
            <a:endParaRPr lang="en-US" sz="750" dirty="0"/>
          </a:p>
        </p:txBody>
      </p:sp>
      <p:sp>
        <p:nvSpPr>
          <p:cNvPr id="160" name="Shape 128">
            <a:extLst>
              <a:ext uri="{FF2B5EF4-FFF2-40B4-BE49-F238E27FC236}">
                <a16:creationId xmlns:a16="http://schemas.microsoft.com/office/drawing/2014/main" id="{A5C50FE3-21DC-4DEC-9DF5-447AE42C5846}"/>
              </a:ext>
            </a:extLst>
          </p:cNvPr>
          <p:cNvSpPr/>
          <p:nvPr/>
        </p:nvSpPr>
        <p:spPr>
          <a:xfrm>
            <a:off x="2615184" y="3339973"/>
            <a:ext cx="566928" cy="384048"/>
          </a:xfrm>
          <a:prstGeom prst="rect">
            <a:avLst/>
          </a:prstGeom>
          <a:solidFill>
            <a:srgbClr val="141A2E"/>
          </a:solidFill>
          <a:ln w="3810">
            <a:solidFill>
              <a:srgbClr val="0B0F1A"/>
            </a:solidFill>
            <a:prstDash val="solid"/>
          </a:ln>
        </p:spPr>
      </p:sp>
      <p:sp>
        <p:nvSpPr>
          <p:cNvPr id="161" name="Text 129">
            <a:extLst>
              <a:ext uri="{FF2B5EF4-FFF2-40B4-BE49-F238E27FC236}">
                <a16:creationId xmlns:a16="http://schemas.microsoft.com/office/drawing/2014/main" id="{EB672DFA-442E-46EE-94E2-A623956354F5}"/>
              </a:ext>
            </a:extLst>
          </p:cNvPr>
          <p:cNvSpPr/>
          <p:nvPr/>
        </p:nvSpPr>
        <p:spPr>
          <a:xfrm>
            <a:off x="2615184" y="3403981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D4C8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</a:t>
            </a:r>
            <a:endParaRPr lang="en-US" sz="750" dirty="0"/>
          </a:p>
        </p:txBody>
      </p:sp>
      <p:sp>
        <p:nvSpPr>
          <p:cNvPr id="162" name="Shape 130">
            <a:extLst>
              <a:ext uri="{FF2B5EF4-FFF2-40B4-BE49-F238E27FC236}">
                <a16:creationId xmlns:a16="http://schemas.microsoft.com/office/drawing/2014/main" id="{17B331C8-D6E7-4B12-8345-66984DDE6A64}"/>
              </a:ext>
            </a:extLst>
          </p:cNvPr>
          <p:cNvSpPr/>
          <p:nvPr/>
        </p:nvSpPr>
        <p:spPr>
          <a:xfrm>
            <a:off x="3182112" y="3339973"/>
            <a:ext cx="566928" cy="384048"/>
          </a:xfrm>
          <a:prstGeom prst="rect">
            <a:avLst/>
          </a:prstGeom>
          <a:solidFill>
            <a:srgbClr val="141A2E"/>
          </a:solidFill>
          <a:ln w="3810">
            <a:solidFill>
              <a:srgbClr val="0B0F1A"/>
            </a:solidFill>
            <a:prstDash val="solid"/>
          </a:ln>
        </p:spPr>
      </p:sp>
      <p:sp>
        <p:nvSpPr>
          <p:cNvPr id="163" name="Text 131">
            <a:extLst>
              <a:ext uri="{FF2B5EF4-FFF2-40B4-BE49-F238E27FC236}">
                <a16:creationId xmlns:a16="http://schemas.microsoft.com/office/drawing/2014/main" id="{52F6A507-70FF-4AEC-8E47-F10E305AADA8}"/>
              </a:ext>
            </a:extLst>
          </p:cNvPr>
          <p:cNvSpPr/>
          <p:nvPr/>
        </p:nvSpPr>
        <p:spPr>
          <a:xfrm>
            <a:off x="3182112" y="3403981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E08C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</a:t>
            </a:r>
            <a:endParaRPr lang="en-US" sz="750" dirty="0"/>
          </a:p>
        </p:txBody>
      </p:sp>
      <p:sp>
        <p:nvSpPr>
          <p:cNvPr id="164" name="Shape 132">
            <a:extLst>
              <a:ext uri="{FF2B5EF4-FFF2-40B4-BE49-F238E27FC236}">
                <a16:creationId xmlns:a16="http://schemas.microsoft.com/office/drawing/2014/main" id="{C1296A51-514D-42D1-8266-C54ED06D1207}"/>
              </a:ext>
            </a:extLst>
          </p:cNvPr>
          <p:cNvSpPr/>
          <p:nvPr/>
        </p:nvSpPr>
        <p:spPr>
          <a:xfrm>
            <a:off x="3749040" y="3339973"/>
            <a:ext cx="566928" cy="384048"/>
          </a:xfrm>
          <a:prstGeom prst="rect">
            <a:avLst/>
          </a:prstGeom>
          <a:solidFill>
            <a:srgbClr val="1A2240"/>
          </a:solidFill>
          <a:ln w="3810">
            <a:solidFill>
              <a:srgbClr val="0B0F1A"/>
            </a:solidFill>
            <a:prstDash val="solid"/>
          </a:ln>
        </p:spPr>
      </p:sp>
      <p:sp>
        <p:nvSpPr>
          <p:cNvPr id="165" name="Text 133">
            <a:extLst>
              <a:ext uri="{FF2B5EF4-FFF2-40B4-BE49-F238E27FC236}">
                <a16:creationId xmlns:a16="http://schemas.microsoft.com/office/drawing/2014/main" id="{84838ADE-AB5E-4F70-8D3E-CF137E5692A3}"/>
              </a:ext>
            </a:extLst>
          </p:cNvPr>
          <p:cNvSpPr/>
          <p:nvPr/>
        </p:nvSpPr>
        <p:spPr>
          <a:xfrm>
            <a:off x="3749040" y="3403981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E05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NGG</a:t>
            </a:r>
            <a:endParaRPr lang="en-US" sz="750" dirty="0"/>
          </a:p>
        </p:txBody>
      </p:sp>
      <p:sp>
        <p:nvSpPr>
          <p:cNvPr id="166" name="Shape 134">
            <a:extLst>
              <a:ext uri="{FF2B5EF4-FFF2-40B4-BE49-F238E27FC236}">
                <a16:creationId xmlns:a16="http://schemas.microsoft.com/office/drawing/2014/main" id="{C106CEE0-3DB1-401D-835D-990061C9E1BA}"/>
              </a:ext>
            </a:extLst>
          </p:cNvPr>
          <p:cNvSpPr/>
          <p:nvPr/>
        </p:nvSpPr>
        <p:spPr>
          <a:xfrm>
            <a:off x="4315968" y="3339973"/>
            <a:ext cx="566928" cy="384048"/>
          </a:xfrm>
          <a:prstGeom prst="rect">
            <a:avLst/>
          </a:prstGeom>
          <a:solidFill>
            <a:srgbClr val="141A2E"/>
          </a:solidFill>
          <a:ln w="3810">
            <a:solidFill>
              <a:srgbClr val="0B0F1A"/>
            </a:solidFill>
            <a:prstDash val="solid"/>
          </a:ln>
        </p:spPr>
      </p:sp>
      <p:sp>
        <p:nvSpPr>
          <p:cNvPr id="167" name="Text 135">
            <a:extLst>
              <a:ext uri="{FF2B5EF4-FFF2-40B4-BE49-F238E27FC236}">
                <a16:creationId xmlns:a16="http://schemas.microsoft.com/office/drawing/2014/main" id="{2141427A-F146-45D4-A5A1-877607C0034E}"/>
              </a:ext>
            </a:extLst>
          </p:cNvPr>
          <p:cNvSpPr/>
          <p:nvPr/>
        </p:nvSpPr>
        <p:spPr>
          <a:xfrm>
            <a:off x="4315968" y="3403981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E05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NGG</a:t>
            </a:r>
            <a:endParaRPr lang="en-US" sz="750" dirty="0"/>
          </a:p>
        </p:txBody>
      </p:sp>
      <p:sp>
        <p:nvSpPr>
          <p:cNvPr id="168" name="Shape 136">
            <a:extLst>
              <a:ext uri="{FF2B5EF4-FFF2-40B4-BE49-F238E27FC236}">
                <a16:creationId xmlns:a16="http://schemas.microsoft.com/office/drawing/2014/main" id="{1CC9B9C7-ADD9-4F1B-91D6-6D3BC8CD9723}"/>
              </a:ext>
            </a:extLst>
          </p:cNvPr>
          <p:cNvSpPr/>
          <p:nvPr/>
        </p:nvSpPr>
        <p:spPr>
          <a:xfrm>
            <a:off x="292608" y="3724021"/>
            <a:ext cx="594360" cy="384048"/>
          </a:xfrm>
          <a:prstGeom prst="rect">
            <a:avLst/>
          </a:prstGeom>
          <a:solidFill>
            <a:srgbClr val="C052E0"/>
          </a:solidFill>
          <a:ln w="3810">
            <a:solidFill>
              <a:srgbClr val="0B0F1A"/>
            </a:solidFill>
            <a:prstDash val="solid"/>
          </a:ln>
        </p:spPr>
      </p:sp>
      <p:sp>
        <p:nvSpPr>
          <p:cNvPr id="169" name="Text 137">
            <a:extLst>
              <a:ext uri="{FF2B5EF4-FFF2-40B4-BE49-F238E27FC236}">
                <a16:creationId xmlns:a16="http://schemas.microsoft.com/office/drawing/2014/main" id="{34F9B0F4-C092-4A20-AB9D-15DFBFDAFBD6}"/>
              </a:ext>
            </a:extLst>
          </p:cNvPr>
          <p:cNvSpPr/>
          <p:nvPr/>
        </p:nvSpPr>
        <p:spPr>
          <a:xfrm>
            <a:off x="292608" y="3788029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B0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PGG</a:t>
            </a:r>
            <a:endParaRPr lang="en-US" sz="750" dirty="0"/>
          </a:p>
        </p:txBody>
      </p:sp>
      <p:sp>
        <p:nvSpPr>
          <p:cNvPr id="170" name="Shape 138">
            <a:extLst>
              <a:ext uri="{FF2B5EF4-FFF2-40B4-BE49-F238E27FC236}">
                <a16:creationId xmlns:a16="http://schemas.microsoft.com/office/drawing/2014/main" id="{EE04AB40-6F0E-4FED-8D88-A84FF8A0145B}"/>
              </a:ext>
            </a:extLst>
          </p:cNvPr>
          <p:cNvSpPr/>
          <p:nvPr/>
        </p:nvSpPr>
        <p:spPr>
          <a:xfrm>
            <a:off x="914400" y="3724021"/>
            <a:ext cx="566928" cy="384048"/>
          </a:xfrm>
          <a:prstGeom prst="rect">
            <a:avLst/>
          </a:prstGeom>
          <a:solidFill>
            <a:srgbClr val="1A2240"/>
          </a:solidFill>
          <a:ln w="3810">
            <a:solidFill>
              <a:srgbClr val="0B0F1A"/>
            </a:solidFill>
            <a:prstDash val="solid"/>
          </a:ln>
        </p:spPr>
      </p:sp>
      <p:sp>
        <p:nvSpPr>
          <p:cNvPr id="171" name="Text 139">
            <a:extLst>
              <a:ext uri="{FF2B5EF4-FFF2-40B4-BE49-F238E27FC236}">
                <a16:creationId xmlns:a16="http://schemas.microsoft.com/office/drawing/2014/main" id="{8392575E-7802-4A34-BAA0-17D0C3495A0F}"/>
              </a:ext>
            </a:extLst>
          </p:cNvPr>
          <p:cNvSpPr/>
          <p:nvPr/>
        </p:nvSpPr>
        <p:spPr>
          <a:xfrm>
            <a:off x="914400" y="3788029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2A8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PP</a:t>
            </a:r>
            <a:endParaRPr lang="en-US" sz="750" dirty="0"/>
          </a:p>
        </p:txBody>
      </p:sp>
      <p:sp>
        <p:nvSpPr>
          <p:cNvPr id="172" name="Shape 140">
            <a:extLst>
              <a:ext uri="{FF2B5EF4-FFF2-40B4-BE49-F238E27FC236}">
                <a16:creationId xmlns:a16="http://schemas.microsoft.com/office/drawing/2014/main" id="{E76E49A6-49E4-4B8B-8372-7C94E1089B10}"/>
              </a:ext>
            </a:extLst>
          </p:cNvPr>
          <p:cNvSpPr/>
          <p:nvPr/>
        </p:nvSpPr>
        <p:spPr>
          <a:xfrm>
            <a:off x="1481328" y="3724021"/>
            <a:ext cx="566928" cy="384048"/>
          </a:xfrm>
          <a:prstGeom prst="rect">
            <a:avLst/>
          </a:prstGeom>
          <a:solidFill>
            <a:srgbClr val="141A2E"/>
          </a:solidFill>
          <a:ln w="3810">
            <a:solidFill>
              <a:srgbClr val="0B0F1A"/>
            </a:solidFill>
            <a:prstDash val="solid"/>
          </a:ln>
        </p:spPr>
      </p:sp>
      <p:sp>
        <p:nvSpPr>
          <p:cNvPr id="173" name="Text 141">
            <a:extLst>
              <a:ext uri="{FF2B5EF4-FFF2-40B4-BE49-F238E27FC236}">
                <a16:creationId xmlns:a16="http://schemas.microsoft.com/office/drawing/2014/main" id="{E62EFC47-A3B0-4500-89C9-4727034847E1}"/>
              </a:ext>
            </a:extLst>
          </p:cNvPr>
          <p:cNvSpPr/>
          <p:nvPr/>
        </p:nvSpPr>
        <p:spPr>
          <a:xfrm>
            <a:off x="1481328" y="3788029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2A8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PP</a:t>
            </a:r>
            <a:endParaRPr lang="en-US" sz="750" dirty="0"/>
          </a:p>
        </p:txBody>
      </p:sp>
      <p:sp>
        <p:nvSpPr>
          <p:cNvPr id="174" name="Shape 142">
            <a:extLst>
              <a:ext uri="{FF2B5EF4-FFF2-40B4-BE49-F238E27FC236}">
                <a16:creationId xmlns:a16="http://schemas.microsoft.com/office/drawing/2014/main" id="{84A23F42-E089-44BD-9894-A2C756A609C8}"/>
              </a:ext>
            </a:extLst>
          </p:cNvPr>
          <p:cNvSpPr/>
          <p:nvPr/>
        </p:nvSpPr>
        <p:spPr>
          <a:xfrm>
            <a:off x="2048256" y="3724021"/>
            <a:ext cx="566928" cy="384048"/>
          </a:xfrm>
          <a:prstGeom prst="rect">
            <a:avLst/>
          </a:prstGeom>
          <a:solidFill>
            <a:srgbClr val="141A2E"/>
          </a:solidFill>
          <a:ln w="3810">
            <a:solidFill>
              <a:srgbClr val="0B0F1A"/>
            </a:solidFill>
            <a:prstDash val="solid"/>
          </a:ln>
        </p:spPr>
      </p:sp>
      <p:sp>
        <p:nvSpPr>
          <p:cNvPr id="175" name="Text 143">
            <a:extLst>
              <a:ext uri="{FF2B5EF4-FFF2-40B4-BE49-F238E27FC236}">
                <a16:creationId xmlns:a16="http://schemas.microsoft.com/office/drawing/2014/main" id="{8BCC979F-4E4A-4352-8664-645BA2E7DCE2}"/>
              </a:ext>
            </a:extLst>
          </p:cNvPr>
          <p:cNvSpPr/>
          <p:nvPr/>
        </p:nvSpPr>
        <p:spPr>
          <a:xfrm>
            <a:off x="2048256" y="3788029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D4C8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</a:t>
            </a:r>
            <a:endParaRPr lang="en-US" sz="750" dirty="0"/>
          </a:p>
        </p:txBody>
      </p:sp>
      <p:sp>
        <p:nvSpPr>
          <p:cNvPr id="176" name="Shape 144">
            <a:extLst>
              <a:ext uri="{FF2B5EF4-FFF2-40B4-BE49-F238E27FC236}">
                <a16:creationId xmlns:a16="http://schemas.microsoft.com/office/drawing/2014/main" id="{7924F736-C2BA-4244-98A5-BE2DC3AA28C9}"/>
              </a:ext>
            </a:extLst>
          </p:cNvPr>
          <p:cNvSpPr/>
          <p:nvPr/>
        </p:nvSpPr>
        <p:spPr>
          <a:xfrm>
            <a:off x="2615184" y="3724021"/>
            <a:ext cx="566928" cy="384048"/>
          </a:xfrm>
          <a:prstGeom prst="rect">
            <a:avLst/>
          </a:prstGeom>
          <a:solidFill>
            <a:srgbClr val="141A2E"/>
          </a:solidFill>
          <a:ln w="3810">
            <a:solidFill>
              <a:srgbClr val="0B0F1A"/>
            </a:solidFill>
            <a:prstDash val="solid"/>
          </a:ln>
        </p:spPr>
      </p:sp>
      <p:sp>
        <p:nvSpPr>
          <p:cNvPr id="177" name="Text 145">
            <a:extLst>
              <a:ext uri="{FF2B5EF4-FFF2-40B4-BE49-F238E27FC236}">
                <a16:creationId xmlns:a16="http://schemas.microsoft.com/office/drawing/2014/main" id="{DC706E63-DA05-46F3-B54F-CC978D49A8F9}"/>
              </a:ext>
            </a:extLst>
          </p:cNvPr>
          <p:cNvSpPr/>
          <p:nvPr/>
        </p:nvSpPr>
        <p:spPr>
          <a:xfrm>
            <a:off x="2615184" y="3788029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D4C8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</a:t>
            </a:r>
            <a:endParaRPr lang="en-US" sz="750" dirty="0"/>
          </a:p>
        </p:txBody>
      </p:sp>
      <p:sp>
        <p:nvSpPr>
          <p:cNvPr id="178" name="Shape 146">
            <a:extLst>
              <a:ext uri="{FF2B5EF4-FFF2-40B4-BE49-F238E27FC236}">
                <a16:creationId xmlns:a16="http://schemas.microsoft.com/office/drawing/2014/main" id="{BE00EFC3-4B5D-4105-A6D9-3D37640E6B90}"/>
              </a:ext>
            </a:extLst>
          </p:cNvPr>
          <p:cNvSpPr/>
          <p:nvPr/>
        </p:nvSpPr>
        <p:spPr>
          <a:xfrm>
            <a:off x="3182112" y="3724021"/>
            <a:ext cx="566928" cy="384048"/>
          </a:xfrm>
          <a:prstGeom prst="rect">
            <a:avLst/>
          </a:prstGeom>
          <a:solidFill>
            <a:srgbClr val="141A2E"/>
          </a:solidFill>
          <a:ln w="3810">
            <a:solidFill>
              <a:srgbClr val="0B0F1A"/>
            </a:solidFill>
            <a:prstDash val="solid"/>
          </a:ln>
        </p:spPr>
      </p:sp>
      <p:sp>
        <p:nvSpPr>
          <p:cNvPr id="179" name="Text 147">
            <a:extLst>
              <a:ext uri="{FF2B5EF4-FFF2-40B4-BE49-F238E27FC236}">
                <a16:creationId xmlns:a16="http://schemas.microsoft.com/office/drawing/2014/main" id="{E1A23AE0-E236-4A46-B0A4-944FACD9733A}"/>
              </a:ext>
            </a:extLst>
          </p:cNvPr>
          <p:cNvSpPr/>
          <p:nvPr/>
        </p:nvSpPr>
        <p:spPr>
          <a:xfrm>
            <a:off x="3182112" y="3788029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E05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NGG</a:t>
            </a:r>
            <a:endParaRPr lang="en-US" sz="750" dirty="0"/>
          </a:p>
        </p:txBody>
      </p:sp>
      <p:sp>
        <p:nvSpPr>
          <p:cNvPr id="180" name="Shape 148">
            <a:extLst>
              <a:ext uri="{FF2B5EF4-FFF2-40B4-BE49-F238E27FC236}">
                <a16:creationId xmlns:a16="http://schemas.microsoft.com/office/drawing/2014/main" id="{B6868B57-899E-4D8B-9947-CD4019054849}"/>
              </a:ext>
            </a:extLst>
          </p:cNvPr>
          <p:cNvSpPr/>
          <p:nvPr/>
        </p:nvSpPr>
        <p:spPr>
          <a:xfrm>
            <a:off x="3749040" y="3724021"/>
            <a:ext cx="566928" cy="384048"/>
          </a:xfrm>
          <a:prstGeom prst="rect">
            <a:avLst/>
          </a:prstGeom>
          <a:solidFill>
            <a:srgbClr val="141A2E"/>
          </a:solidFill>
          <a:ln w="3810">
            <a:solidFill>
              <a:srgbClr val="0B0F1A"/>
            </a:solidFill>
            <a:prstDash val="solid"/>
          </a:ln>
        </p:spPr>
      </p:sp>
      <p:sp>
        <p:nvSpPr>
          <p:cNvPr id="181" name="Text 149">
            <a:extLst>
              <a:ext uri="{FF2B5EF4-FFF2-40B4-BE49-F238E27FC236}">
                <a16:creationId xmlns:a16="http://schemas.microsoft.com/office/drawing/2014/main" id="{E780B611-25B8-4E55-8CB9-D7F828179407}"/>
              </a:ext>
            </a:extLst>
          </p:cNvPr>
          <p:cNvSpPr/>
          <p:nvPr/>
        </p:nvSpPr>
        <p:spPr>
          <a:xfrm>
            <a:off x="3749040" y="3788029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E05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NGG</a:t>
            </a:r>
            <a:endParaRPr lang="en-US" sz="750" dirty="0"/>
          </a:p>
        </p:txBody>
      </p:sp>
      <p:sp>
        <p:nvSpPr>
          <p:cNvPr id="182" name="Shape 150">
            <a:extLst>
              <a:ext uri="{FF2B5EF4-FFF2-40B4-BE49-F238E27FC236}">
                <a16:creationId xmlns:a16="http://schemas.microsoft.com/office/drawing/2014/main" id="{D2EE8307-87A6-4FE8-AB23-674588521ACA}"/>
              </a:ext>
            </a:extLst>
          </p:cNvPr>
          <p:cNvSpPr/>
          <p:nvPr/>
        </p:nvSpPr>
        <p:spPr>
          <a:xfrm>
            <a:off x="4315968" y="3724021"/>
            <a:ext cx="566928" cy="384048"/>
          </a:xfrm>
          <a:prstGeom prst="rect">
            <a:avLst/>
          </a:prstGeom>
          <a:solidFill>
            <a:srgbClr val="1A2240"/>
          </a:solidFill>
          <a:ln w="3810">
            <a:solidFill>
              <a:srgbClr val="0B0F1A"/>
            </a:solidFill>
            <a:prstDash val="solid"/>
          </a:ln>
        </p:spPr>
      </p:sp>
      <p:sp>
        <p:nvSpPr>
          <p:cNvPr id="183" name="Text 151">
            <a:extLst>
              <a:ext uri="{FF2B5EF4-FFF2-40B4-BE49-F238E27FC236}">
                <a16:creationId xmlns:a16="http://schemas.microsoft.com/office/drawing/2014/main" id="{AEB8981C-BCA4-4D45-9739-36992CD0486A}"/>
              </a:ext>
            </a:extLst>
          </p:cNvPr>
          <p:cNvSpPr/>
          <p:nvPr/>
        </p:nvSpPr>
        <p:spPr>
          <a:xfrm>
            <a:off x="4315968" y="3788029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E05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NGG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Supuestos,</a:t>
            </a:r>
            <a:r>
              <a:rPr spc="-70" dirty="0"/>
              <a:t> </a:t>
            </a:r>
            <a:r>
              <a:rPr spc="-10" dirty="0"/>
              <a:t>Convenciones</a:t>
            </a:r>
            <a:r>
              <a:rPr spc="-65" dirty="0"/>
              <a:t> </a:t>
            </a:r>
            <a:r>
              <a:rPr dirty="0"/>
              <a:t>y</a:t>
            </a:r>
            <a:r>
              <a:rPr spc="-70" dirty="0"/>
              <a:t> </a:t>
            </a:r>
            <a:r>
              <a:rPr dirty="0"/>
              <a:t>Detalles</a:t>
            </a:r>
            <a:r>
              <a:rPr spc="-55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Implementación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450544" y="743218"/>
            <a:ext cx="8242300" cy="35560"/>
            <a:chOff x="450544" y="743218"/>
            <a:chExt cx="8242300" cy="35560"/>
          </a:xfrm>
        </p:grpSpPr>
        <p:sp>
          <p:nvSpPr>
            <p:cNvPr id="4" name="object 4"/>
            <p:cNvSpPr/>
            <p:nvPr/>
          </p:nvSpPr>
          <p:spPr>
            <a:xfrm>
              <a:off x="456844" y="749517"/>
              <a:ext cx="8229600" cy="22860"/>
            </a:xfrm>
            <a:custGeom>
              <a:avLst/>
              <a:gdLst/>
              <a:ahLst/>
              <a:cxnLst/>
              <a:rect l="l" t="t" r="r" b="b"/>
              <a:pathLst>
                <a:path w="8229600" h="22859">
                  <a:moveTo>
                    <a:pt x="8229231" y="0"/>
                  </a:moveTo>
                  <a:lnTo>
                    <a:pt x="0" y="0"/>
                  </a:lnTo>
                  <a:lnTo>
                    <a:pt x="0" y="22682"/>
                  </a:lnTo>
                  <a:lnTo>
                    <a:pt x="4114800" y="22682"/>
                  </a:lnTo>
                  <a:lnTo>
                    <a:pt x="8229231" y="22682"/>
                  </a:lnTo>
                  <a:lnTo>
                    <a:pt x="8229231" y="0"/>
                  </a:lnTo>
                  <a:close/>
                </a:path>
              </a:pathLst>
            </a:custGeom>
            <a:solidFill>
              <a:srgbClr val="292C3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456844" y="749517"/>
              <a:ext cx="8229600" cy="22860"/>
            </a:xfrm>
            <a:custGeom>
              <a:avLst/>
              <a:gdLst/>
              <a:ahLst/>
              <a:cxnLst/>
              <a:rect l="l" t="t" r="r" b="b"/>
              <a:pathLst>
                <a:path w="8229600" h="22859">
                  <a:moveTo>
                    <a:pt x="4114800" y="22682"/>
                  </a:moveTo>
                  <a:lnTo>
                    <a:pt x="0" y="22682"/>
                  </a:lnTo>
                  <a:lnTo>
                    <a:pt x="0" y="0"/>
                  </a:lnTo>
                  <a:lnTo>
                    <a:pt x="8229231" y="0"/>
                  </a:lnTo>
                  <a:lnTo>
                    <a:pt x="8229231" y="22682"/>
                  </a:lnTo>
                  <a:lnTo>
                    <a:pt x="4114800" y="22682"/>
                  </a:lnTo>
                  <a:close/>
                </a:path>
              </a:pathLst>
            </a:custGeom>
            <a:ln w="12599">
              <a:solidFill>
                <a:srgbClr val="292C3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59460" y="981177"/>
            <a:ext cx="332740" cy="332740"/>
            <a:chOff x="359460" y="981177"/>
            <a:chExt cx="332740" cy="332740"/>
          </a:xfrm>
        </p:grpSpPr>
        <p:sp>
          <p:nvSpPr>
            <p:cNvPr id="7" name="object 7"/>
            <p:cNvSpPr/>
            <p:nvPr/>
          </p:nvSpPr>
          <p:spPr>
            <a:xfrm>
              <a:off x="365760" y="987477"/>
              <a:ext cx="320040" cy="320040"/>
            </a:xfrm>
            <a:custGeom>
              <a:avLst/>
              <a:gdLst/>
              <a:ahLst/>
              <a:cxnLst/>
              <a:rect l="l" t="t" r="r" b="b"/>
              <a:pathLst>
                <a:path w="320040" h="320040">
                  <a:moveTo>
                    <a:pt x="160197" y="0"/>
                  </a:moveTo>
                  <a:lnTo>
                    <a:pt x="118573" y="5356"/>
                  </a:lnTo>
                  <a:lnTo>
                    <a:pt x="79921" y="21247"/>
                  </a:lnTo>
                  <a:lnTo>
                    <a:pt x="46980" y="46669"/>
                  </a:lnTo>
                  <a:lnTo>
                    <a:pt x="21602" y="79921"/>
                  </a:lnTo>
                  <a:lnTo>
                    <a:pt x="5534" y="118395"/>
                  </a:lnTo>
                  <a:lnTo>
                    <a:pt x="0" y="159842"/>
                  </a:lnTo>
                  <a:lnTo>
                    <a:pt x="1400" y="180784"/>
                  </a:lnTo>
                  <a:lnTo>
                    <a:pt x="12301" y="221049"/>
                  </a:lnTo>
                  <a:lnTo>
                    <a:pt x="33243" y="257287"/>
                  </a:lnTo>
                  <a:lnTo>
                    <a:pt x="62607" y="286797"/>
                  </a:lnTo>
                  <a:lnTo>
                    <a:pt x="98790" y="307743"/>
                  </a:lnTo>
                  <a:lnTo>
                    <a:pt x="139099" y="318640"/>
                  </a:lnTo>
                  <a:lnTo>
                    <a:pt x="160197" y="320039"/>
                  </a:lnTo>
                  <a:lnTo>
                    <a:pt x="181090" y="318640"/>
                  </a:lnTo>
                  <a:lnTo>
                    <a:pt x="221255" y="307743"/>
                  </a:lnTo>
                  <a:lnTo>
                    <a:pt x="257432" y="286797"/>
                  </a:lnTo>
                  <a:lnTo>
                    <a:pt x="286796" y="257287"/>
                  </a:lnTo>
                  <a:lnTo>
                    <a:pt x="307738" y="221049"/>
                  </a:lnTo>
                  <a:lnTo>
                    <a:pt x="318639" y="180784"/>
                  </a:lnTo>
                  <a:lnTo>
                    <a:pt x="320040" y="159842"/>
                  </a:lnTo>
                  <a:lnTo>
                    <a:pt x="318639" y="138899"/>
                  </a:lnTo>
                  <a:lnTo>
                    <a:pt x="307738" y="98634"/>
                  </a:lnTo>
                  <a:lnTo>
                    <a:pt x="286796" y="62402"/>
                  </a:lnTo>
                  <a:lnTo>
                    <a:pt x="257432" y="32893"/>
                  </a:lnTo>
                  <a:lnTo>
                    <a:pt x="221255" y="12001"/>
                  </a:lnTo>
                  <a:lnTo>
                    <a:pt x="181090" y="1344"/>
                  </a:lnTo>
                  <a:lnTo>
                    <a:pt x="160197" y="0"/>
                  </a:lnTo>
                  <a:close/>
                </a:path>
              </a:pathLst>
            </a:custGeom>
            <a:solidFill>
              <a:srgbClr val="499DFF">
                <a:alpha val="84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65760" y="987477"/>
              <a:ext cx="320040" cy="320040"/>
            </a:xfrm>
            <a:custGeom>
              <a:avLst/>
              <a:gdLst/>
              <a:ahLst/>
              <a:cxnLst/>
              <a:rect l="l" t="t" r="r" b="b"/>
              <a:pathLst>
                <a:path w="320040" h="320040">
                  <a:moveTo>
                    <a:pt x="0" y="159842"/>
                  </a:moveTo>
                  <a:lnTo>
                    <a:pt x="1400" y="138899"/>
                  </a:lnTo>
                  <a:lnTo>
                    <a:pt x="5534" y="118395"/>
                  </a:lnTo>
                  <a:lnTo>
                    <a:pt x="21602" y="79921"/>
                  </a:lnTo>
                  <a:lnTo>
                    <a:pt x="46980" y="46669"/>
                  </a:lnTo>
                  <a:lnTo>
                    <a:pt x="79921" y="21247"/>
                  </a:lnTo>
                  <a:lnTo>
                    <a:pt x="118573" y="5356"/>
                  </a:lnTo>
                  <a:lnTo>
                    <a:pt x="160197" y="0"/>
                  </a:lnTo>
                  <a:lnTo>
                    <a:pt x="201510" y="5356"/>
                  </a:lnTo>
                  <a:lnTo>
                    <a:pt x="240118" y="21247"/>
                  </a:lnTo>
                  <a:lnTo>
                    <a:pt x="273059" y="46669"/>
                  </a:lnTo>
                  <a:lnTo>
                    <a:pt x="298437" y="79921"/>
                  </a:lnTo>
                  <a:lnTo>
                    <a:pt x="314505" y="118395"/>
                  </a:lnTo>
                  <a:lnTo>
                    <a:pt x="320040" y="159842"/>
                  </a:lnTo>
                  <a:lnTo>
                    <a:pt x="318639" y="180784"/>
                  </a:lnTo>
                  <a:lnTo>
                    <a:pt x="314505" y="201288"/>
                  </a:lnTo>
                  <a:lnTo>
                    <a:pt x="298437" y="239763"/>
                  </a:lnTo>
                  <a:lnTo>
                    <a:pt x="273059" y="273021"/>
                  </a:lnTo>
                  <a:lnTo>
                    <a:pt x="240118" y="298450"/>
                  </a:lnTo>
                  <a:lnTo>
                    <a:pt x="201510" y="314507"/>
                  </a:lnTo>
                  <a:lnTo>
                    <a:pt x="160197" y="320039"/>
                  </a:lnTo>
                  <a:lnTo>
                    <a:pt x="118573" y="314507"/>
                  </a:lnTo>
                  <a:lnTo>
                    <a:pt x="79921" y="298450"/>
                  </a:lnTo>
                  <a:lnTo>
                    <a:pt x="46980" y="273021"/>
                  </a:lnTo>
                  <a:lnTo>
                    <a:pt x="21602" y="239763"/>
                  </a:lnTo>
                  <a:lnTo>
                    <a:pt x="5534" y="201288"/>
                  </a:lnTo>
                  <a:lnTo>
                    <a:pt x="1400" y="180784"/>
                  </a:lnTo>
                  <a:lnTo>
                    <a:pt x="0" y="159842"/>
                  </a:lnTo>
                  <a:close/>
                </a:path>
              </a:pathLst>
            </a:custGeom>
            <a:ln w="12599">
              <a:solidFill>
                <a:srgbClr val="499D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478345" y="1065862"/>
            <a:ext cx="94615" cy="163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spc="-50" dirty="0">
                <a:solidFill>
                  <a:srgbClr val="FFFFFF"/>
                </a:solidFill>
                <a:latin typeface="Segoe UI Symbol"/>
                <a:cs typeface="Segoe UI Symbol"/>
              </a:rPr>
              <a:t>θ</a:t>
            </a:r>
            <a:endParaRPr sz="900">
              <a:latin typeface="Segoe UI Symbol"/>
              <a:cs typeface="Segoe UI Symbo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854176" y="971552"/>
            <a:ext cx="1079500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dirty="0">
                <a:solidFill>
                  <a:srgbClr val="499DFF"/>
                </a:solidFill>
                <a:latin typeface="Calibri"/>
                <a:cs typeface="Calibri"/>
              </a:rPr>
              <a:t>Ángulo</a:t>
            </a:r>
            <a:r>
              <a:rPr sz="1000" b="1" spc="-60" dirty="0">
                <a:solidFill>
                  <a:srgbClr val="499DFF"/>
                </a:solidFill>
                <a:latin typeface="Calibri"/>
                <a:cs typeface="Calibri"/>
              </a:rPr>
              <a:t> </a:t>
            </a:r>
            <a:r>
              <a:rPr sz="1000" b="1" spc="-10" dirty="0">
                <a:solidFill>
                  <a:srgbClr val="499DFF"/>
                </a:solidFill>
                <a:latin typeface="Calibri"/>
                <a:cs typeface="Calibri"/>
              </a:rPr>
              <a:t>normalizado</a:t>
            </a:r>
            <a:endParaRPr sz="1000">
              <a:latin typeface="Calibri"/>
              <a:cs typeface="Calibri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854176" y="1271424"/>
            <a:ext cx="745299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θ</a:t>
            </a:r>
            <a:r>
              <a:rPr sz="9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se</a:t>
            </a:r>
            <a:r>
              <a:rPr sz="9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mapea</a:t>
            </a:r>
            <a:r>
              <a:rPr sz="9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siempre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al</a:t>
            </a:r>
            <a:r>
              <a:rPr sz="9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intervalo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 (−180°,</a:t>
            </a:r>
            <a:r>
              <a:rPr sz="9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+180°]. 0°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=</a:t>
            </a:r>
            <a:r>
              <a:rPr sz="900" spc="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posición 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vertical</a:t>
            </a:r>
            <a:r>
              <a:rPr sz="9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inferior</a:t>
            </a:r>
            <a:r>
              <a:rPr sz="9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(equilibrio</a:t>
            </a:r>
            <a:r>
              <a:rPr sz="9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estable,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péndulo</a:t>
            </a:r>
            <a:r>
              <a:rPr sz="900" spc="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colgando).</a:t>
            </a:r>
            <a:r>
              <a:rPr sz="9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±180°</a:t>
            </a:r>
            <a:r>
              <a:rPr sz="9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=</a:t>
            </a:r>
            <a:r>
              <a:rPr sz="900" spc="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posición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 vertical</a:t>
            </a:r>
            <a:r>
              <a:rPr sz="900" spc="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superior</a:t>
            </a:r>
            <a:r>
              <a:rPr sz="9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(equilibrio</a:t>
            </a:r>
            <a:r>
              <a:rPr sz="900" spc="50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inestable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—</a:t>
            </a:r>
            <a:r>
              <a:rPr sz="900" spc="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objetivo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 del</a:t>
            </a:r>
            <a:r>
              <a:rPr sz="900" spc="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controlador).</a:t>
            </a:r>
            <a:r>
              <a:rPr sz="900" spc="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La</a:t>
            </a:r>
            <a:r>
              <a:rPr sz="900" spc="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normalización</a:t>
            </a:r>
            <a:r>
              <a:rPr sz="900" spc="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evita</a:t>
            </a:r>
            <a:r>
              <a:rPr sz="900" spc="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discontinuidades</a:t>
            </a:r>
            <a:r>
              <a:rPr sz="900" spc="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al</a:t>
            </a:r>
            <a:r>
              <a:rPr sz="900" spc="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cruzar</a:t>
            </a:r>
            <a:r>
              <a:rPr sz="900" spc="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los</a:t>
            </a:r>
            <a:r>
              <a:rPr sz="900" spc="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±180°.</a:t>
            </a:r>
            <a:endParaRPr sz="900">
              <a:latin typeface="Calibri"/>
              <a:cs typeface="Calibri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365759" y="1663918"/>
            <a:ext cx="8412480" cy="635"/>
          </a:xfrm>
          <a:custGeom>
            <a:avLst/>
            <a:gdLst/>
            <a:ahLst/>
            <a:cxnLst/>
            <a:rect l="l" t="t" r="r" b="b"/>
            <a:pathLst>
              <a:path w="8412480" h="635">
                <a:moveTo>
                  <a:pt x="0" y="0"/>
                </a:moveTo>
                <a:lnTo>
                  <a:pt x="8412480" y="368"/>
                </a:lnTo>
              </a:path>
            </a:pathLst>
          </a:custGeom>
          <a:ln w="12599">
            <a:solidFill>
              <a:srgbClr val="292C3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3" name="object 13"/>
          <p:cNvGrpSpPr/>
          <p:nvPr/>
        </p:nvGrpSpPr>
        <p:grpSpPr>
          <a:xfrm>
            <a:off x="359460" y="1758417"/>
            <a:ext cx="332740" cy="332740"/>
            <a:chOff x="359460" y="1758417"/>
            <a:chExt cx="332740" cy="332740"/>
          </a:xfrm>
        </p:grpSpPr>
        <p:sp>
          <p:nvSpPr>
            <p:cNvPr id="14" name="object 14"/>
            <p:cNvSpPr/>
            <p:nvPr/>
          </p:nvSpPr>
          <p:spPr>
            <a:xfrm>
              <a:off x="365760" y="1764717"/>
              <a:ext cx="320040" cy="320040"/>
            </a:xfrm>
            <a:custGeom>
              <a:avLst/>
              <a:gdLst/>
              <a:ahLst/>
              <a:cxnLst/>
              <a:rect l="l" t="t" r="r" b="b"/>
              <a:pathLst>
                <a:path w="320040" h="320039">
                  <a:moveTo>
                    <a:pt x="160197" y="0"/>
                  </a:moveTo>
                  <a:lnTo>
                    <a:pt x="118573" y="5356"/>
                  </a:lnTo>
                  <a:lnTo>
                    <a:pt x="79921" y="21247"/>
                  </a:lnTo>
                  <a:lnTo>
                    <a:pt x="46980" y="46669"/>
                  </a:lnTo>
                  <a:lnTo>
                    <a:pt x="21602" y="79921"/>
                  </a:lnTo>
                  <a:lnTo>
                    <a:pt x="5534" y="118395"/>
                  </a:lnTo>
                  <a:lnTo>
                    <a:pt x="0" y="159842"/>
                  </a:lnTo>
                  <a:lnTo>
                    <a:pt x="1400" y="180784"/>
                  </a:lnTo>
                  <a:lnTo>
                    <a:pt x="12301" y="221049"/>
                  </a:lnTo>
                  <a:lnTo>
                    <a:pt x="33243" y="257287"/>
                  </a:lnTo>
                  <a:lnTo>
                    <a:pt x="62607" y="286797"/>
                  </a:lnTo>
                  <a:lnTo>
                    <a:pt x="98790" y="307743"/>
                  </a:lnTo>
                  <a:lnTo>
                    <a:pt x="139099" y="318640"/>
                  </a:lnTo>
                  <a:lnTo>
                    <a:pt x="160197" y="320039"/>
                  </a:lnTo>
                  <a:lnTo>
                    <a:pt x="181090" y="318640"/>
                  </a:lnTo>
                  <a:lnTo>
                    <a:pt x="221255" y="307743"/>
                  </a:lnTo>
                  <a:lnTo>
                    <a:pt x="257432" y="286797"/>
                  </a:lnTo>
                  <a:lnTo>
                    <a:pt x="286796" y="257287"/>
                  </a:lnTo>
                  <a:lnTo>
                    <a:pt x="307738" y="221049"/>
                  </a:lnTo>
                  <a:lnTo>
                    <a:pt x="318639" y="180784"/>
                  </a:lnTo>
                  <a:lnTo>
                    <a:pt x="320040" y="159842"/>
                  </a:lnTo>
                  <a:lnTo>
                    <a:pt x="318639" y="138899"/>
                  </a:lnTo>
                  <a:lnTo>
                    <a:pt x="307738" y="98634"/>
                  </a:lnTo>
                  <a:lnTo>
                    <a:pt x="286796" y="62402"/>
                  </a:lnTo>
                  <a:lnTo>
                    <a:pt x="257432" y="32893"/>
                  </a:lnTo>
                  <a:lnTo>
                    <a:pt x="221255" y="12001"/>
                  </a:lnTo>
                  <a:lnTo>
                    <a:pt x="181090" y="1344"/>
                  </a:lnTo>
                  <a:lnTo>
                    <a:pt x="160197" y="0"/>
                  </a:lnTo>
                  <a:close/>
                </a:path>
              </a:pathLst>
            </a:custGeom>
            <a:solidFill>
              <a:srgbClr val="F33E5D">
                <a:alpha val="84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365760" y="1764717"/>
              <a:ext cx="320040" cy="320040"/>
            </a:xfrm>
            <a:custGeom>
              <a:avLst/>
              <a:gdLst/>
              <a:ahLst/>
              <a:cxnLst/>
              <a:rect l="l" t="t" r="r" b="b"/>
              <a:pathLst>
                <a:path w="320040" h="320039">
                  <a:moveTo>
                    <a:pt x="0" y="159842"/>
                  </a:moveTo>
                  <a:lnTo>
                    <a:pt x="1400" y="138899"/>
                  </a:lnTo>
                  <a:lnTo>
                    <a:pt x="5534" y="118395"/>
                  </a:lnTo>
                  <a:lnTo>
                    <a:pt x="21602" y="79921"/>
                  </a:lnTo>
                  <a:lnTo>
                    <a:pt x="46980" y="46669"/>
                  </a:lnTo>
                  <a:lnTo>
                    <a:pt x="79921" y="21247"/>
                  </a:lnTo>
                  <a:lnTo>
                    <a:pt x="118573" y="5356"/>
                  </a:lnTo>
                  <a:lnTo>
                    <a:pt x="160197" y="0"/>
                  </a:lnTo>
                  <a:lnTo>
                    <a:pt x="201510" y="5356"/>
                  </a:lnTo>
                  <a:lnTo>
                    <a:pt x="240118" y="21247"/>
                  </a:lnTo>
                  <a:lnTo>
                    <a:pt x="273059" y="46669"/>
                  </a:lnTo>
                  <a:lnTo>
                    <a:pt x="298437" y="79921"/>
                  </a:lnTo>
                  <a:lnTo>
                    <a:pt x="314505" y="118395"/>
                  </a:lnTo>
                  <a:lnTo>
                    <a:pt x="320040" y="159842"/>
                  </a:lnTo>
                  <a:lnTo>
                    <a:pt x="318639" y="180784"/>
                  </a:lnTo>
                  <a:lnTo>
                    <a:pt x="314505" y="201288"/>
                  </a:lnTo>
                  <a:lnTo>
                    <a:pt x="298437" y="239763"/>
                  </a:lnTo>
                  <a:lnTo>
                    <a:pt x="273059" y="273021"/>
                  </a:lnTo>
                  <a:lnTo>
                    <a:pt x="240118" y="298450"/>
                  </a:lnTo>
                  <a:lnTo>
                    <a:pt x="201510" y="314507"/>
                  </a:lnTo>
                  <a:lnTo>
                    <a:pt x="160197" y="320039"/>
                  </a:lnTo>
                  <a:lnTo>
                    <a:pt x="118573" y="314507"/>
                  </a:lnTo>
                  <a:lnTo>
                    <a:pt x="79921" y="298450"/>
                  </a:lnTo>
                  <a:lnTo>
                    <a:pt x="46980" y="273021"/>
                  </a:lnTo>
                  <a:lnTo>
                    <a:pt x="21602" y="239763"/>
                  </a:lnTo>
                  <a:lnTo>
                    <a:pt x="5534" y="201288"/>
                  </a:lnTo>
                  <a:lnTo>
                    <a:pt x="1400" y="180784"/>
                  </a:lnTo>
                  <a:lnTo>
                    <a:pt x="0" y="159842"/>
                  </a:lnTo>
                  <a:close/>
                </a:path>
              </a:pathLst>
            </a:custGeom>
            <a:ln w="12599">
              <a:solidFill>
                <a:srgbClr val="F33E5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478345" y="1843102"/>
            <a:ext cx="94615" cy="163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spc="55" dirty="0">
                <a:solidFill>
                  <a:srgbClr val="FFFFFF"/>
                </a:solidFill>
                <a:latin typeface="Segoe UI Symbol"/>
                <a:cs typeface="Segoe UI Symbol"/>
              </a:rPr>
              <a:t>F</a:t>
            </a:r>
            <a:endParaRPr sz="900">
              <a:latin typeface="Segoe UI Symbol"/>
              <a:cs typeface="Segoe UI Symbo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854176" y="1748791"/>
            <a:ext cx="1739900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10" dirty="0">
                <a:solidFill>
                  <a:srgbClr val="F33E5D"/>
                </a:solidFill>
                <a:latin typeface="Calibri"/>
                <a:cs typeface="Calibri"/>
              </a:rPr>
              <a:t>Convención</a:t>
            </a:r>
            <a:r>
              <a:rPr sz="1000" b="1" spc="-20" dirty="0">
                <a:solidFill>
                  <a:srgbClr val="F33E5D"/>
                </a:solidFill>
                <a:latin typeface="Calibri"/>
                <a:cs typeface="Calibri"/>
              </a:rPr>
              <a:t> </a:t>
            </a:r>
            <a:r>
              <a:rPr sz="1000" b="1" dirty="0">
                <a:solidFill>
                  <a:srgbClr val="F33E5D"/>
                </a:solidFill>
                <a:latin typeface="Calibri"/>
                <a:cs typeface="Calibri"/>
              </a:rPr>
              <a:t>de</a:t>
            </a:r>
            <a:r>
              <a:rPr sz="1000" b="1" spc="-20" dirty="0">
                <a:solidFill>
                  <a:srgbClr val="F33E5D"/>
                </a:solidFill>
                <a:latin typeface="Calibri"/>
                <a:cs typeface="Calibri"/>
              </a:rPr>
              <a:t> </a:t>
            </a:r>
            <a:r>
              <a:rPr sz="1000" b="1" dirty="0">
                <a:solidFill>
                  <a:srgbClr val="F33E5D"/>
                </a:solidFill>
                <a:latin typeface="Calibri"/>
                <a:cs typeface="Calibri"/>
              </a:rPr>
              <a:t>signo</a:t>
            </a:r>
            <a:r>
              <a:rPr sz="1000" b="1" spc="-15" dirty="0">
                <a:solidFill>
                  <a:srgbClr val="F33E5D"/>
                </a:solidFill>
                <a:latin typeface="Calibri"/>
                <a:cs typeface="Calibri"/>
              </a:rPr>
              <a:t> </a:t>
            </a:r>
            <a:r>
              <a:rPr sz="1000" b="1" dirty="0">
                <a:solidFill>
                  <a:srgbClr val="F33E5D"/>
                </a:solidFill>
                <a:latin typeface="Calibri"/>
                <a:cs typeface="Calibri"/>
              </a:rPr>
              <a:t>de</a:t>
            </a:r>
            <a:r>
              <a:rPr sz="1000" b="1" spc="-20" dirty="0">
                <a:solidFill>
                  <a:srgbClr val="F33E5D"/>
                </a:solidFill>
                <a:latin typeface="Calibri"/>
                <a:cs typeface="Calibri"/>
              </a:rPr>
              <a:t> </a:t>
            </a:r>
            <a:r>
              <a:rPr sz="1000" b="1" dirty="0">
                <a:solidFill>
                  <a:srgbClr val="F33E5D"/>
                </a:solidFill>
                <a:latin typeface="Calibri"/>
                <a:cs typeface="Calibri"/>
              </a:rPr>
              <a:t>la</a:t>
            </a:r>
            <a:r>
              <a:rPr sz="1000" b="1" spc="-20" dirty="0">
                <a:solidFill>
                  <a:srgbClr val="F33E5D"/>
                </a:solidFill>
                <a:latin typeface="Calibri"/>
                <a:cs typeface="Calibri"/>
              </a:rPr>
              <a:t> </a:t>
            </a:r>
            <a:r>
              <a:rPr sz="1000" b="1" spc="-10" dirty="0">
                <a:solidFill>
                  <a:srgbClr val="F33E5D"/>
                </a:solidFill>
                <a:latin typeface="Calibri"/>
                <a:cs typeface="Calibri"/>
              </a:rPr>
              <a:t>fuerza</a:t>
            </a:r>
            <a:endParaRPr sz="1000">
              <a:latin typeface="Calibri"/>
              <a:cs typeface="Calibri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854176" y="2048664"/>
            <a:ext cx="754316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El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 controlador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difuso</a:t>
            </a:r>
            <a:r>
              <a:rPr sz="9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produce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F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con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la</a:t>
            </a:r>
            <a:r>
              <a:rPr sz="9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convención</a:t>
            </a:r>
            <a:r>
              <a:rPr sz="9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del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usuario: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F</a:t>
            </a:r>
            <a:r>
              <a:rPr sz="9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&gt;</a:t>
            </a:r>
            <a:r>
              <a:rPr sz="900" spc="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0</a:t>
            </a:r>
            <a:r>
              <a:rPr sz="9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empuja</a:t>
            </a:r>
            <a:r>
              <a:rPr sz="9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el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carro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a</a:t>
            </a:r>
            <a:r>
              <a:rPr sz="9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la</a:t>
            </a:r>
            <a:r>
              <a:rPr sz="9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izquierda,</a:t>
            </a:r>
            <a:r>
              <a:rPr sz="9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F</a:t>
            </a:r>
            <a:r>
              <a:rPr sz="9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&lt; 0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lo</a:t>
            </a:r>
            <a:r>
              <a:rPr sz="9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empuja a</a:t>
            </a:r>
            <a:r>
              <a:rPr sz="9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la</a:t>
            </a:r>
            <a:r>
              <a:rPr sz="9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derecha.</a:t>
            </a:r>
            <a:r>
              <a:rPr sz="9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Internamente,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la</a:t>
            </a:r>
            <a:r>
              <a:rPr sz="9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física</a:t>
            </a:r>
            <a:r>
              <a:rPr sz="9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usa</a:t>
            </a:r>
            <a:r>
              <a:rPr sz="9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el</a:t>
            </a:r>
            <a:r>
              <a:rPr sz="9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signo</a:t>
            </a:r>
            <a:r>
              <a:rPr sz="900" spc="50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opuesto</a:t>
            </a:r>
            <a:r>
              <a:rPr sz="900" spc="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(positivo</a:t>
            </a:r>
            <a:r>
              <a:rPr sz="9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=</a:t>
            </a:r>
            <a:r>
              <a:rPr sz="900" spc="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derecha).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La</a:t>
            </a:r>
            <a:r>
              <a:rPr sz="900" spc="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función</a:t>
            </a:r>
            <a:r>
              <a:rPr sz="900" spc="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fuerza_usuario_a_modelo()</a:t>
            </a:r>
            <a:r>
              <a:rPr sz="900" spc="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hace la</a:t>
            </a:r>
            <a:r>
              <a:rPr sz="900" spc="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conversión:</a:t>
            </a:r>
            <a:r>
              <a:rPr sz="900" spc="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F_modelo</a:t>
            </a:r>
            <a:r>
              <a:rPr sz="900" spc="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= 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−F_usuario.</a:t>
            </a:r>
            <a:endParaRPr sz="900">
              <a:latin typeface="Calibri"/>
              <a:cs typeface="Calibri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365759" y="2441157"/>
            <a:ext cx="8412480" cy="635"/>
          </a:xfrm>
          <a:custGeom>
            <a:avLst/>
            <a:gdLst/>
            <a:ahLst/>
            <a:cxnLst/>
            <a:rect l="l" t="t" r="r" b="b"/>
            <a:pathLst>
              <a:path w="8412480" h="635">
                <a:moveTo>
                  <a:pt x="0" y="0"/>
                </a:moveTo>
                <a:lnTo>
                  <a:pt x="8412480" y="368"/>
                </a:lnTo>
              </a:path>
            </a:pathLst>
          </a:custGeom>
          <a:ln w="12599">
            <a:solidFill>
              <a:srgbClr val="292C3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20" name="object 20"/>
          <p:cNvGrpSpPr/>
          <p:nvPr/>
        </p:nvGrpSpPr>
        <p:grpSpPr>
          <a:xfrm>
            <a:off x="359460" y="2535658"/>
            <a:ext cx="332740" cy="332740"/>
            <a:chOff x="359460" y="2535658"/>
            <a:chExt cx="332740" cy="332740"/>
          </a:xfrm>
        </p:grpSpPr>
        <p:sp>
          <p:nvSpPr>
            <p:cNvPr id="21" name="object 21"/>
            <p:cNvSpPr/>
            <p:nvPr/>
          </p:nvSpPr>
          <p:spPr>
            <a:xfrm>
              <a:off x="365760" y="2541957"/>
              <a:ext cx="320040" cy="320040"/>
            </a:xfrm>
            <a:custGeom>
              <a:avLst/>
              <a:gdLst/>
              <a:ahLst/>
              <a:cxnLst/>
              <a:rect l="l" t="t" r="r" b="b"/>
              <a:pathLst>
                <a:path w="320040" h="320039">
                  <a:moveTo>
                    <a:pt x="160197" y="0"/>
                  </a:moveTo>
                  <a:lnTo>
                    <a:pt x="118573" y="5356"/>
                  </a:lnTo>
                  <a:lnTo>
                    <a:pt x="79921" y="21247"/>
                  </a:lnTo>
                  <a:lnTo>
                    <a:pt x="46980" y="46669"/>
                  </a:lnTo>
                  <a:lnTo>
                    <a:pt x="21602" y="79921"/>
                  </a:lnTo>
                  <a:lnTo>
                    <a:pt x="5534" y="118395"/>
                  </a:lnTo>
                  <a:lnTo>
                    <a:pt x="0" y="159842"/>
                  </a:lnTo>
                  <a:lnTo>
                    <a:pt x="1400" y="180784"/>
                  </a:lnTo>
                  <a:lnTo>
                    <a:pt x="12301" y="221049"/>
                  </a:lnTo>
                  <a:lnTo>
                    <a:pt x="33243" y="257287"/>
                  </a:lnTo>
                  <a:lnTo>
                    <a:pt x="62607" y="286797"/>
                  </a:lnTo>
                  <a:lnTo>
                    <a:pt x="98790" y="307743"/>
                  </a:lnTo>
                  <a:lnTo>
                    <a:pt x="139099" y="318640"/>
                  </a:lnTo>
                  <a:lnTo>
                    <a:pt x="160197" y="320040"/>
                  </a:lnTo>
                  <a:lnTo>
                    <a:pt x="181090" y="318640"/>
                  </a:lnTo>
                  <a:lnTo>
                    <a:pt x="221255" y="307743"/>
                  </a:lnTo>
                  <a:lnTo>
                    <a:pt x="257432" y="286797"/>
                  </a:lnTo>
                  <a:lnTo>
                    <a:pt x="286796" y="257287"/>
                  </a:lnTo>
                  <a:lnTo>
                    <a:pt x="307738" y="221049"/>
                  </a:lnTo>
                  <a:lnTo>
                    <a:pt x="318639" y="180784"/>
                  </a:lnTo>
                  <a:lnTo>
                    <a:pt x="320040" y="159842"/>
                  </a:lnTo>
                  <a:lnTo>
                    <a:pt x="318639" y="138899"/>
                  </a:lnTo>
                  <a:lnTo>
                    <a:pt x="307738" y="98634"/>
                  </a:lnTo>
                  <a:lnTo>
                    <a:pt x="286796" y="62402"/>
                  </a:lnTo>
                  <a:lnTo>
                    <a:pt x="257432" y="32893"/>
                  </a:lnTo>
                  <a:lnTo>
                    <a:pt x="221255" y="12001"/>
                  </a:lnTo>
                  <a:lnTo>
                    <a:pt x="181090" y="1344"/>
                  </a:lnTo>
                  <a:lnTo>
                    <a:pt x="160197" y="0"/>
                  </a:lnTo>
                  <a:close/>
                </a:path>
              </a:pathLst>
            </a:custGeom>
            <a:solidFill>
              <a:srgbClr val="F49D0A">
                <a:alpha val="84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365760" y="2541957"/>
              <a:ext cx="320040" cy="320040"/>
            </a:xfrm>
            <a:custGeom>
              <a:avLst/>
              <a:gdLst/>
              <a:ahLst/>
              <a:cxnLst/>
              <a:rect l="l" t="t" r="r" b="b"/>
              <a:pathLst>
                <a:path w="320040" h="320039">
                  <a:moveTo>
                    <a:pt x="0" y="159842"/>
                  </a:moveTo>
                  <a:lnTo>
                    <a:pt x="1400" y="138899"/>
                  </a:lnTo>
                  <a:lnTo>
                    <a:pt x="5534" y="118395"/>
                  </a:lnTo>
                  <a:lnTo>
                    <a:pt x="21602" y="79921"/>
                  </a:lnTo>
                  <a:lnTo>
                    <a:pt x="46980" y="46669"/>
                  </a:lnTo>
                  <a:lnTo>
                    <a:pt x="79921" y="21247"/>
                  </a:lnTo>
                  <a:lnTo>
                    <a:pt x="118573" y="5356"/>
                  </a:lnTo>
                  <a:lnTo>
                    <a:pt x="160197" y="0"/>
                  </a:lnTo>
                  <a:lnTo>
                    <a:pt x="201510" y="5356"/>
                  </a:lnTo>
                  <a:lnTo>
                    <a:pt x="240118" y="21247"/>
                  </a:lnTo>
                  <a:lnTo>
                    <a:pt x="273059" y="46669"/>
                  </a:lnTo>
                  <a:lnTo>
                    <a:pt x="298437" y="79921"/>
                  </a:lnTo>
                  <a:lnTo>
                    <a:pt x="314505" y="118395"/>
                  </a:lnTo>
                  <a:lnTo>
                    <a:pt x="320040" y="159842"/>
                  </a:lnTo>
                  <a:lnTo>
                    <a:pt x="318639" y="180784"/>
                  </a:lnTo>
                  <a:lnTo>
                    <a:pt x="314505" y="201288"/>
                  </a:lnTo>
                  <a:lnTo>
                    <a:pt x="298437" y="239763"/>
                  </a:lnTo>
                  <a:lnTo>
                    <a:pt x="273059" y="273021"/>
                  </a:lnTo>
                  <a:lnTo>
                    <a:pt x="240118" y="298450"/>
                  </a:lnTo>
                  <a:lnTo>
                    <a:pt x="201510" y="314507"/>
                  </a:lnTo>
                  <a:lnTo>
                    <a:pt x="160197" y="320040"/>
                  </a:lnTo>
                  <a:lnTo>
                    <a:pt x="118573" y="314507"/>
                  </a:lnTo>
                  <a:lnTo>
                    <a:pt x="79921" y="298450"/>
                  </a:lnTo>
                  <a:lnTo>
                    <a:pt x="46980" y="273021"/>
                  </a:lnTo>
                  <a:lnTo>
                    <a:pt x="21602" y="239763"/>
                  </a:lnTo>
                  <a:lnTo>
                    <a:pt x="5534" y="201288"/>
                  </a:lnTo>
                  <a:lnTo>
                    <a:pt x="1400" y="180784"/>
                  </a:lnTo>
                  <a:lnTo>
                    <a:pt x="0" y="159842"/>
                  </a:lnTo>
                  <a:close/>
                </a:path>
              </a:pathLst>
            </a:custGeom>
            <a:ln w="12599">
              <a:solidFill>
                <a:srgbClr val="F49D0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3" name="object 23"/>
          <p:cNvSpPr txBox="1"/>
          <p:nvPr/>
        </p:nvSpPr>
        <p:spPr>
          <a:xfrm>
            <a:off x="478345" y="2620342"/>
            <a:ext cx="94615" cy="163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spc="75" dirty="0">
                <a:solidFill>
                  <a:srgbClr val="FFFFFF"/>
                </a:solidFill>
                <a:latin typeface="Segoe UI Symbol"/>
                <a:cs typeface="Segoe UI Symbol"/>
              </a:rPr>
              <a:t>⚡</a:t>
            </a:r>
            <a:endParaRPr sz="900">
              <a:latin typeface="Segoe UI Symbol"/>
              <a:cs typeface="Segoe UI Symbol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854176" y="2526032"/>
            <a:ext cx="1162050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dirty="0">
                <a:solidFill>
                  <a:srgbClr val="F49D0A"/>
                </a:solidFill>
                <a:latin typeface="Calibri"/>
                <a:cs typeface="Calibri"/>
              </a:rPr>
              <a:t>Kick</a:t>
            </a:r>
            <a:r>
              <a:rPr sz="1000" b="1" spc="-30" dirty="0">
                <a:solidFill>
                  <a:srgbClr val="F49D0A"/>
                </a:solidFill>
                <a:latin typeface="Calibri"/>
                <a:cs typeface="Calibri"/>
              </a:rPr>
              <a:t> </a:t>
            </a:r>
            <a:r>
              <a:rPr sz="1000" b="1" dirty="0">
                <a:solidFill>
                  <a:srgbClr val="F49D0A"/>
                </a:solidFill>
                <a:latin typeface="Calibri"/>
                <a:cs typeface="Calibri"/>
              </a:rPr>
              <a:t>inicial</a:t>
            </a:r>
            <a:r>
              <a:rPr sz="1000" b="1" spc="-35" dirty="0">
                <a:solidFill>
                  <a:srgbClr val="F49D0A"/>
                </a:solidFill>
                <a:latin typeface="Calibri"/>
                <a:cs typeface="Calibri"/>
              </a:rPr>
              <a:t> </a:t>
            </a:r>
            <a:r>
              <a:rPr sz="1000" b="1" spc="-10" dirty="0">
                <a:solidFill>
                  <a:srgbClr val="F49D0A"/>
                </a:solidFill>
                <a:latin typeface="Calibri"/>
                <a:cs typeface="Calibri"/>
              </a:rPr>
              <a:t>(arranque)</a:t>
            </a:r>
            <a:endParaRPr sz="1000">
              <a:latin typeface="Calibri"/>
              <a:cs typeface="Calibri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854176" y="2825904"/>
            <a:ext cx="748220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Si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θ₀</a:t>
            </a:r>
            <a:r>
              <a:rPr sz="9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= ±180°</a:t>
            </a:r>
            <a:r>
              <a:rPr sz="9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y</a:t>
            </a:r>
            <a:r>
              <a:rPr sz="9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ω₀</a:t>
            </a:r>
            <a:r>
              <a:rPr sz="900" spc="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=</a:t>
            </a:r>
            <a:r>
              <a:rPr sz="9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0, el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sistema está en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el</a:t>
            </a:r>
            <a:r>
              <a:rPr sz="9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punto</a:t>
            </a:r>
            <a:r>
              <a:rPr sz="9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de</a:t>
            </a:r>
            <a:r>
              <a:rPr sz="9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spc="-10" dirty="0" err="1">
                <a:solidFill>
                  <a:srgbClr val="C7CFE7"/>
                </a:solidFill>
                <a:latin typeface="Calibri"/>
                <a:cs typeface="Calibri"/>
              </a:rPr>
              <a:t>equilibrio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.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Sin</a:t>
            </a:r>
            <a:r>
              <a:rPr sz="9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perturbación,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 el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 controlador</a:t>
            </a:r>
            <a:r>
              <a:rPr sz="9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no</a:t>
            </a:r>
            <a:r>
              <a:rPr sz="9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genera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 fuerza</a:t>
            </a:r>
            <a:r>
              <a:rPr sz="9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(F=0</a:t>
            </a:r>
            <a:r>
              <a:rPr sz="9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por</a:t>
            </a:r>
            <a:r>
              <a:rPr sz="9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simetría).</a:t>
            </a:r>
            <a:r>
              <a:rPr sz="9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Se</a:t>
            </a:r>
            <a:r>
              <a:rPr sz="9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aplica</a:t>
            </a:r>
            <a:r>
              <a:rPr sz="9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spc="-25" dirty="0">
                <a:solidFill>
                  <a:srgbClr val="C7CFE7"/>
                </a:solidFill>
                <a:latin typeface="Calibri"/>
                <a:cs typeface="Calibri"/>
              </a:rPr>
              <a:t>un</a:t>
            </a:r>
            <a:r>
              <a:rPr sz="900" spc="50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impulso</a:t>
            </a:r>
            <a:r>
              <a:rPr sz="9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de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120</a:t>
            </a:r>
            <a:r>
              <a:rPr sz="9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N</a:t>
            </a:r>
            <a:r>
              <a:rPr sz="900" spc="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durante</a:t>
            </a:r>
            <a:r>
              <a:rPr sz="9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0.15</a:t>
            </a:r>
            <a:r>
              <a:rPr sz="9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s</a:t>
            </a:r>
            <a:r>
              <a:rPr sz="9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con</a:t>
            </a:r>
            <a:r>
              <a:rPr sz="9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signo</a:t>
            </a:r>
            <a:r>
              <a:rPr sz="9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aleatorio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 para</a:t>
            </a:r>
            <a:r>
              <a:rPr sz="9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romper</a:t>
            </a:r>
            <a:r>
              <a:rPr sz="9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la 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singularidad.</a:t>
            </a:r>
            <a:endParaRPr sz="900" dirty="0">
              <a:latin typeface="Calibri"/>
              <a:cs typeface="Calibri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365759" y="3218397"/>
            <a:ext cx="8412480" cy="635"/>
          </a:xfrm>
          <a:custGeom>
            <a:avLst/>
            <a:gdLst/>
            <a:ahLst/>
            <a:cxnLst/>
            <a:rect l="l" t="t" r="r" b="b"/>
            <a:pathLst>
              <a:path w="8412480" h="635">
                <a:moveTo>
                  <a:pt x="0" y="0"/>
                </a:moveTo>
                <a:lnTo>
                  <a:pt x="8412480" y="368"/>
                </a:lnTo>
              </a:path>
            </a:pathLst>
          </a:custGeom>
          <a:ln w="12599">
            <a:solidFill>
              <a:srgbClr val="292C3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27" name="object 27"/>
          <p:cNvGrpSpPr/>
          <p:nvPr/>
        </p:nvGrpSpPr>
        <p:grpSpPr>
          <a:xfrm>
            <a:off x="359460" y="3312897"/>
            <a:ext cx="332740" cy="332740"/>
            <a:chOff x="359460" y="3312897"/>
            <a:chExt cx="332740" cy="332740"/>
          </a:xfrm>
        </p:grpSpPr>
        <p:sp>
          <p:nvSpPr>
            <p:cNvPr id="28" name="object 28"/>
            <p:cNvSpPr/>
            <p:nvPr/>
          </p:nvSpPr>
          <p:spPr>
            <a:xfrm>
              <a:off x="365760" y="3319197"/>
              <a:ext cx="320040" cy="320040"/>
            </a:xfrm>
            <a:custGeom>
              <a:avLst/>
              <a:gdLst/>
              <a:ahLst/>
              <a:cxnLst/>
              <a:rect l="l" t="t" r="r" b="b"/>
              <a:pathLst>
                <a:path w="320040" h="320039">
                  <a:moveTo>
                    <a:pt x="160197" y="0"/>
                  </a:moveTo>
                  <a:lnTo>
                    <a:pt x="118573" y="5356"/>
                  </a:lnTo>
                  <a:lnTo>
                    <a:pt x="79921" y="21247"/>
                  </a:lnTo>
                  <a:lnTo>
                    <a:pt x="46980" y="46669"/>
                  </a:lnTo>
                  <a:lnTo>
                    <a:pt x="21602" y="79921"/>
                  </a:lnTo>
                  <a:lnTo>
                    <a:pt x="5534" y="118395"/>
                  </a:lnTo>
                  <a:lnTo>
                    <a:pt x="0" y="159842"/>
                  </a:lnTo>
                  <a:lnTo>
                    <a:pt x="1400" y="180784"/>
                  </a:lnTo>
                  <a:lnTo>
                    <a:pt x="12301" y="221049"/>
                  </a:lnTo>
                  <a:lnTo>
                    <a:pt x="33243" y="257287"/>
                  </a:lnTo>
                  <a:lnTo>
                    <a:pt x="62607" y="286797"/>
                  </a:lnTo>
                  <a:lnTo>
                    <a:pt x="98790" y="307743"/>
                  </a:lnTo>
                  <a:lnTo>
                    <a:pt x="139099" y="318640"/>
                  </a:lnTo>
                  <a:lnTo>
                    <a:pt x="160197" y="320039"/>
                  </a:lnTo>
                  <a:lnTo>
                    <a:pt x="181090" y="318640"/>
                  </a:lnTo>
                  <a:lnTo>
                    <a:pt x="221255" y="307743"/>
                  </a:lnTo>
                  <a:lnTo>
                    <a:pt x="257432" y="286797"/>
                  </a:lnTo>
                  <a:lnTo>
                    <a:pt x="286796" y="257287"/>
                  </a:lnTo>
                  <a:lnTo>
                    <a:pt x="307738" y="221049"/>
                  </a:lnTo>
                  <a:lnTo>
                    <a:pt x="318639" y="180784"/>
                  </a:lnTo>
                  <a:lnTo>
                    <a:pt x="320040" y="159842"/>
                  </a:lnTo>
                  <a:lnTo>
                    <a:pt x="318639" y="138899"/>
                  </a:lnTo>
                  <a:lnTo>
                    <a:pt x="307738" y="98634"/>
                  </a:lnTo>
                  <a:lnTo>
                    <a:pt x="286796" y="62402"/>
                  </a:lnTo>
                  <a:lnTo>
                    <a:pt x="257432" y="32893"/>
                  </a:lnTo>
                  <a:lnTo>
                    <a:pt x="221255" y="12001"/>
                  </a:lnTo>
                  <a:lnTo>
                    <a:pt x="181090" y="1344"/>
                  </a:lnTo>
                  <a:lnTo>
                    <a:pt x="160197" y="0"/>
                  </a:lnTo>
                  <a:close/>
                </a:path>
              </a:pathLst>
            </a:custGeom>
            <a:solidFill>
              <a:srgbClr val="DF5151">
                <a:alpha val="84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365760" y="3319197"/>
              <a:ext cx="320040" cy="320040"/>
            </a:xfrm>
            <a:custGeom>
              <a:avLst/>
              <a:gdLst/>
              <a:ahLst/>
              <a:cxnLst/>
              <a:rect l="l" t="t" r="r" b="b"/>
              <a:pathLst>
                <a:path w="320040" h="320039">
                  <a:moveTo>
                    <a:pt x="0" y="159842"/>
                  </a:moveTo>
                  <a:lnTo>
                    <a:pt x="1400" y="138899"/>
                  </a:lnTo>
                  <a:lnTo>
                    <a:pt x="5534" y="118395"/>
                  </a:lnTo>
                  <a:lnTo>
                    <a:pt x="21602" y="79921"/>
                  </a:lnTo>
                  <a:lnTo>
                    <a:pt x="46980" y="46669"/>
                  </a:lnTo>
                  <a:lnTo>
                    <a:pt x="79921" y="21247"/>
                  </a:lnTo>
                  <a:lnTo>
                    <a:pt x="118573" y="5356"/>
                  </a:lnTo>
                  <a:lnTo>
                    <a:pt x="160197" y="0"/>
                  </a:lnTo>
                  <a:lnTo>
                    <a:pt x="201510" y="5356"/>
                  </a:lnTo>
                  <a:lnTo>
                    <a:pt x="240118" y="21247"/>
                  </a:lnTo>
                  <a:lnTo>
                    <a:pt x="273059" y="46669"/>
                  </a:lnTo>
                  <a:lnTo>
                    <a:pt x="298437" y="79921"/>
                  </a:lnTo>
                  <a:lnTo>
                    <a:pt x="314505" y="118395"/>
                  </a:lnTo>
                  <a:lnTo>
                    <a:pt x="320040" y="159842"/>
                  </a:lnTo>
                  <a:lnTo>
                    <a:pt x="318639" y="180784"/>
                  </a:lnTo>
                  <a:lnTo>
                    <a:pt x="314505" y="201288"/>
                  </a:lnTo>
                  <a:lnTo>
                    <a:pt x="298437" y="239763"/>
                  </a:lnTo>
                  <a:lnTo>
                    <a:pt x="273059" y="273021"/>
                  </a:lnTo>
                  <a:lnTo>
                    <a:pt x="240118" y="298449"/>
                  </a:lnTo>
                  <a:lnTo>
                    <a:pt x="201510" y="314507"/>
                  </a:lnTo>
                  <a:lnTo>
                    <a:pt x="160197" y="320039"/>
                  </a:lnTo>
                  <a:lnTo>
                    <a:pt x="118573" y="314507"/>
                  </a:lnTo>
                  <a:lnTo>
                    <a:pt x="79921" y="298449"/>
                  </a:lnTo>
                  <a:lnTo>
                    <a:pt x="46980" y="273021"/>
                  </a:lnTo>
                  <a:lnTo>
                    <a:pt x="21602" y="239763"/>
                  </a:lnTo>
                  <a:lnTo>
                    <a:pt x="5534" y="201288"/>
                  </a:lnTo>
                  <a:lnTo>
                    <a:pt x="1400" y="180784"/>
                  </a:lnTo>
                  <a:lnTo>
                    <a:pt x="0" y="159842"/>
                  </a:lnTo>
                  <a:close/>
                </a:path>
              </a:pathLst>
            </a:custGeom>
            <a:ln w="12599">
              <a:solidFill>
                <a:srgbClr val="DF51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0" name="object 30"/>
          <p:cNvSpPr txBox="1"/>
          <p:nvPr/>
        </p:nvSpPr>
        <p:spPr>
          <a:xfrm>
            <a:off x="478345" y="3397582"/>
            <a:ext cx="94615" cy="163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spc="-130" dirty="0">
                <a:solidFill>
                  <a:srgbClr val="FFFFFF"/>
                </a:solidFill>
                <a:latin typeface="Segoe UI Symbol"/>
                <a:cs typeface="Segoe UI Symbol"/>
              </a:rPr>
              <a:t>⊣</a:t>
            </a:r>
            <a:endParaRPr sz="900">
              <a:latin typeface="Segoe UI Symbol"/>
              <a:cs typeface="Segoe UI Symbol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854176" y="3303272"/>
            <a:ext cx="817880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5" dirty="0">
                <a:solidFill>
                  <a:srgbClr val="DF5151"/>
                </a:solidFill>
                <a:latin typeface="Calibri"/>
                <a:cs typeface="Calibri"/>
              </a:rPr>
              <a:t>Topes</a:t>
            </a:r>
            <a:r>
              <a:rPr sz="1000" b="1" spc="-15" dirty="0">
                <a:solidFill>
                  <a:srgbClr val="DF5151"/>
                </a:solidFill>
                <a:latin typeface="Calibri"/>
                <a:cs typeface="Calibri"/>
              </a:rPr>
              <a:t> </a:t>
            </a:r>
            <a:r>
              <a:rPr sz="1000" b="1" dirty="0">
                <a:solidFill>
                  <a:srgbClr val="DF5151"/>
                </a:solidFill>
                <a:latin typeface="Calibri"/>
                <a:cs typeface="Calibri"/>
              </a:rPr>
              <a:t>del</a:t>
            </a:r>
            <a:r>
              <a:rPr sz="1000" b="1" spc="-10" dirty="0">
                <a:solidFill>
                  <a:srgbClr val="DF5151"/>
                </a:solidFill>
                <a:latin typeface="Calibri"/>
                <a:cs typeface="Calibri"/>
              </a:rPr>
              <a:t> carro</a:t>
            </a:r>
            <a:endParaRPr sz="1000">
              <a:latin typeface="Calibri"/>
              <a:cs typeface="Calibri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854176" y="3603144"/>
            <a:ext cx="7515225" cy="1513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El</a:t>
            </a:r>
            <a:r>
              <a:rPr sz="9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carro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tiene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 límites</a:t>
            </a:r>
            <a:r>
              <a:rPr sz="9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±track_limit</a:t>
            </a:r>
            <a:r>
              <a:rPr sz="9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(por</a:t>
            </a:r>
            <a:r>
              <a:rPr sz="9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defecto</a:t>
            </a:r>
            <a:r>
              <a:rPr sz="9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±5</a:t>
            </a:r>
            <a:r>
              <a:rPr sz="9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m).</a:t>
            </a:r>
            <a:r>
              <a:rPr sz="9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Cuando</a:t>
            </a:r>
            <a:r>
              <a:rPr sz="9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el</a:t>
            </a:r>
            <a:r>
              <a:rPr sz="9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carro</a:t>
            </a:r>
            <a:r>
              <a:rPr sz="9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toca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un</a:t>
            </a:r>
            <a:r>
              <a:rPr sz="9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extremo,</a:t>
            </a:r>
            <a:r>
              <a:rPr sz="9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la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fuerza</a:t>
            </a:r>
            <a:r>
              <a:rPr sz="900" spc="-2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del</a:t>
            </a:r>
            <a:r>
              <a:rPr sz="9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controlador</a:t>
            </a:r>
            <a:r>
              <a:rPr sz="9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se</a:t>
            </a:r>
            <a:r>
              <a:rPr sz="9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silencia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si</a:t>
            </a:r>
            <a:r>
              <a:rPr sz="9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empujaría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el</a:t>
            </a:r>
            <a:r>
              <a:rPr sz="9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carro</a:t>
            </a:r>
            <a:r>
              <a:rPr sz="9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hacia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afuera.</a:t>
            </a:r>
            <a:r>
              <a:rPr sz="9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endParaRPr sz="900" dirty="0">
              <a:latin typeface="Calibri"/>
              <a:cs typeface="Calibri"/>
            </a:endParaRPr>
          </a:p>
        </p:txBody>
      </p:sp>
      <p:sp>
        <p:nvSpPr>
          <p:cNvPr id="33" name="object 33"/>
          <p:cNvSpPr/>
          <p:nvPr/>
        </p:nvSpPr>
        <p:spPr>
          <a:xfrm>
            <a:off x="365759" y="3995637"/>
            <a:ext cx="8412480" cy="635"/>
          </a:xfrm>
          <a:custGeom>
            <a:avLst/>
            <a:gdLst/>
            <a:ahLst/>
            <a:cxnLst/>
            <a:rect l="l" t="t" r="r" b="b"/>
            <a:pathLst>
              <a:path w="8412480" h="635">
                <a:moveTo>
                  <a:pt x="0" y="0"/>
                </a:moveTo>
                <a:lnTo>
                  <a:pt x="8412480" y="368"/>
                </a:lnTo>
              </a:path>
            </a:pathLst>
          </a:custGeom>
          <a:ln w="12599">
            <a:solidFill>
              <a:srgbClr val="292C3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4" name="object 34"/>
          <p:cNvGrpSpPr/>
          <p:nvPr/>
        </p:nvGrpSpPr>
        <p:grpSpPr>
          <a:xfrm>
            <a:off x="359460" y="4090137"/>
            <a:ext cx="332740" cy="332740"/>
            <a:chOff x="359460" y="4090137"/>
            <a:chExt cx="332740" cy="332740"/>
          </a:xfrm>
        </p:grpSpPr>
        <p:sp>
          <p:nvSpPr>
            <p:cNvPr id="35" name="object 35"/>
            <p:cNvSpPr/>
            <p:nvPr/>
          </p:nvSpPr>
          <p:spPr>
            <a:xfrm>
              <a:off x="365760" y="4096437"/>
              <a:ext cx="320040" cy="320040"/>
            </a:xfrm>
            <a:custGeom>
              <a:avLst/>
              <a:gdLst/>
              <a:ahLst/>
              <a:cxnLst/>
              <a:rect l="l" t="t" r="r" b="b"/>
              <a:pathLst>
                <a:path w="320040" h="320039">
                  <a:moveTo>
                    <a:pt x="160197" y="0"/>
                  </a:moveTo>
                  <a:lnTo>
                    <a:pt x="118573" y="5356"/>
                  </a:lnTo>
                  <a:lnTo>
                    <a:pt x="79921" y="21247"/>
                  </a:lnTo>
                  <a:lnTo>
                    <a:pt x="46980" y="46669"/>
                  </a:lnTo>
                  <a:lnTo>
                    <a:pt x="21602" y="79921"/>
                  </a:lnTo>
                  <a:lnTo>
                    <a:pt x="5534" y="118395"/>
                  </a:lnTo>
                  <a:lnTo>
                    <a:pt x="0" y="159842"/>
                  </a:lnTo>
                  <a:lnTo>
                    <a:pt x="1400" y="180784"/>
                  </a:lnTo>
                  <a:lnTo>
                    <a:pt x="12301" y="221049"/>
                  </a:lnTo>
                  <a:lnTo>
                    <a:pt x="33243" y="257287"/>
                  </a:lnTo>
                  <a:lnTo>
                    <a:pt x="62607" y="286797"/>
                  </a:lnTo>
                  <a:lnTo>
                    <a:pt x="98790" y="307743"/>
                  </a:lnTo>
                  <a:lnTo>
                    <a:pt x="139099" y="318640"/>
                  </a:lnTo>
                  <a:lnTo>
                    <a:pt x="160197" y="320039"/>
                  </a:lnTo>
                  <a:lnTo>
                    <a:pt x="181090" y="318640"/>
                  </a:lnTo>
                  <a:lnTo>
                    <a:pt x="221255" y="307743"/>
                  </a:lnTo>
                  <a:lnTo>
                    <a:pt x="257432" y="286797"/>
                  </a:lnTo>
                  <a:lnTo>
                    <a:pt x="286796" y="257287"/>
                  </a:lnTo>
                  <a:lnTo>
                    <a:pt x="307738" y="221049"/>
                  </a:lnTo>
                  <a:lnTo>
                    <a:pt x="318639" y="180784"/>
                  </a:lnTo>
                  <a:lnTo>
                    <a:pt x="320040" y="159842"/>
                  </a:lnTo>
                  <a:lnTo>
                    <a:pt x="318639" y="138899"/>
                  </a:lnTo>
                  <a:lnTo>
                    <a:pt x="307738" y="98634"/>
                  </a:lnTo>
                  <a:lnTo>
                    <a:pt x="286796" y="62402"/>
                  </a:lnTo>
                  <a:lnTo>
                    <a:pt x="257432" y="32893"/>
                  </a:lnTo>
                  <a:lnTo>
                    <a:pt x="221255" y="12001"/>
                  </a:lnTo>
                  <a:lnTo>
                    <a:pt x="181090" y="1344"/>
                  </a:lnTo>
                  <a:lnTo>
                    <a:pt x="160197" y="0"/>
                  </a:lnTo>
                  <a:close/>
                </a:path>
              </a:pathLst>
            </a:custGeom>
            <a:solidFill>
              <a:srgbClr val="7CD2FB">
                <a:alpha val="84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365760" y="4096437"/>
              <a:ext cx="320040" cy="320040"/>
            </a:xfrm>
            <a:custGeom>
              <a:avLst/>
              <a:gdLst/>
              <a:ahLst/>
              <a:cxnLst/>
              <a:rect l="l" t="t" r="r" b="b"/>
              <a:pathLst>
                <a:path w="320040" h="320039">
                  <a:moveTo>
                    <a:pt x="0" y="159842"/>
                  </a:moveTo>
                  <a:lnTo>
                    <a:pt x="1400" y="138899"/>
                  </a:lnTo>
                  <a:lnTo>
                    <a:pt x="5534" y="118395"/>
                  </a:lnTo>
                  <a:lnTo>
                    <a:pt x="21602" y="79921"/>
                  </a:lnTo>
                  <a:lnTo>
                    <a:pt x="46980" y="46669"/>
                  </a:lnTo>
                  <a:lnTo>
                    <a:pt x="79921" y="21247"/>
                  </a:lnTo>
                  <a:lnTo>
                    <a:pt x="118573" y="5356"/>
                  </a:lnTo>
                  <a:lnTo>
                    <a:pt x="160197" y="0"/>
                  </a:lnTo>
                  <a:lnTo>
                    <a:pt x="201510" y="5356"/>
                  </a:lnTo>
                  <a:lnTo>
                    <a:pt x="240118" y="21247"/>
                  </a:lnTo>
                  <a:lnTo>
                    <a:pt x="273059" y="46669"/>
                  </a:lnTo>
                  <a:lnTo>
                    <a:pt x="298437" y="79921"/>
                  </a:lnTo>
                  <a:lnTo>
                    <a:pt x="314505" y="118395"/>
                  </a:lnTo>
                  <a:lnTo>
                    <a:pt x="320040" y="159842"/>
                  </a:lnTo>
                  <a:lnTo>
                    <a:pt x="318639" y="180784"/>
                  </a:lnTo>
                  <a:lnTo>
                    <a:pt x="314505" y="201288"/>
                  </a:lnTo>
                  <a:lnTo>
                    <a:pt x="298437" y="239763"/>
                  </a:lnTo>
                  <a:lnTo>
                    <a:pt x="273059" y="273021"/>
                  </a:lnTo>
                  <a:lnTo>
                    <a:pt x="240118" y="298449"/>
                  </a:lnTo>
                  <a:lnTo>
                    <a:pt x="201510" y="314507"/>
                  </a:lnTo>
                  <a:lnTo>
                    <a:pt x="160197" y="320039"/>
                  </a:lnTo>
                  <a:lnTo>
                    <a:pt x="118573" y="314507"/>
                  </a:lnTo>
                  <a:lnTo>
                    <a:pt x="79921" y="298449"/>
                  </a:lnTo>
                  <a:lnTo>
                    <a:pt x="46980" y="273021"/>
                  </a:lnTo>
                  <a:lnTo>
                    <a:pt x="21602" y="239763"/>
                  </a:lnTo>
                  <a:lnTo>
                    <a:pt x="5534" y="201288"/>
                  </a:lnTo>
                  <a:lnTo>
                    <a:pt x="1400" y="180784"/>
                  </a:lnTo>
                  <a:lnTo>
                    <a:pt x="0" y="159842"/>
                  </a:lnTo>
                  <a:close/>
                </a:path>
              </a:pathLst>
            </a:custGeom>
            <a:ln w="12599">
              <a:solidFill>
                <a:srgbClr val="7CD2F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7" name="object 37"/>
          <p:cNvSpPr txBox="1"/>
          <p:nvPr/>
        </p:nvSpPr>
        <p:spPr>
          <a:xfrm>
            <a:off x="478345" y="4174822"/>
            <a:ext cx="94615" cy="163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spc="-50" dirty="0">
                <a:solidFill>
                  <a:srgbClr val="FFFFFF"/>
                </a:solidFill>
                <a:latin typeface="Segoe UI Symbol"/>
                <a:cs typeface="Segoe UI Symbol"/>
              </a:rPr>
              <a:t>b</a:t>
            </a:r>
            <a:endParaRPr sz="900">
              <a:latin typeface="Segoe UI Symbol"/>
              <a:cs typeface="Segoe UI Symbol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854176" y="4080512"/>
            <a:ext cx="922655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dirty="0">
                <a:solidFill>
                  <a:srgbClr val="7CD2FB"/>
                </a:solidFill>
                <a:latin typeface="Calibri"/>
                <a:cs typeface="Calibri"/>
              </a:rPr>
              <a:t>Fricción</a:t>
            </a:r>
            <a:r>
              <a:rPr sz="1000" b="1" spc="-40" dirty="0">
                <a:solidFill>
                  <a:srgbClr val="7CD2FB"/>
                </a:solidFill>
                <a:latin typeface="Calibri"/>
                <a:cs typeface="Calibri"/>
              </a:rPr>
              <a:t> </a:t>
            </a:r>
            <a:r>
              <a:rPr sz="1000" b="1" dirty="0">
                <a:solidFill>
                  <a:srgbClr val="7CD2FB"/>
                </a:solidFill>
                <a:latin typeface="Calibri"/>
                <a:cs typeface="Calibri"/>
              </a:rPr>
              <a:t>del</a:t>
            </a:r>
            <a:r>
              <a:rPr sz="1000" b="1" spc="-30" dirty="0">
                <a:solidFill>
                  <a:srgbClr val="7CD2FB"/>
                </a:solidFill>
                <a:latin typeface="Calibri"/>
                <a:cs typeface="Calibri"/>
              </a:rPr>
              <a:t> </a:t>
            </a:r>
            <a:r>
              <a:rPr sz="1000" b="1" spc="-10" dirty="0">
                <a:solidFill>
                  <a:srgbClr val="7CD2FB"/>
                </a:solidFill>
                <a:latin typeface="Calibri"/>
                <a:cs typeface="Calibri"/>
              </a:rPr>
              <a:t>carro</a:t>
            </a:r>
            <a:endParaRPr sz="1000">
              <a:latin typeface="Calibri"/>
              <a:cs typeface="Calibri"/>
            </a:endParaRPr>
          </a:p>
        </p:txBody>
      </p:sp>
      <p:sp>
        <p:nvSpPr>
          <p:cNvPr id="39" name="object 39"/>
          <p:cNvSpPr txBox="1"/>
          <p:nvPr/>
        </p:nvSpPr>
        <p:spPr>
          <a:xfrm>
            <a:off x="854176" y="4380384"/>
            <a:ext cx="7672705" cy="1513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Se</a:t>
            </a:r>
            <a:r>
              <a:rPr sz="9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modela</a:t>
            </a:r>
            <a:r>
              <a:rPr sz="9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solo</a:t>
            </a:r>
            <a:r>
              <a:rPr sz="9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fricción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viscosa: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Fv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=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b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·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ẋ</a:t>
            </a:r>
            <a:r>
              <a:rPr sz="9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(proporcional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a</a:t>
            </a:r>
            <a:r>
              <a:rPr sz="9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la</a:t>
            </a:r>
            <a:r>
              <a:rPr sz="9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velocidad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del</a:t>
            </a:r>
            <a:r>
              <a:rPr sz="9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carro,</a:t>
            </a:r>
            <a:r>
              <a:rPr sz="9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b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=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30</a:t>
            </a:r>
            <a:r>
              <a:rPr sz="9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N·s/m).</a:t>
            </a:r>
            <a:endParaRPr sz="9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Paso</a:t>
            </a:r>
            <a:r>
              <a:rPr spc="-50" dirty="0"/>
              <a:t> </a:t>
            </a:r>
            <a:r>
              <a:rPr dirty="0"/>
              <a:t>1</a:t>
            </a:r>
            <a:r>
              <a:rPr spc="-35" dirty="0"/>
              <a:t> </a:t>
            </a:r>
            <a:r>
              <a:rPr dirty="0"/>
              <a:t>—</a:t>
            </a:r>
            <a:r>
              <a:rPr spc="-45" dirty="0"/>
              <a:t> </a:t>
            </a:r>
            <a:r>
              <a:rPr spc="-10" dirty="0"/>
              <a:t>Fuzzificación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59409" y="743167"/>
            <a:ext cx="8333105" cy="415290"/>
            <a:chOff x="359409" y="743167"/>
            <a:chExt cx="8333105" cy="415290"/>
          </a:xfrm>
        </p:grpSpPr>
        <p:sp>
          <p:nvSpPr>
            <p:cNvPr id="4" name="object 4"/>
            <p:cNvSpPr/>
            <p:nvPr/>
          </p:nvSpPr>
          <p:spPr>
            <a:xfrm>
              <a:off x="456844" y="749517"/>
              <a:ext cx="8229600" cy="22860"/>
            </a:xfrm>
            <a:custGeom>
              <a:avLst/>
              <a:gdLst/>
              <a:ahLst/>
              <a:cxnLst/>
              <a:rect l="l" t="t" r="r" b="b"/>
              <a:pathLst>
                <a:path w="8229600" h="22859">
                  <a:moveTo>
                    <a:pt x="8229231" y="0"/>
                  </a:moveTo>
                  <a:lnTo>
                    <a:pt x="0" y="0"/>
                  </a:lnTo>
                  <a:lnTo>
                    <a:pt x="0" y="22682"/>
                  </a:lnTo>
                  <a:lnTo>
                    <a:pt x="4114800" y="22682"/>
                  </a:lnTo>
                  <a:lnTo>
                    <a:pt x="8229231" y="22682"/>
                  </a:lnTo>
                  <a:lnTo>
                    <a:pt x="8229231" y="0"/>
                  </a:lnTo>
                  <a:close/>
                </a:path>
              </a:pathLst>
            </a:custGeom>
            <a:solidFill>
              <a:srgbClr val="292C3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456844" y="749517"/>
              <a:ext cx="8229600" cy="22860"/>
            </a:xfrm>
            <a:custGeom>
              <a:avLst/>
              <a:gdLst/>
              <a:ahLst/>
              <a:cxnLst/>
              <a:rect l="l" t="t" r="r" b="b"/>
              <a:pathLst>
                <a:path w="8229600" h="22859">
                  <a:moveTo>
                    <a:pt x="4114800" y="22682"/>
                  </a:moveTo>
                  <a:lnTo>
                    <a:pt x="0" y="22682"/>
                  </a:lnTo>
                  <a:lnTo>
                    <a:pt x="0" y="0"/>
                  </a:lnTo>
                  <a:lnTo>
                    <a:pt x="8229231" y="0"/>
                  </a:lnTo>
                  <a:lnTo>
                    <a:pt x="8229231" y="22682"/>
                  </a:lnTo>
                  <a:lnTo>
                    <a:pt x="4114800" y="22682"/>
                  </a:lnTo>
                  <a:close/>
                </a:path>
              </a:pathLst>
            </a:custGeom>
            <a:ln w="12599">
              <a:solidFill>
                <a:srgbClr val="292C3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65759" y="804597"/>
              <a:ext cx="347980" cy="347980"/>
            </a:xfrm>
            <a:custGeom>
              <a:avLst/>
              <a:gdLst/>
              <a:ahLst/>
              <a:cxnLst/>
              <a:rect l="l" t="t" r="r" b="b"/>
              <a:pathLst>
                <a:path w="347980" h="347980">
                  <a:moveTo>
                    <a:pt x="173875" y="0"/>
                  </a:moveTo>
                  <a:lnTo>
                    <a:pt x="128833" y="5853"/>
                  </a:lnTo>
                  <a:lnTo>
                    <a:pt x="86753" y="23050"/>
                  </a:lnTo>
                  <a:lnTo>
                    <a:pt x="50893" y="50584"/>
                  </a:lnTo>
                  <a:lnTo>
                    <a:pt x="23406" y="86766"/>
                  </a:lnTo>
                  <a:lnTo>
                    <a:pt x="5897" y="128524"/>
                  </a:lnTo>
                  <a:lnTo>
                    <a:pt x="0" y="173520"/>
                  </a:lnTo>
                  <a:lnTo>
                    <a:pt x="1480" y="196294"/>
                  </a:lnTo>
                  <a:lnTo>
                    <a:pt x="13217" y="239948"/>
                  </a:lnTo>
                  <a:lnTo>
                    <a:pt x="35984" y="279352"/>
                  </a:lnTo>
                  <a:lnTo>
                    <a:pt x="67895" y="311416"/>
                  </a:lnTo>
                  <a:lnTo>
                    <a:pt x="107304" y="334040"/>
                  </a:lnTo>
                  <a:lnTo>
                    <a:pt x="151102" y="345878"/>
                  </a:lnTo>
                  <a:lnTo>
                    <a:pt x="173875" y="347408"/>
                  </a:lnTo>
                  <a:lnTo>
                    <a:pt x="196443" y="345878"/>
                  </a:lnTo>
                  <a:lnTo>
                    <a:pt x="240096" y="334040"/>
                  </a:lnTo>
                  <a:lnTo>
                    <a:pt x="279500" y="311416"/>
                  </a:lnTo>
                  <a:lnTo>
                    <a:pt x="311416" y="279352"/>
                  </a:lnTo>
                  <a:lnTo>
                    <a:pt x="334188" y="239948"/>
                  </a:lnTo>
                  <a:lnTo>
                    <a:pt x="345917" y="196294"/>
                  </a:lnTo>
                  <a:lnTo>
                    <a:pt x="347395" y="173520"/>
                  </a:lnTo>
                  <a:lnTo>
                    <a:pt x="345917" y="150752"/>
                  </a:lnTo>
                  <a:lnTo>
                    <a:pt x="334188" y="107104"/>
                  </a:lnTo>
                  <a:lnTo>
                    <a:pt x="311416" y="67695"/>
                  </a:lnTo>
                  <a:lnTo>
                    <a:pt x="279500" y="35635"/>
                  </a:lnTo>
                  <a:lnTo>
                    <a:pt x="240096" y="13067"/>
                  </a:lnTo>
                  <a:lnTo>
                    <a:pt x="196443" y="1474"/>
                  </a:lnTo>
                  <a:lnTo>
                    <a:pt x="173875" y="0"/>
                  </a:lnTo>
                  <a:close/>
                </a:path>
              </a:pathLst>
            </a:custGeom>
            <a:solidFill>
              <a:srgbClr val="499D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65759" y="804597"/>
              <a:ext cx="347980" cy="347980"/>
            </a:xfrm>
            <a:custGeom>
              <a:avLst/>
              <a:gdLst/>
              <a:ahLst/>
              <a:cxnLst/>
              <a:rect l="l" t="t" r="r" b="b"/>
              <a:pathLst>
                <a:path w="347980" h="347980">
                  <a:moveTo>
                    <a:pt x="0" y="173520"/>
                  </a:moveTo>
                  <a:lnTo>
                    <a:pt x="1480" y="150752"/>
                  </a:lnTo>
                  <a:lnTo>
                    <a:pt x="5897" y="128524"/>
                  </a:lnTo>
                  <a:lnTo>
                    <a:pt x="23406" y="86766"/>
                  </a:lnTo>
                  <a:lnTo>
                    <a:pt x="50893" y="50584"/>
                  </a:lnTo>
                  <a:lnTo>
                    <a:pt x="86753" y="23050"/>
                  </a:lnTo>
                  <a:lnTo>
                    <a:pt x="128833" y="5853"/>
                  </a:lnTo>
                  <a:lnTo>
                    <a:pt x="173875" y="0"/>
                  </a:lnTo>
                  <a:lnTo>
                    <a:pt x="218606" y="5853"/>
                  </a:lnTo>
                  <a:lnTo>
                    <a:pt x="260642" y="23050"/>
                  </a:lnTo>
                  <a:lnTo>
                    <a:pt x="296503" y="50584"/>
                  </a:lnTo>
                  <a:lnTo>
                    <a:pt x="324002" y="86766"/>
                  </a:lnTo>
                  <a:lnTo>
                    <a:pt x="341504" y="128524"/>
                  </a:lnTo>
                  <a:lnTo>
                    <a:pt x="347395" y="173520"/>
                  </a:lnTo>
                  <a:lnTo>
                    <a:pt x="345917" y="196294"/>
                  </a:lnTo>
                  <a:lnTo>
                    <a:pt x="341504" y="218527"/>
                  </a:lnTo>
                  <a:lnTo>
                    <a:pt x="324002" y="260286"/>
                  </a:lnTo>
                  <a:lnTo>
                    <a:pt x="296503" y="296464"/>
                  </a:lnTo>
                  <a:lnTo>
                    <a:pt x="260642" y="324002"/>
                  </a:lnTo>
                  <a:lnTo>
                    <a:pt x="218606" y="341377"/>
                  </a:lnTo>
                  <a:lnTo>
                    <a:pt x="173875" y="347408"/>
                  </a:lnTo>
                  <a:lnTo>
                    <a:pt x="128833" y="341377"/>
                  </a:lnTo>
                  <a:lnTo>
                    <a:pt x="86753" y="324002"/>
                  </a:lnTo>
                  <a:lnTo>
                    <a:pt x="50893" y="296464"/>
                  </a:lnTo>
                  <a:lnTo>
                    <a:pt x="23406" y="260286"/>
                  </a:lnTo>
                  <a:lnTo>
                    <a:pt x="5897" y="218527"/>
                  </a:lnTo>
                  <a:lnTo>
                    <a:pt x="1480" y="196294"/>
                  </a:lnTo>
                  <a:lnTo>
                    <a:pt x="0" y="173520"/>
                  </a:lnTo>
                  <a:close/>
                </a:path>
              </a:pathLst>
            </a:custGeom>
            <a:ln w="12599">
              <a:solidFill>
                <a:srgbClr val="499D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485178" y="866421"/>
            <a:ext cx="109220" cy="224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00" b="1" spc="-50" dirty="0">
                <a:solidFill>
                  <a:srgbClr val="FFFFFF"/>
                </a:solidFill>
                <a:latin typeface="Calibri"/>
                <a:cs typeface="Calibri"/>
              </a:rPr>
              <a:t>1</a:t>
            </a:r>
            <a:endParaRPr sz="130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99896" y="867869"/>
            <a:ext cx="481012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b="1" spc="-10" dirty="0">
                <a:solidFill>
                  <a:srgbClr val="499DFF"/>
                </a:solidFill>
                <a:latin typeface="Calibri"/>
                <a:cs typeface="Calibri"/>
              </a:rPr>
              <a:t>Convertir </a:t>
            </a:r>
            <a:r>
              <a:rPr sz="1100" b="1" dirty="0">
                <a:solidFill>
                  <a:srgbClr val="499DFF"/>
                </a:solidFill>
                <a:latin typeface="Calibri"/>
                <a:cs typeface="Calibri"/>
              </a:rPr>
              <a:t>valores</a:t>
            </a:r>
            <a:r>
              <a:rPr sz="1100" b="1" spc="-15" dirty="0">
                <a:solidFill>
                  <a:srgbClr val="499DFF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499DFF"/>
                </a:solidFill>
                <a:latin typeface="Calibri"/>
                <a:cs typeface="Calibri"/>
              </a:rPr>
              <a:t>nítidos</a:t>
            </a:r>
            <a:r>
              <a:rPr sz="1100" b="1" spc="-25" dirty="0">
                <a:solidFill>
                  <a:srgbClr val="499DFF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499DFF"/>
                </a:solidFill>
                <a:latin typeface="Calibri"/>
                <a:cs typeface="Calibri"/>
              </a:rPr>
              <a:t>de</a:t>
            </a:r>
            <a:r>
              <a:rPr sz="1100" b="1" spc="-10" dirty="0">
                <a:solidFill>
                  <a:srgbClr val="499DFF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499DFF"/>
                </a:solidFill>
                <a:latin typeface="Calibri"/>
                <a:cs typeface="Calibri"/>
              </a:rPr>
              <a:t>θ</a:t>
            </a:r>
            <a:r>
              <a:rPr sz="1100" b="1" spc="-25" dirty="0">
                <a:solidFill>
                  <a:srgbClr val="499DFF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499DFF"/>
                </a:solidFill>
                <a:latin typeface="Calibri"/>
                <a:cs typeface="Calibri"/>
              </a:rPr>
              <a:t>y</a:t>
            </a:r>
            <a:r>
              <a:rPr sz="1100" b="1" spc="-10" dirty="0">
                <a:solidFill>
                  <a:srgbClr val="499DFF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499DFF"/>
                </a:solidFill>
                <a:latin typeface="Calibri"/>
                <a:cs typeface="Calibri"/>
              </a:rPr>
              <a:t>θ'</a:t>
            </a:r>
            <a:r>
              <a:rPr sz="1100" b="1" spc="-20" dirty="0">
                <a:solidFill>
                  <a:srgbClr val="499DFF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499DFF"/>
                </a:solidFill>
                <a:latin typeface="Calibri"/>
                <a:cs typeface="Calibri"/>
              </a:rPr>
              <a:t>en</a:t>
            </a:r>
            <a:r>
              <a:rPr sz="1100" b="1" spc="-15" dirty="0">
                <a:solidFill>
                  <a:srgbClr val="499DFF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499DFF"/>
                </a:solidFill>
                <a:latin typeface="Calibri"/>
                <a:cs typeface="Calibri"/>
              </a:rPr>
              <a:t>grados</a:t>
            </a:r>
            <a:r>
              <a:rPr sz="1100" b="1" spc="-15" dirty="0">
                <a:solidFill>
                  <a:srgbClr val="499DFF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499DFF"/>
                </a:solidFill>
                <a:latin typeface="Calibri"/>
                <a:cs typeface="Calibri"/>
              </a:rPr>
              <a:t>de</a:t>
            </a:r>
            <a:r>
              <a:rPr sz="1100" b="1" spc="-20" dirty="0">
                <a:solidFill>
                  <a:srgbClr val="499DFF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499DFF"/>
                </a:solidFill>
                <a:latin typeface="Calibri"/>
                <a:cs typeface="Calibri"/>
              </a:rPr>
              <a:t>pertenencia</a:t>
            </a:r>
            <a:r>
              <a:rPr sz="1100" b="1" spc="-15" dirty="0">
                <a:solidFill>
                  <a:srgbClr val="499DFF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499DFF"/>
                </a:solidFill>
                <a:latin typeface="Calibri"/>
                <a:cs typeface="Calibri"/>
              </a:rPr>
              <a:t>a</a:t>
            </a:r>
            <a:r>
              <a:rPr sz="1100" b="1" spc="-20" dirty="0">
                <a:solidFill>
                  <a:srgbClr val="499DFF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499DFF"/>
                </a:solidFill>
                <a:latin typeface="Calibri"/>
                <a:cs typeface="Calibri"/>
              </a:rPr>
              <a:t>cada</a:t>
            </a:r>
            <a:r>
              <a:rPr sz="1100" b="1" spc="-10" dirty="0">
                <a:solidFill>
                  <a:srgbClr val="499DFF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499DFF"/>
                </a:solidFill>
                <a:latin typeface="Calibri"/>
                <a:cs typeface="Calibri"/>
              </a:rPr>
              <a:t>conjunto</a:t>
            </a:r>
            <a:r>
              <a:rPr sz="1100" b="1" spc="-15" dirty="0">
                <a:solidFill>
                  <a:srgbClr val="499DFF"/>
                </a:solidFill>
                <a:latin typeface="Calibri"/>
                <a:cs typeface="Calibri"/>
              </a:rPr>
              <a:t> </a:t>
            </a:r>
            <a:r>
              <a:rPr sz="1100" b="1" spc="-10" dirty="0">
                <a:solidFill>
                  <a:srgbClr val="499DFF"/>
                </a:solidFill>
                <a:latin typeface="Calibri"/>
                <a:cs typeface="Calibri"/>
              </a:rPr>
              <a:t>difuso</a:t>
            </a:r>
            <a:endParaRPr sz="1100">
              <a:latin typeface="Calibri"/>
              <a:cs typeface="Calibri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239763" y="1099060"/>
            <a:ext cx="8628380" cy="1266825"/>
            <a:chOff x="239763" y="1099060"/>
            <a:chExt cx="8628380" cy="1266825"/>
          </a:xfrm>
        </p:grpSpPr>
        <p:pic>
          <p:nvPicPr>
            <p:cNvPr id="11" name="object 11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39763" y="1099060"/>
              <a:ext cx="8627757" cy="1266507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365404" y="1188722"/>
              <a:ext cx="8412480" cy="1051560"/>
            </a:xfrm>
            <a:custGeom>
              <a:avLst/>
              <a:gdLst/>
              <a:ahLst/>
              <a:cxnLst/>
              <a:rect l="l" t="t" r="r" b="b"/>
              <a:pathLst>
                <a:path w="8412480" h="1051560">
                  <a:moveTo>
                    <a:pt x="8412111" y="0"/>
                  </a:moveTo>
                  <a:lnTo>
                    <a:pt x="0" y="0"/>
                  </a:lnTo>
                  <a:lnTo>
                    <a:pt x="0" y="1051204"/>
                  </a:lnTo>
                  <a:lnTo>
                    <a:pt x="4206240" y="1051204"/>
                  </a:lnTo>
                  <a:lnTo>
                    <a:pt x="8412111" y="1051204"/>
                  </a:lnTo>
                  <a:lnTo>
                    <a:pt x="8412111" y="0"/>
                  </a:lnTo>
                  <a:close/>
                </a:path>
              </a:pathLst>
            </a:custGeom>
            <a:solidFill>
              <a:srgbClr val="191C2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365404" y="1188722"/>
            <a:ext cx="8412480" cy="443711"/>
          </a:xfrm>
          <a:prstGeom prst="rect">
            <a:avLst/>
          </a:prstGeom>
          <a:ln w="12599">
            <a:solidFill>
              <a:srgbClr val="292C39"/>
            </a:solidFill>
          </a:ln>
        </p:spPr>
        <p:txBody>
          <a:bodyPr vert="horz" wrap="square" lIns="0" tIns="134620" rIns="0" bIns="0" rtlCol="0">
            <a:spAutoFit/>
          </a:bodyPr>
          <a:lstStyle/>
          <a:p>
            <a:pPr marL="226695" marR="352425">
              <a:lnSpc>
                <a:spcPct val="100000"/>
              </a:lnSpc>
              <a:spcBef>
                <a:spcPts val="1205"/>
              </a:spcBef>
            </a:pPr>
            <a:r>
              <a:rPr lang="es-AR" sz="1000" dirty="0">
                <a:solidFill>
                  <a:srgbClr val="C7CFE7"/>
                </a:solidFill>
                <a:latin typeface="Calibri"/>
                <a:cs typeface="Calibri"/>
              </a:rPr>
              <a:t>Por ejemplo, d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ado</a:t>
            </a:r>
            <a:r>
              <a:rPr sz="1000" spc="-2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un</a:t>
            </a:r>
            <a:r>
              <a:rPr sz="1000" spc="-3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valor</a:t>
            </a:r>
            <a:r>
              <a:rPr sz="10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puntual</a:t>
            </a:r>
            <a:r>
              <a:rPr sz="10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de</a:t>
            </a:r>
            <a:r>
              <a:rPr sz="10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θ,</a:t>
            </a:r>
            <a:r>
              <a:rPr sz="1000" spc="-2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se</a:t>
            </a:r>
            <a:r>
              <a:rPr sz="10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calcula</a:t>
            </a:r>
            <a:r>
              <a:rPr sz="1000" spc="-2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cuánto</a:t>
            </a:r>
            <a:r>
              <a:rPr sz="1000" spc="-2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spc="-10" dirty="0">
                <a:solidFill>
                  <a:srgbClr val="C7CFE7"/>
                </a:solidFill>
                <a:latin typeface="Calibri"/>
                <a:cs typeface="Calibri"/>
              </a:rPr>
              <a:t>pertenece</a:t>
            </a:r>
            <a:r>
              <a:rPr sz="10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a</a:t>
            </a:r>
            <a:r>
              <a:rPr sz="10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cada</a:t>
            </a:r>
            <a:r>
              <a:rPr sz="1000" spc="-2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spc="-10" dirty="0">
                <a:solidFill>
                  <a:srgbClr val="C7CFE7"/>
                </a:solidFill>
                <a:latin typeface="Calibri"/>
                <a:cs typeface="Calibri"/>
              </a:rPr>
              <a:t>región.</a:t>
            </a:r>
            <a:r>
              <a:rPr sz="1000" spc="-3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Un</a:t>
            </a:r>
            <a:r>
              <a:rPr sz="1000" spc="-2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valor</a:t>
            </a:r>
            <a:r>
              <a:rPr sz="10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puede</a:t>
            </a:r>
            <a:r>
              <a:rPr sz="10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activar</a:t>
            </a:r>
            <a:r>
              <a:rPr sz="10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hasta</a:t>
            </a:r>
            <a:r>
              <a:rPr sz="10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2</a:t>
            </a:r>
            <a:r>
              <a:rPr sz="10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spc="-10" dirty="0">
                <a:solidFill>
                  <a:srgbClr val="C7CFE7"/>
                </a:solidFill>
                <a:latin typeface="Calibri"/>
                <a:cs typeface="Calibri"/>
              </a:rPr>
              <a:t>conjuntos </a:t>
            </a:r>
            <a:r>
              <a:rPr sz="1000" spc="-10" dirty="0" err="1">
                <a:solidFill>
                  <a:srgbClr val="C7CFE7"/>
                </a:solidFill>
                <a:latin typeface="Calibri"/>
                <a:cs typeface="Calibri"/>
              </a:rPr>
              <a:t>adyacentes</a:t>
            </a:r>
            <a:r>
              <a:rPr sz="10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spc="-10" dirty="0" err="1">
                <a:solidFill>
                  <a:srgbClr val="C7CFE7"/>
                </a:solidFill>
                <a:latin typeface="Calibri"/>
                <a:cs typeface="Calibri"/>
              </a:rPr>
              <a:t>simultáneamente</a:t>
            </a:r>
            <a:r>
              <a:rPr sz="1000" spc="-10" dirty="0">
                <a:solidFill>
                  <a:srgbClr val="C7CFE7"/>
                </a:solidFill>
                <a:latin typeface="Calibri"/>
                <a:cs typeface="Calibri"/>
              </a:rPr>
              <a:t>.</a:t>
            </a:r>
            <a:endParaRPr sz="1000" dirty="0">
              <a:latin typeface="Calibri"/>
              <a:cs typeface="Calibri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239763" y="2241704"/>
            <a:ext cx="4239260" cy="2409825"/>
            <a:chOff x="239763" y="2241704"/>
            <a:chExt cx="4239260" cy="2409825"/>
          </a:xfrm>
        </p:grpSpPr>
        <p:pic>
          <p:nvPicPr>
            <p:cNvPr id="15" name="object 1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39763" y="2241704"/>
              <a:ext cx="4238637" cy="2409494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365404" y="2331366"/>
              <a:ext cx="4023360" cy="2194560"/>
            </a:xfrm>
            <a:custGeom>
              <a:avLst/>
              <a:gdLst/>
              <a:ahLst/>
              <a:cxnLst/>
              <a:rect l="l" t="t" r="r" b="b"/>
              <a:pathLst>
                <a:path w="4023360" h="2194560">
                  <a:moveTo>
                    <a:pt x="4022991" y="0"/>
                  </a:moveTo>
                  <a:lnTo>
                    <a:pt x="0" y="0"/>
                  </a:lnTo>
                  <a:lnTo>
                    <a:pt x="0" y="2194191"/>
                  </a:lnTo>
                  <a:lnTo>
                    <a:pt x="2011680" y="2194191"/>
                  </a:lnTo>
                  <a:lnTo>
                    <a:pt x="4022991" y="2194191"/>
                  </a:lnTo>
                  <a:lnTo>
                    <a:pt x="4022991" y="0"/>
                  </a:lnTo>
                  <a:close/>
                </a:path>
              </a:pathLst>
            </a:custGeom>
            <a:solidFill>
              <a:srgbClr val="191C2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365404" y="2331366"/>
            <a:ext cx="4023360" cy="2009524"/>
          </a:xfrm>
          <a:prstGeom prst="rect">
            <a:avLst/>
          </a:prstGeom>
          <a:ln w="12599">
            <a:solidFill>
              <a:srgbClr val="292C39"/>
            </a:solidFill>
          </a:ln>
        </p:spPr>
        <p:txBody>
          <a:bodyPr vert="horz" wrap="square" lIns="0" tIns="107950" rIns="0" bIns="0" rtlCol="0">
            <a:spAutoFit/>
          </a:bodyPr>
          <a:lstStyle/>
          <a:p>
            <a:pPr marL="226695">
              <a:lnSpc>
                <a:spcPct val="100000"/>
              </a:lnSpc>
              <a:spcBef>
                <a:spcPts val="850"/>
              </a:spcBef>
            </a:pPr>
            <a:r>
              <a:rPr sz="1100" b="1" dirty="0">
                <a:solidFill>
                  <a:srgbClr val="F49D0A"/>
                </a:solidFill>
                <a:latin typeface="Calibri"/>
                <a:cs typeface="Calibri"/>
              </a:rPr>
              <a:t>Ejemplo:</a:t>
            </a:r>
            <a:r>
              <a:rPr sz="1100" b="1" spc="-15" dirty="0">
                <a:solidFill>
                  <a:srgbClr val="F49D0A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F49D0A"/>
                </a:solidFill>
                <a:latin typeface="Calibri"/>
                <a:cs typeface="Calibri"/>
              </a:rPr>
              <a:t>θ</a:t>
            </a:r>
            <a:r>
              <a:rPr sz="1100" b="1" spc="-20" dirty="0">
                <a:solidFill>
                  <a:srgbClr val="F49D0A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F49D0A"/>
                </a:solidFill>
                <a:latin typeface="Calibri"/>
                <a:cs typeface="Calibri"/>
              </a:rPr>
              <a:t>=</a:t>
            </a:r>
            <a:r>
              <a:rPr sz="1100" b="1" spc="-30" dirty="0">
                <a:solidFill>
                  <a:srgbClr val="F49D0A"/>
                </a:solidFill>
                <a:latin typeface="Calibri"/>
                <a:cs typeface="Calibri"/>
              </a:rPr>
              <a:t> </a:t>
            </a:r>
            <a:r>
              <a:rPr sz="1100" b="1" spc="-20" dirty="0">
                <a:solidFill>
                  <a:srgbClr val="F49D0A"/>
                </a:solidFill>
                <a:latin typeface="Calibri"/>
                <a:cs typeface="Calibri"/>
              </a:rPr>
              <a:t>−20°</a:t>
            </a:r>
            <a:endParaRPr sz="11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285"/>
              </a:spcBef>
            </a:pPr>
            <a:endParaRPr sz="1100" dirty="0">
              <a:latin typeface="Calibri"/>
              <a:cs typeface="Calibri"/>
            </a:endParaRPr>
          </a:p>
          <a:p>
            <a:pPr marL="226695">
              <a:lnSpc>
                <a:spcPct val="100000"/>
              </a:lnSpc>
              <a:spcBef>
                <a:spcPts val="5"/>
              </a:spcBef>
            </a:pPr>
            <a:r>
              <a:rPr sz="900" spc="100" dirty="0">
                <a:solidFill>
                  <a:srgbClr val="FFFFFF"/>
                </a:solidFill>
                <a:latin typeface="Cambria"/>
                <a:cs typeface="Cambria"/>
              </a:rPr>
              <a:t>Conjunto</a:t>
            </a:r>
            <a:r>
              <a:rPr sz="900" spc="35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900" spc="80" dirty="0">
                <a:solidFill>
                  <a:srgbClr val="FFFFFF"/>
                </a:solidFill>
                <a:latin typeface="Cambria"/>
                <a:cs typeface="Cambria"/>
              </a:rPr>
              <a:t>NP:</a:t>
            </a:r>
            <a:r>
              <a:rPr sz="900" spc="35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900" spc="130" dirty="0">
                <a:solidFill>
                  <a:srgbClr val="FFFFFF"/>
                </a:solidFill>
                <a:latin typeface="Cambria"/>
                <a:cs typeface="Cambria"/>
              </a:rPr>
              <a:t>pico</a:t>
            </a:r>
            <a:r>
              <a:rPr sz="900" spc="35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900" spc="70" dirty="0">
                <a:solidFill>
                  <a:srgbClr val="FFFFFF"/>
                </a:solidFill>
                <a:latin typeface="Cambria"/>
                <a:cs typeface="Cambria"/>
              </a:rPr>
              <a:t>en</a:t>
            </a:r>
            <a:r>
              <a:rPr sz="900" spc="36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900" spc="130" dirty="0">
                <a:solidFill>
                  <a:srgbClr val="FFFFFF"/>
                </a:solidFill>
                <a:latin typeface="Cambria"/>
                <a:cs typeface="Cambria"/>
              </a:rPr>
              <a:t>−50°,</a:t>
            </a:r>
            <a:r>
              <a:rPr sz="900" spc="37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900" spc="114" dirty="0">
                <a:solidFill>
                  <a:srgbClr val="FFFFFF"/>
                </a:solidFill>
                <a:latin typeface="Cambria"/>
                <a:cs typeface="Cambria"/>
              </a:rPr>
              <a:t>soporte</a:t>
            </a:r>
            <a:r>
              <a:rPr sz="900" spc="35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900" spc="145" dirty="0">
                <a:solidFill>
                  <a:srgbClr val="FFFFFF"/>
                </a:solidFill>
                <a:latin typeface="Cambria"/>
                <a:cs typeface="Cambria"/>
              </a:rPr>
              <a:t>(−80°,</a:t>
            </a:r>
            <a:r>
              <a:rPr sz="900" spc="35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900" spc="95" dirty="0">
                <a:solidFill>
                  <a:srgbClr val="FFFFFF"/>
                </a:solidFill>
                <a:latin typeface="Cambria"/>
                <a:cs typeface="Cambria"/>
              </a:rPr>
              <a:t>−20°)</a:t>
            </a:r>
            <a:endParaRPr sz="900" dirty="0">
              <a:latin typeface="Cambria"/>
              <a:cs typeface="Cambria"/>
            </a:endParaRPr>
          </a:p>
          <a:p>
            <a:pPr marL="363855">
              <a:lnSpc>
                <a:spcPct val="100000"/>
              </a:lnSpc>
            </a:pPr>
            <a:r>
              <a:rPr sz="900" spc="80" dirty="0">
                <a:solidFill>
                  <a:srgbClr val="FFFFFF"/>
                </a:solidFill>
                <a:latin typeface="Cambria"/>
                <a:cs typeface="Cambria"/>
              </a:rPr>
              <a:t>μ_NP(−20)</a:t>
            </a:r>
            <a:r>
              <a:rPr sz="900" spc="35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900" dirty="0">
                <a:solidFill>
                  <a:srgbClr val="FFFFFF"/>
                </a:solidFill>
                <a:latin typeface="Cambria"/>
                <a:cs typeface="Cambria"/>
              </a:rPr>
              <a:t>=</a:t>
            </a:r>
            <a:r>
              <a:rPr sz="900" spc="36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900" spc="80" dirty="0">
                <a:solidFill>
                  <a:srgbClr val="FFFFFF"/>
                </a:solidFill>
                <a:latin typeface="Cambria"/>
                <a:cs typeface="Cambria"/>
              </a:rPr>
              <a:t>(−20</a:t>
            </a:r>
            <a:r>
              <a:rPr sz="900" spc="35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900" dirty="0">
                <a:solidFill>
                  <a:srgbClr val="FFFFFF"/>
                </a:solidFill>
                <a:latin typeface="Cambria"/>
                <a:cs typeface="Cambria"/>
              </a:rPr>
              <a:t>−</a:t>
            </a:r>
            <a:r>
              <a:rPr sz="900" spc="36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900" spc="120" dirty="0">
                <a:solidFill>
                  <a:srgbClr val="FFFFFF"/>
                </a:solidFill>
                <a:latin typeface="Cambria"/>
                <a:cs typeface="Cambria"/>
              </a:rPr>
              <a:t>(−</a:t>
            </a:r>
            <a:r>
              <a:rPr lang="es-AR" sz="900" spc="120" dirty="0">
                <a:solidFill>
                  <a:srgbClr val="FFFFFF"/>
                </a:solidFill>
                <a:latin typeface="Cambria"/>
                <a:cs typeface="Cambria"/>
              </a:rPr>
              <a:t>20</a:t>
            </a:r>
            <a:r>
              <a:rPr sz="900" spc="120" dirty="0">
                <a:solidFill>
                  <a:srgbClr val="FFFFFF"/>
                </a:solidFill>
                <a:latin typeface="Cambria"/>
                <a:cs typeface="Cambria"/>
              </a:rPr>
              <a:t>))</a:t>
            </a:r>
            <a:r>
              <a:rPr sz="900" spc="35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900" spc="105" dirty="0">
                <a:solidFill>
                  <a:srgbClr val="FFFFFF"/>
                </a:solidFill>
                <a:latin typeface="Cambria"/>
                <a:cs typeface="Cambria"/>
              </a:rPr>
              <a:t>/</a:t>
            </a:r>
            <a:r>
              <a:rPr sz="900" spc="37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900" spc="75" dirty="0">
                <a:solidFill>
                  <a:srgbClr val="FFFFFF"/>
                </a:solidFill>
                <a:latin typeface="Cambria"/>
                <a:cs typeface="Cambria"/>
              </a:rPr>
              <a:t>(−20</a:t>
            </a:r>
            <a:r>
              <a:rPr sz="900" spc="37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900" dirty="0">
                <a:solidFill>
                  <a:srgbClr val="FFFFFF"/>
                </a:solidFill>
                <a:latin typeface="Cambria"/>
                <a:cs typeface="Cambria"/>
              </a:rPr>
              <a:t>−</a:t>
            </a:r>
            <a:r>
              <a:rPr sz="900" spc="35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900" spc="110" dirty="0">
                <a:solidFill>
                  <a:srgbClr val="FFFFFF"/>
                </a:solidFill>
                <a:latin typeface="Cambria"/>
                <a:cs typeface="Cambria"/>
              </a:rPr>
              <a:t>(−50))</a:t>
            </a:r>
            <a:endParaRPr sz="900" dirty="0">
              <a:latin typeface="Cambria"/>
              <a:cs typeface="Cambria"/>
            </a:endParaRPr>
          </a:p>
          <a:p>
            <a:pPr marL="982980">
              <a:lnSpc>
                <a:spcPct val="100000"/>
              </a:lnSpc>
              <a:spcBef>
                <a:spcPts val="5"/>
              </a:spcBef>
              <a:tabLst>
                <a:tab pos="1739900" algn="l"/>
              </a:tabLst>
            </a:pPr>
            <a:r>
              <a:rPr sz="900" dirty="0">
                <a:solidFill>
                  <a:srgbClr val="FFFFFF"/>
                </a:solidFill>
                <a:latin typeface="Cambria"/>
                <a:cs typeface="Cambria"/>
              </a:rPr>
              <a:t>=</a:t>
            </a:r>
            <a:r>
              <a:rPr sz="900" spc="36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lang="es-AR" sz="900" dirty="0">
                <a:solidFill>
                  <a:srgbClr val="FFFFFF"/>
                </a:solidFill>
                <a:latin typeface="Cambria"/>
                <a:cs typeface="Cambria"/>
              </a:rPr>
              <a:t>0</a:t>
            </a:r>
            <a:r>
              <a:rPr sz="900" spc="38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900" spc="105" dirty="0">
                <a:solidFill>
                  <a:srgbClr val="FFFFFF"/>
                </a:solidFill>
                <a:latin typeface="Cambria"/>
                <a:cs typeface="Cambria"/>
              </a:rPr>
              <a:t>/</a:t>
            </a:r>
            <a:r>
              <a:rPr sz="900" spc="39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900" spc="-25" dirty="0">
                <a:solidFill>
                  <a:srgbClr val="FFFFFF"/>
                </a:solidFill>
                <a:latin typeface="Cambria"/>
                <a:cs typeface="Cambria"/>
              </a:rPr>
              <a:t>30</a:t>
            </a:r>
            <a:r>
              <a:rPr sz="900" dirty="0">
                <a:solidFill>
                  <a:srgbClr val="FFFFFF"/>
                </a:solidFill>
                <a:latin typeface="Cambria"/>
                <a:cs typeface="Cambria"/>
              </a:rPr>
              <a:t>	</a:t>
            </a:r>
            <a:r>
              <a:rPr sz="900" spc="-30" dirty="0">
                <a:solidFill>
                  <a:srgbClr val="FFFFFF"/>
                </a:solidFill>
                <a:latin typeface="Cambria"/>
                <a:cs typeface="Cambria"/>
              </a:rPr>
              <a:t>←</a:t>
            </a:r>
            <a:r>
              <a:rPr sz="900" spc="29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900" spc="95" dirty="0">
                <a:solidFill>
                  <a:srgbClr val="FFFFFF"/>
                </a:solidFill>
                <a:latin typeface="Cambria"/>
                <a:cs typeface="Cambria"/>
              </a:rPr>
              <a:t>normalizado</a:t>
            </a:r>
            <a:r>
              <a:rPr sz="900" spc="29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900" spc="195" dirty="0">
                <a:solidFill>
                  <a:srgbClr val="FFFFFF"/>
                </a:solidFill>
                <a:latin typeface="Cambria"/>
                <a:cs typeface="Cambria"/>
              </a:rPr>
              <a:t>al</a:t>
            </a:r>
            <a:r>
              <a:rPr sz="900" spc="30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900" spc="135" dirty="0">
                <a:solidFill>
                  <a:srgbClr val="FFFFFF"/>
                </a:solidFill>
                <a:latin typeface="Cambria"/>
                <a:cs typeface="Cambria"/>
              </a:rPr>
              <a:t>triángulo</a:t>
            </a:r>
            <a:endParaRPr sz="900" dirty="0">
              <a:latin typeface="Cambria"/>
              <a:cs typeface="Cambria"/>
            </a:endParaRPr>
          </a:p>
          <a:p>
            <a:pPr marL="983615">
              <a:lnSpc>
                <a:spcPct val="100000"/>
              </a:lnSpc>
              <a:tabLst>
                <a:tab pos="1532255" algn="l"/>
              </a:tabLst>
            </a:pPr>
            <a:r>
              <a:rPr lang="es-AR" sz="900" dirty="0">
                <a:solidFill>
                  <a:srgbClr val="FFFFFF"/>
                </a:solidFill>
                <a:latin typeface="Cambria"/>
                <a:cs typeface="Cambria"/>
              </a:rPr>
              <a:t>≈</a:t>
            </a:r>
            <a:r>
              <a:rPr sz="900" spc="37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900" spc="114" dirty="0">
                <a:solidFill>
                  <a:srgbClr val="FFFFFF"/>
                </a:solidFill>
                <a:latin typeface="Cambria"/>
                <a:cs typeface="Cambria"/>
              </a:rPr>
              <a:t>0.0</a:t>
            </a:r>
            <a:r>
              <a:rPr sz="900" dirty="0">
                <a:solidFill>
                  <a:srgbClr val="FFFFFF"/>
                </a:solidFill>
                <a:latin typeface="Cambria"/>
                <a:cs typeface="Cambria"/>
              </a:rPr>
              <a:t>	</a:t>
            </a:r>
            <a:r>
              <a:rPr sz="900" spc="165" dirty="0">
                <a:solidFill>
                  <a:srgbClr val="FFFFFF"/>
                </a:solidFill>
                <a:latin typeface="Cambria"/>
                <a:cs typeface="Cambria"/>
              </a:rPr>
              <a:t>(justo</a:t>
            </a:r>
            <a:r>
              <a:rPr sz="900" spc="34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900" spc="75" dirty="0">
                <a:solidFill>
                  <a:srgbClr val="FFFFFF"/>
                </a:solidFill>
                <a:latin typeface="Cambria"/>
                <a:cs typeface="Cambria"/>
              </a:rPr>
              <a:t>en</a:t>
            </a:r>
            <a:r>
              <a:rPr sz="900" spc="34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900" spc="195" dirty="0">
                <a:solidFill>
                  <a:srgbClr val="FFFFFF"/>
                </a:solidFill>
                <a:latin typeface="Cambria"/>
                <a:cs typeface="Cambria"/>
              </a:rPr>
              <a:t>el</a:t>
            </a:r>
            <a:r>
              <a:rPr sz="900" spc="34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900" spc="85" dirty="0">
                <a:solidFill>
                  <a:srgbClr val="FFFFFF"/>
                </a:solidFill>
                <a:latin typeface="Cambria"/>
                <a:cs typeface="Cambria"/>
              </a:rPr>
              <a:t>borde</a:t>
            </a:r>
            <a:r>
              <a:rPr sz="900" spc="34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900" spc="95" dirty="0">
                <a:solidFill>
                  <a:srgbClr val="FFFFFF"/>
                </a:solidFill>
                <a:latin typeface="Cambria"/>
                <a:cs typeface="Cambria"/>
              </a:rPr>
              <a:t>derecho)</a:t>
            </a:r>
            <a:endParaRPr sz="900" dirty="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30"/>
              </a:spcBef>
            </a:pPr>
            <a:endParaRPr sz="900" dirty="0">
              <a:latin typeface="Cambria"/>
              <a:cs typeface="Cambria"/>
            </a:endParaRPr>
          </a:p>
          <a:p>
            <a:pPr marL="226695">
              <a:lnSpc>
                <a:spcPct val="100000"/>
              </a:lnSpc>
            </a:pPr>
            <a:r>
              <a:rPr sz="900" spc="100" dirty="0">
                <a:solidFill>
                  <a:srgbClr val="FFFFFF"/>
                </a:solidFill>
                <a:latin typeface="Cambria"/>
                <a:cs typeface="Cambria"/>
              </a:rPr>
              <a:t>Conjunto</a:t>
            </a:r>
            <a:r>
              <a:rPr sz="900" spc="34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900" spc="175" dirty="0">
                <a:solidFill>
                  <a:srgbClr val="FFFFFF"/>
                </a:solidFill>
                <a:latin typeface="Cambria"/>
                <a:cs typeface="Cambria"/>
              </a:rPr>
              <a:t>Z:</a:t>
            </a:r>
            <a:r>
              <a:rPr sz="900" spc="35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900" spc="135" dirty="0">
                <a:solidFill>
                  <a:srgbClr val="FFFFFF"/>
                </a:solidFill>
                <a:latin typeface="Cambria"/>
                <a:cs typeface="Cambria"/>
              </a:rPr>
              <a:t>pico</a:t>
            </a:r>
            <a:r>
              <a:rPr sz="900" spc="35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900" spc="70" dirty="0">
                <a:solidFill>
                  <a:srgbClr val="FFFFFF"/>
                </a:solidFill>
                <a:latin typeface="Cambria"/>
                <a:cs typeface="Cambria"/>
              </a:rPr>
              <a:t>en</a:t>
            </a:r>
            <a:r>
              <a:rPr sz="900" spc="36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900" spc="195" dirty="0">
                <a:solidFill>
                  <a:srgbClr val="FFFFFF"/>
                </a:solidFill>
                <a:latin typeface="Cambria"/>
                <a:cs typeface="Cambria"/>
              </a:rPr>
              <a:t>0°,</a:t>
            </a:r>
            <a:r>
              <a:rPr sz="900" spc="35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900" spc="114" dirty="0">
                <a:solidFill>
                  <a:srgbClr val="FFFFFF"/>
                </a:solidFill>
                <a:latin typeface="Cambria"/>
                <a:cs typeface="Cambria"/>
              </a:rPr>
              <a:t>soporte</a:t>
            </a:r>
            <a:r>
              <a:rPr sz="900" spc="35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900" spc="145" dirty="0">
                <a:solidFill>
                  <a:srgbClr val="FFFFFF"/>
                </a:solidFill>
                <a:latin typeface="Cambria"/>
                <a:cs typeface="Cambria"/>
              </a:rPr>
              <a:t>(−30°,</a:t>
            </a:r>
            <a:r>
              <a:rPr sz="900" spc="34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900" spc="95" dirty="0">
                <a:solidFill>
                  <a:srgbClr val="FFFFFF"/>
                </a:solidFill>
                <a:latin typeface="Cambria"/>
                <a:cs typeface="Cambria"/>
              </a:rPr>
              <a:t>+30°)</a:t>
            </a:r>
            <a:endParaRPr sz="900" dirty="0">
              <a:latin typeface="Cambria"/>
              <a:cs typeface="Cambria"/>
            </a:endParaRPr>
          </a:p>
          <a:p>
            <a:pPr marL="363855">
              <a:lnSpc>
                <a:spcPct val="100000"/>
              </a:lnSpc>
              <a:spcBef>
                <a:spcPts val="5"/>
              </a:spcBef>
            </a:pPr>
            <a:r>
              <a:rPr sz="900" spc="100" dirty="0">
                <a:solidFill>
                  <a:srgbClr val="FFFFFF"/>
                </a:solidFill>
                <a:latin typeface="Cambria"/>
                <a:cs typeface="Cambria"/>
              </a:rPr>
              <a:t>μ_Z(−20)</a:t>
            </a:r>
            <a:r>
              <a:rPr sz="900" spc="35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900" dirty="0">
                <a:solidFill>
                  <a:srgbClr val="FFFFFF"/>
                </a:solidFill>
                <a:latin typeface="Cambria"/>
                <a:cs typeface="Cambria"/>
              </a:rPr>
              <a:t>=</a:t>
            </a:r>
            <a:r>
              <a:rPr sz="900" spc="36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900" spc="80" dirty="0">
                <a:solidFill>
                  <a:srgbClr val="FFFFFF"/>
                </a:solidFill>
                <a:latin typeface="Cambria"/>
                <a:cs typeface="Cambria"/>
              </a:rPr>
              <a:t>(−20</a:t>
            </a:r>
            <a:r>
              <a:rPr sz="900" spc="36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900" dirty="0">
                <a:solidFill>
                  <a:srgbClr val="FFFFFF"/>
                </a:solidFill>
                <a:latin typeface="Cambria"/>
                <a:cs typeface="Cambria"/>
              </a:rPr>
              <a:t>−</a:t>
            </a:r>
            <a:r>
              <a:rPr sz="900" spc="36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900" spc="120" dirty="0">
                <a:solidFill>
                  <a:srgbClr val="FFFFFF"/>
                </a:solidFill>
                <a:latin typeface="Cambria"/>
                <a:cs typeface="Cambria"/>
              </a:rPr>
              <a:t>(−30))</a:t>
            </a:r>
            <a:r>
              <a:rPr sz="900" spc="36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900" spc="105" dirty="0">
                <a:solidFill>
                  <a:srgbClr val="FFFFFF"/>
                </a:solidFill>
                <a:latin typeface="Cambria"/>
                <a:cs typeface="Cambria"/>
              </a:rPr>
              <a:t>/</a:t>
            </a:r>
            <a:r>
              <a:rPr sz="900" spc="37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900" spc="120" dirty="0">
                <a:solidFill>
                  <a:srgbClr val="FFFFFF"/>
                </a:solidFill>
                <a:latin typeface="Cambria"/>
                <a:cs typeface="Cambria"/>
              </a:rPr>
              <a:t>(0</a:t>
            </a:r>
            <a:r>
              <a:rPr sz="900" spc="36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900" dirty="0">
                <a:solidFill>
                  <a:srgbClr val="FFFFFF"/>
                </a:solidFill>
                <a:latin typeface="Cambria"/>
                <a:cs typeface="Cambria"/>
              </a:rPr>
              <a:t>−</a:t>
            </a:r>
            <a:r>
              <a:rPr sz="900" spc="36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900" spc="110" dirty="0">
                <a:solidFill>
                  <a:srgbClr val="FFFFFF"/>
                </a:solidFill>
                <a:latin typeface="Cambria"/>
                <a:cs typeface="Cambria"/>
              </a:rPr>
              <a:t>(−30))</a:t>
            </a:r>
            <a:endParaRPr sz="900" dirty="0">
              <a:latin typeface="Cambria"/>
              <a:cs typeface="Cambria"/>
            </a:endParaRPr>
          </a:p>
          <a:p>
            <a:pPr marL="982980">
              <a:lnSpc>
                <a:spcPct val="100000"/>
              </a:lnSpc>
              <a:spcBef>
                <a:spcPts val="5"/>
              </a:spcBef>
              <a:tabLst>
                <a:tab pos="1739900" algn="l"/>
                <a:tab pos="1946910" algn="l"/>
              </a:tabLst>
            </a:pPr>
            <a:r>
              <a:rPr sz="900" dirty="0">
                <a:solidFill>
                  <a:srgbClr val="FFFFFF"/>
                </a:solidFill>
                <a:latin typeface="Cambria"/>
                <a:cs typeface="Cambria"/>
              </a:rPr>
              <a:t>=</a:t>
            </a:r>
            <a:r>
              <a:rPr sz="900" spc="36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900" dirty="0">
                <a:solidFill>
                  <a:srgbClr val="FFFFFF"/>
                </a:solidFill>
                <a:latin typeface="Cambria"/>
                <a:cs typeface="Cambria"/>
              </a:rPr>
              <a:t>10</a:t>
            </a:r>
            <a:r>
              <a:rPr sz="900" spc="38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900" spc="105" dirty="0">
                <a:solidFill>
                  <a:srgbClr val="FFFFFF"/>
                </a:solidFill>
                <a:latin typeface="Cambria"/>
                <a:cs typeface="Cambria"/>
              </a:rPr>
              <a:t>/</a:t>
            </a:r>
            <a:r>
              <a:rPr sz="900" spc="39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900" spc="-25" dirty="0">
                <a:solidFill>
                  <a:srgbClr val="FFFFFF"/>
                </a:solidFill>
                <a:latin typeface="Cambria"/>
                <a:cs typeface="Cambria"/>
              </a:rPr>
              <a:t>30</a:t>
            </a:r>
            <a:r>
              <a:rPr sz="900" dirty="0">
                <a:solidFill>
                  <a:srgbClr val="FFFFFF"/>
                </a:solidFill>
                <a:latin typeface="Cambria"/>
                <a:cs typeface="Cambria"/>
              </a:rPr>
              <a:t>	</a:t>
            </a:r>
            <a:r>
              <a:rPr sz="900" spc="-50" dirty="0">
                <a:solidFill>
                  <a:srgbClr val="FFFFFF"/>
                </a:solidFill>
                <a:latin typeface="Cambria"/>
                <a:cs typeface="Cambria"/>
              </a:rPr>
              <a:t>=</a:t>
            </a:r>
            <a:r>
              <a:rPr sz="900" dirty="0">
                <a:solidFill>
                  <a:srgbClr val="FFFFFF"/>
                </a:solidFill>
                <a:latin typeface="Cambria"/>
                <a:cs typeface="Cambria"/>
              </a:rPr>
              <a:t>	</a:t>
            </a:r>
            <a:r>
              <a:rPr sz="900" spc="95" dirty="0">
                <a:solidFill>
                  <a:srgbClr val="FFFFFF"/>
                </a:solidFill>
                <a:latin typeface="Cambria"/>
                <a:cs typeface="Cambria"/>
              </a:rPr>
              <a:t>0.33</a:t>
            </a:r>
            <a:endParaRPr sz="900" dirty="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30"/>
              </a:spcBef>
            </a:pPr>
            <a:endParaRPr sz="900" dirty="0">
              <a:latin typeface="Cambria"/>
              <a:cs typeface="Cambria"/>
            </a:endParaRPr>
          </a:p>
          <a:p>
            <a:pPr marL="433070" marR="688340" indent="-206375">
              <a:lnSpc>
                <a:spcPct val="100000"/>
              </a:lnSpc>
              <a:tabLst>
                <a:tab pos="432434" algn="l"/>
              </a:tabLst>
            </a:pPr>
            <a:r>
              <a:rPr sz="900" spc="-50" dirty="0">
                <a:solidFill>
                  <a:srgbClr val="FFFFFF"/>
                </a:solidFill>
                <a:latin typeface="Cambria"/>
                <a:cs typeface="Cambria"/>
              </a:rPr>
              <a:t>⇒</a:t>
            </a:r>
            <a:r>
              <a:rPr sz="900" dirty="0">
                <a:solidFill>
                  <a:srgbClr val="FFFFFF"/>
                </a:solidFill>
                <a:latin typeface="Cambria"/>
                <a:cs typeface="Cambria"/>
              </a:rPr>
              <a:t>	</a:t>
            </a:r>
            <a:r>
              <a:rPr sz="900" spc="114" dirty="0">
                <a:solidFill>
                  <a:srgbClr val="FFFFFF"/>
                </a:solidFill>
                <a:latin typeface="Cambria"/>
                <a:cs typeface="Cambria"/>
              </a:rPr>
              <a:t>Vector</a:t>
            </a:r>
            <a:r>
              <a:rPr sz="900" spc="36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900" spc="145" dirty="0">
                <a:solidFill>
                  <a:srgbClr val="FFFFFF"/>
                </a:solidFill>
                <a:latin typeface="Cambria"/>
                <a:cs typeface="Cambria"/>
              </a:rPr>
              <a:t>resultado:</a:t>
            </a:r>
            <a:r>
              <a:rPr sz="900" spc="35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900" spc="204" dirty="0">
                <a:solidFill>
                  <a:srgbClr val="FFFFFF"/>
                </a:solidFill>
                <a:latin typeface="Cambria"/>
                <a:cs typeface="Cambria"/>
              </a:rPr>
              <a:t>[0,</a:t>
            </a:r>
            <a:r>
              <a:rPr sz="900" spc="35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900" spc="190" dirty="0">
                <a:solidFill>
                  <a:srgbClr val="FFFFFF"/>
                </a:solidFill>
                <a:latin typeface="Cambria"/>
                <a:cs typeface="Cambria"/>
              </a:rPr>
              <a:t>0,</a:t>
            </a:r>
            <a:r>
              <a:rPr sz="900" spc="35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900" spc="195" dirty="0">
                <a:solidFill>
                  <a:srgbClr val="FFFFFF"/>
                </a:solidFill>
                <a:latin typeface="Cambria"/>
                <a:cs typeface="Cambria"/>
              </a:rPr>
              <a:t>0,</a:t>
            </a:r>
            <a:r>
              <a:rPr sz="900" spc="37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900" spc="160" dirty="0">
                <a:solidFill>
                  <a:srgbClr val="FFFFFF"/>
                </a:solidFill>
                <a:latin typeface="Cambria"/>
                <a:cs typeface="Cambria"/>
              </a:rPr>
              <a:t>0.33,</a:t>
            </a:r>
            <a:r>
              <a:rPr sz="900" spc="36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900" spc="195" dirty="0">
                <a:solidFill>
                  <a:srgbClr val="FFFFFF"/>
                </a:solidFill>
                <a:latin typeface="Cambria"/>
                <a:cs typeface="Cambria"/>
              </a:rPr>
              <a:t>0,</a:t>
            </a:r>
            <a:r>
              <a:rPr sz="900" spc="35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900" spc="190" dirty="0">
                <a:solidFill>
                  <a:srgbClr val="FFFFFF"/>
                </a:solidFill>
                <a:latin typeface="Cambria"/>
                <a:cs typeface="Cambria"/>
              </a:rPr>
              <a:t>0,</a:t>
            </a:r>
            <a:r>
              <a:rPr sz="900" spc="37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900" spc="105" dirty="0">
                <a:solidFill>
                  <a:srgbClr val="FFFFFF"/>
                </a:solidFill>
                <a:latin typeface="Cambria"/>
                <a:cs typeface="Cambria"/>
              </a:rPr>
              <a:t>0] </a:t>
            </a:r>
            <a:r>
              <a:rPr sz="900" spc="150" dirty="0">
                <a:solidFill>
                  <a:srgbClr val="FFFFFF"/>
                </a:solidFill>
                <a:latin typeface="Cambria"/>
                <a:cs typeface="Cambria"/>
              </a:rPr>
              <a:t>(solo</a:t>
            </a:r>
            <a:r>
              <a:rPr sz="900" spc="35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900" spc="50" dirty="0">
                <a:solidFill>
                  <a:srgbClr val="FFFFFF"/>
                </a:solidFill>
                <a:latin typeface="Cambria"/>
                <a:cs typeface="Cambria"/>
              </a:rPr>
              <a:t>Z</a:t>
            </a:r>
            <a:r>
              <a:rPr sz="900" spc="36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900" spc="150" dirty="0">
                <a:solidFill>
                  <a:srgbClr val="FFFFFF"/>
                </a:solidFill>
                <a:latin typeface="Cambria"/>
                <a:cs typeface="Cambria"/>
              </a:rPr>
              <a:t>tiene</a:t>
            </a:r>
            <a:r>
              <a:rPr sz="900" spc="36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900" spc="120" dirty="0">
                <a:solidFill>
                  <a:srgbClr val="FFFFFF"/>
                </a:solidFill>
                <a:latin typeface="Cambria"/>
                <a:cs typeface="Cambria"/>
              </a:rPr>
              <a:t>pertenencia</a:t>
            </a:r>
            <a:r>
              <a:rPr sz="900" spc="35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900" spc="55" dirty="0">
                <a:solidFill>
                  <a:srgbClr val="FFFFFF"/>
                </a:solidFill>
                <a:latin typeface="Cambria"/>
                <a:cs typeface="Cambria"/>
              </a:rPr>
              <a:t>no</a:t>
            </a:r>
            <a:r>
              <a:rPr sz="900" spc="35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900" spc="114" dirty="0">
                <a:solidFill>
                  <a:srgbClr val="FFFFFF"/>
                </a:solidFill>
                <a:latin typeface="Cambria"/>
                <a:cs typeface="Cambria"/>
              </a:rPr>
              <a:t>nula</a:t>
            </a:r>
            <a:r>
              <a:rPr sz="900" spc="36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900" spc="70" dirty="0">
                <a:solidFill>
                  <a:srgbClr val="FFFFFF"/>
                </a:solidFill>
                <a:latin typeface="Cambria"/>
                <a:cs typeface="Cambria"/>
              </a:rPr>
              <a:t>en</a:t>
            </a:r>
            <a:r>
              <a:rPr sz="900" spc="35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900" spc="95" dirty="0">
                <a:solidFill>
                  <a:srgbClr val="FFFFFF"/>
                </a:solidFill>
                <a:latin typeface="Cambria"/>
                <a:cs typeface="Cambria"/>
              </a:rPr>
              <a:t>−20°)</a:t>
            </a:r>
            <a:endParaRPr sz="900" dirty="0">
              <a:latin typeface="Cambria"/>
              <a:cs typeface="Cambria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4446003" y="2241704"/>
            <a:ext cx="4422140" cy="2409825"/>
            <a:chOff x="4446003" y="2241704"/>
            <a:chExt cx="4422140" cy="2409825"/>
          </a:xfrm>
        </p:grpSpPr>
        <p:pic>
          <p:nvPicPr>
            <p:cNvPr id="19" name="object 1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446003" y="2241704"/>
              <a:ext cx="4421517" cy="2409494"/>
            </a:xfrm>
            <a:prstGeom prst="rect">
              <a:avLst/>
            </a:prstGeom>
          </p:spPr>
        </p:pic>
        <p:sp>
          <p:nvSpPr>
            <p:cNvPr id="20" name="object 20"/>
            <p:cNvSpPr/>
            <p:nvPr/>
          </p:nvSpPr>
          <p:spPr>
            <a:xfrm>
              <a:off x="4571644" y="2331366"/>
              <a:ext cx="4206240" cy="2194560"/>
            </a:xfrm>
            <a:custGeom>
              <a:avLst/>
              <a:gdLst/>
              <a:ahLst/>
              <a:cxnLst/>
              <a:rect l="l" t="t" r="r" b="b"/>
              <a:pathLst>
                <a:path w="4206240" h="2194560">
                  <a:moveTo>
                    <a:pt x="4205871" y="0"/>
                  </a:moveTo>
                  <a:lnTo>
                    <a:pt x="0" y="0"/>
                  </a:lnTo>
                  <a:lnTo>
                    <a:pt x="0" y="2194191"/>
                  </a:lnTo>
                  <a:lnTo>
                    <a:pt x="2103120" y="2194191"/>
                  </a:lnTo>
                  <a:lnTo>
                    <a:pt x="4205871" y="2194191"/>
                  </a:lnTo>
                  <a:lnTo>
                    <a:pt x="4205871" y="0"/>
                  </a:lnTo>
                  <a:close/>
                </a:path>
              </a:pathLst>
            </a:custGeom>
            <a:solidFill>
              <a:srgbClr val="191C2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1" name="object 21"/>
          <p:cNvSpPr txBox="1"/>
          <p:nvPr/>
        </p:nvSpPr>
        <p:spPr>
          <a:xfrm>
            <a:off x="4571644" y="2331366"/>
            <a:ext cx="4206240" cy="1871025"/>
          </a:xfrm>
          <a:prstGeom prst="rect">
            <a:avLst/>
          </a:prstGeom>
          <a:ln w="12599">
            <a:solidFill>
              <a:srgbClr val="292C39"/>
            </a:solidFill>
          </a:ln>
        </p:spPr>
        <p:txBody>
          <a:bodyPr vert="horz" wrap="square" lIns="0" tIns="107950" rIns="0" bIns="0" rtlCol="0">
            <a:spAutoFit/>
          </a:bodyPr>
          <a:lstStyle/>
          <a:p>
            <a:pPr marL="226695">
              <a:lnSpc>
                <a:spcPct val="100000"/>
              </a:lnSpc>
              <a:spcBef>
                <a:spcPts val="850"/>
              </a:spcBef>
            </a:pPr>
            <a:r>
              <a:rPr sz="1100" b="1" dirty="0">
                <a:solidFill>
                  <a:srgbClr val="7CD2FB"/>
                </a:solidFill>
                <a:latin typeface="Calibri"/>
                <a:cs typeface="Calibri"/>
              </a:rPr>
              <a:t>Ejemplo:</a:t>
            </a:r>
            <a:r>
              <a:rPr sz="1100" b="1" spc="-20" dirty="0">
                <a:solidFill>
                  <a:srgbClr val="7CD2FB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7CD2FB"/>
                </a:solidFill>
                <a:latin typeface="Calibri"/>
                <a:cs typeface="Calibri"/>
              </a:rPr>
              <a:t>θ'</a:t>
            </a:r>
            <a:r>
              <a:rPr sz="1100" b="1" spc="-25" dirty="0">
                <a:solidFill>
                  <a:srgbClr val="7CD2FB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7CD2FB"/>
                </a:solidFill>
                <a:latin typeface="Calibri"/>
                <a:cs typeface="Calibri"/>
              </a:rPr>
              <a:t>=</a:t>
            </a:r>
            <a:r>
              <a:rPr sz="1100" b="1" spc="-20" dirty="0">
                <a:solidFill>
                  <a:srgbClr val="7CD2FB"/>
                </a:solidFill>
                <a:latin typeface="Calibri"/>
                <a:cs typeface="Calibri"/>
              </a:rPr>
              <a:t> </a:t>
            </a:r>
            <a:r>
              <a:rPr lang="es-AR" sz="1100" b="1" spc="-20" dirty="0">
                <a:solidFill>
                  <a:srgbClr val="7CD2FB"/>
                </a:solidFill>
                <a:latin typeface="Calibri"/>
                <a:cs typeface="Calibri"/>
              </a:rPr>
              <a:t>8</a:t>
            </a:r>
            <a:r>
              <a:rPr sz="1100" b="1" spc="-20" dirty="0">
                <a:solidFill>
                  <a:srgbClr val="7CD2FB"/>
                </a:solidFill>
                <a:latin typeface="Calibri"/>
                <a:cs typeface="Calibri"/>
              </a:rPr>
              <a:t>°/s</a:t>
            </a:r>
            <a:endParaRPr sz="11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285"/>
              </a:spcBef>
            </a:pPr>
            <a:endParaRPr lang="es-AR" sz="1100" dirty="0">
              <a:latin typeface="Calibri"/>
              <a:cs typeface="Calibri"/>
            </a:endParaRPr>
          </a:p>
          <a:p>
            <a:pPr marL="226695">
              <a:lnSpc>
                <a:spcPct val="100000"/>
              </a:lnSpc>
              <a:spcBef>
                <a:spcPts val="5"/>
              </a:spcBef>
            </a:pPr>
            <a:r>
              <a:rPr lang="es-AR" sz="900" spc="100" dirty="0">
                <a:solidFill>
                  <a:srgbClr val="FFFFFF"/>
                </a:solidFill>
                <a:latin typeface="Cambria"/>
                <a:cs typeface="Cambria"/>
              </a:rPr>
              <a:t>Conjunto</a:t>
            </a:r>
            <a:r>
              <a:rPr lang="es-AR" sz="900" spc="34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lang="es-AR" sz="900" spc="175" dirty="0">
                <a:solidFill>
                  <a:srgbClr val="FFFFFF"/>
                </a:solidFill>
                <a:latin typeface="Cambria"/>
                <a:cs typeface="Cambria"/>
              </a:rPr>
              <a:t>Z:</a:t>
            </a:r>
            <a:r>
              <a:rPr lang="es-AR" sz="900" spc="35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lang="es-AR" sz="900" spc="135" dirty="0">
                <a:solidFill>
                  <a:srgbClr val="FFFFFF"/>
                </a:solidFill>
                <a:latin typeface="Cambria"/>
                <a:cs typeface="Cambria"/>
              </a:rPr>
              <a:t>pico</a:t>
            </a:r>
            <a:r>
              <a:rPr lang="es-AR" sz="900" spc="35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lang="es-AR" sz="900" spc="70" dirty="0">
                <a:solidFill>
                  <a:srgbClr val="FFFFFF"/>
                </a:solidFill>
                <a:latin typeface="Cambria"/>
                <a:cs typeface="Cambria"/>
              </a:rPr>
              <a:t>en</a:t>
            </a:r>
            <a:r>
              <a:rPr lang="es-AR" sz="900" spc="36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lang="es-AR" sz="900" spc="195" dirty="0">
                <a:solidFill>
                  <a:srgbClr val="FFFFFF"/>
                </a:solidFill>
                <a:latin typeface="Cambria"/>
                <a:cs typeface="Cambria"/>
              </a:rPr>
              <a:t>0°,</a:t>
            </a:r>
            <a:r>
              <a:rPr lang="es-AR" sz="900" spc="35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lang="es-AR" sz="900" spc="114" dirty="0">
                <a:solidFill>
                  <a:srgbClr val="FFFFFF"/>
                </a:solidFill>
                <a:latin typeface="Cambria"/>
                <a:cs typeface="Cambria"/>
              </a:rPr>
              <a:t>soporte</a:t>
            </a:r>
            <a:r>
              <a:rPr lang="es-AR" sz="900" spc="35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lang="es-AR" sz="900" spc="145" dirty="0">
                <a:solidFill>
                  <a:srgbClr val="FFFFFF"/>
                </a:solidFill>
                <a:latin typeface="Cambria"/>
                <a:cs typeface="Cambria"/>
              </a:rPr>
              <a:t>(−15°,</a:t>
            </a:r>
            <a:r>
              <a:rPr lang="es-AR" sz="900" spc="34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lang="es-AR" sz="900" spc="95" dirty="0">
                <a:solidFill>
                  <a:srgbClr val="FFFFFF"/>
                </a:solidFill>
                <a:latin typeface="Cambria"/>
                <a:cs typeface="Cambria"/>
              </a:rPr>
              <a:t>+15°)</a:t>
            </a:r>
            <a:endParaRPr lang="es-AR" sz="900" dirty="0">
              <a:latin typeface="Cambria"/>
              <a:cs typeface="Cambria"/>
            </a:endParaRPr>
          </a:p>
          <a:p>
            <a:pPr marL="363855">
              <a:lnSpc>
                <a:spcPct val="100000"/>
              </a:lnSpc>
            </a:pPr>
            <a:r>
              <a:rPr lang="el-GR" sz="900" spc="110" dirty="0">
                <a:solidFill>
                  <a:srgbClr val="FFFFFF"/>
                </a:solidFill>
                <a:latin typeface="Cambria"/>
                <a:cs typeface="Cambria"/>
              </a:rPr>
              <a:t>μ_</a:t>
            </a:r>
            <a:r>
              <a:rPr lang="es-AR" sz="900" spc="110" dirty="0">
                <a:solidFill>
                  <a:srgbClr val="FFFFFF"/>
                </a:solidFill>
                <a:latin typeface="Cambria"/>
                <a:cs typeface="Cambria"/>
              </a:rPr>
              <a:t>Z(10)</a:t>
            </a:r>
            <a:r>
              <a:rPr lang="es-AR" sz="900" spc="37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lang="es-AR" sz="900" dirty="0">
                <a:solidFill>
                  <a:srgbClr val="FFFFFF"/>
                </a:solidFill>
                <a:latin typeface="Cambria"/>
                <a:cs typeface="Cambria"/>
              </a:rPr>
              <a:t>=</a:t>
            </a:r>
            <a:r>
              <a:rPr lang="es-AR" sz="900" spc="36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lang="es-AR" sz="900" spc="90" dirty="0">
                <a:solidFill>
                  <a:srgbClr val="FFFFFF"/>
                </a:solidFill>
                <a:latin typeface="Cambria"/>
                <a:cs typeface="Cambria"/>
              </a:rPr>
              <a:t>(15</a:t>
            </a:r>
            <a:r>
              <a:rPr lang="es-AR" sz="900" spc="37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lang="es-AR" sz="900" dirty="0">
                <a:solidFill>
                  <a:srgbClr val="FFFFFF"/>
                </a:solidFill>
                <a:latin typeface="Cambria"/>
                <a:cs typeface="Cambria"/>
              </a:rPr>
              <a:t>−</a:t>
            </a:r>
            <a:r>
              <a:rPr lang="es-AR" sz="900" spc="36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lang="es-AR" sz="900" spc="90" dirty="0">
                <a:solidFill>
                  <a:srgbClr val="FFFFFF"/>
                </a:solidFill>
                <a:latin typeface="Cambria"/>
                <a:cs typeface="Cambria"/>
              </a:rPr>
              <a:t>8)</a:t>
            </a:r>
            <a:r>
              <a:rPr lang="es-AR" sz="900" spc="37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lang="es-AR" sz="900" spc="105" dirty="0">
                <a:solidFill>
                  <a:srgbClr val="FFFFFF"/>
                </a:solidFill>
                <a:latin typeface="Cambria"/>
                <a:cs typeface="Cambria"/>
              </a:rPr>
              <a:t>/</a:t>
            </a:r>
            <a:r>
              <a:rPr lang="es-AR" sz="900" spc="36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lang="es-AR" sz="900" spc="90" dirty="0">
                <a:solidFill>
                  <a:srgbClr val="FFFFFF"/>
                </a:solidFill>
                <a:latin typeface="Cambria"/>
                <a:cs typeface="Cambria"/>
              </a:rPr>
              <a:t>(15</a:t>
            </a:r>
            <a:r>
              <a:rPr lang="es-AR" sz="900" spc="36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lang="es-AR" sz="900" dirty="0">
                <a:solidFill>
                  <a:srgbClr val="FFFFFF"/>
                </a:solidFill>
                <a:latin typeface="Cambria"/>
                <a:cs typeface="Cambria"/>
              </a:rPr>
              <a:t>−</a:t>
            </a:r>
            <a:r>
              <a:rPr lang="es-AR" sz="900" spc="37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lang="es-AR" sz="900" spc="114" dirty="0">
                <a:solidFill>
                  <a:srgbClr val="FFFFFF"/>
                </a:solidFill>
                <a:latin typeface="Cambria"/>
                <a:cs typeface="Cambria"/>
              </a:rPr>
              <a:t>0)</a:t>
            </a:r>
            <a:r>
              <a:rPr lang="es-AR" sz="900" spc="36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lang="es-AR" sz="900" dirty="0">
                <a:solidFill>
                  <a:srgbClr val="FFFFFF"/>
                </a:solidFill>
                <a:latin typeface="Cambria"/>
                <a:cs typeface="Cambria"/>
              </a:rPr>
              <a:t>=</a:t>
            </a:r>
            <a:r>
              <a:rPr lang="es-AR" sz="900" spc="37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lang="es-AR" sz="900" spc="50" dirty="0">
                <a:solidFill>
                  <a:srgbClr val="FFFFFF"/>
                </a:solidFill>
                <a:latin typeface="Cambria"/>
                <a:cs typeface="Cambria"/>
              </a:rPr>
              <a:t>7/15</a:t>
            </a:r>
            <a:r>
              <a:rPr lang="es-AR" sz="900" spc="36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lang="es-AR" sz="900" dirty="0">
                <a:solidFill>
                  <a:srgbClr val="FFFFFF"/>
                </a:solidFill>
                <a:latin typeface="Cambria"/>
                <a:cs typeface="Cambria"/>
              </a:rPr>
              <a:t>=</a:t>
            </a:r>
            <a:r>
              <a:rPr lang="es-AR" sz="900" spc="38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lang="es-AR" sz="900" dirty="0">
                <a:solidFill>
                  <a:schemeClr val="bg1"/>
                </a:solidFill>
              </a:rPr>
              <a:t>0.467</a:t>
            </a:r>
            <a:endParaRPr lang="es-AR" sz="900" dirty="0">
              <a:solidFill>
                <a:schemeClr val="bg1"/>
              </a:solidFill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30"/>
              </a:spcBef>
            </a:pPr>
            <a:endParaRPr lang="es-AR" sz="900" dirty="0">
              <a:latin typeface="Cambria"/>
              <a:cs typeface="Cambria"/>
            </a:endParaRPr>
          </a:p>
          <a:p>
            <a:pPr marR="802640" algn="r">
              <a:lnSpc>
                <a:spcPct val="100000"/>
              </a:lnSpc>
            </a:pPr>
            <a:r>
              <a:rPr lang="es-AR" sz="900" spc="100" dirty="0">
                <a:solidFill>
                  <a:srgbClr val="FFFFFF"/>
                </a:solidFill>
                <a:latin typeface="Cambria"/>
                <a:cs typeface="Cambria"/>
              </a:rPr>
              <a:t>Conjunto</a:t>
            </a:r>
            <a:r>
              <a:rPr lang="es-AR" sz="900" spc="35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lang="es-AR" sz="900" spc="114" dirty="0">
                <a:solidFill>
                  <a:srgbClr val="FFFFFF"/>
                </a:solidFill>
                <a:latin typeface="Cambria"/>
                <a:cs typeface="Cambria"/>
              </a:rPr>
              <a:t>PP:</a:t>
            </a:r>
            <a:r>
              <a:rPr lang="es-AR" sz="900" spc="35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lang="es-AR" sz="900" spc="130" dirty="0">
                <a:solidFill>
                  <a:srgbClr val="FFFFFF"/>
                </a:solidFill>
                <a:latin typeface="Cambria"/>
                <a:cs typeface="Cambria"/>
              </a:rPr>
              <a:t>pico</a:t>
            </a:r>
            <a:r>
              <a:rPr lang="es-AR" sz="900" spc="35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lang="es-AR" sz="900" spc="70" dirty="0">
                <a:solidFill>
                  <a:srgbClr val="FFFFFF"/>
                </a:solidFill>
                <a:latin typeface="Cambria"/>
                <a:cs typeface="Cambria"/>
              </a:rPr>
              <a:t>en</a:t>
            </a:r>
            <a:r>
              <a:rPr lang="es-AR" sz="900" spc="36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lang="es-AR" sz="900" spc="130" dirty="0">
                <a:solidFill>
                  <a:srgbClr val="FFFFFF"/>
                </a:solidFill>
                <a:latin typeface="Cambria"/>
                <a:cs typeface="Cambria"/>
              </a:rPr>
              <a:t>+20°,</a:t>
            </a:r>
            <a:r>
              <a:rPr lang="es-AR" sz="900" spc="37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lang="es-AR" sz="900" spc="114" dirty="0">
                <a:solidFill>
                  <a:srgbClr val="FFFFFF"/>
                </a:solidFill>
                <a:latin typeface="Cambria"/>
                <a:cs typeface="Cambria"/>
              </a:rPr>
              <a:t>soporte</a:t>
            </a:r>
            <a:r>
              <a:rPr lang="es-AR" sz="900" spc="35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lang="es-AR" sz="900" spc="165" dirty="0">
                <a:solidFill>
                  <a:srgbClr val="FFFFFF"/>
                </a:solidFill>
                <a:latin typeface="Cambria"/>
                <a:cs typeface="Cambria"/>
              </a:rPr>
              <a:t>(+5°,</a:t>
            </a:r>
            <a:r>
              <a:rPr lang="es-AR" sz="900" spc="36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lang="es-AR" sz="900" spc="80" dirty="0">
                <a:solidFill>
                  <a:srgbClr val="FFFFFF"/>
                </a:solidFill>
                <a:latin typeface="Cambria"/>
                <a:cs typeface="Cambria"/>
              </a:rPr>
              <a:t>+35°)</a:t>
            </a:r>
            <a:endParaRPr lang="es-AR" sz="900" dirty="0">
              <a:latin typeface="Cambria"/>
              <a:cs typeface="Cambria"/>
            </a:endParaRPr>
          </a:p>
          <a:p>
            <a:pPr marR="802640" algn="r">
              <a:lnSpc>
                <a:spcPct val="100000"/>
              </a:lnSpc>
              <a:spcBef>
                <a:spcPts val="5"/>
              </a:spcBef>
            </a:pPr>
            <a:r>
              <a:rPr lang="el-GR" sz="900" spc="95" dirty="0">
                <a:solidFill>
                  <a:srgbClr val="FFFFFF"/>
                </a:solidFill>
                <a:latin typeface="Cambria"/>
                <a:cs typeface="Cambria"/>
              </a:rPr>
              <a:t>μ_</a:t>
            </a:r>
            <a:r>
              <a:rPr lang="es-AR" sz="900" spc="95" dirty="0">
                <a:solidFill>
                  <a:srgbClr val="FFFFFF"/>
                </a:solidFill>
                <a:latin typeface="Cambria"/>
                <a:cs typeface="Cambria"/>
              </a:rPr>
              <a:t>PP(10)</a:t>
            </a:r>
            <a:r>
              <a:rPr lang="es-AR" sz="900" spc="36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lang="es-AR" sz="900" dirty="0">
                <a:solidFill>
                  <a:srgbClr val="FFFFFF"/>
                </a:solidFill>
                <a:latin typeface="Cambria"/>
                <a:cs typeface="Cambria"/>
              </a:rPr>
              <a:t>=</a:t>
            </a:r>
            <a:r>
              <a:rPr lang="es-AR" sz="900" spc="36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lang="es-AR" sz="900" spc="90" dirty="0">
                <a:solidFill>
                  <a:srgbClr val="FFFFFF"/>
                </a:solidFill>
                <a:latin typeface="Cambria"/>
                <a:cs typeface="Cambria"/>
              </a:rPr>
              <a:t>(8</a:t>
            </a:r>
            <a:r>
              <a:rPr lang="es-AR" sz="900" spc="38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lang="es-AR" sz="900" dirty="0">
                <a:solidFill>
                  <a:srgbClr val="FFFFFF"/>
                </a:solidFill>
                <a:latin typeface="Cambria"/>
                <a:cs typeface="Cambria"/>
              </a:rPr>
              <a:t>−</a:t>
            </a:r>
            <a:r>
              <a:rPr lang="es-AR" sz="900" spc="36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lang="es-AR" sz="900" spc="114" dirty="0">
                <a:solidFill>
                  <a:srgbClr val="FFFFFF"/>
                </a:solidFill>
                <a:latin typeface="Cambria"/>
                <a:cs typeface="Cambria"/>
              </a:rPr>
              <a:t>5)</a:t>
            </a:r>
            <a:r>
              <a:rPr lang="es-AR" sz="900" spc="37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lang="es-AR" sz="900" spc="105" dirty="0">
                <a:solidFill>
                  <a:srgbClr val="FFFFFF"/>
                </a:solidFill>
                <a:latin typeface="Cambria"/>
                <a:cs typeface="Cambria"/>
              </a:rPr>
              <a:t>/</a:t>
            </a:r>
            <a:r>
              <a:rPr lang="es-AR" sz="900" spc="36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lang="es-AR" sz="900" spc="90" dirty="0">
                <a:solidFill>
                  <a:srgbClr val="FFFFFF"/>
                </a:solidFill>
                <a:latin typeface="Cambria"/>
                <a:cs typeface="Cambria"/>
              </a:rPr>
              <a:t>(20</a:t>
            </a:r>
            <a:r>
              <a:rPr lang="es-AR" sz="900" spc="36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lang="es-AR" sz="900" dirty="0">
                <a:solidFill>
                  <a:srgbClr val="FFFFFF"/>
                </a:solidFill>
                <a:latin typeface="Cambria"/>
                <a:cs typeface="Cambria"/>
              </a:rPr>
              <a:t>−</a:t>
            </a:r>
            <a:r>
              <a:rPr lang="es-AR" sz="900" spc="38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lang="es-AR" sz="900" spc="114" dirty="0">
                <a:solidFill>
                  <a:srgbClr val="FFFFFF"/>
                </a:solidFill>
                <a:latin typeface="Cambria"/>
                <a:cs typeface="Cambria"/>
              </a:rPr>
              <a:t>5)</a:t>
            </a:r>
            <a:r>
              <a:rPr lang="es-AR" sz="900" spc="36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lang="es-AR" sz="900" dirty="0">
                <a:solidFill>
                  <a:srgbClr val="FFFFFF"/>
                </a:solidFill>
                <a:latin typeface="Cambria"/>
                <a:cs typeface="Cambria"/>
              </a:rPr>
              <a:t>=</a:t>
            </a:r>
            <a:r>
              <a:rPr lang="es-AR" sz="900" spc="37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lang="es-AR" sz="900" spc="50" dirty="0">
                <a:solidFill>
                  <a:srgbClr val="FFFFFF"/>
                </a:solidFill>
                <a:latin typeface="Cambria"/>
                <a:cs typeface="Cambria"/>
              </a:rPr>
              <a:t>3/15</a:t>
            </a:r>
            <a:r>
              <a:rPr lang="es-AR" sz="900" spc="36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lang="es-AR" sz="900" dirty="0">
                <a:solidFill>
                  <a:srgbClr val="FFFFFF"/>
                </a:solidFill>
                <a:latin typeface="Cambria"/>
                <a:cs typeface="Cambria"/>
              </a:rPr>
              <a:t>=</a:t>
            </a:r>
            <a:r>
              <a:rPr lang="es-AR" sz="900" spc="37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lang="es-AR" sz="900" spc="95" dirty="0">
                <a:solidFill>
                  <a:srgbClr val="FFFFFF"/>
                </a:solidFill>
                <a:latin typeface="Cambria"/>
                <a:cs typeface="Cambria"/>
              </a:rPr>
              <a:t>0.200</a:t>
            </a:r>
            <a:endParaRPr lang="es-AR" sz="900" dirty="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30"/>
              </a:spcBef>
            </a:pPr>
            <a:endParaRPr lang="es-AR" sz="900" dirty="0">
              <a:latin typeface="Cambria"/>
              <a:cs typeface="Cambria"/>
            </a:endParaRPr>
          </a:p>
          <a:p>
            <a:pPr marL="226695">
              <a:lnSpc>
                <a:spcPct val="100000"/>
              </a:lnSpc>
            </a:pPr>
            <a:r>
              <a:rPr lang="es-AR" sz="900" spc="105" dirty="0">
                <a:solidFill>
                  <a:srgbClr val="FFFFFF"/>
                </a:solidFill>
                <a:latin typeface="Cambria"/>
                <a:cs typeface="Cambria"/>
              </a:rPr>
              <a:t>Conjuntos</a:t>
            </a:r>
            <a:r>
              <a:rPr lang="es-AR" sz="900" spc="35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lang="es-AR" sz="900" spc="85" dirty="0">
                <a:solidFill>
                  <a:srgbClr val="FFFFFF"/>
                </a:solidFill>
                <a:latin typeface="Cambria"/>
                <a:cs typeface="Cambria"/>
              </a:rPr>
              <a:t>NG,</a:t>
            </a:r>
            <a:r>
              <a:rPr lang="es-AR" sz="900" spc="36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lang="es-AR" sz="900" spc="100" dirty="0">
                <a:solidFill>
                  <a:srgbClr val="FFFFFF"/>
                </a:solidFill>
                <a:latin typeface="Cambria"/>
                <a:cs typeface="Cambria"/>
              </a:rPr>
              <a:t>NP,</a:t>
            </a:r>
            <a:r>
              <a:rPr lang="es-AR" sz="900" spc="35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lang="es-AR" sz="900" spc="125" dirty="0">
                <a:solidFill>
                  <a:srgbClr val="FFFFFF"/>
                </a:solidFill>
                <a:latin typeface="Cambria"/>
                <a:cs typeface="Cambria"/>
              </a:rPr>
              <a:t>PG,</a:t>
            </a:r>
            <a:r>
              <a:rPr lang="es-AR" sz="900" spc="35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lang="es-AR" sz="900" spc="85" dirty="0">
                <a:solidFill>
                  <a:srgbClr val="FFFFFF"/>
                </a:solidFill>
                <a:latin typeface="Cambria"/>
                <a:cs typeface="Cambria"/>
              </a:rPr>
              <a:t>PGG,</a:t>
            </a:r>
            <a:r>
              <a:rPr lang="es-AR" sz="900" spc="37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lang="es-AR" sz="900" spc="50" dirty="0">
                <a:solidFill>
                  <a:srgbClr val="FFFFFF"/>
                </a:solidFill>
                <a:latin typeface="Cambria"/>
                <a:cs typeface="Cambria"/>
              </a:rPr>
              <a:t>NGG:</a:t>
            </a:r>
            <a:r>
              <a:rPr lang="es-AR" sz="900" spc="35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lang="el-GR" sz="900" spc="50" dirty="0">
                <a:solidFill>
                  <a:srgbClr val="FFFFFF"/>
                </a:solidFill>
                <a:latin typeface="Cambria"/>
                <a:cs typeface="Cambria"/>
              </a:rPr>
              <a:t>μ</a:t>
            </a:r>
            <a:r>
              <a:rPr lang="el-GR" sz="900" spc="36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lang="el-GR" sz="900" dirty="0">
                <a:solidFill>
                  <a:srgbClr val="FFFFFF"/>
                </a:solidFill>
                <a:latin typeface="Cambria"/>
                <a:cs typeface="Cambria"/>
              </a:rPr>
              <a:t>=</a:t>
            </a:r>
            <a:r>
              <a:rPr lang="el-GR" sz="900" spc="35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lang="el-GR" sz="900" spc="114" dirty="0">
                <a:solidFill>
                  <a:srgbClr val="FFFFFF"/>
                </a:solidFill>
                <a:latin typeface="Cambria"/>
                <a:cs typeface="Cambria"/>
              </a:rPr>
              <a:t>0.0</a:t>
            </a:r>
            <a:endParaRPr lang="el-GR" sz="900" dirty="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30"/>
              </a:spcBef>
            </a:pPr>
            <a:endParaRPr lang="el-GR" sz="900" dirty="0">
              <a:latin typeface="Cambria"/>
              <a:cs typeface="Cambria"/>
            </a:endParaRPr>
          </a:p>
          <a:p>
            <a:pPr marL="226695">
              <a:lnSpc>
                <a:spcPct val="100000"/>
              </a:lnSpc>
              <a:tabLst>
                <a:tab pos="432434" algn="l"/>
              </a:tabLst>
            </a:pPr>
            <a:r>
              <a:rPr lang="el-GR" sz="900" spc="-50" dirty="0">
                <a:solidFill>
                  <a:srgbClr val="FFFFFF"/>
                </a:solidFill>
                <a:latin typeface="Cambria"/>
                <a:cs typeface="Cambria"/>
              </a:rPr>
              <a:t>⇒</a:t>
            </a:r>
            <a:r>
              <a:rPr lang="el-GR" sz="900" dirty="0">
                <a:solidFill>
                  <a:srgbClr val="FFFFFF"/>
                </a:solidFill>
                <a:latin typeface="Cambria"/>
                <a:cs typeface="Cambria"/>
              </a:rPr>
              <a:t>	</a:t>
            </a:r>
            <a:r>
              <a:rPr lang="es-AR" sz="900" spc="114" dirty="0">
                <a:solidFill>
                  <a:srgbClr val="FFFFFF"/>
                </a:solidFill>
                <a:latin typeface="Cambria"/>
                <a:cs typeface="Cambria"/>
              </a:rPr>
              <a:t>Vector</a:t>
            </a:r>
            <a:r>
              <a:rPr lang="es-AR" sz="900" spc="37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lang="es-AR" sz="900" spc="135" dirty="0">
                <a:solidFill>
                  <a:srgbClr val="FFFFFF"/>
                </a:solidFill>
                <a:latin typeface="Cambria"/>
                <a:cs typeface="Cambria"/>
              </a:rPr>
              <a:t>resultado:</a:t>
            </a:r>
            <a:r>
              <a:rPr lang="es-AR" sz="900" spc="135" dirty="0">
                <a:latin typeface="Cambria"/>
                <a:cs typeface="Cambria"/>
              </a:rPr>
              <a:t> </a:t>
            </a:r>
            <a:r>
              <a:rPr lang="es-AR" sz="900" dirty="0">
                <a:solidFill>
                  <a:schemeClr val="bg1"/>
                </a:solidFill>
              </a:rPr>
              <a:t>[0, 	0,  0,  0.47,  0.20,  0,  0]</a:t>
            </a:r>
          </a:p>
          <a:p>
            <a:pPr marL="433070">
              <a:lnSpc>
                <a:spcPct val="100000"/>
              </a:lnSpc>
              <a:spcBef>
                <a:spcPts val="5"/>
              </a:spcBef>
            </a:pPr>
            <a:r>
              <a:rPr lang="es-AR" sz="900" spc="125" dirty="0">
                <a:solidFill>
                  <a:srgbClr val="FFFFFF"/>
                </a:solidFill>
                <a:latin typeface="Cambria"/>
                <a:cs typeface="Cambria"/>
              </a:rPr>
              <a:t>(Z</a:t>
            </a:r>
            <a:r>
              <a:rPr lang="es-AR" sz="900" spc="38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lang="es-AR" sz="900" spc="90" dirty="0">
                <a:solidFill>
                  <a:srgbClr val="FFFFFF"/>
                </a:solidFill>
                <a:latin typeface="Cambria"/>
                <a:cs typeface="Cambria"/>
              </a:rPr>
              <a:t>y</a:t>
            </a:r>
            <a:r>
              <a:rPr lang="es-AR" sz="900" spc="38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lang="es-AR" sz="900" dirty="0">
                <a:solidFill>
                  <a:srgbClr val="FFFFFF"/>
                </a:solidFill>
                <a:latin typeface="Cambria"/>
                <a:cs typeface="Cambria"/>
              </a:rPr>
              <a:t>PP</a:t>
            </a:r>
            <a:r>
              <a:rPr lang="es-AR" sz="900" spc="39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lang="es-AR" sz="900" dirty="0">
                <a:solidFill>
                  <a:srgbClr val="FFFFFF"/>
                </a:solidFill>
                <a:latin typeface="Cambria"/>
                <a:cs typeface="Cambria"/>
              </a:rPr>
              <a:t>ambos</a:t>
            </a:r>
            <a:r>
              <a:rPr lang="es-AR" sz="900" spc="39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lang="es-AR" sz="900" spc="114" dirty="0">
                <a:solidFill>
                  <a:srgbClr val="FFFFFF"/>
                </a:solidFill>
                <a:latin typeface="Cambria"/>
                <a:cs typeface="Cambria"/>
              </a:rPr>
              <a:t>parcialmente</a:t>
            </a:r>
            <a:r>
              <a:rPr lang="es-AR" sz="900" spc="40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lang="es-AR" sz="900" spc="150" dirty="0">
                <a:solidFill>
                  <a:srgbClr val="FFFFFF"/>
                </a:solidFill>
                <a:latin typeface="Cambria"/>
                <a:cs typeface="Cambria"/>
              </a:rPr>
              <a:t>activos)</a:t>
            </a:r>
            <a:endParaRPr lang="es-AR" sz="900" dirty="0">
              <a:latin typeface="Cambria"/>
              <a:cs typeface="Cambria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442696" y="4649660"/>
            <a:ext cx="8025765" cy="19685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100" dirty="0">
                <a:solidFill>
                  <a:srgbClr val="878FA7"/>
                </a:solidFill>
                <a:latin typeface="MingLiU_HKSCS-ExtB"/>
                <a:cs typeface="MingLiU_HKSCS-ExtB"/>
              </a:rPr>
              <a:t>💡</a:t>
            </a:r>
            <a:r>
              <a:rPr sz="1100" spc="-165" dirty="0">
                <a:solidFill>
                  <a:srgbClr val="878FA7"/>
                </a:solidFill>
                <a:latin typeface="MingLiU_HKSCS-ExtB"/>
                <a:cs typeface="MingLiU_HKSCS-ExtB"/>
              </a:rPr>
              <a:t> </a:t>
            </a:r>
            <a:r>
              <a:rPr sz="900" i="1" dirty="0">
                <a:solidFill>
                  <a:srgbClr val="878FA7"/>
                </a:solidFill>
                <a:latin typeface="Calibri"/>
                <a:cs typeface="Calibri"/>
              </a:rPr>
              <a:t>El</a:t>
            </a:r>
            <a:r>
              <a:rPr sz="900" i="1" spc="-25" dirty="0">
                <a:solidFill>
                  <a:srgbClr val="878FA7"/>
                </a:solidFill>
                <a:latin typeface="Calibri"/>
                <a:cs typeface="Calibri"/>
              </a:rPr>
              <a:t> </a:t>
            </a:r>
            <a:r>
              <a:rPr sz="900" i="1" spc="-10" dirty="0">
                <a:solidFill>
                  <a:srgbClr val="878FA7"/>
                </a:solidFill>
                <a:latin typeface="Calibri"/>
                <a:cs typeface="Calibri"/>
              </a:rPr>
              <a:t>borrosificador</a:t>
            </a:r>
            <a:r>
              <a:rPr sz="900" i="1" spc="-15" dirty="0">
                <a:solidFill>
                  <a:srgbClr val="878FA7"/>
                </a:solidFill>
                <a:latin typeface="Calibri"/>
                <a:cs typeface="Calibri"/>
              </a:rPr>
              <a:t> </a:t>
            </a:r>
            <a:r>
              <a:rPr sz="900" i="1" dirty="0">
                <a:solidFill>
                  <a:srgbClr val="878FA7"/>
                </a:solidFill>
                <a:latin typeface="Calibri"/>
                <a:cs typeface="Calibri"/>
              </a:rPr>
              <a:t>usado es </a:t>
            </a:r>
            <a:r>
              <a:rPr sz="900" i="1" spc="-10" dirty="0">
                <a:solidFill>
                  <a:srgbClr val="878FA7"/>
                </a:solidFill>
                <a:latin typeface="Calibri"/>
                <a:cs typeface="Calibri"/>
              </a:rPr>
              <a:t>singleton: </a:t>
            </a:r>
            <a:r>
              <a:rPr sz="900" i="1" dirty="0">
                <a:solidFill>
                  <a:srgbClr val="878FA7"/>
                </a:solidFill>
                <a:latin typeface="Calibri"/>
                <a:cs typeface="Calibri"/>
              </a:rPr>
              <a:t>el</a:t>
            </a:r>
            <a:r>
              <a:rPr sz="900" i="1" spc="-10" dirty="0">
                <a:solidFill>
                  <a:srgbClr val="878FA7"/>
                </a:solidFill>
                <a:latin typeface="Calibri"/>
                <a:cs typeface="Calibri"/>
              </a:rPr>
              <a:t> </a:t>
            </a:r>
            <a:r>
              <a:rPr sz="900" i="1" dirty="0">
                <a:solidFill>
                  <a:srgbClr val="878FA7"/>
                </a:solidFill>
                <a:latin typeface="Calibri"/>
                <a:cs typeface="Calibri"/>
              </a:rPr>
              <a:t>valor</a:t>
            </a:r>
            <a:r>
              <a:rPr sz="900" i="1" spc="-15" dirty="0">
                <a:solidFill>
                  <a:srgbClr val="878FA7"/>
                </a:solidFill>
                <a:latin typeface="Calibri"/>
                <a:cs typeface="Calibri"/>
              </a:rPr>
              <a:t> </a:t>
            </a:r>
            <a:r>
              <a:rPr sz="900" i="1" dirty="0">
                <a:solidFill>
                  <a:srgbClr val="878FA7"/>
                </a:solidFill>
                <a:latin typeface="Calibri"/>
                <a:cs typeface="Calibri"/>
              </a:rPr>
              <a:t>de</a:t>
            </a:r>
            <a:r>
              <a:rPr sz="900" i="1" spc="-5" dirty="0">
                <a:solidFill>
                  <a:srgbClr val="878FA7"/>
                </a:solidFill>
                <a:latin typeface="Calibri"/>
                <a:cs typeface="Calibri"/>
              </a:rPr>
              <a:t> </a:t>
            </a:r>
            <a:r>
              <a:rPr sz="900" i="1" dirty="0">
                <a:solidFill>
                  <a:srgbClr val="878FA7"/>
                </a:solidFill>
                <a:latin typeface="Calibri"/>
                <a:cs typeface="Calibri"/>
              </a:rPr>
              <a:t>entrada</a:t>
            </a:r>
            <a:r>
              <a:rPr sz="900" i="1" spc="-5" dirty="0">
                <a:solidFill>
                  <a:srgbClr val="878FA7"/>
                </a:solidFill>
                <a:latin typeface="Calibri"/>
                <a:cs typeface="Calibri"/>
              </a:rPr>
              <a:t> </a:t>
            </a:r>
            <a:r>
              <a:rPr sz="900" i="1" dirty="0">
                <a:solidFill>
                  <a:srgbClr val="878FA7"/>
                </a:solidFill>
                <a:latin typeface="Calibri"/>
                <a:cs typeface="Calibri"/>
              </a:rPr>
              <a:t>nítido</a:t>
            </a:r>
            <a:r>
              <a:rPr sz="900" i="1" spc="-15" dirty="0">
                <a:solidFill>
                  <a:srgbClr val="878FA7"/>
                </a:solidFill>
                <a:latin typeface="Calibri"/>
                <a:cs typeface="Calibri"/>
              </a:rPr>
              <a:t> </a:t>
            </a:r>
            <a:r>
              <a:rPr sz="900" i="1" dirty="0">
                <a:solidFill>
                  <a:srgbClr val="878FA7"/>
                </a:solidFill>
                <a:latin typeface="Calibri"/>
                <a:cs typeface="Calibri"/>
              </a:rPr>
              <a:t>activa</a:t>
            </a:r>
            <a:r>
              <a:rPr sz="900" i="1" spc="-5" dirty="0">
                <a:solidFill>
                  <a:srgbClr val="878FA7"/>
                </a:solidFill>
                <a:latin typeface="Calibri"/>
                <a:cs typeface="Calibri"/>
              </a:rPr>
              <a:t> </a:t>
            </a:r>
            <a:r>
              <a:rPr sz="900" i="1" dirty="0">
                <a:solidFill>
                  <a:srgbClr val="878FA7"/>
                </a:solidFill>
                <a:latin typeface="Calibri"/>
                <a:cs typeface="Calibri"/>
              </a:rPr>
              <a:t>solo</a:t>
            </a:r>
            <a:r>
              <a:rPr sz="900" i="1" spc="-15" dirty="0">
                <a:solidFill>
                  <a:srgbClr val="878FA7"/>
                </a:solidFill>
                <a:latin typeface="Calibri"/>
                <a:cs typeface="Calibri"/>
              </a:rPr>
              <a:t> </a:t>
            </a:r>
            <a:r>
              <a:rPr sz="900" i="1" dirty="0">
                <a:solidFill>
                  <a:srgbClr val="878FA7"/>
                </a:solidFill>
                <a:latin typeface="Calibri"/>
                <a:cs typeface="Calibri"/>
              </a:rPr>
              <a:t>los</a:t>
            </a:r>
            <a:r>
              <a:rPr sz="900" i="1" spc="-10" dirty="0">
                <a:solidFill>
                  <a:srgbClr val="878FA7"/>
                </a:solidFill>
                <a:latin typeface="Calibri"/>
                <a:cs typeface="Calibri"/>
              </a:rPr>
              <a:t> </a:t>
            </a:r>
            <a:r>
              <a:rPr sz="900" i="1" dirty="0">
                <a:solidFill>
                  <a:srgbClr val="878FA7"/>
                </a:solidFill>
                <a:latin typeface="Calibri"/>
                <a:cs typeface="Calibri"/>
              </a:rPr>
              <a:t>conjuntos</a:t>
            </a:r>
            <a:r>
              <a:rPr sz="900" i="1" spc="-10" dirty="0">
                <a:solidFill>
                  <a:srgbClr val="878FA7"/>
                </a:solidFill>
                <a:latin typeface="Calibri"/>
                <a:cs typeface="Calibri"/>
              </a:rPr>
              <a:t> </a:t>
            </a:r>
            <a:r>
              <a:rPr sz="900" i="1" dirty="0">
                <a:solidFill>
                  <a:srgbClr val="878FA7"/>
                </a:solidFill>
                <a:latin typeface="Calibri"/>
                <a:cs typeface="Calibri"/>
              </a:rPr>
              <a:t>que</a:t>
            </a:r>
            <a:r>
              <a:rPr sz="900" i="1" spc="-5" dirty="0">
                <a:solidFill>
                  <a:srgbClr val="878FA7"/>
                </a:solidFill>
                <a:latin typeface="Calibri"/>
                <a:cs typeface="Calibri"/>
              </a:rPr>
              <a:t> </a:t>
            </a:r>
            <a:r>
              <a:rPr sz="900" i="1" dirty="0">
                <a:solidFill>
                  <a:srgbClr val="878FA7"/>
                </a:solidFill>
                <a:latin typeface="Calibri"/>
                <a:cs typeface="Calibri"/>
              </a:rPr>
              <a:t>lo</a:t>
            </a:r>
            <a:r>
              <a:rPr sz="900" i="1" spc="-15" dirty="0">
                <a:solidFill>
                  <a:srgbClr val="878FA7"/>
                </a:solidFill>
                <a:latin typeface="Calibri"/>
                <a:cs typeface="Calibri"/>
              </a:rPr>
              <a:t> </a:t>
            </a:r>
            <a:r>
              <a:rPr sz="900" i="1" dirty="0">
                <a:solidFill>
                  <a:srgbClr val="878FA7"/>
                </a:solidFill>
                <a:latin typeface="Calibri"/>
                <a:cs typeface="Calibri"/>
              </a:rPr>
              <a:t>contienen</a:t>
            </a:r>
            <a:r>
              <a:rPr sz="900" i="1" spc="-5" dirty="0">
                <a:solidFill>
                  <a:srgbClr val="878FA7"/>
                </a:solidFill>
                <a:latin typeface="Calibri"/>
                <a:cs typeface="Calibri"/>
              </a:rPr>
              <a:t> </a:t>
            </a:r>
            <a:r>
              <a:rPr sz="900" i="1" dirty="0">
                <a:solidFill>
                  <a:srgbClr val="878FA7"/>
                </a:solidFill>
                <a:latin typeface="Calibri"/>
                <a:cs typeface="Calibri"/>
              </a:rPr>
              <a:t>en</a:t>
            </a:r>
            <a:r>
              <a:rPr sz="900" i="1" spc="-15" dirty="0">
                <a:solidFill>
                  <a:srgbClr val="878FA7"/>
                </a:solidFill>
                <a:latin typeface="Calibri"/>
                <a:cs typeface="Calibri"/>
              </a:rPr>
              <a:t> </a:t>
            </a:r>
            <a:r>
              <a:rPr sz="900" i="1" dirty="0">
                <a:solidFill>
                  <a:srgbClr val="878FA7"/>
                </a:solidFill>
                <a:latin typeface="Calibri"/>
                <a:cs typeface="Calibri"/>
              </a:rPr>
              <a:t>su</a:t>
            </a:r>
            <a:r>
              <a:rPr sz="900" i="1" spc="-5" dirty="0">
                <a:solidFill>
                  <a:srgbClr val="878FA7"/>
                </a:solidFill>
                <a:latin typeface="Calibri"/>
                <a:cs typeface="Calibri"/>
              </a:rPr>
              <a:t> </a:t>
            </a:r>
            <a:r>
              <a:rPr sz="900" i="1" dirty="0">
                <a:solidFill>
                  <a:srgbClr val="878FA7"/>
                </a:solidFill>
                <a:latin typeface="Calibri"/>
                <a:cs typeface="Calibri"/>
              </a:rPr>
              <a:t>soporte,</a:t>
            </a:r>
            <a:r>
              <a:rPr sz="900" i="1" spc="-5" dirty="0">
                <a:solidFill>
                  <a:srgbClr val="878FA7"/>
                </a:solidFill>
                <a:latin typeface="Calibri"/>
                <a:cs typeface="Calibri"/>
              </a:rPr>
              <a:t> </a:t>
            </a:r>
            <a:r>
              <a:rPr sz="900" i="1" dirty="0">
                <a:solidFill>
                  <a:srgbClr val="878FA7"/>
                </a:solidFill>
                <a:latin typeface="Calibri"/>
                <a:cs typeface="Calibri"/>
              </a:rPr>
              <a:t>con</a:t>
            </a:r>
            <a:r>
              <a:rPr sz="900" i="1" spc="-5" dirty="0">
                <a:solidFill>
                  <a:srgbClr val="878FA7"/>
                </a:solidFill>
                <a:latin typeface="Calibri"/>
                <a:cs typeface="Calibri"/>
              </a:rPr>
              <a:t> </a:t>
            </a:r>
            <a:r>
              <a:rPr sz="900" i="1" dirty="0">
                <a:solidFill>
                  <a:srgbClr val="878FA7"/>
                </a:solidFill>
                <a:latin typeface="Calibri"/>
                <a:cs typeface="Calibri"/>
              </a:rPr>
              <a:t>membresía</a:t>
            </a:r>
            <a:r>
              <a:rPr sz="900" i="1" spc="-15" dirty="0">
                <a:solidFill>
                  <a:srgbClr val="878FA7"/>
                </a:solidFill>
                <a:latin typeface="Calibri"/>
                <a:cs typeface="Calibri"/>
              </a:rPr>
              <a:t> </a:t>
            </a:r>
            <a:r>
              <a:rPr sz="900" i="1" spc="-10" dirty="0">
                <a:solidFill>
                  <a:srgbClr val="878FA7"/>
                </a:solidFill>
                <a:latin typeface="Calibri"/>
                <a:cs typeface="Calibri"/>
              </a:rPr>
              <a:t>proporcional </a:t>
            </a:r>
            <a:r>
              <a:rPr sz="900" i="1" dirty="0">
                <a:solidFill>
                  <a:srgbClr val="878FA7"/>
                </a:solidFill>
                <a:latin typeface="Calibri"/>
                <a:cs typeface="Calibri"/>
              </a:rPr>
              <a:t>a</a:t>
            </a:r>
            <a:r>
              <a:rPr sz="900" i="1" spc="-15" dirty="0">
                <a:solidFill>
                  <a:srgbClr val="878FA7"/>
                </a:solidFill>
                <a:latin typeface="Calibri"/>
                <a:cs typeface="Calibri"/>
              </a:rPr>
              <a:t> </a:t>
            </a:r>
            <a:r>
              <a:rPr sz="900" i="1" dirty="0">
                <a:solidFill>
                  <a:srgbClr val="878FA7"/>
                </a:solidFill>
                <a:latin typeface="Calibri"/>
                <a:cs typeface="Calibri"/>
              </a:rPr>
              <a:t>la</a:t>
            </a:r>
            <a:r>
              <a:rPr sz="900" i="1" spc="-15" dirty="0">
                <a:solidFill>
                  <a:srgbClr val="878FA7"/>
                </a:solidFill>
                <a:latin typeface="Calibri"/>
                <a:cs typeface="Calibri"/>
              </a:rPr>
              <a:t> </a:t>
            </a:r>
            <a:r>
              <a:rPr sz="900" i="1" spc="-10" dirty="0">
                <a:solidFill>
                  <a:srgbClr val="878FA7"/>
                </a:solidFill>
                <a:latin typeface="Calibri"/>
                <a:cs typeface="Calibri"/>
              </a:rPr>
              <a:t>distancia</a:t>
            </a:r>
            <a:r>
              <a:rPr sz="900" i="1" spc="-15" dirty="0">
                <a:solidFill>
                  <a:srgbClr val="878FA7"/>
                </a:solidFill>
                <a:latin typeface="Calibri"/>
                <a:cs typeface="Calibri"/>
              </a:rPr>
              <a:t> </a:t>
            </a:r>
            <a:r>
              <a:rPr sz="900" i="1" dirty="0">
                <a:solidFill>
                  <a:srgbClr val="878FA7"/>
                </a:solidFill>
                <a:latin typeface="Calibri"/>
                <a:cs typeface="Calibri"/>
              </a:rPr>
              <a:t>al</a:t>
            </a:r>
            <a:r>
              <a:rPr sz="900" i="1" spc="-10" dirty="0">
                <a:solidFill>
                  <a:srgbClr val="878FA7"/>
                </a:solidFill>
                <a:latin typeface="Calibri"/>
                <a:cs typeface="Calibri"/>
              </a:rPr>
              <a:t> pico.</a:t>
            </a:r>
            <a:endParaRPr sz="9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Paso</a:t>
            </a:r>
            <a:r>
              <a:rPr spc="-60" dirty="0"/>
              <a:t> </a:t>
            </a:r>
            <a:r>
              <a:rPr dirty="0"/>
              <a:t>2</a:t>
            </a:r>
            <a:r>
              <a:rPr spc="-45" dirty="0"/>
              <a:t> </a:t>
            </a:r>
            <a:r>
              <a:rPr dirty="0"/>
              <a:t>—</a:t>
            </a:r>
            <a:r>
              <a:rPr spc="-55" dirty="0"/>
              <a:t> </a:t>
            </a:r>
            <a:r>
              <a:rPr dirty="0"/>
              <a:t>Conjunción</a:t>
            </a:r>
            <a:r>
              <a:rPr spc="-50" dirty="0"/>
              <a:t> </a:t>
            </a:r>
            <a:r>
              <a:rPr dirty="0"/>
              <a:t>Difusa</a:t>
            </a:r>
            <a:r>
              <a:rPr spc="-50" dirty="0"/>
              <a:t> </a:t>
            </a:r>
            <a:r>
              <a:rPr spc="-65" dirty="0"/>
              <a:t>(T-</a:t>
            </a:r>
            <a:r>
              <a:rPr spc="-10" dirty="0"/>
              <a:t>norm)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59409" y="743167"/>
            <a:ext cx="8333105" cy="415290"/>
            <a:chOff x="359409" y="743167"/>
            <a:chExt cx="8333105" cy="415290"/>
          </a:xfrm>
        </p:grpSpPr>
        <p:sp>
          <p:nvSpPr>
            <p:cNvPr id="4" name="object 4"/>
            <p:cNvSpPr/>
            <p:nvPr/>
          </p:nvSpPr>
          <p:spPr>
            <a:xfrm>
              <a:off x="456844" y="749517"/>
              <a:ext cx="8229600" cy="22860"/>
            </a:xfrm>
            <a:custGeom>
              <a:avLst/>
              <a:gdLst/>
              <a:ahLst/>
              <a:cxnLst/>
              <a:rect l="l" t="t" r="r" b="b"/>
              <a:pathLst>
                <a:path w="8229600" h="22859">
                  <a:moveTo>
                    <a:pt x="8229231" y="0"/>
                  </a:moveTo>
                  <a:lnTo>
                    <a:pt x="0" y="0"/>
                  </a:lnTo>
                  <a:lnTo>
                    <a:pt x="0" y="22682"/>
                  </a:lnTo>
                  <a:lnTo>
                    <a:pt x="4114800" y="22682"/>
                  </a:lnTo>
                  <a:lnTo>
                    <a:pt x="8229231" y="22682"/>
                  </a:lnTo>
                  <a:lnTo>
                    <a:pt x="8229231" y="0"/>
                  </a:lnTo>
                  <a:close/>
                </a:path>
              </a:pathLst>
            </a:custGeom>
            <a:solidFill>
              <a:srgbClr val="292C3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456844" y="749517"/>
              <a:ext cx="8229600" cy="22860"/>
            </a:xfrm>
            <a:custGeom>
              <a:avLst/>
              <a:gdLst/>
              <a:ahLst/>
              <a:cxnLst/>
              <a:rect l="l" t="t" r="r" b="b"/>
              <a:pathLst>
                <a:path w="8229600" h="22859">
                  <a:moveTo>
                    <a:pt x="4114800" y="22682"/>
                  </a:moveTo>
                  <a:lnTo>
                    <a:pt x="0" y="22682"/>
                  </a:lnTo>
                  <a:lnTo>
                    <a:pt x="0" y="0"/>
                  </a:lnTo>
                  <a:lnTo>
                    <a:pt x="8229231" y="0"/>
                  </a:lnTo>
                  <a:lnTo>
                    <a:pt x="8229231" y="22682"/>
                  </a:lnTo>
                  <a:lnTo>
                    <a:pt x="4114800" y="22682"/>
                  </a:lnTo>
                  <a:close/>
                </a:path>
              </a:pathLst>
            </a:custGeom>
            <a:ln w="12599">
              <a:solidFill>
                <a:srgbClr val="292C3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65759" y="804597"/>
              <a:ext cx="347980" cy="347980"/>
            </a:xfrm>
            <a:custGeom>
              <a:avLst/>
              <a:gdLst/>
              <a:ahLst/>
              <a:cxnLst/>
              <a:rect l="l" t="t" r="r" b="b"/>
              <a:pathLst>
                <a:path w="347980" h="347980">
                  <a:moveTo>
                    <a:pt x="173875" y="0"/>
                  </a:moveTo>
                  <a:lnTo>
                    <a:pt x="128833" y="5853"/>
                  </a:lnTo>
                  <a:lnTo>
                    <a:pt x="86753" y="23050"/>
                  </a:lnTo>
                  <a:lnTo>
                    <a:pt x="50893" y="50584"/>
                  </a:lnTo>
                  <a:lnTo>
                    <a:pt x="23406" y="86766"/>
                  </a:lnTo>
                  <a:lnTo>
                    <a:pt x="5897" y="128524"/>
                  </a:lnTo>
                  <a:lnTo>
                    <a:pt x="0" y="173520"/>
                  </a:lnTo>
                  <a:lnTo>
                    <a:pt x="1480" y="196294"/>
                  </a:lnTo>
                  <a:lnTo>
                    <a:pt x="13217" y="239948"/>
                  </a:lnTo>
                  <a:lnTo>
                    <a:pt x="35984" y="279352"/>
                  </a:lnTo>
                  <a:lnTo>
                    <a:pt x="67895" y="311416"/>
                  </a:lnTo>
                  <a:lnTo>
                    <a:pt x="107304" y="334040"/>
                  </a:lnTo>
                  <a:lnTo>
                    <a:pt x="151102" y="345878"/>
                  </a:lnTo>
                  <a:lnTo>
                    <a:pt x="173875" y="347408"/>
                  </a:lnTo>
                  <a:lnTo>
                    <a:pt x="196443" y="345878"/>
                  </a:lnTo>
                  <a:lnTo>
                    <a:pt x="240096" y="334040"/>
                  </a:lnTo>
                  <a:lnTo>
                    <a:pt x="279500" y="311416"/>
                  </a:lnTo>
                  <a:lnTo>
                    <a:pt x="311416" y="279352"/>
                  </a:lnTo>
                  <a:lnTo>
                    <a:pt x="334188" y="239948"/>
                  </a:lnTo>
                  <a:lnTo>
                    <a:pt x="345917" y="196294"/>
                  </a:lnTo>
                  <a:lnTo>
                    <a:pt x="347395" y="173520"/>
                  </a:lnTo>
                  <a:lnTo>
                    <a:pt x="345917" y="150752"/>
                  </a:lnTo>
                  <a:lnTo>
                    <a:pt x="334188" y="107104"/>
                  </a:lnTo>
                  <a:lnTo>
                    <a:pt x="311416" y="67695"/>
                  </a:lnTo>
                  <a:lnTo>
                    <a:pt x="279500" y="35635"/>
                  </a:lnTo>
                  <a:lnTo>
                    <a:pt x="240096" y="13067"/>
                  </a:lnTo>
                  <a:lnTo>
                    <a:pt x="196443" y="1474"/>
                  </a:lnTo>
                  <a:lnTo>
                    <a:pt x="173875" y="0"/>
                  </a:lnTo>
                  <a:close/>
                </a:path>
              </a:pathLst>
            </a:custGeom>
            <a:solidFill>
              <a:srgbClr val="A68AF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65759" y="804597"/>
              <a:ext cx="347980" cy="347980"/>
            </a:xfrm>
            <a:custGeom>
              <a:avLst/>
              <a:gdLst/>
              <a:ahLst/>
              <a:cxnLst/>
              <a:rect l="l" t="t" r="r" b="b"/>
              <a:pathLst>
                <a:path w="347980" h="347980">
                  <a:moveTo>
                    <a:pt x="0" y="173520"/>
                  </a:moveTo>
                  <a:lnTo>
                    <a:pt x="1480" y="150752"/>
                  </a:lnTo>
                  <a:lnTo>
                    <a:pt x="5897" y="128524"/>
                  </a:lnTo>
                  <a:lnTo>
                    <a:pt x="23406" y="86766"/>
                  </a:lnTo>
                  <a:lnTo>
                    <a:pt x="50893" y="50584"/>
                  </a:lnTo>
                  <a:lnTo>
                    <a:pt x="86753" y="23050"/>
                  </a:lnTo>
                  <a:lnTo>
                    <a:pt x="128833" y="5853"/>
                  </a:lnTo>
                  <a:lnTo>
                    <a:pt x="173875" y="0"/>
                  </a:lnTo>
                  <a:lnTo>
                    <a:pt x="218606" y="5853"/>
                  </a:lnTo>
                  <a:lnTo>
                    <a:pt x="260642" y="23050"/>
                  </a:lnTo>
                  <a:lnTo>
                    <a:pt x="296503" y="50584"/>
                  </a:lnTo>
                  <a:lnTo>
                    <a:pt x="324002" y="86766"/>
                  </a:lnTo>
                  <a:lnTo>
                    <a:pt x="341504" y="128524"/>
                  </a:lnTo>
                  <a:lnTo>
                    <a:pt x="347395" y="173520"/>
                  </a:lnTo>
                  <a:lnTo>
                    <a:pt x="345917" y="196294"/>
                  </a:lnTo>
                  <a:lnTo>
                    <a:pt x="341504" y="218527"/>
                  </a:lnTo>
                  <a:lnTo>
                    <a:pt x="324002" y="260286"/>
                  </a:lnTo>
                  <a:lnTo>
                    <a:pt x="296503" y="296464"/>
                  </a:lnTo>
                  <a:lnTo>
                    <a:pt x="260642" y="324002"/>
                  </a:lnTo>
                  <a:lnTo>
                    <a:pt x="218606" y="341377"/>
                  </a:lnTo>
                  <a:lnTo>
                    <a:pt x="173875" y="347408"/>
                  </a:lnTo>
                  <a:lnTo>
                    <a:pt x="128833" y="341377"/>
                  </a:lnTo>
                  <a:lnTo>
                    <a:pt x="86753" y="324002"/>
                  </a:lnTo>
                  <a:lnTo>
                    <a:pt x="50893" y="296464"/>
                  </a:lnTo>
                  <a:lnTo>
                    <a:pt x="23406" y="260286"/>
                  </a:lnTo>
                  <a:lnTo>
                    <a:pt x="5897" y="218527"/>
                  </a:lnTo>
                  <a:lnTo>
                    <a:pt x="1480" y="196294"/>
                  </a:lnTo>
                  <a:lnTo>
                    <a:pt x="0" y="173520"/>
                  </a:lnTo>
                  <a:close/>
                </a:path>
              </a:pathLst>
            </a:custGeom>
            <a:ln w="12599">
              <a:solidFill>
                <a:srgbClr val="A68AF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485178" y="866421"/>
            <a:ext cx="109220" cy="224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00" b="1" spc="-50" dirty="0">
                <a:solidFill>
                  <a:srgbClr val="FFFFFF"/>
                </a:solidFill>
                <a:latin typeface="Calibri"/>
                <a:cs typeface="Calibri"/>
              </a:rPr>
              <a:t>2</a:t>
            </a:r>
            <a:endParaRPr sz="130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99896" y="867869"/>
            <a:ext cx="503491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b="1" dirty="0">
                <a:solidFill>
                  <a:srgbClr val="A68AF9"/>
                </a:solidFill>
                <a:latin typeface="Calibri"/>
                <a:cs typeface="Calibri"/>
              </a:rPr>
              <a:t>Combinar</a:t>
            </a:r>
            <a:r>
              <a:rPr sz="1100" b="1" spc="-15" dirty="0">
                <a:solidFill>
                  <a:srgbClr val="A68AF9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A68AF9"/>
                </a:solidFill>
                <a:latin typeface="Calibri"/>
                <a:cs typeface="Calibri"/>
              </a:rPr>
              <a:t>los</a:t>
            </a:r>
            <a:r>
              <a:rPr sz="1100" b="1" spc="-30" dirty="0">
                <a:solidFill>
                  <a:srgbClr val="A68AF9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A68AF9"/>
                </a:solidFill>
                <a:latin typeface="Calibri"/>
                <a:cs typeface="Calibri"/>
              </a:rPr>
              <a:t>vectores</a:t>
            </a:r>
            <a:r>
              <a:rPr sz="1100" b="1" spc="-20" dirty="0">
                <a:solidFill>
                  <a:srgbClr val="A68AF9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A68AF9"/>
                </a:solidFill>
                <a:latin typeface="Calibri"/>
                <a:cs typeface="Calibri"/>
              </a:rPr>
              <a:t>de</a:t>
            </a:r>
            <a:r>
              <a:rPr sz="1100" b="1" spc="-20" dirty="0">
                <a:solidFill>
                  <a:srgbClr val="A68AF9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A68AF9"/>
                </a:solidFill>
                <a:latin typeface="Calibri"/>
                <a:cs typeface="Calibri"/>
              </a:rPr>
              <a:t>membresía</a:t>
            </a:r>
            <a:r>
              <a:rPr sz="1100" b="1" spc="-25" dirty="0">
                <a:solidFill>
                  <a:srgbClr val="A68AF9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A68AF9"/>
                </a:solidFill>
                <a:latin typeface="Calibri"/>
                <a:cs typeface="Calibri"/>
              </a:rPr>
              <a:t>de</a:t>
            </a:r>
            <a:r>
              <a:rPr sz="1100" b="1" spc="-10" dirty="0">
                <a:solidFill>
                  <a:srgbClr val="A68AF9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A68AF9"/>
                </a:solidFill>
                <a:latin typeface="Calibri"/>
                <a:cs typeface="Calibri"/>
              </a:rPr>
              <a:t>θ</a:t>
            </a:r>
            <a:r>
              <a:rPr sz="1100" b="1" spc="-25" dirty="0">
                <a:solidFill>
                  <a:srgbClr val="A68AF9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A68AF9"/>
                </a:solidFill>
                <a:latin typeface="Calibri"/>
                <a:cs typeface="Calibri"/>
              </a:rPr>
              <a:t>y</a:t>
            </a:r>
            <a:r>
              <a:rPr sz="1100" b="1" spc="-15" dirty="0">
                <a:solidFill>
                  <a:srgbClr val="A68AF9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A68AF9"/>
                </a:solidFill>
                <a:latin typeface="Calibri"/>
                <a:cs typeface="Calibri"/>
              </a:rPr>
              <a:t>θ'</a:t>
            </a:r>
            <a:r>
              <a:rPr sz="1100" b="1" spc="-25" dirty="0">
                <a:solidFill>
                  <a:srgbClr val="A68AF9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A68AF9"/>
                </a:solidFill>
                <a:latin typeface="Calibri"/>
                <a:cs typeface="Calibri"/>
              </a:rPr>
              <a:t>para</a:t>
            </a:r>
            <a:r>
              <a:rPr sz="1100" b="1" spc="-25" dirty="0">
                <a:solidFill>
                  <a:srgbClr val="A68AF9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A68AF9"/>
                </a:solidFill>
                <a:latin typeface="Calibri"/>
                <a:cs typeface="Calibri"/>
              </a:rPr>
              <a:t>obtener</a:t>
            </a:r>
            <a:r>
              <a:rPr sz="1100" b="1" spc="-10" dirty="0">
                <a:solidFill>
                  <a:srgbClr val="A68AF9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A68AF9"/>
                </a:solidFill>
                <a:latin typeface="Calibri"/>
                <a:cs typeface="Calibri"/>
              </a:rPr>
              <a:t>la</a:t>
            </a:r>
            <a:r>
              <a:rPr sz="1100" b="1" spc="-25" dirty="0">
                <a:solidFill>
                  <a:srgbClr val="A68AF9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A68AF9"/>
                </a:solidFill>
                <a:latin typeface="Calibri"/>
                <a:cs typeface="Calibri"/>
              </a:rPr>
              <a:t>activación</a:t>
            </a:r>
            <a:r>
              <a:rPr sz="1100" b="1" spc="-15" dirty="0">
                <a:solidFill>
                  <a:srgbClr val="A68AF9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A68AF9"/>
                </a:solidFill>
                <a:latin typeface="Calibri"/>
                <a:cs typeface="Calibri"/>
              </a:rPr>
              <a:t>de</a:t>
            </a:r>
            <a:r>
              <a:rPr sz="1100" b="1" spc="-20" dirty="0">
                <a:solidFill>
                  <a:srgbClr val="A68AF9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A68AF9"/>
                </a:solidFill>
                <a:latin typeface="Calibri"/>
                <a:cs typeface="Calibri"/>
              </a:rPr>
              <a:t>cada</a:t>
            </a:r>
            <a:r>
              <a:rPr sz="1100" b="1" spc="-20" dirty="0">
                <a:solidFill>
                  <a:srgbClr val="A68AF9"/>
                </a:solidFill>
                <a:latin typeface="Calibri"/>
                <a:cs typeface="Calibri"/>
              </a:rPr>
              <a:t> </a:t>
            </a:r>
            <a:r>
              <a:rPr sz="1100" b="1" spc="-10" dirty="0">
                <a:solidFill>
                  <a:srgbClr val="A68AF9"/>
                </a:solidFill>
                <a:latin typeface="Calibri"/>
                <a:cs typeface="Calibri"/>
              </a:rPr>
              <a:t>regla</a:t>
            </a:r>
            <a:endParaRPr sz="1100">
              <a:latin typeface="Calibri"/>
              <a:cs typeface="Calibri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239763" y="1099060"/>
            <a:ext cx="8628380" cy="1083945"/>
            <a:chOff x="239763" y="1099060"/>
            <a:chExt cx="8628380" cy="1083945"/>
          </a:xfrm>
        </p:grpSpPr>
        <p:pic>
          <p:nvPicPr>
            <p:cNvPr id="11" name="object 1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39763" y="1099060"/>
              <a:ext cx="8627757" cy="1083627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365404" y="1188722"/>
              <a:ext cx="8412480" cy="868680"/>
            </a:xfrm>
            <a:custGeom>
              <a:avLst/>
              <a:gdLst/>
              <a:ahLst/>
              <a:cxnLst/>
              <a:rect l="l" t="t" r="r" b="b"/>
              <a:pathLst>
                <a:path w="8412480" h="868680">
                  <a:moveTo>
                    <a:pt x="8412111" y="0"/>
                  </a:moveTo>
                  <a:lnTo>
                    <a:pt x="0" y="0"/>
                  </a:lnTo>
                  <a:lnTo>
                    <a:pt x="0" y="868324"/>
                  </a:lnTo>
                  <a:lnTo>
                    <a:pt x="4206240" y="868324"/>
                  </a:lnTo>
                  <a:lnTo>
                    <a:pt x="8412111" y="868324"/>
                  </a:lnTo>
                  <a:lnTo>
                    <a:pt x="8412111" y="0"/>
                  </a:lnTo>
                  <a:close/>
                </a:path>
              </a:pathLst>
            </a:custGeom>
            <a:solidFill>
              <a:srgbClr val="191C2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365404" y="1188722"/>
            <a:ext cx="8412480" cy="868680"/>
          </a:xfrm>
          <a:prstGeom prst="rect">
            <a:avLst/>
          </a:prstGeom>
          <a:ln w="12599">
            <a:solidFill>
              <a:srgbClr val="292C39"/>
            </a:solidFill>
          </a:ln>
        </p:spPr>
        <p:txBody>
          <a:bodyPr vert="horz" wrap="square" lIns="0" tIns="43180" rIns="0" bIns="0" rtlCol="0">
            <a:spAutoFit/>
          </a:bodyPr>
          <a:lstStyle/>
          <a:p>
            <a:pPr marL="226695">
              <a:lnSpc>
                <a:spcPct val="100000"/>
              </a:lnSpc>
              <a:spcBef>
                <a:spcPts val="340"/>
              </a:spcBef>
            </a:pP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Se</a:t>
            </a:r>
            <a:r>
              <a:rPr sz="10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usa</a:t>
            </a:r>
            <a:r>
              <a:rPr sz="10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la</a:t>
            </a:r>
            <a:r>
              <a:rPr sz="10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spc="-50" dirty="0">
                <a:solidFill>
                  <a:srgbClr val="C7CFE7"/>
                </a:solidFill>
                <a:latin typeface="Calibri"/>
                <a:cs typeface="Calibri"/>
              </a:rPr>
              <a:t>T-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norma</a:t>
            </a:r>
            <a:r>
              <a:rPr sz="1000" spc="-2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spc="-10" dirty="0">
                <a:solidFill>
                  <a:srgbClr val="C7CFE7"/>
                </a:solidFill>
                <a:latin typeface="Calibri"/>
                <a:cs typeface="Calibri"/>
              </a:rPr>
              <a:t>mínimo,</a:t>
            </a:r>
            <a:r>
              <a:rPr sz="10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que</a:t>
            </a:r>
            <a:r>
              <a:rPr sz="1000" spc="-10" dirty="0">
                <a:solidFill>
                  <a:srgbClr val="C7CFE7"/>
                </a:solidFill>
                <a:latin typeface="Calibri"/>
                <a:cs typeface="Calibri"/>
              </a:rPr>
              <a:t> representa</a:t>
            </a:r>
            <a:r>
              <a:rPr sz="10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el</a:t>
            </a:r>
            <a:r>
              <a:rPr sz="10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spc="-10" dirty="0">
                <a:solidFill>
                  <a:srgbClr val="C7CFE7"/>
                </a:solidFill>
                <a:latin typeface="Calibri"/>
                <a:cs typeface="Calibri"/>
              </a:rPr>
              <a:t>operador</a:t>
            </a:r>
            <a:r>
              <a:rPr sz="10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lógico</a:t>
            </a:r>
            <a:r>
              <a:rPr sz="10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difuso</a:t>
            </a:r>
            <a:r>
              <a:rPr sz="1000" spc="-10" dirty="0">
                <a:solidFill>
                  <a:srgbClr val="C7CFE7"/>
                </a:solidFill>
                <a:latin typeface="Calibri"/>
                <a:cs typeface="Calibri"/>
              </a:rPr>
              <a:t> AND.</a:t>
            </a:r>
            <a:r>
              <a:rPr sz="10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spc="-10" dirty="0">
                <a:solidFill>
                  <a:srgbClr val="C7CFE7"/>
                </a:solidFill>
                <a:latin typeface="Calibri"/>
                <a:cs typeface="Calibri"/>
              </a:rPr>
              <a:t>Para</a:t>
            </a:r>
            <a:r>
              <a:rPr sz="10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cada</a:t>
            </a:r>
            <a:r>
              <a:rPr sz="10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par</a:t>
            </a:r>
            <a:r>
              <a:rPr sz="1000" spc="-2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de</a:t>
            </a:r>
            <a:r>
              <a:rPr sz="1000" spc="-10" dirty="0">
                <a:solidFill>
                  <a:srgbClr val="C7CFE7"/>
                </a:solidFill>
                <a:latin typeface="Calibri"/>
                <a:cs typeface="Calibri"/>
              </a:rPr>
              <a:t> conjuntos</a:t>
            </a:r>
            <a:r>
              <a:rPr sz="10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(i</a:t>
            </a:r>
            <a:r>
              <a:rPr sz="1000" spc="-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de</a:t>
            </a:r>
            <a:r>
              <a:rPr sz="10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θ,</a:t>
            </a:r>
            <a:r>
              <a:rPr sz="10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j</a:t>
            </a:r>
            <a:r>
              <a:rPr sz="10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de</a:t>
            </a:r>
            <a:r>
              <a:rPr sz="10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θ')</a:t>
            </a:r>
            <a:r>
              <a:rPr sz="1000" spc="-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se</a:t>
            </a:r>
            <a:r>
              <a:rPr sz="1000" spc="-10" dirty="0">
                <a:solidFill>
                  <a:srgbClr val="C7CFE7"/>
                </a:solidFill>
                <a:latin typeface="Calibri"/>
                <a:cs typeface="Calibri"/>
              </a:rPr>
              <a:t> calcula:</a:t>
            </a:r>
            <a:endParaRPr sz="1000" dirty="0">
              <a:latin typeface="Calibri"/>
              <a:cs typeface="Calibri"/>
            </a:endParaRPr>
          </a:p>
          <a:p>
            <a:pPr marL="226695">
              <a:lnSpc>
                <a:spcPct val="100000"/>
              </a:lnSpc>
              <a:spcBef>
                <a:spcPts val="1205"/>
              </a:spcBef>
            </a:pP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α[i,</a:t>
            </a:r>
            <a:r>
              <a:rPr sz="10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j]</a:t>
            </a:r>
            <a:r>
              <a:rPr sz="1000" spc="19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=</a:t>
            </a:r>
            <a:r>
              <a:rPr sz="1000" spc="19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min(</a:t>
            </a:r>
            <a:r>
              <a:rPr sz="10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μ_θ[i],</a:t>
            </a:r>
            <a:r>
              <a:rPr sz="1000" spc="18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spc="-10" dirty="0">
                <a:solidFill>
                  <a:srgbClr val="C7CFE7"/>
                </a:solidFill>
                <a:latin typeface="Calibri"/>
                <a:cs typeface="Calibri"/>
              </a:rPr>
              <a:t>μ_θ'[j]</a:t>
            </a:r>
            <a:r>
              <a:rPr sz="10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spc="-50" dirty="0">
                <a:solidFill>
                  <a:srgbClr val="C7CFE7"/>
                </a:solidFill>
                <a:latin typeface="Calibri"/>
                <a:cs typeface="Calibri"/>
              </a:rPr>
              <a:t>)</a:t>
            </a:r>
            <a:endParaRPr sz="1000" dirty="0">
              <a:latin typeface="Calibri"/>
              <a:cs typeface="Calibri"/>
            </a:endParaRPr>
          </a:p>
          <a:p>
            <a:pPr marL="226695">
              <a:lnSpc>
                <a:spcPct val="100000"/>
              </a:lnSpc>
              <a:spcBef>
                <a:spcPts val="1200"/>
              </a:spcBef>
            </a:pP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El</a:t>
            </a:r>
            <a:r>
              <a:rPr sz="10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spc="-10" dirty="0">
                <a:solidFill>
                  <a:srgbClr val="C7CFE7"/>
                </a:solidFill>
                <a:latin typeface="Calibri"/>
                <a:cs typeface="Calibri"/>
              </a:rPr>
              <a:t>resultado</a:t>
            </a:r>
            <a:r>
              <a:rPr sz="10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es</a:t>
            </a:r>
            <a:r>
              <a:rPr sz="10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una</a:t>
            </a:r>
            <a:r>
              <a:rPr sz="1000" spc="-3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matriz</a:t>
            </a:r>
            <a:r>
              <a:rPr sz="1000" spc="-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7×7</a:t>
            </a:r>
            <a:r>
              <a:rPr sz="10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(49</a:t>
            </a:r>
            <a:r>
              <a:rPr sz="10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spc="-10" dirty="0">
                <a:solidFill>
                  <a:srgbClr val="C7CFE7"/>
                </a:solidFill>
                <a:latin typeface="Calibri"/>
                <a:cs typeface="Calibri"/>
              </a:rPr>
              <a:t>valores</a:t>
            </a:r>
            <a:r>
              <a:rPr sz="10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α),</a:t>
            </a:r>
            <a:r>
              <a:rPr sz="10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uno</a:t>
            </a:r>
            <a:r>
              <a:rPr sz="1000" spc="-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por</a:t>
            </a:r>
            <a:r>
              <a:rPr sz="10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cada</a:t>
            </a:r>
            <a:r>
              <a:rPr sz="1000" spc="-2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regla</a:t>
            </a:r>
            <a:r>
              <a:rPr sz="10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de</a:t>
            </a:r>
            <a:r>
              <a:rPr sz="10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la</a:t>
            </a:r>
            <a:r>
              <a:rPr sz="10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spc="-10" dirty="0">
                <a:solidFill>
                  <a:srgbClr val="C7CFE7"/>
                </a:solidFill>
                <a:latin typeface="Calibri"/>
                <a:cs typeface="Calibri"/>
              </a:rPr>
              <a:t>FAM.</a:t>
            </a:r>
            <a:r>
              <a:rPr sz="1000" spc="-3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Cada</a:t>
            </a:r>
            <a:r>
              <a:rPr sz="1000" spc="-2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α</a:t>
            </a:r>
            <a:r>
              <a:rPr sz="10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spc="-10" dirty="0">
                <a:solidFill>
                  <a:srgbClr val="C7CFE7"/>
                </a:solidFill>
                <a:latin typeface="Calibri"/>
                <a:cs typeface="Calibri"/>
              </a:rPr>
              <a:t>representa</a:t>
            </a:r>
            <a:r>
              <a:rPr sz="1000" spc="-2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el</a:t>
            </a:r>
            <a:r>
              <a:rPr sz="10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spc="-10" dirty="0">
                <a:solidFill>
                  <a:srgbClr val="C7CFE7"/>
                </a:solidFill>
                <a:latin typeface="Calibri"/>
                <a:cs typeface="Calibri"/>
              </a:rPr>
              <a:t>grado</a:t>
            </a:r>
            <a:r>
              <a:rPr sz="1000" spc="-2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de</a:t>
            </a:r>
            <a:r>
              <a:rPr sz="10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verdad</a:t>
            </a:r>
            <a:r>
              <a:rPr sz="1000" spc="-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del</a:t>
            </a:r>
            <a:r>
              <a:rPr sz="10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spc="-10" dirty="0">
                <a:solidFill>
                  <a:srgbClr val="C7CFE7"/>
                </a:solidFill>
                <a:latin typeface="Calibri"/>
                <a:cs typeface="Calibri"/>
              </a:rPr>
              <a:t>antecedente</a:t>
            </a:r>
            <a:r>
              <a:rPr sz="10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de</a:t>
            </a:r>
            <a:r>
              <a:rPr sz="10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esa</a:t>
            </a:r>
            <a:r>
              <a:rPr sz="1000" spc="-2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spc="-10" dirty="0">
                <a:solidFill>
                  <a:srgbClr val="C7CFE7"/>
                </a:solidFill>
                <a:latin typeface="Calibri"/>
                <a:cs typeface="Calibri"/>
              </a:rPr>
              <a:t>regla.</a:t>
            </a:r>
            <a:endParaRPr sz="1000" dirty="0">
              <a:latin typeface="Calibri"/>
              <a:cs typeface="Calibri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246569" y="2348800"/>
            <a:ext cx="5245100" cy="2501265"/>
            <a:chOff x="239763" y="2333144"/>
            <a:chExt cx="5245100" cy="2501265"/>
          </a:xfrm>
        </p:grpSpPr>
        <p:pic>
          <p:nvPicPr>
            <p:cNvPr id="16" name="object 1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39763" y="2333144"/>
              <a:ext cx="5244477" cy="2500934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365404" y="2422806"/>
              <a:ext cx="5029200" cy="2286000"/>
            </a:xfrm>
            <a:custGeom>
              <a:avLst/>
              <a:gdLst/>
              <a:ahLst/>
              <a:cxnLst/>
              <a:rect l="l" t="t" r="r" b="b"/>
              <a:pathLst>
                <a:path w="5029200" h="2286000">
                  <a:moveTo>
                    <a:pt x="5028831" y="0"/>
                  </a:moveTo>
                  <a:lnTo>
                    <a:pt x="0" y="0"/>
                  </a:lnTo>
                  <a:lnTo>
                    <a:pt x="0" y="2285631"/>
                  </a:lnTo>
                  <a:lnTo>
                    <a:pt x="2514600" y="2285631"/>
                  </a:lnTo>
                  <a:lnTo>
                    <a:pt x="5028831" y="2285631"/>
                  </a:lnTo>
                  <a:lnTo>
                    <a:pt x="5028831" y="0"/>
                  </a:lnTo>
                  <a:close/>
                </a:path>
              </a:pathLst>
            </a:custGeom>
            <a:solidFill>
              <a:srgbClr val="191C2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365404" y="2422806"/>
              <a:ext cx="5029200" cy="2286000"/>
            </a:xfrm>
            <a:custGeom>
              <a:avLst/>
              <a:gdLst/>
              <a:ahLst/>
              <a:cxnLst/>
              <a:rect l="l" t="t" r="r" b="b"/>
              <a:pathLst>
                <a:path w="5029200" h="2286000">
                  <a:moveTo>
                    <a:pt x="2514600" y="2285631"/>
                  </a:moveTo>
                  <a:lnTo>
                    <a:pt x="0" y="2285631"/>
                  </a:lnTo>
                  <a:lnTo>
                    <a:pt x="0" y="0"/>
                  </a:lnTo>
                  <a:lnTo>
                    <a:pt x="5028831" y="0"/>
                  </a:lnTo>
                  <a:lnTo>
                    <a:pt x="5028831" y="2285631"/>
                  </a:lnTo>
                  <a:lnTo>
                    <a:pt x="2514600" y="2285631"/>
                  </a:lnTo>
                  <a:close/>
                </a:path>
              </a:pathLst>
            </a:custGeom>
            <a:ln w="12599">
              <a:solidFill>
                <a:srgbClr val="292C3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/>
          <p:nvPr/>
        </p:nvSpPr>
        <p:spPr>
          <a:xfrm>
            <a:off x="2339441" y="2579676"/>
            <a:ext cx="1972310" cy="11285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975" spc="-37" baseline="-38461" dirty="0">
                <a:solidFill>
                  <a:srgbClr val="878FA7"/>
                </a:solidFill>
                <a:latin typeface="Calibri"/>
                <a:cs typeface="Calibri"/>
              </a:rPr>
              <a:t>NP</a:t>
            </a:r>
            <a:endParaRPr sz="975" baseline="-38461" dirty="0">
              <a:latin typeface="Calibri"/>
              <a:cs typeface="Calibri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2950582" y="2600781"/>
            <a:ext cx="516967" cy="12054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AR" sz="700" spc="-35" dirty="0">
                <a:solidFill>
                  <a:srgbClr val="7CD2FB"/>
                </a:solidFill>
                <a:latin typeface="Calibri"/>
                <a:cs typeface="Calibri"/>
              </a:rPr>
              <a:t>Z</a:t>
            </a:r>
            <a:endParaRPr sz="700" dirty="0">
              <a:latin typeface="Calibri"/>
              <a:cs typeface="Calibri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3518903" y="2617103"/>
            <a:ext cx="112395" cy="1244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50" b="1" spc="-25" dirty="0">
                <a:solidFill>
                  <a:srgbClr val="7CD2FB"/>
                </a:solidFill>
                <a:latin typeface="Calibri"/>
                <a:cs typeface="Calibri"/>
              </a:rPr>
              <a:t>PP</a:t>
            </a:r>
            <a:endParaRPr sz="650">
              <a:latin typeface="Calibri"/>
              <a:cs typeface="Calibri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4083024" y="2617103"/>
            <a:ext cx="118745" cy="1244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50" spc="-25" dirty="0">
                <a:solidFill>
                  <a:srgbClr val="878FA7"/>
                </a:solidFill>
                <a:latin typeface="Calibri"/>
                <a:cs typeface="Calibri"/>
              </a:rPr>
              <a:t>PG</a:t>
            </a:r>
            <a:endParaRPr sz="650">
              <a:latin typeface="Calibri"/>
              <a:cs typeface="Calibri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4623384" y="2617103"/>
            <a:ext cx="170180" cy="1244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50" spc="-25" dirty="0">
                <a:solidFill>
                  <a:srgbClr val="878FA7"/>
                </a:solidFill>
                <a:latin typeface="Calibri"/>
                <a:cs typeface="Calibri"/>
              </a:rPr>
              <a:t>PGG</a:t>
            </a:r>
            <a:endParaRPr sz="650">
              <a:latin typeface="Calibri"/>
              <a:cs typeface="Calibri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1206332" y="2599437"/>
            <a:ext cx="180975" cy="1244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50" spc="-25" dirty="0">
                <a:solidFill>
                  <a:srgbClr val="878FA7"/>
                </a:solidFill>
                <a:latin typeface="Calibri"/>
                <a:cs typeface="Calibri"/>
              </a:rPr>
              <a:t>NGG</a:t>
            </a:r>
            <a:endParaRPr sz="650" dirty="0">
              <a:latin typeface="Calibri"/>
              <a:cs typeface="Calibri"/>
            </a:endParaRPr>
          </a:p>
        </p:txBody>
      </p:sp>
      <p:grpSp>
        <p:nvGrpSpPr>
          <p:cNvPr id="25" name="object 25"/>
          <p:cNvGrpSpPr/>
          <p:nvPr/>
        </p:nvGrpSpPr>
        <p:grpSpPr>
          <a:xfrm>
            <a:off x="1024204" y="2761566"/>
            <a:ext cx="3968750" cy="1856105"/>
            <a:chOff x="1024204" y="2761566"/>
            <a:chExt cx="3968750" cy="1856105"/>
          </a:xfrm>
        </p:grpSpPr>
        <p:sp>
          <p:nvSpPr>
            <p:cNvPr id="26" name="object 26"/>
            <p:cNvSpPr/>
            <p:nvPr/>
          </p:nvSpPr>
          <p:spPr>
            <a:xfrm>
              <a:off x="1024204" y="2761566"/>
              <a:ext cx="3968750" cy="1061085"/>
            </a:xfrm>
            <a:custGeom>
              <a:avLst/>
              <a:gdLst/>
              <a:ahLst/>
              <a:cxnLst/>
              <a:rect l="l" t="t" r="r" b="b"/>
              <a:pathLst>
                <a:path w="3968750" h="1061085">
                  <a:moveTo>
                    <a:pt x="566635" y="795591"/>
                  </a:moveTo>
                  <a:lnTo>
                    <a:pt x="0" y="795591"/>
                  </a:lnTo>
                  <a:lnTo>
                    <a:pt x="0" y="1060551"/>
                  </a:lnTo>
                  <a:lnTo>
                    <a:pt x="283311" y="1060551"/>
                  </a:lnTo>
                  <a:lnTo>
                    <a:pt x="566635" y="1060551"/>
                  </a:lnTo>
                  <a:lnTo>
                    <a:pt x="566635" y="795591"/>
                  </a:lnTo>
                  <a:close/>
                </a:path>
                <a:path w="3968750" h="1061085">
                  <a:moveTo>
                    <a:pt x="566635" y="530275"/>
                  </a:moveTo>
                  <a:lnTo>
                    <a:pt x="0" y="530275"/>
                  </a:lnTo>
                  <a:lnTo>
                    <a:pt x="0" y="795235"/>
                  </a:lnTo>
                  <a:lnTo>
                    <a:pt x="283311" y="795235"/>
                  </a:lnTo>
                  <a:lnTo>
                    <a:pt x="566635" y="795235"/>
                  </a:lnTo>
                  <a:lnTo>
                    <a:pt x="566635" y="530275"/>
                  </a:lnTo>
                  <a:close/>
                </a:path>
                <a:path w="3968750" h="1061085">
                  <a:moveTo>
                    <a:pt x="566635" y="0"/>
                  </a:moveTo>
                  <a:lnTo>
                    <a:pt x="0" y="0"/>
                  </a:lnTo>
                  <a:lnTo>
                    <a:pt x="0" y="264960"/>
                  </a:lnTo>
                  <a:lnTo>
                    <a:pt x="0" y="529920"/>
                  </a:lnTo>
                  <a:lnTo>
                    <a:pt x="283311" y="529920"/>
                  </a:lnTo>
                  <a:lnTo>
                    <a:pt x="566635" y="529920"/>
                  </a:lnTo>
                  <a:lnTo>
                    <a:pt x="566635" y="264960"/>
                  </a:lnTo>
                  <a:lnTo>
                    <a:pt x="566635" y="0"/>
                  </a:lnTo>
                  <a:close/>
                </a:path>
                <a:path w="3968750" h="1061085">
                  <a:moveTo>
                    <a:pt x="1700276" y="795591"/>
                  </a:moveTo>
                  <a:lnTo>
                    <a:pt x="1133640" y="795591"/>
                  </a:lnTo>
                  <a:lnTo>
                    <a:pt x="566991" y="795591"/>
                  </a:lnTo>
                  <a:lnTo>
                    <a:pt x="566991" y="1060551"/>
                  </a:lnTo>
                  <a:lnTo>
                    <a:pt x="850315" y="1060551"/>
                  </a:lnTo>
                  <a:lnTo>
                    <a:pt x="1133640" y="1060551"/>
                  </a:lnTo>
                  <a:lnTo>
                    <a:pt x="1416951" y="1060551"/>
                  </a:lnTo>
                  <a:lnTo>
                    <a:pt x="1700276" y="1060551"/>
                  </a:lnTo>
                  <a:lnTo>
                    <a:pt x="1700276" y="795591"/>
                  </a:lnTo>
                  <a:close/>
                </a:path>
                <a:path w="3968750" h="1061085">
                  <a:moveTo>
                    <a:pt x="1700276" y="530275"/>
                  </a:moveTo>
                  <a:lnTo>
                    <a:pt x="1133640" y="530275"/>
                  </a:lnTo>
                  <a:lnTo>
                    <a:pt x="566991" y="530275"/>
                  </a:lnTo>
                  <a:lnTo>
                    <a:pt x="566991" y="795235"/>
                  </a:lnTo>
                  <a:lnTo>
                    <a:pt x="850315" y="795235"/>
                  </a:lnTo>
                  <a:lnTo>
                    <a:pt x="1133640" y="795235"/>
                  </a:lnTo>
                  <a:lnTo>
                    <a:pt x="1416951" y="795235"/>
                  </a:lnTo>
                  <a:lnTo>
                    <a:pt x="1700276" y="795235"/>
                  </a:lnTo>
                  <a:lnTo>
                    <a:pt x="1700276" y="530275"/>
                  </a:lnTo>
                  <a:close/>
                </a:path>
                <a:path w="3968750" h="1061085">
                  <a:moveTo>
                    <a:pt x="1700276" y="0"/>
                  </a:moveTo>
                  <a:lnTo>
                    <a:pt x="1133640" y="0"/>
                  </a:lnTo>
                  <a:lnTo>
                    <a:pt x="566991" y="0"/>
                  </a:lnTo>
                  <a:lnTo>
                    <a:pt x="566991" y="264960"/>
                  </a:lnTo>
                  <a:lnTo>
                    <a:pt x="566991" y="529920"/>
                  </a:lnTo>
                  <a:lnTo>
                    <a:pt x="850315" y="529920"/>
                  </a:lnTo>
                  <a:lnTo>
                    <a:pt x="1133640" y="529920"/>
                  </a:lnTo>
                  <a:lnTo>
                    <a:pt x="1416951" y="529920"/>
                  </a:lnTo>
                  <a:lnTo>
                    <a:pt x="1700276" y="529920"/>
                  </a:lnTo>
                  <a:lnTo>
                    <a:pt x="1700276" y="264960"/>
                  </a:lnTo>
                  <a:lnTo>
                    <a:pt x="1700276" y="0"/>
                  </a:lnTo>
                  <a:close/>
                </a:path>
                <a:path w="3968750" h="1061085">
                  <a:moveTo>
                    <a:pt x="2267280" y="530275"/>
                  </a:moveTo>
                  <a:lnTo>
                    <a:pt x="1700631" y="530275"/>
                  </a:lnTo>
                  <a:lnTo>
                    <a:pt x="1700631" y="795235"/>
                  </a:lnTo>
                  <a:lnTo>
                    <a:pt x="1983955" y="795235"/>
                  </a:lnTo>
                  <a:lnTo>
                    <a:pt x="2267280" y="795235"/>
                  </a:lnTo>
                  <a:lnTo>
                    <a:pt x="2267280" y="530275"/>
                  </a:lnTo>
                  <a:close/>
                </a:path>
                <a:path w="3968750" h="1061085">
                  <a:moveTo>
                    <a:pt x="2267280" y="0"/>
                  </a:moveTo>
                  <a:lnTo>
                    <a:pt x="1700631" y="0"/>
                  </a:lnTo>
                  <a:lnTo>
                    <a:pt x="1700631" y="264960"/>
                  </a:lnTo>
                  <a:lnTo>
                    <a:pt x="1700631" y="529920"/>
                  </a:lnTo>
                  <a:lnTo>
                    <a:pt x="1983955" y="529920"/>
                  </a:lnTo>
                  <a:lnTo>
                    <a:pt x="2267280" y="529920"/>
                  </a:lnTo>
                  <a:lnTo>
                    <a:pt x="2267280" y="264960"/>
                  </a:lnTo>
                  <a:lnTo>
                    <a:pt x="2267280" y="0"/>
                  </a:lnTo>
                  <a:close/>
                </a:path>
                <a:path w="3968750" h="1061085">
                  <a:moveTo>
                    <a:pt x="2834271" y="530275"/>
                  </a:moveTo>
                  <a:lnTo>
                    <a:pt x="2267635" y="530275"/>
                  </a:lnTo>
                  <a:lnTo>
                    <a:pt x="2267635" y="795235"/>
                  </a:lnTo>
                  <a:lnTo>
                    <a:pt x="2550960" y="795235"/>
                  </a:lnTo>
                  <a:lnTo>
                    <a:pt x="2834271" y="795235"/>
                  </a:lnTo>
                  <a:lnTo>
                    <a:pt x="2834271" y="530275"/>
                  </a:lnTo>
                  <a:close/>
                </a:path>
                <a:path w="3968750" h="1061085">
                  <a:moveTo>
                    <a:pt x="2834271" y="0"/>
                  </a:moveTo>
                  <a:lnTo>
                    <a:pt x="2267635" y="0"/>
                  </a:lnTo>
                  <a:lnTo>
                    <a:pt x="2267635" y="264960"/>
                  </a:lnTo>
                  <a:lnTo>
                    <a:pt x="2267635" y="529920"/>
                  </a:lnTo>
                  <a:lnTo>
                    <a:pt x="2550960" y="529920"/>
                  </a:lnTo>
                  <a:lnTo>
                    <a:pt x="2834271" y="529920"/>
                  </a:lnTo>
                  <a:lnTo>
                    <a:pt x="2834271" y="264960"/>
                  </a:lnTo>
                  <a:lnTo>
                    <a:pt x="2834271" y="0"/>
                  </a:lnTo>
                  <a:close/>
                </a:path>
                <a:path w="3968750" h="1061085">
                  <a:moveTo>
                    <a:pt x="3401276" y="530275"/>
                  </a:moveTo>
                  <a:lnTo>
                    <a:pt x="2834640" y="530275"/>
                  </a:lnTo>
                  <a:lnTo>
                    <a:pt x="2834640" y="795235"/>
                  </a:lnTo>
                  <a:lnTo>
                    <a:pt x="3117951" y="795235"/>
                  </a:lnTo>
                  <a:lnTo>
                    <a:pt x="3401276" y="795235"/>
                  </a:lnTo>
                  <a:lnTo>
                    <a:pt x="3401276" y="530275"/>
                  </a:lnTo>
                  <a:close/>
                </a:path>
                <a:path w="3968750" h="1061085">
                  <a:moveTo>
                    <a:pt x="3401276" y="0"/>
                  </a:moveTo>
                  <a:lnTo>
                    <a:pt x="2834640" y="0"/>
                  </a:lnTo>
                  <a:lnTo>
                    <a:pt x="2834640" y="264960"/>
                  </a:lnTo>
                  <a:lnTo>
                    <a:pt x="2834640" y="529920"/>
                  </a:lnTo>
                  <a:lnTo>
                    <a:pt x="3117951" y="529920"/>
                  </a:lnTo>
                  <a:lnTo>
                    <a:pt x="3401276" y="529920"/>
                  </a:lnTo>
                  <a:lnTo>
                    <a:pt x="3401276" y="264960"/>
                  </a:lnTo>
                  <a:lnTo>
                    <a:pt x="3401276" y="0"/>
                  </a:lnTo>
                  <a:close/>
                </a:path>
                <a:path w="3968750" h="1061085">
                  <a:moveTo>
                    <a:pt x="3968280" y="530275"/>
                  </a:moveTo>
                  <a:lnTo>
                    <a:pt x="3401631" y="530275"/>
                  </a:lnTo>
                  <a:lnTo>
                    <a:pt x="3401631" y="795235"/>
                  </a:lnTo>
                  <a:lnTo>
                    <a:pt x="3684955" y="795235"/>
                  </a:lnTo>
                  <a:lnTo>
                    <a:pt x="3968280" y="795235"/>
                  </a:lnTo>
                  <a:lnTo>
                    <a:pt x="3968280" y="530275"/>
                  </a:lnTo>
                  <a:close/>
                </a:path>
                <a:path w="3968750" h="1061085">
                  <a:moveTo>
                    <a:pt x="3968280" y="0"/>
                  </a:moveTo>
                  <a:lnTo>
                    <a:pt x="3401631" y="0"/>
                  </a:lnTo>
                  <a:lnTo>
                    <a:pt x="3401631" y="264960"/>
                  </a:lnTo>
                  <a:lnTo>
                    <a:pt x="3401631" y="529920"/>
                  </a:lnTo>
                  <a:lnTo>
                    <a:pt x="3684955" y="529920"/>
                  </a:lnTo>
                  <a:lnTo>
                    <a:pt x="3968280" y="529920"/>
                  </a:lnTo>
                  <a:lnTo>
                    <a:pt x="3968280" y="264960"/>
                  </a:lnTo>
                  <a:lnTo>
                    <a:pt x="3968280" y="0"/>
                  </a:lnTo>
                  <a:close/>
                </a:path>
              </a:pathLst>
            </a:custGeom>
            <a:solidFill>
              <a:srgbClr val="1D213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2724835" y="3557157"/>
              <a:ext cx="1134110" cy="265430"/>
            </a:xfrm>
            <a:custGeom>
              <a:avLst/>
              <a:gdLst/>
              <a:ahLst/>
              <a:cxnLst/>
              <a:rect l="l" t="t" r="r" b="b"/>
              <a:pathLst>
                <a:path w="1134110" h="265429">
                  <a:moveTo>
                    <a:pt x="566648" y="0"/>
                  </a:moveTo>
                  <a:lnTo>
                    <a:pt x="0" y="0"/>
                  </a:lnTo>
                  <a:lnTo>
                    <a:pt x="0" y="264960"/>
                  </a:lnTo>
                  <a:lnTo>
                    <a:pt x="283324" y="264960"/>
                  </a:lnTo>
                  <a:lnTo>
                    <a:pt x="566648" y="264960"/>
                  </a:lnTo>
                  <a:lnTo>
                    <a:pt x="566648" y="0"/>
                  </a:lnTo>
                  <a:close/>
                </a:path>
                <a:path w="1134110" h="265429">
                  <a:moveTo>
                    <a:pt x="1133640" y="0"/>
                  </a:moveTo>
                  <a:lnTo>
                    <a:pt x="567004" y="0"/>
                  </a:lnTo>
                  <a:lnTo>
                    <a:pt x="567004" y="264960"/>
                  </a:lnTo>
                  <a:lnTo>
                    <a:pt x="850328" y="264960"/>
                  </a:lnTo>
                  <a:lnTo>
                    <a:pt x="1133640" y="264960"/>
                  </a:lnTo>
                  <a:lnTo>
                    <a:pt x="1133640" y="0"/>
                  </a:lnTo>
                  <a:close/>
                </a:path>
              </a:pathLst>
            </a:custGeom>
            <a:solidFill>
              <a:srgbClr val="A68AF9">
                <a:alpha val="79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1024204" y="3557157"/>
              <a:ext cx="3968750" cy="1060450"/>
            </a:xfrm>
            <a:custGeom>
              <a:avLst/>
              <a:gdLst/>
              <a:ahLst/>
              <a:cxnLst/>
              <a:rect l="l" t="t" r="r" b="b"/>
              <a:pathLst>
                <a:path w="3968750" h="1060450">
                  <a:moveTo>
                    <a:pt x="566635" y="530288"/>
                  </a:moveTo>
                  <a:lnTo>
                    <a:pt x="0" y="530288"/>
                  </a:lnTo>
                  <a:lnTo>
                    <a:pt x="0" y="795248"/>
                  </a:lnTo>
                  <a:lnTo>
                    <a:pt x="0" y="1060208"/>
                  </a:lnTo>
                  <a:lnTo>
                    <a:pt x="283311" y="1060208"/>
                  </a:lnTo>
                  <a:lnTo>
                    <a:pt x="566635" y="1060208"/>
                  </a:lnTo>
                  <a:lnTo>
                    <a:pt x="566635" y="795248"/>
                  </a:lnTo>
                  <a:lnTo>
                    <a:pt x="566635" y="530288"/>
                  </a:lnTo>
                  <a:close/>
                </a:path>
                <a:path w="3968750" h="1060450">
                  <a:moveTo>
                    <a:pt x="566635" y="264960"/>
                  </a:moveTo>
                  <a:lnTo>
                    <a:pt x="0" y="264960"/>
                  </a:lnTo>
                  <a:lnTo>
                    <a:pt x="0" y="529920"/>
                  </a:lnTo>
                  <a:lnTo>
                    <a:pt x="283311" y="529920"/>
                  </a:lnTo>
                  <a:lnTo>
                    <a:pt x="566635" y="529920"/>
                  </a:lnTo>
                  <a:lnTo>
                    <a:pt x="566635" y="264960"/>
                  </a:lnTo>
                  <a:close/>
                </a:path>
                <a:path w="3968750" h="1060450">
                  <a:moveTo>
                    <a:pt x="1700276" y="530288"/>
                  </a:moveTo>
                  <a:lnTo>
                    <a:pt x="1133640" y="530288"/>
                  </a:lnTo>
                  <a:lnTo>
                    <a:pt x="566991" y="530288"/>
                  </a:lnTo>
                  <a:lnTo>
                    <a:pt x="566991" y="795248"/>
                  </a:lnTo>
                  <a:lnTo>
                    <a:pt x="566991" y="1060208"/>
                  </a:lnTo>
                  <a:lnTo>
                    <a:pt x="850315" y="1060208"/>
                  </a:lnTo>
                  <a:lnTo>
                    <a:pt x="1133640" y="1060208"/>
                  </a:lnTo>
                  <a:lnTo>
                    <a:pt x="1416951" y="1060208"/>
                  </a:lnTo>
                  <a:lnTo>
                    <a:pt x="1700276" y="1060208"/>
                  </a:lnTo>
                  <a:lnTo>
                    <a:pt x="1700276" y="795248"/>
                  </a:lnTo>
                  <a:lnTo>
                    <a:pt x="1700276" y="530288"/>
                  </a:lnTo>
                  <a:close/>
                </a:path>
                <a:path w="3968750" h="1060450">
                  <a:moveTo>
                    <a:pt x="1700276" y="264960"/>
                  </a:moveTo>
                  <a:lnTo>
                    <a:pt x="1133640" y="264960"/>
                  </a:lnTo>
                  <a:lnTo>
                    <a:pt x="566991" y="264960"/>
                  </a:lnTo>
                  <a:lnTo>
                    <a:pt x="566991" y="529920"/>
                  </a:lnTo>
                  <a:lnTo>
                    <a:pt x="850315" y="529920"/>
                  </a:lnTo>
                  <a:lnTo>
                    <a:pt x="1133640" y="529920"/>
                  </a:lnTo>
                  <a:lnTo>
                    <a:pt x="1416951" y="529920"/>
                  </a:lnTo>
                  <a:lnTo>
                    <a:pt x="1700276" y="529920"/>
                  </a:lnTo>
                  <a:lnTo>
                    <a:pt x="1700276" y="264960"/>
                  </a:lnTo>
                  <a:close/>
                </a:path>
                <a:path w="3968750" h="1060450">
                  <a:moveTo>
                    <a:pt x="2267280" y="530288"/>
                  </a:moveTo>
                  <a:lnTo>
                    <a:pt x="1700631" y="530288"/>
                  </a:lnTo>
                  <a:lnTo>
                    <a:pt x="1700631" y="795248"/>
                  </a:lnTo>
                  <a:lnTo>
                    <a:pt x="1700631" y="1060208"/>
                  </a:lnTo>
                  <a:lnTo>
                    <a:pt x="1983955" y="1060208"/>
                  </a:lnTo>
                  <a:lnTo>
                    <a:pt x="2267280" y="1060208"/>
                  </a:lnTo>
                  <a:lnTo>
                    <a:pt x="2267280" y="795248"/>
                  </a:lnTo>
                  <a:lnTo>
                    <a:pt x="2267280" y="530288"/>
                  </a:lnTo>
                  <a:close/>
                </a:path>
                <a:path w="3968750" h="1060450">
                  <a:moveTo>
                    <a:pt x="2267280" y="264960"/>
                  </a:moveTo>
                  <a:lnTo>
                    <a:pt x="1700631" y="264960"/>
                  </a:lnTo>
                  <a:lnTo>
                    <a:pt x="1700631" y="529920"/>
                  </a:lnTo>
                  <a:lnTo>
                    <a:pt x="1983955" y="529920"/>
                  </a:lnTo>
                  <a:lnTo>
                    <a:pt x="2267280" y="529920"/>
                  </a:lnTo>
                  <a:lnTo>
                    <a:pt x="2267280" y="264960"/>
                  </a:lnTo>
                  <a:close/>
                </a:path>
                <a:path w="3968750" h="1060450">
                  <a:moveTo>
                    <a:pt x="2834271" y="530288"/>
                  </a:moveTo>
                  <a:lnTo>
                    <a:pt x="2267635" y="530288"/>
                  </a:lnTo>
                  <a:lnTo>
                    <a:pt x="2267635" y="795248"/>
                  </a:lnTo>
                  <a:lnTo>
                    <a:pt x="2267635" y="1060208"/>
                  </a:lnTo>
                  <a:lnTo>
                    <a:pt x="2550960" y="1060208"/>
                  </a:lnTo>
                  <a:lnTo>
                    <a:pt x="2834271" y="1060208"/>
                  </a:lnTo>
                  <a:lnTo>
                    <a:pt x="2834271" y="795248"/>
                  </a:lnTo>
                  <a:lnTo>
                    <a:pt x="2834271" y="530288"/>
                  </a:lnTo>
                  <a:close/>
                </a:path>
                <a:path w="3968750" h="1060450">
                  <a:moveTo>
                    <a:pt x="2834271" y="264960"/>
                  </a:moveTo>
                  <a:lnTo>
                    <a:pt x="2267635" y="264960"/>
                  </a:lnTo>
                  <a:lnTo>
                    <a:pt x="2267635" y="529920"/>
                  </a:lnTo>
                  <a:lnTo>
                    <a:pt x="2550960" y="529920"/>
                  </a:lnTo>
                  <a:lnTo>
                    <a:pt x="2834271" y="529920"/>
                  </a:lnTo>
                  <a:lnTo>
                    <a:pt x="2834271" y="264960"/>
                  </a:lnTo>
                  <a:close/>
                </a:path>
                <a:path w="3968750" h="1060450">
                  <a:moveTo>
                    <a:pt x="3401276" y="530288"/>
                  </a:moveTo>
                  <a:lnTo>
                    <a:pt x="2834640" y="530288"/>
                  </a:lnTo>
                  <a:lnTo>
                    <a:pt x="2834640" y="795248"/>
                  </a:lnTo>
                  <a:lnTo>
                    <a:pt x="2834640" y="1060208"/>
                  </a:lnTo>
                  <a:lnTo>
                    <a:pt x="3117951" y="1060208"/>
                  </a:lnTo>
                  <a:lnTo>
                    <a:pt x="3401276" y="1060208"/>
                  </a:lnTo>
                  <a:lnTo>
                    <a:pt x="3401276" y="795248"/>
                  </a:lnTo>
                  <a:lnTo>
                    <a:pt x="3401276" y="530288"/>
                  </a:lnTo>
                  <a:close/>
                </a:path>
                <a:path w="3968750" h="1060450">
                  <a:moveTo>
                    <a:pt x="3401276" y="0"/>
                  </a:moveTo>
                  <a:lnTo>
                    <a:pt x="2834640" y="0"/>
                  </a:lnTo>
                  <a:lnTo>
                    <a:pt x="2834640" y="264960"/>
                  </a:lnTo>
                  <a:lnTo>
                    <a:pt x="2834640" y="529920"/>
                  </a:lnTo>
                  <a:lnTo>
                    <a:pt x="3117951" y="529920"/>
                  </a:lnTo>
                  <a:lnTo>
                    <a:pt x="3401276" y="529920"/>
                  </a:lnTo>
                  <a:lnTo>
                    <a:pt x="3401276" y="264960"/>
                  </a:lnTo>
                  <a:lnTo>
                    <a:pt x="3401276" y="0"/>
                  </a:lnTo>
                  <a:close/>
                </a:path>
                <a:path w="3968750" h="1060450">
                  <a:moveTo>
                    <a:pt x="3968280" y="530288"/>
                  </a:moveTo>
                  <a:lnTo>
                    <a:pt x="3401631" y="530288"/>
                  </a:lnTo>
                  <a:lnTo>
                    <a:pt x="3401631" y="795248"/>
                  </a:lnTo>
                  <a:lnTo>
                    <a:pt x="3401631" y="1060208"/>
                  </a:lnTo>
                  <a:lnTo>
                    <a:pt x="3684955" y="1060208"/>
                  </a:lnTo>
                  <a:lnTo>
                    <a:pt x="3968280" y="1060208"/>
                  </a:lnTo>
                  <a:lnTo>
                    <a:pt x="3968280" y="795248"/>
                  </a:lnTo>
                  <a:lnTo>
                    <a:pt x="3968280" y="530288"/>
                  </a:lnTo>
                  <a:close/>
                </a:path>
                <a:path w="3968750" h="1060450">
                  <a:moveTo>
                    <a:pt x="3968280" y="0"/>
                  </a:moveTo>
                  <a:lnTo>
                    <a:pt x="3401631" y="0"/>
                  </a:lnTo>
                  <a:lnTo>
                    <a:pt x="3401631" y="264960"/>
                  </a:lnTo>
                  <a:lnTo>
                    <a:pt x="3401631" y="529920"/>
                  </a:lnTo>
                  <a:lnTo>
                    <a:pt x="3684955" y="529920"/>
                  </a:lnTo>
                  <a:lnTo>
                    <a:pt x="3968280" y="529920"/>
                  </a:lnTo>
                  <a:lnTo>
                    <a:pt x="3968280" y="264960"/>
                  </a:lnTo>
                  <a:lnTo>
                    <a:pt x="3968280" y="0"/>
                  </a:lnTo>
                  <a:close/>
                </a:path>
              </a:pathLst>
            </a:custGeom>
            <a:solidFill>
              <a:srgbClr val="1D213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9" name="object 29"/>
          <p:cNvSpPr txBox="1"/>
          <p:nvPr/>
        </p:nvSpPr>
        <p:spPr>
          <a:xfrm>
            <a:off x="675982" y="3096985"/>
            <a:ext cx="129539" cy="1244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50" spc="-25" dirty="0">
                <a:solidFill>
                  <a:srgbClr val="878FA7"/>
                </a:solidFill>
                <a:latin typeface="Calibri"/>
                <a:cs typeface="Calibri"/>
              </a:rPr>
              <a:t>NG</a:t>
            </a:r>
            <a:endParaRPr sz="650" dirty="0">
              <a:latin typeface="Calibri"/>
              <a:cs typeface="Calibri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680656" y="3362301"/>
            <a:ext cx="120014" cy="1244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50" spc="-25" dirty="0">
                <a:solidFill>
                  <a:srgbClr val="878FA7"/>
                </a:solidFill>
                <a:latin typeface="Calibri"/>
                <a:cs typeface="Calibri"/>
              </a:rPr>
              <a:t>NP</a:t>
            </a:r>
            <a:endParaRPr sz="650">
              <a:latin typeface="Calibri"/>
              <a:cs typeface="Calibri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434377" y="3644249"/>
            <a:ext cx="390537" cy="12054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l-GR" sz="700" dirty="0">
                <a:solidFill>
                  <a:srgbClr val="499DFF"/>
                </a:solidFill>
                <a:latin typeface="Calibri"/>
                <a:cs typeface="Calibri"/>
              </a:rPr>
              <a:t>Θ</a:t>
            </a:r>
            <a:r>
              <a:rPr lang="es-AR" sz="700" dirty="0">
                <a:solidFill>
                  <a:srgbClr val="499DFF"/>
                </a:solidFill>
                <a:latin typeface="Calibri"/>
                <a:cs typeface="Calibri"/>
              </a:rPr>
              <a:t>’</a:t>
            </a:r>
            <a:r>
              <a:rPr sz="700" spc="-20" dirty="0">
                <a:solidFill>
                  <a:srgbClr val="499DFF"/>
                </a:solidFill>
                <a:latin typeface="Calibri"/>
                <a:cs typeface="Calibri"/>
              </a:rPr>
              <a:t> </a:t>
            </a:r>
            <a:r>
              <a:rPr sz="700" dirty="0">
                <a:solidFill>
                  <a:srgbClr val="499DFF"/>
                </a:solidFill>
                <a:latin typeface="Calibri"/>
                <a:cs typeface="Calibri"/>
              </a:rPr>
              <a:t>↓</a:t>
            </a:r>
            <a:r>
              <a:rPr sz="700" spc="270" dirty="0">
                <a:solidFill>
                  <a:srgbClr val="499DFF"/>
                </a:solidFill>
                <a:latin typeface="Calibri"/>
                <a:cs typeface="Calibri"/>
              </a:rPr>
              <a:t>  </a:t>
            </a:r>
            <a:r>
              <a:rPr sz="650" b="1" spc="-60" dirty="0">
                <a:solidFill>
                  <a:srgbClr val="499DFF"/>
                </a:solidFill>
                <a:latin typeface="Calibri"/>
                <a:cs typeface="Calibri"/>
              </a:rPr>
              <a:t>Z</a:t>
            </a:r>
            <a:endParaRPr sz="650" dirty="0">
              <a:latin typeface="Calibri"/>
              <a:cs typeface="Calibri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685698" y="3892590"/>
            <a:ext cx="109220" cy="1244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50" spc="-25" dirty="0">
                <a:solidFill>
                  <a:srgbClr val="878FA7"/>
                </a:solidFill>
                <a:latin typeface="Calibri"/>
                <a:cs typeface="Calibri"/>
              </a:rPr>
              <a:t>PP</a:t>
            </a:r>
            <a:endParaRPr sz="650">
              <a:latin typeface="Calibri"/>
              <a:cs typeface="Calibri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681380" y="4157905"/>
            <a:ext cx="118745" cy="1244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50" spc="-25" dirty="0">
                <a:solidFill>
                  <a:srgbClr val="878FA7"/>
                </a:solidFill>
                <a:latin typeface="Calibri"/>
                <a:cs typeface="Calibri"/>
              </a:rPr>
              <a:t>PG</a:t>
            </a:r>
            <a:endParaRPr sz="650">
              <a:latin typeface="Calibri"/>
              <a:cs typeface="Calibri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654735" y="4422866"/>
            <a:ext cx="170180" cy="1244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50" spc="-25" dirty="0">
                <a:solidFill>
                  <a:srgbClr val="878FA7"/>
                </a:solidFill>
                <a:latin typeface="Calibri"/>
                <a:cs typeface="Calibri"/>
              </a:rPr>
              <a:t>PGG</a:t>
            </a:r>
            <a:endParaRPr sz="650">
              <a:latin typeface="Calibri"/>
              <a:cs typeface="Calibri"/>
            </a:endParaRPr>
          </a:p>
        </p:txBody>
      </p:sp>
      <p:graphicFrame>
        <p:nvGraphicFramePr>
          <p:cNvPr id="35" name="object 3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129041"/>
              </p:ext>
            </p:extLst>
          </p:nvPr>
        </p:nvGraphicFramePr>
        <p:xfrm>
          <a:off x="1017904" y="2755266"/>
          <a:ext cx="3969382" cy="185356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670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70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70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70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670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6705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6705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64795"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r>
                        <a:rPr sz="700" b="1" spc="-50" dirty="0">
                          <a:solidFill>
                            <a:schemeClr val="bg1"/>
                          </a:solidFill>
                          <a:latin typeface="Cambria"/>
                          <a:cs typeface="Cambria"/>
                        </a:rPr>
                        <a:t>0</a:t>
                      </a:r>
                      <a:endParaRPr sz="700" b="1" dirty="0">
                        <a:solidFill>
                          <a:schemeClr val="bg1"/>
                        </a:solidFill>
                        <a:latin typeface="Cambria"/>
                        <a:cs typeface="Cambria"/>
                      </a:endParaRPr>
                    </a:p>
                  </a:txBody>
                  <a:tcPr marL="0" marR="0" marT="78740" marB="0">
                    <a:lnL w="12700">
                      <a:solidFill>
                        <a:srgbClr val="292C39"/>
                      </a:solidFill>
                      <a:prstDash val="solid"/>
                    </a:lnL>
                    <a:lnR w="19050">
                      <a:solidFill>
                        <a:srgbClr val="292C39"/>
                      </a:solidFill>
                      <a:prstDash val="solid"/>
                    </a:lnR>
                    <a:lnT w="12700">
                      <a:solidFill>
                        <a:srgbClr val="292C39"/>
                      </a:solidFill>
                      <a:prstDash val="solid"/>
                    </a:lnT>
                    <a:lnB w="12700">
                      <a:solidFill>
                        <a:srgbClr val="292C39"/>
                      </a:solidFill>
                      <a:prstDash val="solid"/>
                    </a:lnB>
                    <a:solidFill>
                      <a:srgbClr val="484A54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r>
                        <a:rPr sz="700" b="1" spc="-50" dirty="0">
                          <a:solidFill>
                            <a:schemeClr val="bg1"/>
                          </a:solidFill>
                          <a:latin typeface="Cambria"/>
                          <a:cs typeface="Cambria"/>
                        </a:rPr>
                        <a:t>0</a:t>
                      </a:r>
                      <a:endParaRPr sz="700" b="1" dirty="0">
                        <a:solidFill>
                          <a:schemeClr val="bg1"/>
                        </a:solidFill>
                        <a:latin typeface="Cambria"/>
                        <a:cs typeface="Cambria"/>
                      </a:endParaRPr>
                    </a:p>
                  </a:txBody>
                  <a:tcPr marL="0" marR="0" marT="78740" marB="0">
                    <a:lnL w="19050">
                      <a:solidFill>
                        <a:srgbClr val="292C39"/>
                      </a:solidFill>
                      <a:prstDash val="solid"/>
                    </a:lnL>
                    <a:lnR w="12700">
                      <a:solidFill>
                        <a:srgbClr val="292C39"/>
                      </a:solidFill>
                      <a:prstDash val="solid"/>
                    </a:lnR>
                    <a:lnT w="12700">
                      <a:solidFill>
                        <a:srgbClr val="292C39"/>
                      </a:solidFill>
                      <a:prstDash val="solid"/>
                    </a:lnT>
                    <a:lnB w="12700">
                      <a:solidFill>
                        <a:srgbClr val="292C39"/>
                      </a:solidFill>
                      <a:prstDash val="solid"/>
                    </a:lnB>
                    <a:solidFill>
                      <a:srgbClr val="484A54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r>
                        <a:rPr sz="700" b="1" spc="-50" dirty="0">
                          <a:solidFill>
                            <a:schemeClr val="bg1"/>
                          </a:solidFill>
                          <a:latin typeface="Cambria"/>
                          <a:cs typeface="Cambria"/>
                        </a:rPr>
                        <a:t>0</a:t>
                      </a:r>
                      <a:endParaRPr sz="700" b="1" dirty="0">
                        <a:solidFill>
                          <a:schemeClr val="bg1"/>
                        </a:solidFill>
                        <a:latin typeface="Cambria"/>
                        <a:cs typeface="Cambria"/>
                      </a:endParaRPr>
                    </a:p>
                  </a:txBody>
                  <a:tcPr marL="0" marR="0" marT="78740" marB="0">
                    <a:lnL w="12700">
                      <a:solidFill>
                        <a:srgbClr val="292C39"/>
                      </a:solidFill>
                      <a:prstDash val="solid"/>
                    </a:lnL>
                    <a:lnR w="19050">
                      <a:solidFill>
                        <a:srgbClr val="292C39"/>
                      </a:solidFill>
                      <a:prstDash val="solid"/>
                    </a:lnR>
                    <a:lnT w="12700">
                      <a:solidFill>
                        <a:srgbClr val="292C39"/>
                      </a:solidFill>
                      <a:prstDash val="solid"/>
                    </a:lnT>
                    <a:lnB w="12700">
                      <a:solidFill>
                        <a:srgbClr val="292C39"/>
                      </a:solidFill>
                      <a:prstDash val="solid"/>
                    </a:lnB>
                    <a:solidFill>
                      <a:srgbClr val="484A54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r>
                        <a:rPr sz="700" b="1" spc="-50" dirty="0">
                          <a:solidFill>
                            <a:schemeClr val="bg1"/>
                          </a:solidFill>
                          <a:latin typeface="Cambria"/>
                          <a:cs typeface="Cambria"/>
                        </a:rPr>
                        <a:t>0</a:t>
                      </a:r>
                      <a:endParaRPr sz="700" b="1">
                        <a:solidFill>
                          <a:schemeClr val="bg1"/>
                        </a:solidFill>
                        <a:latin typeface="Cambria"/>
                        <a:cs typeface="Cambria"/>
                      </a:endParaRPr>
                    </a:p>
                  </a:txBody>
                  <a:tcPr marL="0" marR="0" marT="78740" marB="0">
                    <a:lnL w="19050">
                      <a:solidFill>
                        <a:srgbClr val="292C39"/>
                      </a:solidFill>
                      <a:prstDash val="solid"/>
                    </a:lnL>
                    <a:lnR w="19050">
                      <a:solidFill>
                        <a:srgbClr val="292C39"/>
                      </a:solidFill>
                      <a:prstDash val="solid"/>
                    </a:lnR>
                    <a:lnT w="12700">
                      <a:solidFill>
                        <a:srgbClr val="292C39"/>
                      </a:solidFill>
                      <a:prstDash val="solid"/>
                    </a:lnT>
                    <a:lnB w="12700">
                      <a:solidFill>
                        <a:srgbClr val="292C39"/>
                      </a:solidFill>
                      <a:prstDash val="solid"/>
                    </a:lnB>
                    <a:solidFill>
                      <a:srgbClr val="484A54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r>
                        <a:rPr sz="700" b="1" spc="-50" dirty="0">
                          <a:solidFill>
                            <a:schemeClr val="bg1"/>
                          </a:solidFill>
                          <a:latin typeface="Cambria"/>
                          <a:cs typeface="Cambria"/>
                        </a:rPr>
                        <a:t>0</a:t>
                      </a:r>
                      <a:endParaRPr sz="700" b="1">
                        <a:solidFill>
                          <a:schemeClr val="bg1"/>
                        </a:solidFill>
                        <a:latin typeface="Cambria"/>
                        <a:cs typeface="Cambria"/>
                      </a:endParaRPr>
                    </a:p>
                  </a:txBody>
                  <a:tcPr marL="0" marR="0" marT="78740" marB="0">
                    <a:lnL w="19050">
                      <a:solidFill>
                        <a:srgbClr val="292C39"/>
                      </a:solidFill>
                      <a:prstDash val="solid"/>
                    </a:lnL>
                    <a:lnR w="19050">
                      <a:solidFill>
                        <a:srgbClr val="292C39"/>
                      </a:solidFill>
                      <a:prstDash val="solid"/>
                    </a:lnR>
                    <a:lnT w="12700">
                      <a:solidFill>
                        <a:srgbClr val="292C39"/>
                      </a:solidFill>
                      <a:prstDash val="solid"/>
                    </a:lnT>
                    <a:lnB w="12700">
                      <a:solidFill>
                        <a:srgbClr val="292C39"/>
                      </a:solidFill>
                      <a:prstDash val="solid"/>
                    </a:lnB>
                    <a:solidFill>
                      <a:srgbClr val="484A54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r>
                        <a:rPr sz="700" b="1" spc="-50" dirty="0">
                          <a:solidFill>
                            <a:schemeClr val="bg1"/>
                          </a:solidFill>
                          <a:latin typeface="Cambria"/>
                          <a:cs typeface="Cambria"/>
                        </a:rPr>
                        <a:t>0</a:t>
                      </a:r>
                      <a:endParaRPr sz="700" b="1" dirty="0">
                        <a:solidFill>
                          <a:schemeClr val="bg1"/>
                        </a:solidFill>
                        <a:latin typeface="Cambria"/>
                        <a:cs typeface="Cambria"/>
                      </a:endParaRPr>
                    </a:p>
                  </a:txBody>
                  <a:tcPr marL="0" marR="0" marT="78740" marB="0">
                    <a:lnL w="19050">
                      <a:solidFill>
                        <a:srgbClr val="292C39"/>
                      </a:solidFill>
                      <a:prstDash val="solid"/>
                    </a:lnL>
                    <a:lnR w="19050">
                      <a:solidFill>
                        <a:srgbClr val="292C39"/>
                      </a:solidFill>
                      <a:prstDash val="solid"/>
                    </a:lnR>
                    <a:lnT w="12700">
                      <a:solidFill>
                        <a:srgbClr val="292C39"/>
                      </a:solidFill>
                      <a:prstDash val="solid"/>
                    </a:lnT>
                    <a:lnB w="12700">
                      <a:solidFill>
                        <a:srgbClr val="292C39"/>
                      </a:solidFill>
                      <a:prstDash val="solid"/>
                    </a:lnB>
                    <a:solidFill>
                      <a:srgbClr val="484A54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r>
                        <a:rPr sz="700" b="1" spc="-50" dirty="0">
                          <a:solidFill>
                            <a:schemeClr val="bg1"/>
                          </a:solidFill>
                          <a:latin typeface="Cambria"/>
                          <a:cs typeface="Cambria"/>
                        </a:rPr>
                        <a:t>0</a:t>
                      </a:r>
                      <a:endParaRPr sz="700" b="1" dirty="0">
                        <a:solidFill>
                          <a:schemeClr val="bg1"/>
                        </a:solidFill>
                        <a:latin typeface="Cambria"/>
                        <a:cs typeface="Cambria"/>
                      </a:endParaRPr>
                    </a:p>
                  </a:txBody>
                  <a:tcPr marL="0" marR="0" marT="78740" marB="0">
                    <a:lnL w="19050">
                      <a:solidFill>
                        <a:srgbClr val="292C39"/>
                      </a:solidFill>
                      <a:prstDash val="solid"/>
                    </a:lnL>
                    <a:lnR w="12700">
                      <a:solidFill>
                        <a:srgbClr val="292C39"/>
                      </a:solidFill>
                      <a:prstDash val="solid"/>
                    </a:lnR>
                    <a:lnT w="12700">
                      <a:solidFill>
                        <a:srgbClr val="292C39"/>
                      </a:solidFill>
                      <a:prstDash val="solid"/>
                    </a:lnT>
                    <a:lnB w="12700">
                      <a:solidFill>
                        <a:srgbClr val="292C39"/>
                      </a:solidFill>
                      <a:prstDash val="solid"/>
                    </a:lnB>
                    <a:solidFill>
                      <a:srgbClr val="484A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795"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r>
                        <a:rPr sz="700" b="1" spc="-50" dirty="0">
                          <a:solidFill>
                            <a:schemeClr val="bg1"/>
                          </a:solidFill>
                          <a:latin typeface="Cambria"/>
                          <a:cs typeface="Cambria"/>
                        </a:rPr>
                        <a:t>0</a:t>
                      </a:r>
                      <a:endParaRPr sz="700" b="1">
                        <a:solidFill>
                          <a:schemeClr val="bg1"/>
                        </a:solidFill>
                        <a:latin typeface="Cambria"/>
                        <a:cs typeface="Cambria"/>
                      </a:endParaRPr>
                    </a:p>
                  </a:txBody>
                  <a:tcPr marL="0" marR="0" marT="78740" marB="0">
                    <a:lnL w="12700">
                      <a:solidFill>
                        <a:srgbClr val="292C39"/>
                      </a:solidFill>
                      <a:prstDash val="solid"/>
                    </a:lnL>
                    <a:lnR w="19050">
                      <a:solidFill>
                        <a:srgbClr val="292C39"/>
                      </a:solidFill>
                      <a:prstDash val="solid"/>
                    </a:lnR>
                    <a:lnT w="12700">
                      <a:solidFill>
                        <a:srgbClr val="292C39"/>
                      </a:solidFill>
                      <a:prstDash val="solid"/>
                    </a:lnT>
                    <a:lnB w="19050">
                      <a:solidFill>
                        <a:srgbClr val="292C39"/>
                      </a:solidFill>
                      <a:prstDash val="solid"/>
                    </a:lnB>
                    <a:solidFill>
                      <a:srgbClr val="484A54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r>
                        <a:rPr sz="700" b="1" spc="-50" dirty="0">
                          <a:solidFill>
                            <a:schemeClr val="bg1"/>
                          </a:solidFill>
                          <a:latin typeface="Cambria"/>
                          <a:cs typeface="Cambria"/>
                        </a:rPr>
                        <a:t>0</a:t>
                      </a:r>
                      <a:endParaRPr sz="700" b="1" dirty="0">
                        <a:solidFill>
                          <a:schemeClr val="bg1"/>
                        </a:solidFill>
                        <a:latin typeface="Cambria"/>
                        <a:cs typeface="Cambria"/>
                      </a:endParaRPr>
                    </a:p>
                  </a:txBody>
                  <a:tcPr marL="0" marR="0" marT="78740" marB="0">
                    <a:lnL w="19050">
                      <a:solidFill>
                        <a:srgbClr val="292C39"/>
                      </a:solidFill>
                      <a:prstDash val="solid"/>
                    </a:lnL>
                    <a:lnR w="12700">
                      <a:solidFill>
                        <a:srgbClr val="292C39"/>
                      </a:solidFill>
                      <a:prstDash val="solid"/>
                    </a:lnR>
                    <a:lnT w="12700">
                      <a:solidFill>
                        <a:srgbClr val="292C39"/>
                      </a:solidFill>
                      <a:prstDash val="solid"/>
                    </a:lnT>
                    <a:lnB w="19050">
                      <a:solidFill>
                        <a:srgbClr val="292C39"/>
                      </a:solidFill>
                      <a:prstDash val="solid"/>
                    </a:lnB>
                    <a:solidFill>
                      <a:srgbClr val="484A54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r>
                        <a:rPr sz="700" b="1" spc="-50" dirty="0">
                          <a:solidFill>
                            <a:schemeClr val="bg1"/>
                          </a:solidFill>
                          <a:latin typeface="Cambria"/>
                          <a:cs typeface="Cambria"/>
                        </a:rPr>
                        <a:t>0</a:t>
                      </a:r>
                      <a:endParaRPr sz="700" b="1">
                        <a:solidFill>
                          <a:schemeClr val="bg1"/>
                        </a:solidFill>
                        <a:latin typeface="Cambria"/>
                        <a:cs typeface="Cambria"/>
                      </a:endParaRPr>
                    </a:p>
                  </a:txBody>
                  <a:tcPr marL="0" marR="0" marT="78740" marB="0">
                    <a:lnL w="12700">
                      <a:solidFill>
                        <a:srgbClr val="292C39"/>
                      </a:solidFill>
                      <a:prstDash val="solid"/>
                    </a:lnL>
                    <a:lnR w="19050">
                      <a:solidFill>
                        <a:srgbClr val="292C39"/>
                      </a:solidFill>
                      <a:prstDash val="solid"/>
                    </a:lnR>
                    <a:lnT w="12700">
                      <a:solidFill>
                        <a:srgbClr val="292C39"/>
                      </a:solidFill>
                      <a:prstDash val="solid"/>
                    </a:lnT>
                    <a:lnB w="19050">
                      <a:solidFill>
                        <a:srgbClr val="292C39"/>
                      </a:solidFill>
                      <a:prstDash val="solid"/>
                    </a:lnB>
                    <a:solidFill>
                      <a:srgbClr val="484A54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r>
                        <a:rPr sz="700" b="1" spc="-50" dirty="0">
                          <a:solidFill>
                            <a:schemeClr val="bg1"/>
                          </a:solidFill>
                          <a:latin typeface="Cambria"/>
                          <a:cs typeface="Cambria"/>
                        </a:rPr>
                        <a:t>0</a:t>
                      </a:r>
                      <a:endParaRPr sz="700" b="1">
                        <a:solidFill>
                          <a:schemeClr val="bg1"/>
                        </a:solidFill>
                        <a:latin typeface="Cambria"/>
                        <a:cs typeface="Cambria"/>
                      </a:endParaRPr>
                    </a:p>
                  </a:txBody>
                  <a:tcPr marL="0" marR="0" marT="78740" marB="0">
                    <a:lnL w="19050">
                      <a:solidFill>
                        <a:srgbClr val="292C39"/>
                      </a:solidFill>
                      <a:prstDash val="solid"/>
                    </a:lnL>
                    <a:lnR w="19050">
                      <a:solidFill>
                        <a:srgbClr val="292C39"/>
                      </a:solidFill>
                      <a:prstDash val="solid"/>
                    </a:lnR>
                    <a:lnT w="12700">
                      <a:solidFill>
                        <a:srgbClr val="292C39"/>
                      </a:solidFill>
                      <a:prstDash val="solid"/>
                    </a:lnT>
                    <a:lnB w="19050">
                      <a:solidFill>
                        <a:srgbClr val="292C39"/>
                      </a:solidFill>
                      <a:prstDash val="solid"/>
                    </a:lnB>
                    <a:solidFill>
                      <a:srgbClr val="484A54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r>
                        <a:rPr sz="700" b="1" spc="-50" dirty="0">
                          <a:solidFill>
                            <a:schemeClr val="bg1"/>
                          </a:solidFill>
                          <a:latin typeface="Cambria"/>
                          <a:cs typeface="Cambria"/>
                        </a:rPr>
                        <a:t>0</a:t>
                      </a:r>
                      <a:endParaRPr sz="700" b="1">
                        <a:solidFill>
                          <a:schemeClr val="bg1"/>
                        </a:solidFill>
                        <a:latin typeface="Cambria"/>
                        <a:cs typeface="Cambria"/>
                      </a:endParaRPr>
                    </a:p>
                  </a:txBody>
                  <a:tcPr marL="0" marR="0" marT="78740" marB="0">
                    <a:lnL w="19050">
                      <a:solidFill>
                        <a:srgbClr val="292C39"/>
                      </a:solidFill>
                      <a:prstDash val="solid"/>
                    </a:lnL>
                    <a:lnR w="19050">
                      <a:solidFill>
                        <a:srgbClr val="292C39"/>
                      </a:solidFill>
                      <a:prstDash val="solid"/>
                    </a:lnR>
                    <a:lnT w="12700">
                      <a:solidFill>
                        <a:srgbClr val="292C39"/>
                      </a:solidFill>
                      <a:prstDash val="solid"/>
                    </a:lnT>
                    <a:lnB w="19050">
                      <a:solidFill>
                        <a:srgbClr val="292C39"/>
                      </a:solidFill>
                      <a:prstDash val="solid"/>
                    </a:lnB>
                    <a:solidFill>
                      <a:srgbClr val="484A54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r>
                        <a:rPr sz="700" b="1" spc="-50" dirty="0">
                          <a:solidFill>
                            <a:schemeClr val="bg1"/>
                          </a:solidFill>
                          <a:latin typeface="Cambria"/>
                          <a:cs typeface="Cambria"/>
                        </a:rPr>
                        <a:t>0</a:t>
                      </a:r>
                      <a:endParaRPr sz="700" b="1">
                        <a:solidFill>
                          <a:schemeClr val="bg1"/>
                        </a:solidFill>
                        <a:latin typeface="Cambria"/>
                        <a:cs typeface="Cambria"/>
                      </a:endParaRPr>
                    </a:p>
                  </a:txBody>
                  <a:tcPr marL="0" marR="0" marT="78740" marB="0">
                    <a:lnL w="19050">
                      <a:solidFill>
                        <a:srgbClr val="292C39"/>
                      </a:solidFill>
                      <a:prstDash val="solid"/>
                    </a:lnL>
                    <a:lnR w="19050">
                      <a:solidFill>
                        <a:srgbClr val="292C39"/>
                      </a:solidFill>
                      <a:prstDash val="solid"/>
                    </a:lnR>
                    <a:lnT w="12700">
                      <a:solidFill>
                        <a:srgbClr val="292C39"/>
                      </a:solidFill>
                      <a:prstDash val="solid"/>
                    </a:lnT>
                    <a:lnB w="19050">
                      <a:solidFill>
                        <a:srgbClr val="292C39"/>
                      </a:solidFill>
                      <a:prstDash val="solid"/>
                    </a:lnB>
                    <a:solidFill>
                      <a:srgbClr val="484A54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r>
                        <a:rPr sz="700" b="1" spc="-50" dirty="0">
                          <a:solidFill>
                            <a:schemeClr val="bg1"/>
                          </a:solidFill>
                          <a:latin typeface="Cambria"/>
                          <a:cs typeface="Cambria"/>
                        </a:rPr>
                        <a:t>0</a:t>
                      </a:r>
                      <a:endParaRPr sz="700" b="1">
                        <a:solidFill>
                          <a:schemeClr val="bg1"/>
                        </a:solidFill>
                        <a:latin typeface="Cambria"/>
                        <a:cs typeface="Cambria"/>
                      </a:endParaRPr>
                    </a:p>
                  </a:txBody>
                  <a:tcPr marL="0" marR="0" marT="78740" marB="0">
                    <a:lnL w="19050">
                      <a:solidFill>
                        <a:srgbClr val="292C39"/>
                      </a:solidFill>
                      <a:prstDash val="solid"/>
                    </a:lnL>
                    <a:lnR w="12700">
                      <a:solidFill>
                        <a:srgbClr val="292C39"/>
                      </a:solidFill>
                      <a:prstDash val="solid"/>
                    </a:lnR>
                    <a:lnT w="12700">
                      <a:solidFill>
                        <a:srgbClr val="292C39"/>
                      </a:solidFill>
                      <a:prstDash val="solid"/>
                    </a:lnT>
                    <a:lnB w="19050">
                      <a:solidFill>
                        <a:srgbClr val="292C39"/>
                      </a:solidFill>
                      <a:prstDash val="solid"/>
                    </a:lnB>
                    <a:solidFill>
                      <a:srgbClr val="484A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795"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r>
                        <a:rPr sz="700" b="1" spc="-50" dirty="0">
                          <a:solidFill>
                            <a:schemeClr val="bg1"/>
                          </a:solidFill>
                          <a:latin typeface="Cambria"/>
                          <a:cs typeface="Cambria"/>
                        </a:rPr>
                        <a:t>0</a:t>
                      </a:r>
                      <a:endParaRPr sz="700" b="1">
                        <a:solidFill>
                          <a:schemeClr val="bg1"/>
                        </a:solidFill>
                        <a:latin typeface="Cambria"/>
                        <a:cs typeface="Cambria"/>
                      </a:endParaRPr>
                    </a:p>
                  </a:txBody>
                  <a:tcPr marL="0" marR="0" marT="78740" marB="0">
                    <a:lnL w="12700">
                      <a:solidFill>
                        <a:srgbClr val="292C39"/>
                      </a:solidFill>
                      <a:prstDash val="solid"/>
                    </a:lnL>
                    <a:lnR w="19050">
                      <a:solidFill>
                        <a:srgbClr val="292C39"/>
                      </a:solidFill>
                      <a:prstDash val="solid"/>
                    </a:lnR>
                    <a:lnT w="19050">
                      <a:solidFill>
                        <a:srgbClr val="292C39"/>
                      </a:solidFill>
                      <a:prstDash val="solid"/>
                    </a:lnT>
                    <a:lnB w="19050">
                      <a:solidFill>
                        <a:srgbClr val="292C39"/>
                      </a:solidFill>
                      <a:prstDash val="solid"/>
                    </a:lnB>
                    <a:solidFill>
                      <a:srgbClr val="484A54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r>
                        <a:rPr sz="700" b="1" spc="-50" dirty="0">
                          <a:solidFill>
                            <a:schemeClr val="bg1"/>
                          </a:solidFill>
                          <a:latin typeface="Cambria"/>
                          <a:cs typeface="Cambria"/>
                        </a:rPr>
                        <a:t>0</a:t>
                      </a:r>
                      <a:endParaRPr sz="700" b="1">
                        <a:solidFill>
                          <a:schemeClr val="bg1"/>
                        </a:solidFill>
                        <a:latin typeface="Cambria"/>
                        <a:cs typeface="Cambria"/>
                      </a:endParaRPr>
                    </a:p>
                  </a:txBody>
                  <a:tcPr marL="0" marR="0" marT="78740" marB="0">
                    <a:lnL w="19050">
                      <a:solidFill>
                        <a:srgbClr val="292C39"/>
                      </a:solidFill>
                      <a:prstDash val="solid"/>
                    </a:lnL>
                    <a:lnR w="12700">
                      <a:solidFill>
                        <a:srgbClr val="292C39"/>
                      </a:solidFill>
                      <a:prstDash val="solid"/>
                    </a:lnR>
                    <a:lnT w="19050">
                      <a:solidFill>
                        <a:srgbClr val="292C39"/>
                      </a:solidFill>
                      <a:prstDash val="solid"/>
                    </a:lnT>
                    <a:lnB w="19050">
                      <a:solidFill>
                        <a:srgbClr val="292C39"/>
                      </a:solidFill>
                      <a:prstDash val="solid"/>
                    </a:lnB>
                    <a:solidFill>
                      <a:srgbClr val="484A54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r>
                        <a:rPr sz="700" b="1" spc="-50" dirty="0">
                          <a:solidFill>
                            <a:schemeClr val="bg1"/>
                          </a:solidFill>
                          <a:latin typeface="Cambria"/>
                          <a:cs typeface="Cambria"/>
                        </a:rPr>
                        <a:t>0</a:t>
                      </a:r>
                      <a:endParaRPr sz="700" b="1" dirty="0">
                        <a:solidFill>
                          <a:schemeClr val="bg1"/>
                        </a:solidFill>
                        <a:latin typeface="Cambria"/>
                        <a:cs typeface="Cambria"/>
                      </a:endParaRPr>
                    </a:p>
                  </a:txBody>
                  <a:tcPr marL="0" marR="0" marT="78740" marB="0">
                    <a:lnL w="12700">
                      <a:solidFill>
                        <a:srgbClr val="292C39"/>
                      </a:solidFill>
                      <a:prstDash val="solid"/>
                    </a:lnL>
                    <a:lnR w="19050">
                      <a:solidFill>
                        <a:srgbClr val="292C39"/>
                      </a:solidFill>
                      <a:prstDash val="solid"/>
                    </a:lnR>
                    <a:lnT w="19050">
                      <a:solidFill>
                        <a:srgbClr val="292C39"/>
                      </a:solidFill>
                      <a:prstDash val="solid"/>
                    </a:lnT>
                    <a:lnB w="19050">
                      <a:solidFill>
                        <a:srgbClr val="292C39"/>
                      </a:solidFill>
                      <a:prstDash val="solid"/>
                    </a:lnB>
                    <a:solidFill>
                      <a:srgbClr val="484A54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r>
                        <a:rPr sz="700" b="1" spc="-50" dirty="0">
                          <a:solidFill>
                            <a:schemeClr val="bg1"/>
                          </a:solidFill>
                          <a:latin typeface="Cambria"/>
                          <a:cs typeface="Cambria"/>
                        </a:rPr>
                        <a:t>0</a:t>
                      </a:r>
                      <a:endParaRPr sz="700" b="1">
                        <a:solidFill>
                          <a:schemeClr val="bg1"/>
                        </a:solidFill>
                        <a:latin typeface="Cambria"/>
                        <a:cs typeface="Cambria"/>
                      </a:endParaRPr>
                    </a:p>
                  </a:txBody>
                  <a:tcPr marL="0" marR="0" marT="78740" marB="0">
                    <a:lnL w="19050">
                      <a:solidFill>
                        <a:srgbClr val="292C39"/>
                      </a:solidFill>
                      <a:prstDash val="solid"/>
                    </a:lnL>
                    <a:lnR w="19050">
                      <a:solidFill>
                        <a:srgbClr val="292C39"/>
                      </a:solidFill>
                      <a:prstDash val="solid"/>
                    </a:lnR>
                    <a:lnT w="19050">
                      <a:solidFill>
                        <a:srgbClr val="292C39"/>
                      </a:solidFill>
                      <a:prstDash val="solid"/>
                    </a:lnT>
                    <a:lnB w="19050">
                      <a:solidFill>
                        <a:srgbClr val="292C39"/>
                      </a:solidFill>
                      <a:prstDash val="solid"/>
                    </a:lnB>
                    <a:solidFill>
                      <a:srgbClr val="484A54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r>
                        <a:rPr sz="700" b="1" spc="-50" dirty="0">
                          <a:solidFill>
                            <a:schemeClr val="bg1"/>
                          </a:solidFill>
                          <a:latin typeface="Cambria"/>
                          <a:cs typeface="Cambria"/>
                        </a:rPr>
                        <a:t>0</a:t>
                      </a:r>
                      <a:endParaRPr sz="700" b="1" dirty="0">
                        <a:solidFill>
                          <a:schemeClr val="bg1"/>
                        </a:solidFill>
                        <a:latin typeface="Cambria"/>
                        <a:cs typeface="Cambria"/>
                      </a:endParaRPr>
                    </a:p>
                  </a:txBody>
                  <a:tcPr marL="0" marR="0" marT="78740" marB="0">
                    <a:lnL w="19050">
                      <a:solidFill>
                        <a:srgbClr val="292C39"/>
                      </a:solidFill>
                      <a:prstDash val="solid"/>
                    </a:lnL>
                    <a:lnR w="19050">
                      <a:solidFill>
                        <a:srgbClr val="292C39"/>
                      </a:solidFill>
                      <a:prstDash val="solid"/>
                    </a:lnR>
                    <a:lnT w="19050">
                      <a:solidFill>
                        <a:srgbClr val="292C39"/>
                      </a:solidFill>
                      <a:prstDash val="solid"/>
                    </a:lnT>
                    <a:lnB w="19050">
                      <a:solidFill>
                        <a:srgbClr val="292C39"/>
                      </a:solidFill>
                      <a:prstDash val="solid"/>
                    </a:lnB>
                    <a:solidFill>
                      <a:srgbClr val="484A54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r>
                        <a:rPr sz="700" b="1" spc="-50" dirty="0">
                          <a:solidFill>
                            <a:schemeClr val="bg1"/>
                          </a:solidFill>
                          <a:latin typeface="Cambria"/>
                          <a:cs typeface="Cambria"/>
                        </a:rPr>
                        <a:t>0</a:t>
                      </a:r>
                      <a:endParaRPr sz="700" b="1">
                        <a:solidFill>
                          <a:schemeClr val="bg1"/>
                        </a:solidFill>
                        <a:latin typeface="Cambria"/>
                        <a:cs typeface="Cambria"/>
                      </a:endParaRPr>
                    </a:p>
                  </a:txBody>
                  <a:tcPr marL="0" marR="0" marT="78740" marB="0">
                    <a:lnL w="19050">
                      <a:solidFill>
                        <a:srgbClr val="292C39"/>
                      </a:solidFill>
                      <a:prstDash val="solid"/>
                    </a:lnL>
                    <a:lnR w="19050">
                      <a:solidFill>
                        <a:srgbClr val="292C39"/>
                      </a:solidFill>
                      <a:prstDash val="solid"/>
                    </a:lnR>
                    <a:lnT w="19050">
                      <a:solidFill>
                        <a:srgbClr val="292C39"/>
                      </a:solidFill>
                      <a:prstDash val="solid"/>
                    </a:lnT>
                    <a:lnB w="19050">
                      <a:solidFill>
                        <a:srgbClr val="292C39"/>
                      </a:solidFill>
                      <a:prstDash val="solid"/>
                    </a:lnB>
                    <a:solidFill>
                      <a:srgbClr val="484A54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r>
                        <a:rPr sz="700" b="1" spc="-50" dirty="0">
                          <a:solidFill>
                            <a:schemeClr val="bg1"/>
                          </a:solidFill>
                          <a:latin typeface="Cambria"/>
                          <a:cs typeface="Cambria"/>
                        </a:rPr>
                        <a:t>0</a:t>
                      </a:r>
                      <a:endParaRPr sz="700" b="1">
                        <a:solidFill>
                          <a:schemeClr val="bg1"/>
                        </a:solidFill>
                        <a:latin typeface="Cambria"/>
                        <a:cs typeface="Cambria"/>
                      </a:endParaRPr>
                    </a:p>
                  </a:txBody>
                  <a:tcPr marL="0" marR="0" marT="78740" marB="0">
                    <a:lnL w="19050">
                      <a:solidFill>
                        <a:srgbClr val="292C39"/>
                      </a:solidFill>
                      <a:prstDash val="solid"/>
                    </a:lnL>
                    <a:lnR w="12700">
                      <a:solidFill>
                        <a:srgbClr val="292C39"/>
                      </a:solidFill>
                      <a:prstDash val="solid"/>
                    </a:lnR>
                    <a:lnT w="19050">
                      <a:solidFill>
                        <a:srgbClr val="292C39"/>
                      </a:solidFill>
                      <a:prstDash val="solid"/>
                    </a:lnT>
                    <a:lnB w="19050">
                      <a:solidFill>
                        <a:srgbClr val="292C39"/>
                      </a:solidFill>
                      <a:prstDash val="solid"/>
                    </a:lnB>
                    <a:solidFill>
                      <a:srgbClr val="484A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4795"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r>
                        <a:rPr sz="700" b="1" spc="-50" dirty="0">
                          <a:solidFill>
                            <a:schemeClr val="bg1"/>
                          </a:solidFill>
                          <a:latin typeface="Cambria"/>
                          <a:cs typeface="Cambria"/>
                        </a:rPr>
                        <a:t>0</a:t>
                      </a:r>
                      <a:endParaRPr sz="700" b="1">
                        <a:solidFill>
                          <a:schemeClr val="bg1"/>
                        </a:solidFill>
                        <a:latin typeface="Cambria"/>
                        <a:cs typeface="Cambria"/>
                      </a:endParaRPr>
                    </a:p>
                  </a:txBody>
                  <a:tcPr marL="0" marR="0" marT="78740" marB="0">
                    <a:lnL w="12700">
                      <a:solidFill>
                        <a:srgbClr val="292C39"/>
                      </a:solidFill>
                      <a:prstDash val="solid"/>
                    </a:lnL>
                    <a:lnR w="19050">
                      <a:solidFill>
                        <a:srgbClr val="292C39"/>
                      </a:solidFill>
                      <a:prstDash val="solid"/>
                    </a:lnR>
                    <a:lnT w="19050">
                      <a:solidFill>
                        <a:srgbClr val="292C39"/>
                      </a:solidFill>
                      <a:prstDash val="solid"/>
                    </a:lnT>
                    <a:lnB w="12700">
                      <a:solidFill>
                        <a:srgbClr val="292C39"/>
                      </a:solidFill>
                      <a:prstDash val="solid"/>
                    </a:lnB>
                    <a:solidFill>
                      <a:srgbClr val="484A54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r>
                        <a:rPr sz="700" b="1" spc="-50" dirty="0">
                          <a:solidFill>
                            <a:schemeClr val="bg1"/>
                          </a:solidFill>
                          <a:latin typeface="Cambria"/>
                          <a:cs typeface="Cambria"/>
                        </a:rPr>
                        <a:t>0</a:t>
                      </a:r>
                      <a:endParaRPr sz="700" b="1">
                        <a:solidFill>
                          <a:schemeClr val="bg1"/>
                        </a:solidFill>
                        <a:latin typeface="Cambria"/>
                        <a:cs typeface="Cambria"/>
                      </a:endParaRPr>
                    </a:p>
                  </a:txBody>
                  <a:tcPr marL="0" marR="0" marT="78740" marB="0">
                    <a:lnL w="19050">
                      <a:solidFill>
                        <a:srgbClr val="292C39"/>
                      </a:solidFill>
                      <a:prstDash val="solid"/>
                    </a:lnL>
                    <a:lnR w="12700">
                      <a:solidFill>
                        <a:srgbClr val="292C39"/>
                      </a:solidFill>
                      <a:prstDash val="solid"/>
                    </a:lnR>
                    <a:lnT w="19050">
                      <a:solidFill>
                        <a:srgbClr val="292C39"/>
                      </a:solidFill>
                      <a:prstDash val="solid"/>
                    </a:lnT>
                    <a:lnB w="12700">
                      <a:solidFill>
                        <a:srgbClr val="292C39"/>
                      </a:solidFill>
                      <a:prstDash val="solid"/>
                    </a:lnB>
                    <a:solidFill>
                      <a:srgbClr val="484A54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r>
                        <a:rPr sz="700" b="1" spc="-50" dirty="0">
                          <a:solidFill>
                            <a:schemeClr val="bg1"/>
                          </a:solidFill>
                          <a:latin typeface="Cambria"/>
                          <a:cs typeface="Cambria"/>
                        </a:rPr>
                        <a:t>0</a:t>
                      </a:r>
                      <a:endParaRPr sz="700" b="1">
                        <a:solidFill>
                          <a:schemeClr val="bg1"/>
                        </a:solidFill>
                        <a:latin typeface="Cambria"/>
                        <a:cs typeface="Cambria"/>
                      </a:endParaRPr>
                    </a:p>
                  </a:txBody>
                  <a:tcPr marL="0" marR="0" marT="78740" marB="0">
                    <a:lnL w="12700">
                      <a:solidFill>
                        <a:srgbClr val="292C39"/>
                      </a:solidFill>
                      <a:prstDash val="solid"/>
                    </a:lnL>
                    <a:lnR w="19050">
                      <a:solidFill>
                        <a:srgbClr val="292C39"/>
                      </a:solidFill>
                      <a:prstDash val="solid"/>
                    </a:lnR>
                    <a:lnT w="19050">
                      <a:solidFill>
                        <a:srgbClr val="292C39"/>
                      </a:solidFill>
                      <a:prstDash val="solid"/>
                    </a:lnT>
                    <a:lnB w="12700">
                      <a:solidFill>
                        <a:srgbClr val="292C39"/>
                      </a:solidFill>
                      <a:prstDash val="solid"/>
                    </a:lnB>
                    <a:solidFill>
                      <a:srgbClr val="484A54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530"/>
                        </a:spcBef>
                      </a:pPr>
                      <a:r>
                        <a:rPr sz="850" b="1" spc="90" dirty="0">
                          <a:solidFill>
                            <a:srgbClr val="FF0000"/>
                          </a:solidFill>
                          <a:latin typeface="Segoe UI Symbol"/>
                          <a:cs typeface="Segoe UI Symbol"/>
                        </a:rPr>
                        <a:t>0.33</a:t>
                      </a:r>
                      <a:endParaRPr sz="850" b="1" dirty="0">
                        <a:solidFill>
                          <a:srgbClr val="FF0000"/>
                        </a:solidFill>
                        <a:latin typeface="Segoe UI Symbol"/>
                        <a:cs typeface="Segoe UI Symbol"/>
                      </a:endParaRPr>
                    </a:p>
                  </a:txBody>
                  <a:tcPr marL="0" marR="0" marT="67310" marB="0">
                    <a:lnL w="19050">
                      <a:solidFill>
                        <a:srgbClr val="292C39"/>
                      </a:solidFill>
                      <a:prstDash val="solid"/>
                    </a:lnL>
                    <a:lnR w="19050">
                      <a:solidFill>
                        <a:srgbClr val="292C39"/>
                      </a:solidFill>
                      <a:prstDash val="solid"/>
                    </a:lnR>
                    <a:lnT w="19050">
                      <a:solidFill>
                        <a:srgbClr val="292C39"/>
                      </a:solidFill>
                      <a:prstDash val="solid"/>
                    </a:lnT>
                    <a:lnB w="12700">
                      <a:solidFill>
                        <a:srgbClr val="292C39"/>
                      </a:solidFill>
                      <a:prstDash val="solid"/>
                    </a:lnB>
                    <a:solidFill>
                      <a:srgbClr val="484A54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530"/>
                        </a:spcBef>
                      </a:pPr>
                      <a:r>
                        <a:rPr lang="es-AR" sz="700" b="1" spc="-50" dirty="0">
                          <a:solidFill>
                            <a:schemeClr val="bg1"/>
                          </a:solidFill>
                          <a:latin typeface="Cambria"/>
                          <a:ea typeface="+mn-ea"/>
                          <a:cs typeface="Segoe UI Symbol"/>
                        </a:rPr>
                        <a:t>0</a:t>
                      </a:r>
                      <a:endParaRPr sz="700" b="1" spc="-50" dirty="0">
                        <a:solidFill>
                          <a:schemeClr val="bg1"/>
                        </a:solidFill>
                        <a:latin typeface="Cambria"/>
                        <a:ea typeface="+mn-ea"/>
                        <a:cs typeface="Segoe UI Symbol"/>
                      </a:endParaRPr>
                    </a:p>
                  </a:txBody>
                  <a:tcPr marL="0" marR="0" marT="67310" marB="0">
                    <a:lnL w="19050">
                      <a:solidFill>
                        <a:srgbClr val="292C39"/>
                      </a:solidFill>
                      <a:prstDash val="solid"/>
                    </a:lnL>
                    <a:lnR w="19050">
                      <a:solidFill>
                        <a:srgbClr val="292C39"/>
                      </a:solidFill>
                      <a:prstDash val="solid"/>
                    </a:lnR>
                    <a:lnT w="19050">
                      <a:solidFill>
                        <a:srgbClr val="292C39"/>
                      </a:solidFill>
                      <a:prstDash val="solid"/>
                    </a:lnT>
                    <a:lnB w="12700">
                      <a:solidFill>
                        <a:srgbClr val="292C39"/>
                      </a:solidFill>
                      <a:prstDash val="solid"/>
                    </a:lnB>
                    <a:solidFill>
                      <a:srgbClr val="484A54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r>
                        <a:rPr sz="700" b="1" spc="-50" dirty="0">
                          <a:solidFill>
                            <a:schemeClr val="bg1"/>
                          </a:solidFill>
                          <a:latin typeface="Cambria"/>
                          <a:cs typeface="Cambria"/>
                        </a:rPr>
                        <a:t>0</a:t>
                      </a:r>
                      <a:endParaRPr sz="700" b="1" dirty="0">
                        <a:solidFill>
                          <a:schemeClr val="bg1"/>
                        </a:solidFill>
                        <a:latin typeface="Cambria"/>
                        <a:cs typeface="Cambria"/>
                      </a:endParaRPr>
                    </a:p>
                  </a:txBody>
                  <a:tcPr marL="0" marR="0" marT="78740" marB="0">
                    <a:lnL w="19050">
                      <a:solidFill>
                        <a:srgbClr val="292C39"/>
                      </a:solidFill>
                      <a:prstDash val="solid"/>
                    </a:lnL>
                    <a:lnR w="19050">
                      <a:solidFill>
                        <a:srgbClr val="292C39"/>
                      </a:solidFill>
                      <a:prstDash val="solid"/>
                    </a:lnR>
                    <a:lnT w="19050">
                      <a:solidFill>
                        <a:srgbClr val="292C39"/>
                      </a:solidFill>
                      <a:prstDash val="solid"/>
                    </a:lnT>
                    <a:lnB w="12700">
                      <a:solidFill>
                        <a:srgbClr val="292C39"/>
                      </a:solidFill>
                      <a:prstDash val="solid"/>
                    </a:lnB>
                    <a:solidFill>
                      <a:srgbClr val="484A54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r>
                        <a:rPr sz="700" b="1" spc="-50" dirty="0">
                          <a:solidFill>
                            <a:schemeClr val="bg1"/>
                          </a:solidFill>
                          <a:latin typeface="Cambria"/>
                          <a:cs typeface="Cambria"/>
                        </a:rPr>
                        <a:t>0</a:t>
                      </a:r>
                      <a:endParaRPr sz="700" b="1" dirty="0">
                        <a:solidFill>
                          <a:schemeClr val="bg1"/>
                        </a:solidFill>
                        <a:latin typeface="Cambria"/>
                        <a:cs typeface="Cambria"/>
                      </a:endParaRPr>
                    </a:p>
                  </a:txBody>
                  <a:tcPr marL="0" marR="0" marT="78740" marB="0">
                    <a:lnL w="19050">
                      <a:solidFill>
                        <a:srgbClr val="292C39"/>
                      </a:solidFill>
                      <a:prstDash val="solid"/>
                    </a:lnL>
                    <a:lnR w="12700">
                      <a:solidFill>
                        <a:srgbClr val="292C39"/>
                      </a:solidFill>
                      <a:prstDash val="solid"/>
                    </a:lnR>
                    <a:lnT w="19050">
                      <a:solidFill>
                        <a:srgbClr val="292C39"/>
                      </a:solidFill>
                      <a:prstDash val="solid"/>
                    </a:lnT>
                    <a:lnB w="12700">
                      <a:solidFill>
                        <a:srgbClr val="292C39"/>
                      </a:solidFill>
                      <a:prstDash val="solid"/>
                    </a:lnB>
                    <a:solidFill>
                      <a:srgbClr val="484A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4795"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r>
                        <a:rPr sz="700" b="1" spc="-50" dirty="0">
                          <a:solidFill>
                            <a:schemeClr val="bg1"/>
                          </a:solidFill>
                          <a:latin typeface="Cambria"/>
                          <a:cs typeface="Cambria"/>
                        </a:rPr>
                        <a:t>0</a:t>
                      </a:r>
                      <a:endParaRPr sz="700" b="1">
                        <a:solidFill>
                          <a:schemeClr val="bg1"/>
                        </a:solidFill>
                        <a:latin typeface="Cambria"/>
                        <a:cs typeface="Cambria"/>
                      </a:endParaRPr>
                    </a:p>
                  </a:txBody>
                  <a:tcPr marL="0" marR="0" marT="78740" marB="0">
                    <a:lnL w="12700">
                      <a:solidFill>
                        <a:srgbClr val="292C39"/>
                      </a:solidFill>
                      <a:prstDash val="solid"/>
                    </a:lnL>
                    <a:lnR w="19050">
                      <a:solidFill>
                        <a:srgbClr val="292C39"/>
                      </a:solidFill>
                      <a:prstDash val="solid"/>
                    </a:lnR>
                    <a:lnT w="12700">
                      <a:solidFill>
                        <a:srgbClr val="292C39"/>
                      </a:solidFill>
                      <a:prstDash val="solid"/>
                    </a:lnT>
                    <a:lnB w="19050">
                      <a:solidFill>
                        <a:srgbClr val="292C39"/>
                      </a:solidFill>
                      <a:prstDash val="solid"/>
                    </a:lnB>
                    <a:solidFill>
                      <a:srgbClr val="484A54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r>
                        <a:rPr sz="700" b="1" spc="-50" dirty="0">
                          <a:solidFill>
                            <a:schemeClr val="bg1"/>
                          </a:solidFill>
                          <a:latin typeface="Cambria"/>
                          <a:cs typeface="Cambria"/>
                        </a:rPr>
                        <a:t>0</a:t>
                      </a:r>
                      <a:endParaRPr sz="700" b="1">
                        <a:solidFill>
                          <a:schemeClr val="bg1"/>
                        </a:solidFill>
                        <a:latin typeface="Cambria"/>
                        <a:cs typeface="Cambria"/>
                      </a:endParaRPr>
                    </a:p>
                  </a:txBody>
                  <a:tcPr marL="0" marR="0" marT="78740" marB="0">
                    <a:lnL w="19050">
                      <a:solidFill>
                        <a:srgbClr val="292C39"/>
                      </a:solidFill>
                      <a:prstDash val="solid"/>
                    </a:lnL>
                    <a:lnR w="12700">
                      <a:solidFill>
                        <a:srgbClr val="292C39"/>
                      </a:solidFill>
                      <a:prstDash val="solid"/>
                    </a:lnR>
                    <a:lnT w="12700">
                      <a:solidFill>
                        <a:srgbClr val="292C39"/>
                      </a:solidFill>
                      <a:prstDash val="solid"/>
                    </a:lnT>
                    <a:lnB w="19050">
                      <a:solidFill>
                        <a:srgbClr val="292C39"/>
                      </a:solidFill>
                      <a:prstDash val="solid"/>
                    </a:lnB>
                    <a:solidFill>
                      <a:srgbClr val="484A54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r>
                        <a:rPr sz="700" b="1" spc="-50" dirty="0">
                          <a:solidFill>
                            <a:schemeClr val="bg1"/>
                          </a:solidFill>
                          <a:latin typeface="Cambria"/>
                          <a:cs typeface="Cambria"/>
                        </a:rPr>
                        <a:t>0</a:t>
                      </a:r>
                      <a:endParaRPr sz="700" b="1">
                        <a:solidFill>
                          <a:schemeClr val="bg1"/>
                        </a:solidFill>
                        <a:latin typeface="Cambria"/>
                        <a:cs typeface="Cambria"/>
                      </a:endParaRPr>
                    </a:p>
                  </a:txBody>
                  <a:tcPr marL="0" marR="0" marT="78740" marB="0">
                    <a:lnL w="12700">
                      <a:solidFill>
                        <a:srgbClr val="292C39"/>
                      </a:solidFill>
                      <a:prstDash val="solid"/>
                    </a:lnL>
                    <a:lnR w="19050">
                      <a:solidFill>
                        <a:srgbClr val="292C39"/>
                      </a:solidFill>
                      <a:prstDash val="solid"/>
                    </a:lnR>
                    <a:lnT w="12700">
                      <a:solidFill>
                        <a:srgbClr val="292C39"/>
                      </a:solidFill>
                      <a:prstDash val="solid"/>
                    </a:lnT>
                    <a:lnB w="19050">
                      <a:solidFill>
                        <a:srgbClr val="292C39"/>
                      </a:solidFill>
                      <a:prstDash val="solid"/>
                    </a:lnB>
                    <a:solidFill>
                      <a:srgbClr val="484A54"/>
                    </a:solidFill>
                  </a:tcPr>
                </a:tc>
                <a:tc>
                  <a:txBody>
                    <a:bodyPr/>
                    <a:lstStyle/>
                    <a:p>
                      <a:pPr marL="127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62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AR" sz="800" b="1" spc="90" dirty="0">
                          <a:solidFill>
                            <a:srgbClr val="FF0000"/>
                          </a:solidFill>
                          <a:latin typeface="Segoe UI Symbol"/>
                          <a:cs typeface="Segoe UI Symbol"/>
                        </a:rPr>
                        <a:t>0.20</a:t>
                      </a:r>
                      <a:endParaRPr lang="es-AR" sz="800" b="1" dirty="0">
                        <a:solidFill>
                          <a:srgbClr val="FF0000"/>
                        </a:solidFill>
                        <a:latin typeface="Segoe UI Symbol"/>
                        <a:cs typeface="Segoe UI Symbol"/>
                      </a:endParaRPr>
                    </a:p>
                  </a:txBody>
                  <a:tcPr marL="0" marR="0" marT="78740" marB="0">
                    <a:lnL w="19050">
                      <a:solidFill>
                        <a:srgbClr val="292C39"/>
                      </a:solidFill>
                      <a:prstDash val="solid"/>
                    </a:lnL>
                    <a:lnR w="19050">
                      <a:solidFill>
                        <a:srgbClr val="292C39"/>
                      </a:solidFill>
                      <a:prstDash val="solid"/>
                    </a:lnR>
                    <a:lnT w="12700">
                      <a:solidFill>
                        <a:srgbClr val="292C39"/>
                      </a:solidFill>
                      <a:prstDash val="solid"/>
                    </a:lnT>
                    <a:lnB w="19050">
                      <a:solidFill>
                        <a:srgbClr val="292C39"/>
                      </a:solidFill>
                      <a:prstDash val="solid"/>
                    </a:lnB>
                    <a:solidFill>
                      <a:srgbClr val="484A54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r>
                        <a:rPr sz="700" b="1" spc="-50" dirty="0">
                          <a:solidFill>
                            <a:schemeClr val="bg1"/>
                          </a:solidFill>
                          <a:latin typeface="Cambria"/>
                          <a:cs typeface="Cambria"/>
                        </a:rPr>
                        <a:t>0</a:t>
                      </a:r>
                      <a:endParaRPr sz="700" b="1" dirty="0">
                        <a:solidFill>
                          <a:schemeClr val="bg1"/>
                        </a:solidFill>
                        <a:latin typeface="Cambria"/>
                        <a:cs typeface="Cambria"/>
                      </a:endParaRPr>
                    </a:p>
                  </a:txBody>
                  <a:tcPr marL="0" marR="0" marT="78740" marB="0">
                    <a:lnL w="19050">
                      <a:solidFill>
                        <a:srgbClr val="292C39"/>
                      </a:solidFill>
                      <a:prstDash val="solid"/>
                    </a:lnL>
                    <a:lnR w="19050">
                      <a:solidFill>
                        <a:srgbClr val="292C39"/>
                      </a:solidFill>
                      <a:prstDash val="solid"/>
                    </a:lnR>
                    <a:lnT w="12700">
                      <a:solidFill>
                        <a:srgbClr val="292C39"/>
                      </a:solidFill>
                      <a:prstDash val="solid"/>
                    </a:lnT>
                    <a:lnB w="19050">
                      <a:solidFill>
                        <a:srgbClr val="292C39"/>
                      </a:solidFill>
                      <a:prstDash val="solid"/>
                    </a:lnB>
                    <a:solidFill>
                      <a:srgbClr val="484A54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r>
                        <a:rPr sz="700" b="1" spc="-50" dirty="0">
                          <a:solidFill>
                            <a:schemeClr val="bg1"/>
                          </a:solidFill>
                          <a:latin typeface="Cambria"/>
                          <a:cs typeface="Cambria"/>
                        </a:rPr>
                        <a:t>0</a:t>
                      </a:r>
                      <a:endParaRPr sz="700" b="1" dirty="0">
                        <a:solidFill>
                          <a:schemeClr val="bg1"/>
                        </a:solidFill>
                        <a:latin typeface="Cambria"/>
                        <a:cs typeface="Cambria"/>
                      </a:endParaRPr>
                    </a:p>
                  </a:txBody>
                  <a:tcPr marL="0" marR="0" marT="78740" marB="0">
                    <a:lnL w="19050">
                      <a:solidFill>
                        <a:srgbClr val="292C39"/>
                      </a:solidFill>
                      <a:prstDash val="solid"/>
                    </a:lnL>
                    <a:lnR w="19050">
                      <a:solidFill>
                        <a:srgbClr val="292C39"/>
                      </a:solidFill>
                      <a:prstDash val="solid"/>
                    </a:lnR>
                    <a:lnT w="12700">
                      <a:solidFill>
                        <a:srgbClr val="292C39"/>
                      </a:solidFill>
                      <a:prstDash val="solid"/>
                    </a:lnT>
                    <a:lnB w="19050">
                      <a:solidFill>
                        <a:srgbClr val="292C39"/>
                      </a:solidFill>
                      <a:prstDash val="solid"/>
                    </a:lnB>
                    <a:solidFill>
                      <a:srgbClr val="484A54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r>
                        <a:rPr sz="700" b="1" spc="-50" dirty="0">
                          <a:solidFill>
                            <a:schemeClr val="bg1"/>
                          </a:solidFill>
                          <a:latin typeface="Cambria"/>
                          <a:cs typeface="Cambria"/>
                        </a:rPr>
                        <a:t>0</a:t>
                      </a:r>
                      <a:endParaRPr sz="700" b="1">
                        <a:solidFill>
                          <a:schemeClr val="bg1"/>
                        </a:solidFill>
                        <a:latin typeface="Cambria"/>
                        <a:cs typeface="Cambria"/>
                      </a:endParaRPr>
                    </a:p>
                  </a:txBody>
                  <a:tcPr marL="0" marR="0" marT="78740" marB="0">
                    <a:lnL w="19050">
                      <a:solidFill>
                        <a:srgbClr val="292C39"/>
                      </a:solidFill>
                      <a:prstDash val="solid"/>
                    </a:lnL>
                    <a:lnR w="12700">
                      <a:solidFill>
                        <a:srgbClr val="292C39"/>
                      </a:solidFill>
                      <a:prstDash val="solid"/>
                    </a:lnR>
                    <a:lnT w="12700">
                      <a:solidFill>
                        <a:srgbClr val="292C39"/>
                      </a:solidFill>
                      <a:prstDash val="solid"/>
                    </a:lnT>
                    <a:lnB w="19050">
                      <a:solidFill>
                        <a:srgbClr val="292C39"/>
                      </a:solidFill>
                      <a:prstDash val="solid"/>
                    </a:lnB>
                    <a:solidFill>
                      <a:srgbClr val="484A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4795"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r>
                        <a:rPr sz="700" b="1" spc="-50" dirty="0">
                          <a:solidFill>
                            <a:schemeClr val="bg1"/>
                          </a:solidFill>
                          <a:latin typeface="Cambria"/>
                          <a:cs typeface="Cambria"/>
                        </a:rPr>
                        <a:t>0</a:t>
                      </a:r>
                      <a:endParaRPr sz="700" b="1">
                        <a:solidFill>
                          <a:schemeClr val="bg1"/>
                        </a:solidFill>
                        <a:latin typeface="Cambria"/>
                        <a:cs typeface="Cambria"/>
                      </a:endParaRPr>
                    </a:p>
                  </a:txBody>
                  <a:tcPr marL="0" marR="0" marT="78740" marB="0">
                    <a:lnL w="12700">
                      <a:solidFill>
                        <a:srgbClr val="292C39"/>
                      </a:solidFill>
                      <a:prstDash val="solid"/>
                    </a:lnL>
                    <a:lnR w="19050">
                      <a:solidFill>
                        <a:srgbClr val="292C39"/>
                      </a:solidFill>
                      <a:prstDash val="solid"/>
                    </a:lnR>
                    <a:lnT w="19050">
                      <a:solidFill>
                        <a:srgbClr val="292C39"/>
                      </a:solidFill>
                      <a:prstDash val="solid"/>
                    </a:lnT>
                    <a:lnB w="12700">
                      <a:solidFill>
                        <a:srgbClr val="292C39"/>
                      </a:solidFill>
                      <a:prstDash val="solid"/>
                    </a:lnB>
                    <a:solidFill>
                      <a:srgbClr val="484A54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r>
                        <a:rPr sz="700" b="1" spc="-50" dirty="0">
                          <a:solidFill>
                            <a:schemeClr val="bg1"/>
                          </a:solidFill>
                          <a:latin typeface="Cambria"/>
                          <a:cs typeface="Cambria"/>
                        </a:rPr>
                        <a:t>0</a:t>
                      </a:r>
                      <a:endParaRPr sz="700" b="1">
                        <a:solidFill>
                          <a:schemeClr val="bg1"/>
                        </a:solidFill>
                        <a:latin typeface="Cambria"/>
                        <a:cs typeface="Cambria"/>
                      </a:endParaRPr>
                    </a:p>
                  </a:txBody>
                  <a:tcPr marL="0" marR="0" marT="78740" marB="0">
                    <a:lnL w="19050">
                      <a:solidFill>
                        <a:srgbClr val="292C39"/>
                      </a:solidFill>
                      <a:prstDash val="solid"/>
                    </a:lnL>
                    <a:lnR w="12700">
                      <a:solidFill>
                        <a:srgbClr val="292C39"/>
                      </a:solidFill>
                      <a:prstDash val="solid"/>
                    </a:lnR>
                    <a:lnT w="19050">
                      <a:solidFill>
                        <a:srgbClr val="292C39"/>
                      </a:solidFill>
                      <a:prstDash val="solid"/>
                    </a:lnT>
                    <a:lnB w="12700">
                      <a:solidFill>
                        <a:srgbClr val="292C39"/>
                      </a:solidFill>
                      <a:prstDash val="solid"/>
                    </a:lnB>
                    <a:solidFill>
                      <a:srgbClr val="484A54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r>
                        <a:rPr sz="700" b="1" spc="-50" dirty="0">
                          <a:solidFill>
                            <a:schemeClr val="bg1"/>
                          </a:solidFill>
                          <a:latin typeface="Cambria"/>
                          <a:cs typeface="Cambria"/>
                        </a:rPr>
                        <a:t>0</a:t>
                      </a:r>
                      <a:endParaRPr sz="700" b="1">
                        <a:solidFill>
                          <a:schemeClr val="bg1"/>
                        </a:solidFill>
                        <a:latin typeface="Cambria"/>
                        <a:cs typeface="Cambria"/>
                      </a:endParaRPr>
                    </a:p>
                  </a:txBody>
                  <a:tcPr marL="0" marR="0" marT="78740" marB="0">
                    <a:lnL w="12700">
                      <a:solidFill>
                        <a:srgbClr val="292C39"/>
                      </a:solidFill>
                      <a:prstDash val="solid"/>
                    </a:lnL>
                    <a:lnR w="19050">
                      <a:solidFill>
                        <a:srgbClr val="292C39"/>
                      </a:solidFill>
                      <a:prstDash val="solid"/>
                    </a:lnR>
                    <a:lnT w="19050">
                      <a:solidFill>
                        <a:srgbClr val="292C39"/>
                      </a:solidFill>
                      <a:prstDash val="solid"/>
                    </a:lnT>
                    <a:lnB w="12700">
                      <a:solidFill>
                        <a:srgbClr val="292C39"/>
                      </a:solidFill>
                      <a:prstDash val="solid"/>
                    </a:lnB>
                    <a:solidFill>
                      <a:srgbClr val="484A54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r>
                        <a:rPr sz="700" b="1" spc="-50" dirty="0">
                          <a:solidFill>
                            <a:schemeClr val="bg1"/>
                          </a:solidFill>
                          <a:latin typeface="Cambria"/>
                          <a:cs typeface="Cambria"/>
                        </a:rPr>
                        <a:t>0</a:t>
                      </a:r>
                      <a:endParaRPr sz="700" b="1">
                        <a:solidFill>
                          <a:schemeClr val="bg1"/>
                        </a:solidFill>
                        <a:latin typeface="Cambria"/>
                        <a:cs typeface="Cambria"/>
                      </a:endParaRPr>
                    </a:p>
                  </a:txBody>
                  <a:tcPr marL="0" marR="0" marT="78740" marB="0">
                    <a:lnL w="19050">
                      <a:solidFill>
                        <a:srgbClr val="292C39"/>
                      </a:solidFill>
                      <a:prstDash val="solid"/>
                    </a:lnL>
                    <a:lnR w="19050">
                      <a:solidFill>
                        <a:srgbClr val="292C39"/>
                      </a:solidFill>
                      <a:prstDash val="solid"/>
                    </a:lnR>
                    <a:lnT w="19050">
                      <a:solidFill>
                        <a:srgbClr val="292C39"/>
                      </a:solidFill>
                      <a:prstDash val="solid"/>
                    </a:lnT>
                    <a:lnB w="12700">
                      <a:solidFill>
                        <a:srgbClr val="292C39"/>
                      </a:solidFill>
                      <a:prstDash val="solid"/>
                    </a:lnB>
                    <a:solidFill>
                      <a:srgbClr val="484A54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r>
                        <a:rPr sz="700" b="1" spc="-50" dirty="0">
                          <a:solidFill>
                            <a:schemeClr val="bg1"/>
                          </a:solidFill>
                          <a:latin typeface="Cambria"/>
                          <a:cs typeface="Cambria"/>
                        </a:rPr>
                        <a:t>0</a:t>
                      </a:r>
                      <a:endParaRPr sz="700" b="1">
                        <a:solidFill>
                          <a:schemeClr val="bg1"/>
                        </a:solidFill>
                        <a:latin typeface="Cambria"/>
                        <a:cs typeface="Cambria"/>
                      </a:endParaRPr>
                    </a:p>
                  </a:txBody>
                  <a:tcPr marL="0" marR="0" marT="78740" marB="0">
                    <a:lnL w="19050">
                      <a:solidFill>
                        <a:srgbClr val="292C39"/>
                      </a:solidFill>
                      <a:prstDash val="solid"/>
                    </a:lnL>
                    <a:lnR w="19050">
                      <a:solidFill>
                        <a:srgbClr val="292C39"/>
                      </a:solidFill>
                      <a:prstDash val="solid"/>
                    </a:lnR>
                    <a:lnT w="19050">
                      <a:solidFill>
                        <a:srgbClr val="292C39"/>
                      </a:solidFill>
                      <a:prstDash val="solid"/>
                    </a:lnT>
                    <a:lnB w="12700">
                      <a:solidFill>
                        <a:srgbClr val="292C39"/>
                      </a:solidFill>
                      <a:prstDash val="solid"/>
                    </a:lnB>
                    <a:solidFill>
                      <a:srgbClr val="484A54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r>
                        <a:rPr sz="700" b="1" spc="-50" dirty="0">
                          <a:solidFill>
                            <a:schemeClr val="bg1"/>
                          </a:solidFill>
                          <a:latin typeface="Cambria"/>
                          <a:cs typeface="Cambria"/>
                        </a:rPr>
                        <a:t>0</a:t>
                      </a:r>
                      <a:endParaRPr sz="700" b="1" dirty="0">
                        <a:solidFill>
                          <a:schemeClr val="bg1"/>
                        </a:solidFill>
                        <a:latin typeface="Cambria"/>
                        <a:cs typeface="Cambria"/>
                      </a:endParaRPr>
                    </a:p>
                  </a:txBody>
                  <a:tcPr marL="0" marR="0" marT="78740" marB="0">
                    <a:lnL w="19050">
                      <a:solidFill>
                        <a:srgbClr val="292C39"/>
                      </a:solidFill>
                      <a:prstDash val="solid"/>
                    </a:lnL>
                    <a:lnR w="19050">
                      <a:solidFill>
                        <a:srgbClr val="292C39"/>
                      </a:solidFill>
                      <a:prstDash val="solid"/>
                    </a:lnR>
                    <a:lnT w="19050">
                      <a:solidFill>
                        <a:srgbClr val="292C39"/>
                      </a:solidFill>
                      <a:prstDash val="solid"/>
                    </a:lnT>
                    <a:lnB w="12700">
                      <a:solidFill>
                        <a:srgbClr val="292C39"/>
                      </a:solidFill>
                      <a:prstDash val="solid"/>
                    </a:lnB>
                    <a:solidFill>
                      <a:srgbClr val="484A54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r>
                        <a:rPr sz="700" b="1" spc="-50" dirty="0">
                          <a:solidFill>
                            <a:schemeClr val="bg1"/>
                          </a:solidFill>
                          <a:latin typeface="Cambria"/>
                          <a:cs typeface="Cambria"/>
                        </a:rPr>
                        <a:t>0</a:t>
                      </a:r>
                      <a:endParaRPr sz="700" b="1">
                        <a:solidFill>
                          <a:schemeClr val="bg1"/>
                        </a:solidFill>
                        <a:latin typeface="Cambria"/>
                        <a:cs typeface="Cambria"/>
                      </a:endParaRPr>
                    </a:p>
                  </a:txBody>
                  <a:tcPr marL="0" marR="0" marT="78740" marB="0">
                    <a:lnL w="19050">
                      <a:solidFill>
                        <a:srgbClr val="292C39"/>
                      </a:solidFill>
                      <a:prstDash val="solid"/>
                    </a:lnL>
                    <a:lnR w="12700">
                      <a:solidFill>
                        <a:srgbClr val="292C39"/>
                      </a:solidFill>
                      <a:prstDash val="solid"/>
                    </a:lnR>
                    <a:lnT w="19050">
                      <a:solidFill>
                        <a:srgbClr val="292C39"/>
                      </a:solidFill>
                      <a:prstDash val="solid"/>
                    </a:lnT>
                    <a:lnB w="12700">
                      <a:solidFill>
                        <a:srgbClr val="292C39"/>
                      </a:solidFill>
                      <a:prstDash val="solid"/>
                    </a:lnB>
                    <a:solidFill>
                      <a:srgbClr val="484A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4795"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r>
                        <a:rPr sz="700" b="1" spc="-50" dirty="0">
                          <a:solidFill>
                            <a:schemeClr val="bg1"/>
                          </a:solidFill>
                          <a:latin typeface="Cambria"/>
                          <a:cs typeface="Cambria"/>
                        </a:rPr>
                        <a:t>0</a:t>
                      </a:r>
                      <a:endParaRPr sz="700" b="1" dirty="0">
                        <a:solidFill>
                          <a:schemeClr val="bg1"/>
                        </a:solidFill>
                        <a:latin typeface="Cambria"/>
                        <a:cs typeface="Cambria"/>
                      </a:endParaRPr>
                    </a:p>
                  </a:txBody>
                  <a:tcPr marL="0" marR="0" marT="78740" marB="0">
                    <a:lnL w="12700">
                      <a:solidFill>
                        <a:srgbClr val="292C39"/>
                      </a:solidFill>
                      <a:prstDash val="solid"/>
                    </a:lnL>
                    <a:lnR w="19050">
                      <a:solidFill>
                        <a:srgbClr val="292C39"/>
                      </a:solidFill>
                      <a:prstDash val="solid"/>
                    </a:lnR>
                    <a:lnT w="12700">
                      <a:solidFill>
                        <a:srgbClr val="292C39"/>
                      </a:solidFill>
                      <a:prstDash val="solid"/>
                    </a:lnT>
                    <a:lnB w="12700">
                      <a:solidFill>
                        <a:srgbClr val="292C39"/>
                      </a:solidFill>
                      <a:prstDash val="solid"/>
                    </a:lnB>
                    <a:solidFill>
                      <a:srgbClr val="484A54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r>
                        <a:rPr sz="700" b="1" spc="-50" dirty="0">
                          <a:solidFill>
                            <a:schemeClr val="bg1"/>
                          </a:solidFill>
                          <a:latin typeface="Cambria"/>
                          <a:cs typeface="Cambria"/>
                        </a:rPr>
                        <a:t>0</a:t>
                      </a:r>
                      <a:endParaRPr sz="700" b="1">
                        <a:solidFill>
                          <a:schemeClr val="bg1"/>
                        </a:solidFill>
                        <a:latin typeface="Cambria"/>
                        <a:cs typeface="Cambria"/>
                      </a:endParaRPr>
                    </a:p>
                  </a:txBody>
                  <a:tcPr marL="0" marR="0" marT="78740" marB="0">
                    <a:lnL w="19050">
                      <a:solidFill>
                        <a:srgbClr val="292C39"/>
                      </a:solidFill>
                      <a:prstDash val="solid"/>
                    </a:lnL>
                    <a:lnR w="12700">
                      <a:solidFill>
                        <a:srgbClr val="292C39"/>
                      </a:solidFill>
                      <a:prstDash val="solid"/>
                    </a:lnR>
                    <a:lnT w="12700">
                      <a:solidFill>
                        <a:srgbClr val="292C39"/>
                      </a:solidFill>
                      <a:prstDash val="solid"/>
                    </a:lnT>
                    <a:lnB w="12700">
                      <a:solidFill>
                        <a:srgbClr val="292C39"/>
                      </a:solidFill>
                      <a:prstDash val="solid"/>
                    </a:lnB>
                    <a:solidFill>
                      <a:srgbClr val="484A54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r>
                        <a:rPr sz="700" b="1" spc="-50" dirty="0">
                          <a:solidFill>
                            <a:schemeClr val="bg1"/>
                          </a:solidFill>
                          <a:latin typeface="Cambria"/>
                          <a:cs typeface="Cambria"/>
                        </a:rPr>
                        <a:t>0</a:t>
                      </a:r>
                      <a:endParaRPr sz="700" b="1">
                        <a:solidFill>
                          <a:schemeClr val="bg1"/>
                        </a:solidFill>
                        <a:latin typeface="Cambria"/>
                        <a:cs typeface="Cambria"/>
                      </a:endParaRPr>
                    </a:p>
                  </a:txBody>
                  <a:tcPr marL="0" marR="0" marT="78740" marB="0">
                    <a:lnL w="12700">
                      <a:solidFill>
                        <a:srgbClr val="292C39"/>
                      </a:solidFill>
                      <a:prstDash val="solid"/>
                    </a:lnL>
                    <a:lnR w="19050">
                      <a:solidFill>
                        <a:srgbClr val="292C39"/>
                      </a:solidFill>
                      <a:prstDash val="solid"/>
                    </a:lnR>
                    <a:lnT w="12700">
                      <a:solidFill>
                        <a:srgbClr val="292C39"/>
                      </a:solidFill>
                      <a:prstDash val="solid"/>
                    </a:lnT>
                    <a:lnB w="12700">
                      <a:solidFill>
                        <a:srgbClr val="292C39"/>
                      </a:solidFill>
                      <a:prstDash val="solid"/>
                    </a:lnB>
                    <a:solidFill>
                      <a:srgbClr val="484A54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r>
                        <a:rPr sz="700" b="1" spc="-50" dirty="0">
                          <a:solidFill>
                            <a:schemeClr val="bg1"/>
                          </a:solidFill>
                          <a:latin typeface="Cambria"/>
                          <a:cs typeface="Cambria"/>
                        </a:rPr>
                        <a:t>0</a:t>
                      </a:r>
                      <a:endParaRPr sz="700" b="1" dirty="0">
                        <a:solidFill>
                          <a:schemeClr val="bg1"/>
                        </a:solidFill>
                        <a:latin typeface="Cambria"/>
                        <a:cs typeface="Cambria"/>
                      </a:endParaRPr>
                    </a:p>
                  </a:txBody>
                  <a:tcPr marL="0" marR="0" marT="78740" marB="0">
                    <a:lnL w="19050">
                      <a:solidFill>
                        <a:srgbClr val="292C39"/>
                      </a:solidFill>
                      <a:prstDash val="solid"/>
                    </a:lnL>
                    <a:lnR w="19050">
                      <a:solidFill>
                        <a:srgbClr val="292C39"/>
                      </a:solidFill>
                      <a:prstDash val="solid"/>
                    </a:lnR>
                    <a:lnT w="12700">
                      <a:solidFill>
                        <a:srgbClr val="292C39"/>
                      </a:solidFill>
                      <a:prstDash val="solid"/>
                    </a:lnT>
                    <a:lnB w="12700">
                      <a:solidFill>
                        <a:srgbClr val="292C39"/>
                      </a:solidFill>
                      <a:prstDash val="solid"/>
                    </a:lnB>
                    <a:solidFill>
                      <a:srgbClr val="484A54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r>
                        <a:rPr sz="700" b="1" spc="-50" dirty="0">
                          <a:solidFill>
                            <a:schemeClr val="bg1"/>
                          </a:solidFill>
                          <a:latin typeface="Cambria"/>
                          <a:cs typeface="Cambria"/>
                        </a:rPr>
                        <a:t>0</a:t>
                      </a:r>
                      <a:endParaRPr sz="700" b="1" dirty="0">
                        <a:solidFill>
                          <a:schemeClr val="bg1"/>
                        </a:solidFill>
                        <a:latin typeface="Cambria"/>
                        <a:cs typeface="Cambria"/>
                      </a:endParaRPr>
                    </a:p>
                  </a:txBody>
                  <a:tcPr marL="0" marR="0" marT="78740" marB="0">
                    <a:lnL w="19050">
                      <a:solidFill>
                        <a:srgbClr val="292C39"/>
                      </a:solidFill>
                      <a:prstDash val="solid"/>
                    </a:lnL>
                    <a:lnR w="19050">
                      <a:solidFill>
                        <a:srgbClr val="292C39"/>
                      </a:solidFill>
                      <a:prstDash val="solid"/>
                    </a:lnR>
                    <a:lnT w="12700">
                      <a:solidFill>
                        <a:srgbClr val="292C39"/>
                      </a:solidFill>
                      <a:prstDash val="solid"/>
                    </a:lnT>
                    <a:lnB w="12700">
                      <a:solidFill>
                        <a:srgbClr val="292C39"/>
                      </a:solidFill>
                      <a:prstDash val="solid"/>
                    </a:lnB>
                    <a:solidFill>
                      <a:srgbClr val="484A54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r>
                        <a:rPr sz="700" b="1" spc="-50" dirty="0">
                          <a:solidFill>
                            <a:schemeClr val="bg1"/>
                          </a:solidFill>
                          <a:latin typeface="Cambria"/>
                          <a:cs typeface="Cambria"/>
                        </a:rPr>
                        <a:t>0</a:t>
                      </a:r>
                      <a:endParaRPr sz="700" b="1">
                        <a:solidFill>
                          <a:schemeClr val="bg1"/>
                        </a:solidFill>
                        <a:latin typeface="Cambria"/>
                        <a:cs typeface="Cambria"/>
                      </a:endParaRPr>
                    </a:p>
                  </a:txBody>
                  <a:tcPr marL="0" marR="0" marT="78740" marB="0">
                    <a:lnL w="19050">
                      <a:solidFill>
                        <a:srgbClr val="292C39"/>
                      </a:solidFill>
                      <a:prstDash val="solid"/>
                    </a:lnL>
                    <a:lnR w="19050">
                      <a:solidFill>
                        <a:srgbClr val="292C39"/>
                      </a:solidFill>
                      <a:prstDash val="solid"/>
                    </a:lnR>
                    <a:lnT w="12700">
                      <a:solidFill>
                        <a:srgbClr val="292C39"/>
                      </a:solidFill>
                      <a:prstDash val="solid"/>
                    </a:lnT>
                    <a:lnB w="12700">
                      <a:solidFill>
                        <a:srgbClr val="292C39"/>
                      </a:solidFill>
                      <a:prstDash val="solid"/>
                    </a:lnB>
                    <a:solidFill>
                      <a:srgbClr val="484A54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r>
                        <a:rPr sz="700" b="1" spc="-50" dirty="0">
                          <a:solidFill>
                            <a:schemeClr val="bg1"/>
                          </a:solidFill>
                          <a:latin typeface="Cambria"/>
                          <a:cs typeface="Cambria"/>
                        </a:rPr>
                        <a:t>0</a:t>
                      </a:r>
                      <a:endParaRPr sz="700" b="1" dirty="0">
                        <a:solidFill>
                          <a:schemeClr val="bg1"/>
                        </a:solidFill>
                        <a:latin typeface="Cambria"/>
                        <a:cs typeface="Cambria"/>
                      </a:endParaRPr>
                    </a:p>
                  </a:txBody>
                  <a:tcPr marL="0" marR="0" marT="78740" marB="0">
                    <a:lnL w="19050">
                      <a:solidFill>
                        <a:srgbClr val="292C39"/>
                      </a:solidFill>
                      <a:prstDash val="solid"/>
                    </a:lnL>
                    <a:lnR w="12700">
                      <a:solidFill>
                        <a:srgbClr val="292C39"/>
                      </a:solidFill>
                      <a:prstDash val="solid"/>
                    </a:lnR>
                    <a:lnT w="12700">
                      <a:solidFill>
                        <a:srgbClr val="292C39"/>
                      </a:solidFill>
                      <a:prstDash val="solid"/>
                    </a:lnT>
                    <a:lnB w="12700">
                      <a:solidFill>
                        <a:srgbClr val="292C39"/>
                      </a:solidFill>
                      <a:prstDash val="solid"/>
                    </a:lnB>
                    <a:solidFill>
                      <a:srgbClr val="484A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pSp>
        <p:nvGrpSpPr>
          <p:cNvPr id="36" name="object 36"/>
          <p:cNvGrpSpPr/>
          <p:nvPr/>
        </p:nvGrpSpPr>
        <p:grpSpPr>
          <a:xfrm>
            <a:off x="5394604" y="2272349"/>
            <a:ext cx="3461397" cy="2523021"/>
            <a:chOff x="5406478" y="2333144"/>
            <a:chExt cx="3461397" cy="2523021"/>
          </a:xfrm>
        </p:grpSpPr>
        <p:pic>
          <p:nvPicPr>
            <p:cNvPr id="37" name="object 3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406478" y="2333144"/>
              <a:ext cx="3461397" cy="2500934"/>
            </a:xfrm>
            <a:prstGeom prst="rect">
              <a:avLst/>
            </a:prstGeom>
          </p:spPr>
        </p:pic>
        <p:sp>
          <p:nvSpPr>
            <p:cNvPr id="38" name="object 38"/>
            <p:cNvSpPr/>
            <p:nvPr/>
          </p:nvSpPr>
          <p:spPr>
            <a:xfrm>
              <a:off x="5536283" y="2570165"/>
              <a:ext cx="3246120" cy="2286000"/>
            </a:xfrm>
            <a:custGeom>
              <a:avLst/>
              <a:gdLst/>
              <a:ahLst/>
              <a:cxnLst/>
              <a:rect l="l" t="t" r="r" b="b"/>
              <a:pathLst>
                <a:path w="3246120" h="2286000">
                  <a:moveTo>
                    <a:pt x="3245764" y="0"/>
                  </a:moveTo>
                  <a:lnTo>
                    <a:pt x="0" y="0"/>
                  </a:lnTo>
                  <a:lnTo>
                    <a:pt x="0" y="2285631"/>
                  </a:lnTo>
                  <a:lnTo>
                    <a:pt x="1622882" y="2285631"/>
                  </a:lnTo>
                  <a:lnTo>
                    <a:pt x="3245764" y="2285631"/>
                  </a:lnTo>
                  <a:lnTo>
                    <a:pt x="3245764" y="0"/>
                  </a:lnTo>
                  <a:close/>
                </a:path>
              </a:pathLst>
            </a:custGeom>
            <a:solidFill>
              <a:srgbClr val="191C2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9" name="object 39"/>
          <p:cNvSpPr txBox="1"/>
          <p:nvPr/>
        </p:nvSpPr>
        <p:spPr>
          <a:xfrm>
            <a:off x="5482704" y="2661667"/>
            <a:ext cx="3237117" cy="1900520"/>
          </a:xfrm>
          <a:prstGeom prst="rect">
            <a:avLst/>
          </a:prstGeom>
          <a:ln w="12599">
            <a:solidFill>
              <a:srgbClr val="292C39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marL="226695">
              <a:lnSpc>
                <a:spcPts val="840"/>
              </a:lnSpc>
            </a:pP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α[i,j]</a:t>
            </a:r>
            <a:r>
              <a:rPr sz="900" spc="-2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es</a:t>
            </a:r>
            <a:r>
              <a:rPr sz="900" spc="-3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el</a:t>
            </a:r>
            <a:r>
              <a:rPr sz="900" spc="-2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grado</a:t>
            </a:r>
            <a:r>
              <a:rPr sz="9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de</a:t>
            </a:r>
            <a:r>
              <a:rPr sz="900" spc="-2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spc="-10" dirty="0" err="1">
                <a:solidFill>
                  <a:srgbClr val="C7CFE7"/>
                </a:solidFill>
                <a:latin typeface="Calibri"/>
                <a:cs typeface="Calibri"/>
              </a:rPr>
              <a:t>verdad</a:t>
            </a:r>
            <a:r>
              <a:rPr lang="es-AR" sz="900" spc="-10" dirty="0">
                <a:solidFill>
                  <a:srgbClr val="C7CFE7"/>
                </a:solidFill>
                <a:latin typeface="Calibri"/>
                <a:cs typeface="Calibri"/>
              </a:rPr>
              <a:t>:</a:t>
            </a:r>
            <a:endParaRPr sz="900" dirty="0">
              <a:latin typeface="Calibri"/>
              <a:cs typeface="Calibri"/>
            </a:endParaRPr>
          </a:p>
          <a:p>
            <a:pPr marL="302895" marR="2072639" indent="-76835">
              <a:lnSpc>
                <a:spcPct val="100000"/>
              </a:lnSpc>
              <a:spcBef>
                <a:spcPts val="1035"/>
              </a:spcBef>
            </a:pP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IF</a:t>
            </a:r>
            <a:r>
              <a:rPr sz="9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θ</a:t>
            </a:r>
            <a:r>
              <a:rPr sz="9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is</a:t>
            </a:r>
            <a:r>
              <a:rPr sz="9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Xᵢ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AND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θ'</a:t>
            </a:r>
            <a:r>
              <a:rPr sz="9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is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spc="-405" dirty="0">
                <a:solidFill>
                  <a:srgbClr val="C7CFE7"/>
                </a:solidFill>
                <a:latin typeface="Calibri"/>
                <a:cs typeface="Calibri"/>
              </a:rPr>
              <a:t>Y</a:t>
            </a:r>
            <a:r>
              <a:rPr sz="900" spc="-405" dirty="0">
                <a:solidFill>
                  <a:srgbClr val="C7CFE7"/>
                </a:solidFill>
                <a:latin typeface="MingLiU_HKSCS-ExtB"/>
                <a:cs typeface="MingLiU_HKSCS-ExtB"/>
              </a:rPr>
              <a:t>ⱼ</a:t>
            </a:r>
            <a:r>
              <a:rPr sz="900" dirty="0">
                <a:solidFill>
                  <a:srgbClr val="C7CFE7"/>
                </a:solidFill>
                <a:latin typeface="MingLiU_HKSCS-ExtB"/>
                <a:cs typeface="MingLiU_HKSCS-ExtB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THEN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F</a:t>
            </a:r>
            <a:r>
              <a:rPr sz="9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is</a:t>
            </a:r>
            <a:r>
              <a:rPr sz="9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FAM[i][j]</a:t>
            </a:r>
            <a:endParaRPr sz="900" dirty="0">
              <a:latin typeface="Calibri"/>
              <a:cs typeface="Calibri"/>
            </a:endParaRPr>
          </a:p>
          <a:p>
            <a:pPr marL="226695">
              <a:lnSpc>
                <a:spcPct val="100000"/>
              </a:lnSpc>
              <a:spcBef>
                <a:spcPts val="1090"/>
              </a:spcBef>
            </a:pP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En</a:t>
            </a:r>
            <a:r>
              <a:rPr sz="900" spc="-2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el</a:t>
            </a:r>
            <a:r>
              <a:rPr sz="9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ejemplo:</a:t>
            </a:r>
            <a:endParaRPr sz="900" dirty="0">
              <a:latin typeface="Calibri"/>
              <a:cs typeface="Calibri"/>
            </a:endParaRPr>
          </a:p>
          <a:p>
            <a:pPr marL="277495" marR="2048510">
              <a:lnSpc>
                <a:spcPct val="100000"/>
              </a:lnSpc>
            </a:pP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Solo</a:t>
            </a:r>
            <a:r>
              <a:rPr sz="9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la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celda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(Z,</a:t>
            </a:r>
            <a:r>
              <a:rPr sz="9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Z)</a:t>
            </a:r>
            <a:r>
              <a:rPr sz="9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spc="-50" dirty="0">
                <a:solidFill>
                  <a:srgbClr val="C7CFE7"/>
                </a:solidFill>
                <a:latin typeface="Calibri"/>
                <a:cs typeface="Calibri"/>
              </a:rPr>
              <a:t>y</a:t>
            </a:r>
            <a:r>
              <a:rPr sz="900" spc="50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(Z,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PP)</a:t>
            </a:r>
            <a:r>
              <a:rPr sz="9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tienen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α &gt;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spc="-25" dirty="0">
                <a:solidFill>
                  <a:srgbClr val="C7CFE7"/>
                </a:solidFill>
                <a:latin typeface="Calibri"/>
                <a:cs typeface="Calibri"/>
              </a:rPr>
              <a:t>0:</a:t>
            </a:r>
            <a:endParaRPr sz="900" dirty="0">
              <a:latin typeface="Calibri"/>
              <a:cs typeface="Calibri"/>
            </a:endParaRPr>
          </a:p>
          <a:p>
            <a:pPr marL="277495">
              <a:lnSpc>
                <a:spcPct val="100000"/>
              </a:lnSpc>
              <a:spcBef>
                <a:spcPts val="1090"/>
              </a:spcBef>
            </a:pP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α[Z,Z]</a:t>
            </a:r>
            <a:r>
              <a:rPr sz="900" spc="15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=</a:t>
            </a:r>
            <a:r>
              <a:rPr sz="9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min(0.33,</a:t>
            </a:r>
            <a:r>
              <a:rPr sz="9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lang="es-AR" sz="900" dirty="0">
                <a:solidFill>
                  <a:srgbClr val="C7CFE7"/>
                </a:solidFill>
                <a:latin typeface="Calibri"/>
                <a:cs typeface="Calibri"/>
              </a:rPr>
              <a:t>0.47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)</a:t>
            </a:r>
          </a:p>
          <a:p>
            <a:pPr marL="458470">
              <a:lnSpc>
                <a:spcPct val="100000"/>
              </a:lnSpc>
              <a:spcBef>
                <a:spcPts val="5"/>
              </a:spcBef>
            </a:pP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=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spc="-20" dirty="0">
                <a:solidFill>
                  <a:srgbClr val="C7CFE7"/>
                </a:solidFill>
                <a:latin typeface="Calibri"/>
                <a:cs typeface="Calibri"/>
              </a:rPr>
              <a:t>0.33</a:t>
            </a:r>
            <a:endParaRPr sz="900" dirty="0">
              <a:latin typeface="Calibri"/>
              <a:cs typeface="Calibri"/>
            </a:endParaRPr>
          </a:p>
          <a:p>
            <a:pPr marL="277495">
              <a:lnSpc>
                <a:spcPct val="100000"/>
              </a:lnSpc>
              <a:spcBef>
                <a:spcPts val="1085"/>
              </a:spcBef>
            </a:pP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α[Z,PP]</a:t>
            </a:r>
            <a:r>
              <a:rPr sz="900" spc="-3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=</a:t>
            </a:r>
            <a:r>
              <a:rPr sz="9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min(0.33,</a:t>
            </a:r>
            <a:r>
              <a:rPr sz="900" spc="-3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spc="-20" dirty="0">
                <a:solidFill>
                  <a:srgbClr val="C7CFE7"/>
                </a:solidFill>
                <a:latin typeface="Calibri"/>
                <a:cs typeface="Calibri"/>
              </a:rPr>
              <a:t>0.</a:t>
            </a:r>
            <a:r>
              <a:rPr lang="es-AR" sz="900" spc="-20" dirty="0">
                <a:solidFill>
                  <a:srgbClr val="C7CFE7"/>
                </a:solidFill>
                <a:latin typeface="Calibri"/>
                <a:cs typeface="Calibri"/>
              </a:rPr>
              <a:t>20</a:t>
            </a:r>
            <a:r>
              <a:rPr sz="900" spc="-20" dirty="0">
                <a:solidFill>
                  <a:srgbClr val="C7CFE7"/>
                </a:solidFill>
                <a:latin typeface="Calibri"/>
                <a:cs typeface="Calibri"/>
              </a:rPr>
              <a:t>)</a:t>
            </a:r>
            <a:endParaRPr sz="900" dirty="0">
              <a:latin typeface="Calibri"/>
              <a:cs typeface="Calibri"/>
            </a:endParaRPr>
          </a:p>
          <a:p>
            <a:pPr marL="458470">
              <a:lnSpc>
                <a:spcPct val="100000"/>
              </a:lnSpc>
            </a:pP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=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spc="-20" dirty="0">
                <a:solidFill>
                  <a:srgbClr val="C7CFE7"/>
                </a:solidFill>
                <a:latin typeface="Calibri"/>
                <a:cs typeface="Calibri"/>
              </a:rPr>
              <a:t>0.</a:t>
            </a:r>
            <a:r>
              <a:rPr lang="es-AR" sz="900" spc="-20" dirty="0">
                <a:solidFill>
                  <a:srgbClr val="C7CFE7"/>
                </a:solidFill>
                <a:latin typeface="Calibri"/>
                <a:cs typeface="Calibri"/>
              </a:rPr>
              <a:t>20</a:t>
            </a:r>
            <a:endParaRPr sz="900" dirty="0">
              <a:latin typeface="Calibri"/>
              <a:cs typeface="Calibri"/>
            </a:endParaRPr>
          </a:p>
        </p:txBody>
      </p:sp>
      <p:sp>
        <p:nvSpPr>
          <p:cNvPr id="41" name="object 29">
            <a:extLst>
              <a:ext uri="{FF2B5EF4-FFF2-40B4-BE49-F238E27FC236}">
                <a16:creationId xmlns:a16="http://schemas.microsoft.com/office/drawing/2014/main" id="{F009CEA9-C20C-4DDA-A7E3-6C8D243C55C9}"/>
              </a:ext>
            </a:extLst>
          </p:cNvPr>
          <p:cNvSpPr txBox="1"/>
          <p:nvPr/>
        </p:nvSpPr>
        <p:spPr>
          <a:xfrm>
            <a:off x="1883800" y="2611535"/>
            <a:ext cx="129539" cy="1244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50" spc="-25" dirty="0">
                <a:solidFill>
                  <a:srgbClr val="878FA7"/>
                </a:solidFill>
                <a:latin typeface="Calibri"/>
                <a:cs typeface="Calibri"/>
              </a:rPr>
              <a:t>NG</a:t>
            </a:r>
            <a:endParaRPr sz="650" dirty="0">
              <a:latin typeface="Calibri"/>
              <a:cs typeface="Calibri"/>
            </a:endParaRPr>
          </a:p>
        </p:txBody>
      </p:sp>
      <p:sp>
        <p:nvSpPr>
          <p:cNvPr id="43" name="object 24">
            <a:extLst>
              <a:ext uri="{FF2B5EF4-FFF2-40B4-BE49-F238E27FC236}">
                <a16:creationId xmlns:a16="http://schemas.microsoft.com/office/drawing/2014/main" id="{80E234EB-3CFF-4159-A25B-EC1397C86BAC}"/>
              </a:ext>
            </a:extLst>
          </p:cNvPr>
          <p:cNvSpPr txBox="1"/>
          <p:nvPr/>
        </p:nvSpPr>
        <p:spPr>
          <a:xfrm>
            <a:off x="654735" y="2846820"/>
            <a:ext cx="180975" cy="1244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50" spc="-25" dirty="0">
                <a:solidFill>
                  <a:srgbClr val="878FA7"/>
                </a:solidFill>
                <a:latin typeface="Calibri"/>
                <a:cs typeface="Calibri"/>
              </a:rPr>
              <a:t>NGG</a:t>
            </a:r>
            <a:endParaRPr sz="650" dirty="0">
              <a:latin typeface="Calibri"/>
              <a:cs typeface="Calibri"/>
            </a:endParaRPr>
          </a:p>
        </p:txBody>
      </p:sp>
      <p:sp>
        <p:nvSpPr>
          <p:cNvPr id="45" name="CuadroTexto 44">
            <a:extLst>
              <a:ext uri="{FF2B5EF4-FFF2-40B4-BE49-F238E27FC236}">
                <a16:creationId xmlns:a16="http://schemas.microsoft.com/office/drawing/2014/main" id="{E5DC8BC2-0CE7-4E24-9711-55D4DFC0219F}"/>
              </a:ext>
            </a:extLst>
          </p:cNvPr>
          <p:cNvSpPr txBox="1"/>
          <p:nvPr/>
        </p:nvSpPr>
        <p:spPr>
          <a:xfrm>
            <a:off x="2729007" y="2393824"/>
            <a:ext cx="45720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800" spc="-35" dirty="0">
                <a:solidFill>
                  <a:srgbClr val="7CD2FB"/>
                </a:solidFill>
                <a:latin typeface="Calibri"/>
                <a:cs typeface="Calibri"/>
              </a:rPr>
              <a:t>Θ→ </a:t>
            </a:r>
            <a:endParaRPr lang="es-AR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Paso</a:t>
            </a:r>
            <a:r>
              <a:rPr spc="-75" dirty="0"/>
              <a:t> </a:t>
            </a:r>
            <a:r>
              <a:rPr dirty="0"/>
              <a:t>3</a:t>
            </a:r>
            <a:r>
              <a:rPr spc="-55" dirty="0"/>
              <a:t> </a:t>
            </a:r>
            <a:r>
              <a:rPr dirty="0"/>
              <a:t>—</a:t>
            </a:r>
            <a:r>
              <a:rPr spc="-70" dirty="0"/>
              <a:t> </a:t>
            </a:r>
            <a:r>
              <a:rPr lang="es-AR" dirty="0"/>
              <a:t>Truncado</a:t>
            </a:r>
            <a:endParaRPr spc="-10" dirty="0"/>
          </a:p>
        </p:txBody>
      </p:sp>
      <p:grpSp>
        <p:nvGrpSpPr>
          <p:cNvPr id="3" name="object 3"/>
          <p:cNvGrpSpPr/>
          <p:nvPr/>
        </p:nvGrpSpPr>
        <p:grpSpPr>
          <a:xfrm>
            <a:off x="359409" y="743167"/>
            <a:ext cx="8333105" cy="415290"/>
            <a:chOff x="359409" y="743167"/>
            <a:chExt cx="8333105" cy="415290"/>
          </a:xfrm>
        </p:grpSpPr>
        <p:sp>
          <p:nvSpPr>
            <p:cNvPr id="4" name="object 4"/>
            <p:cNvSpPr/>
            <p:nvPr/>
          </p:nvSpPr>
          <p:spPr>
            <a:xfrm>
              <a:off x="456844" y="749517"/>
              <a:ext cx="8229600" cy="22860"/>
            </a:xfrm>
            <a:custGeom>
              <a:avLst/>
              <a:gdLst/>
              <a:ahLst/>
              <a:cxnLst/>
              <a:rect l="l" t="t" r="r" b="b"/>
              <a:pathLst>
                <a:path w="8229600" h="22859">
                  <a:moveTo>
                    <a:pt x="8229231" y="0"/>
                  </a:moveTo>
                  <a:lnTo>
                    <a:pt x="0" y="0"/>
                  </a:lnTo>
                  <a:lnTo>
                    <a:pt x="0" y="22682"/>
                  </a:lnTo>
                  <a:lnTo>
                    <a:pt x="4114800" y="22682"/>
                  </a:lnTo>
                  <a:lnTo>
                    <a:pt x="8229231" y="22682"/>
                  </a:lnTo>
                  <a:lnTo>
                    <a:pt x="8229231" y="0"/>
                  </a:lnTo>
                  <a:close/>
                </a:path>
              </a:pathLst>
            </a:custGeom>
            <a:solidFill>
              <a:srgbClr val="292C3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456844" y="749517"/>
              <a:ext cx="8229600" cy="22860"/>
            </a:xfrm>
            <a:custGeom>
              <a:avLst/>
              <a:gdLst/>
              <a:ahLst/>
              <a:cxnLst/>
              <a:rect l="l" t="t" r="r" b="b"/>
              <a:pathLst>
                <a:path w="8229600" h="22859">
                  <a:moveTo>
                    <a:pt x="4114800" y="22682"/>
                  </a:moveTo>
                  <a:lnTo>
                    <a:pt x="0" y="22682"/>
                  </a:lnTo>
                  <a:lnTo>
                    <a:pt x="0" y="0"/>
                  </a:lnTo>
                  <a:lnTo>
                    <a:pt x="8229231" y="0"/>
                  </a:lnTo>
                  <a:lnTo>
                    <a:pt x="8229231" y="22682"/>
                  </a:lnTo>
                  <a:lnTo>
                    <a:pt x="4114800" y="22682"/>
                  </a:lnTo>
                  <a:close/>
                </a:path>
              </a:pathLst>
            </a:custGeom>
            <a:ln w="12599">
              <a:solidFill>
                <a:srgbClr val="292C3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65759" y="804597"/>
              <a:ext cx="347980" cy="347980"/>
            </a:xfrm>
            <a:custGeom>
              <a:avLst/>
              <a:gdLst/>
              <a:ahLst/>
              <a:cxnLst/>
              <a:rect l="l" t="t" r="r" b="b"/>
              <a:pathLst>
                <a:path w="347980" h="347980">
                  <a:moveTo>
                    <a:pt x="173875" y="0"/>
                  </a:moveTo>
                  <a:lnTo>
                    <a:pt x="128833" y="5853"/>
                  </a:lnTo>
                  <a:lnTo>
                    <a:pt x="86753" y="23050"/>
                  </a:lnTo>
                  <a:lnTo>
                    <a:pt x="50893" y="50584"/>
                  </a:lnTo>
                  <a:lnTo>
                    <a:pt x="23406" y="86766"/>
                  </a:lnTo>
                  <a:lnTo>
                    <a:pt x="5897" y="128524"/>
                  </a:lnTo>
                  <a:lnTo>
                    <a:pt x="0" y="173520"/>
                  </a:lnTo>
                  <a:lnTo>
                    <a:pt x="1480" y="196294"/>
                  </a:lnTo>
                  <a:lnTo>
                    <a:pt x="13217" y="239948"/>
                  </a:lnTo>
                  <a:lnTo>
                    <a:pt x="35984" y="279352"/>
                  </a:lnTo>
                  <a:lnTo>
                    <a:pt x="67895" y="311416"/>
                  </a:lnTo>
                  <a:lnTo>
                    <a:pt x="107304" y="334040"/>
                  </a:lnTo>
                  <a:lnTo>
                    <a:pt x="151102" y="345878"/>
                  </a:lnTo>
                  <a:lnTo>
                    <a:pt x="173875" y="347408"/>
                  </a:lnTo>
                  <a:lnTo>
                    <a:pt x="196443" y="345878"/>
                  </a:lnTo>
                  <a:lnTo>
                    <a:pt x="240096" y="334040"/>
                  </a:lnTo>
                  <a:lnTo>
                    <a:pt x="279500" y="311416"/>
                  </a:lnTo>
                  <a:lnTo>
                    <a:pt x="311416" y="279352"/>
                  </a:lnTo>
                  <a:lnTo>
                    <a:pt x="334188" y="239948"/>
                  </a:lnTo>
                  <a:lnTo>
                    <a:pt x="345917" y="196294"/>
                  </a:lnTo>
                  <a:lnTo>
                    <a:pt x="347395" y="173520"/>
                  </a:lnTo>
                  <a:lnTo>
                    <a:pt x="345917" y="150752"/>
                  </a:lnTo>
                  <a:lnTo>
                    <a:pt x="334188" y="107104"/>
                  </a:lnTo>
                  <a:lnTo>
                    <a:pt x="311416" y="67695"/>
                  </a:lnTo>
                  <a:lnTo>
                    <a:pt x="279500" y="35635"/>
                  </a:lnTo>
                  <a:lnTo>
                    <a:pt x="240096" y="13067"/>
                  </a:lnTo>
                  <a:lnTo>
                    <a:pt x="196443" y="1474"/>
                  </a:lnTo>
                  <a:lnTo>
                    <a:pt x="173875" y="0"/>
                  </a:lnTo>
                  <a:close/>
                </a:path>
              </a:pathLst>
            </a:custGeom>
            <a:solidFill>
              <a:srgbClr val="F49D0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65759" y="804597"/>
              <a:ext cx="347980" cy="347980"/>
            </a:xfrm>
            <a:custGeom>
              <a:avLst/>
              <a:gdLst/>
              <a:ahLst/>
              <a:cxnLst/>
              <a:rect l="l" t="t" r="r" b="b"/>
              <a:pathLst>
                <a:path w="347980" h="347980">
                  <a:moveTo>
                    <a:pt x="0" y="173520"/>
                  </a:moveTo>
                  <a:lnTo>
                    <a:pt x="1480" y="150752"/>
                  </a:lnTo>
                  <a:lnTo>
                    <a:pt x="5897" y="128524"/>
                  </a:lnTo>
                  <a:lnTo>
                    <a:pt x="23406" y="86766"/>
                  </a:lnTo>
                  <a:lnTo>
                    <a:pt x="50893" y="50584"/>
                  </a:lnTo>
                  <a:lnTo>
                    <a:pt x="86753" y="23050"/>
                  </a:lnTo>
                  <a:lnTo>
                    <a:pt x="128833" y="5853"/>
                  </a:lnTo>
                  <a:lnTo>
                    <a:pt x="173875" y="0"/>
                  </a:lnTo>
                  <a:lnTo>
                    <a:pt x="218606" y="5853"/>
                  </a:lnTo>
                  <a:lnTo>
                    <a:pt x="260642" y="23050"/>
                  </a:lnTo>
                  <a:lnTo>
                    <a:pt x="296503" y="50584"/>
                  </a:lnTo>
                  <a:lnTo>
                    <a:pt x="324002" y="86766"/>
                  </a:lnTo>
                  <a:lnTo>
                    <a:pt x="341504" y="128524"/>
                  </a:lnTo>
                  <a:lnTo>
                    <a:pt x="347395" y="173520"/>
                  </a:lnTo>
                  <a:lnTo>
                    <a:pt x="345917" y="196294"/>
                  </a:lnTo>
                  <a:lnTo>
                    <a:pt x="341504" y="218527"/>
                  </a:lnTo>
                  <a:lnTo>
                    <a:pt x="324002" y="260286"/>
                  </a:lnTo>
                  <a:lnTo>
                    <a:pt x="296503" y="296464"/>
                  </a:lnTo>
                  <a:lnTo>
                    <a:pt x="260642" y="324002"/>
                  </a:lnTo>
                  <a:lnTo>
                    <a:pt x="218606" y="341377"/>
                  </a:lnTo>
                  <a:lnTo>
                    <a:pt x="173875" y="347408"/>
                  </a:lnTo>
                  <a:lnTo>
                    <a:pt x="128833" y="341377"/>
                  </a:lnTo>
                  <a:lnTo>
                    <a:pt x="86753" y="324002"/>
                  </a:lnTo>
                  <a:lnTo>
                    <a:pt x="50893" y="296464"/>
                  </a:lnTo>
                  <a:lnTo>
                    <a:pt x="23406" y="260286"/>
                  </a:lnTo>
                  <a:lnTo>
                    <a:pt x="5897" y="218527"/>
                  </a:lnTo>
                  <a:lnTo>
                    <a:pt x="1480" y="196294"/>
                  </a:lnTo>
                  <a:lnTo>
                    <a:pt x="0" y="173520"/>
                  </a:lnTo>
                  <a:close/>
                </a:path>
              </a:pathLst>
            </a:custGeom>
            <a:ln w="12599">
              <a:solidFill>
                <a:srgbClr val="F49D0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485178" y="866421"/>
            <a:ext cx="109220" cy="224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00" b="1" spc="-50" dirty="0">
                <a:solidFill>
                  <a:srgbClr val="FFFFFF"/>
                </a:solidFill>
                <a:latin typeface="Calibri"/>
                <a:cs typeface="Calibri"/>
              </a:rPr>
              <a:t>3</a:t>
            </a:r>
            <a:endParaRPr sz="130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99896" y="867869"/>
            <a:ext cx="458152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b="1" dirty="0">
                <a:solidFill>
                  <a:srgbClr val="F49D0A"/>
                </a:solidFill>
                <a:latin typeface="Calibri"/>
                <a:cs typeface="Calibri"/>
              </a:rPr>
              <a:t>Recortar</a:t>
            </a:r>
            <a:r>
              <a:rPr sz="1100" b="1" spc="-25" dirty="0">
                <a:solidFill>
                  <a:srgbClr val="F49D0A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F49D0A"/>
                </a:solidFill>
                <a:latin typeface="Calibri"/>
                <a:cs typeface="Calibri"/>
              </a:rPr>
              <a:t>el</a:t>
            </a:r>
            <a:r>
              <a:rPr sz="1100" b="1" spc="-25" dirty="0">
                <a:solidFill>
                  <a:srgbClr val="F49D0A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F49D0A"/>
                </a:solidFill>
                <a:latin typeface="Calibri"/>
                <a:cs typeface="Calibri"/>
              </a:rPr>
              <a:t>consecuente</a:t>
            </a:r>
            <a:r>
              <a:rPr sz="1100" b="1" spc="-10" dirty="0">
                <a:solidFill>
                  <a:srgbClr val="F49D0A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F49D0A"/>
                </a:solidFill>
                <a:latin typeface="Calibri"/>
                <a:cs typeface="Calibri"/>
              </a:rPr>
              <a:t>borroso</a:t>
            </a:r>
            <a:r>
              <a:rPr sz="1100" b="1" spc="-25" dirty="0">
                <a:solidFill>
                  <a:srgbClr val="F49D0A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F49D0A"/>
                </a:solidFill>
                <a:latin typeface="Calibri"/>
                <a:cs typeface="Calibri"/>
              </a:rPr>
              <a:t>al</a:t>
            </a:r>
            <a:r>
              <a:rPr sz="1100" b="1" spc="-25" dirty="0">
                <a:solidFill>
                  <a:srgbClr val="F49D0A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F49D0A"/>
                </a:solidFill>
                <a:latin typeface="Calibri"/>
                <a:cs typeface="Calibri"/>
              </a:rPr>
              <a:t>nivel</a:t>
            </a:r>
            <a:r>
              <a:rPr sz="1100" b="1" spc="-25" dirty="0">
                <a:solidFill>
                  <a:srgbClr val="F49D0A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F49D0A"/>
                </a:solidFill>
                <a:latin typeface="Calibri"/>
                <a:cs typeface="Calibri"/>
              </a:rPr>
              <a:t>de</a:t>
            </a:r>
            <a:r>
              <a:rPr sz="1100" b="1" spc="-20" dirty="0">
                <a:solidFill>
                  <a:srgbClr val="F49D0A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F49D0A"/>
                </a:solidFill>
                <a:latin typeface="Calibri"/>
                <a:cs typeface="Calibri"/>
              </a:rPr>
              <a:t>activación</a:t>
            </a:r>
            <a:r>
              <a:rPr sz="1100" b="1" spc="-25" dirty="0">
                <a:solidFill>
                  <a:srgbClr val="F49D0A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F49D0A"/>
                </a:solidFill>
                <a:latin typeface="Calibri"/>
                <a:cs typeface="Calibri"/>
              </a:rPr>
              <a:t>α</a:t>
            </a:r>
            <a:r>
              <a:rPr sz="1100" b="1" spc="-20" dirty="0">
                <a:solidFill>
                  <a:srgbClr val="F49D0A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F49D0A"/>
                </a:solidFill>
                <a:latin typeface="Calibri"/>
                <a:cs typeface="Calibri"/>
              </a:rPr>
              <a:t>de</a:t>
            </a:r>
            <a:r>
              <a:rPr sz="1100" b="1" spc="-20" dirty="0">
                <a:solidFill>
                  <a:srgbClr val="F49D0A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F49D0A"/>
                </a:solidFill>
                <a:latin typeface="Calibri"/>
                <a:cs typeface="Calibri"/>
              </a:rPr>
              <a:t>cada</a:t>
            </a:r>
            <a:r>
              <a:rPr sz="1100" b="1" spc="-20" dirty="0">
                <a:solidFill>
                  <a:srgbClr val="F49D0A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F49D0A"/>
                </a:solidFill>
                <a:latin typeface="Calibri"/>
                <a:cs typeface="Calibri"/>
              </a:rPr>
              <a:t>regla</a:t>
            </a:r>
            <a:r>
              <a:rPr sz="1100" b="1" spc="-20" dirty="0">
                <a:solidFill>
                  <a:srgbClr val="F49D0A"/>
                </a:solidFill>
                <a:latin typeface="Calibri"/>
                <a:cs typeface="Calibri"/>
              </a:rPr>
              <a:t> </a:t>
            </a:r>
            <a:r>
              <a:rPr sz="1100" b="1" spc="-10" dirty="0">
                <a:solidFill>
                  <a:srgbClr val="F49D0A"/>
                </a:solidFill>
                <a:latin typeface="Calibri"/>
                <a:cs typeface="Calibri"/>
              </a:rPr>
              <a:t>activada</a:t>
            </a:r>
            <a:endParaRPr sz="1100">
              <a:latin typeface="Calibri"/>
              <a:cs typeface="Calibri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257454" y="1211163"/>
            <a:ext cx="8628380" cy="1221105"/>
            <a:chOff x="239763" y="1098704"/>
            <a:chExt cx="8628380" cy="1221105"/>
          </a:xfrm>
        </p:grpSpPr>
        <p:pic>
          <p:nvPicPr>
            <p:cNvPr id="11" name="object 1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39763" y="1098704"/>
              <a:ext cx="8627757" cy="1220774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365404" y="1188366"/>
              <a:ext cx="8412480" cy="1005840"/>
            </a:xfrm>
            <a:custGeom>
              <a:avLst/>
              <a:gdLst/>
              <a:ahLst/>
              <a:cxnLst/>
              <a:rect l="l" t="t" r="r" b="b"/>
              <a:pathLst>
                <a:path w="8412480" h="1005839">
                  <a:moveTo>
                    <a:pt x="8412111" y="0"/>
                  </a:moveTo>
                  <a:lnTo>
                    <a:pt x="0" y="0"/>
                  </a:lnTo>
                  <a:lnTo>
                    <a:pt x="0" y="1005471"/>
                  </a:lnTo>
                  <a:lnTo>
                    <a:pt x="4206240" y="1005471"/>
                  </a:lnTo>
                  <a:lnTo>
                    <a:pt x="8412111" y="1005471"/>
                  </a:lnTo>
                  <a:lnTo>
                    <a:pt x="8412111" y="0"/>
                  </a:lnTo>
                  <a:close/>
                </a:path>
              </a:pathLst>
            </a:custGeom>
            <a:solidFill>
              <a:srgbClr val="191C2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365404" y="1188366"/>
            <a:ext cx="8412480" cy="536684"/>
          </a:xfrm>
          <a:prstGeom prst="rect">
            <a:avLst/>
          </a:prstGeom>
          <a:ln w="12599">
            <a:solidFill>
              <a:srgbClr val="292C39"/>
            </a:solidFill>
          </a:ln>
        </p:spPr>
        <p:txBody>
          <a:bodyPr vert="horz" wrap="square" lIns="0" tIns="36194" rIns="0" bIns="0" rtlCol="0">
            <a:spAutoFit/>
          </a:bodyPr>
          <a:lstStyle/>
          <a:p>
            <a:pPr marL="226695" marR="131445">
              <a:lnSpc>
                <a:spcPct val="100000"/>
              </a:lnSpc>
              <a:spcBef>
                <a:spcPts val="284"/>
              </a:spcBef>
            </a:pP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Cada</a:t>
            </a:r>
            <a:r>
              <a:rPr sz="1000" spc="-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regla</a:t>
            </a:r>
            <a:r>
              <a:rPr sz="10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activa</a:t>
            </a:r>
            <a:r>
              <a:rPr sz="10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un</a:t>
            </a:r>
            <a:r>
              <a:rPr sz="10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spc="-10" dirty="0">
                <a:solidFill>
                  <a:srgbClr val="C7CFE7"/>
                </a:solidFill>
                <a:latin typeface="Calibri"/>
                <a:cs typeface="Calibri"/>
              </a:rPr>
              <a:t>conjunto borroso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de</a:t>
            </a:r>
            <a:r>
              <a:rPr sz="10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salida</a:t>
            </a:r>
            <a:r>
              <a:rPr sz="1000" spc="-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según</a:t>
            </a:r>
            <a:r>
              <a:rPr sz="10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la</a:t>
            </a:r>
            <a:r>
              <a:rPr sz="10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 err="1">
                <a:solidFill>
                  <a:srgbClr val="C7CFE7"/>
                </a:solidFill>
                <a:latin typeface="Calibri"/>
                <a:cs typeface="Calibri"/>
              </a:rPr>
              <a:t>tabla</a:t>
            </a:r>
            <a:r>
              <a:rPr sz="1000" spc="-20" dirty="0">
                <a:solidFill>
                  <a:srgbClr val="C7CFE7"/>
                </a:solidFill>
                <a:latin typeface="Calibri"/>
                <a:cs typeface="Calibri"/>
              </a:rPr>
              <a:t>.</a:t>
            </a:r>
            <a:r>
              <a:rPr sz="10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La</a:t>
            </a:r>
            <a:r>
              <a:rPr sz="1000" spc="-2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función</a:t>
            </a:r>
            <a:r>
              <a:rPr sz="10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de</a:t>
            </a:r>
            <a:r>
              <a:rPr sz="10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spc="-10" dirty="0">
                <a:solidFill>
                  <a:srgbClr val="C7CFE7"/>
                </a:solidFill>
                <a:latin typeface="Calibri"/>
                <a:cs typeface="Calibri"/>
              </a:rPr>
              <a:t>membresía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del</a:t>
            </a:r>
            <a:r>
              <a:rPr sz="10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spc="-10" dirty="0">
                <a:solidFill>
                  <a:srgbClr val="C7CFE7"/>
                </a:solidFill>
                <a:latin typeface="Calibri"/>
                <a:cs typeface="Calibri"/>
              </a:rPr>
              <a:t>consecuente</a:t>
            </a:r>
            <a:r>
              <a:rPr sz="10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se</a:t>
            </a:r>
            <a:r>
              <a:rPr sz="10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spc="-10" dirty="0">
                <a:solidFill>
                  <a:srgbClr val="C7CFE7"/>
                </a:solidFill>
                <a:latin typeface="Calibri"/>
                <a:cs typeface="Calibri"/>
              </a:rPr>
              <a:t>recorta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(clipping)</a:t>
            </a:r>
            <a:r>
              <a:rPr sz="1000" spc="-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al</a:t>
            </a:r>
            <a:r>
              <a:rPr sz="10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nivel</a:t>
            </a:r>
            <a:r>
              <a:rPr sz="1000" spc="-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de</a:t>
            </a:r>
            <a:r>
              <a:rPr sz="10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spc="-10" dirty="0">
                <a:solidFill>
                  <a:srgbClr val="C7CFE7"/>
                </a:solidFill>
                <a:latin typeface="Calibri"/>
                <a:cs typeface="Calibri"/>
              </a:rPr>
              <a:t>activación</a:t>
            </a:r>
            <a:r>
              <a:rPr sz="10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spc="-10" dirty="0">
                <a:solidFill>
                  <a:srgbClr val="C7CFE7"/>
                </a:solidFill>
                <a:latin typeface="Calibri"/>
                <a:cs typeface="Calibri"/>
              </a:rPr>
              <a:t>α[i,j]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de</a:t>
            </a:r>
            <a:r>
              <a:rPr sz="10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la</a:t>
            </a:r>
            <a:r>
              <a:rPr sz="1000" spc="-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spc="-10" dirty="0" err="1">
                <a:solidFill>
                  <a:srgbClr val="C7CFE7"/>
                </a:solidFill>
                <a:latin typeface="Calibri"/>
                <a:cs typeface="Calibri"/>
              </a:rPr>
              <a:t>regla</a:t>
            </a:r>
            <a:r>
              <a:rPr lang="es-AR" sz="1000" spc="-10" dirty="0">
                <a:solidFill>
                  <a:srgbClr val="C7CFE7"/>
                </a:solidFill>
                <a:latin typeface="Calibri"/>
                <a:cs typeface="Calibri"/>
              </a:rPr>
              <a:t>.</a:t>
            </a:r>
            <a:endParaRPr lang="es-AR" sz="1000" spc="-10" dirty="0">
              <a:latin typeface="Calibri"/>
              <a:cs typeface="Calibri"/>
            </a:endParaRPr>
          </a:p>
          <a:p>
            <a:pPr marL="226695" marR="131445">
              <a:lnSpc>
                <a:spcPct val="100000"/>
              </a:lnSpc>
              <a:spcBef>
                <a:spcPts val="284"/>
              </a:spcBef>
            </a:pPr>
            <a:r>
              <a:rPr sz="1000" dirty="0" err="1">
                <a:solidFill>
                  <a:srgbClr val="C7CFE7"/>
                </a:solidFill>
                <a:latin typeface="Calibri"/>
                <a:cs typeface="Calibri"/>
              </a:rPr>
              <a:t>Esto</a:t>
            </a:r>
            <a:r>
              <a:rPr sz="10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spc="-10" dirty="0">
                <a:solidFill>
                  <a:srgbClr val="C7CFE7"/>
                </a:solidFill>
                <a:latin typeface="Calibri"/>
                <a:cs typeface="Calibri"/>
              </a:rPr>
              <a:t>garantiza</a:t>
            </a:r>
            <a:r>
              <a:rPr sz="10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que</a:t>
            </a:r>
            <a:r>
              <a:rPr sz="1000" spc="-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la</a:t>
            </a:r>
            <a:r>
              <a:rPr sz="1000" spc="-2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spc="-10" dirty="0">
                <a:solidFill>
                  <a:srgbClr val="C7CFE7"/>
                </a:solidFill>
                <a:latin typeface="Calibri"/>
                <a:cs typeface="Calibri"/>
              </a:rPr>
              <a:t>contribución</a:t>
            </a:r>
            <a:r>
              <a:rPr sz="10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de</a:t>
            </a:r>
            <a:r>
              <a:rPr sz="10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una</a:t>
            </a:r>
            <a:r>
              <a:rPr sz="10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regla</a:t>
            </a:r>
            <a:r>
              <a:rPr sz="1000" spc="-10" dirty="0">
                <a:solidFill>
                  <a:srgbClr val="C7CFE7"/>
                </a:solidFill>
                <a:latin typeface="Calibri"/>
                <a:cs typeface="Calibri"/>
              </a:rPr>
              <a:t> débilmente</a:t>
            </a:r>
            <a:r>
              <a:rPr sz="10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spc="-10" dirty="0">
                <a:solidFill>
                  <a:srgbClr val="C7CFE7"/>
                </a:solidFill>
                <a:latin typeface="Calibri"/>
                <a:cs typeface="Calibri"/>
              </a:rPr>
              <a:t>activada</a:t>
            </a:r>
            <a:r>
              <a:rPr sz="10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(α</a:t>
            </a:r>
            <a:r>
              <a:rPr sz="10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pequeño)</a:t>
            </a:r>
            <a:r>
              <a:rPr sz="1000" spc="-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sea</a:t>
            </a:r>
            <a:r>
              <a:rPr sz="1000" spc="-10" dirty="0">
                <a:solidFill>
                  <a:srgbClr val="C7CFE7"/>
                </a:solidFill>
                <a:latin typeface="Calibri"/>
                <a:cs typeface="Calibri"/>
              </a:rPr>
              <a:t> proporcionalmente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pequeña</a:t>
            </a:r>
            <a:r>
              <a:rPr sz="10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en</a:t>
            </a:r>
            <a:r>
              <a:rPr sz="10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el</a:t>
            </a:r>
            <a:r>
              <a:rPr sz="10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espacio</a:t>
            </a:r>
            <a:r>
              <a:rPr sz="10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de</a:t>
            </a:r>
            <a:r>
              <a:rPr sz="1000" spc="-10" dirty="0">
                <a:solidFill>
                  <a:srgbClr val="C7CFE7"/>
                </a:solidFill>
                <a:latin typeface="Calibri"/>
                <a:cs typeface="Calibri"/>
              </a:rPr>
              <a:t> salida.</a:t>
            </a:r>
            <a:endParaRPr sz="1000" dirty="0">
              <a:latin typeface="Calibri"/>
              <a:cs typeface="Calibri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442696" y="2283017"/>
            <a:ext cx="3221990" cy="15901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50" i="1" dirty="0">
                <a:solidFill>
                  <a:srgbClr val="F49D0A"/>
                </a:solidFill>
                <a:latin typeface="Calibri"/>
                <a:cs typeface="Calibri"/>
              </a:rPr>
              <a:t>Del</a:t>
            </a:r>
            <a:r>
              <a:rPr sz="950" i="1" spc="-30" dirty="0">
                <a:solidFill>
                  <a:srgbClr val="F49D0A"/>
                </a:solidFill>
                <a:latin typeface="Calibri"/>
                <a:cs typeface="Calibri"/>
              </a:rPr>
              <a:t> </a:t>
            </a:r>
            <a:r>
              <a:rPr sz="950" i="1" dirty="0">
                <a:solidFill>
                  <a:srgbClr val="F49D0A"/>
                </a:solidFill>
                <a:latin typeface="Calibri"/>
                <a:cs typeface="Calibri"/>
              </a:rPr>
              <a:t>ejemplo:</a:t>
            </a:r>
            <a:r>
              <a:rPr sz="950" i="1" spc="-25" dirty="0">
                <a:solidFill>
                  <a:srgbClr val="F49D0A"/>
                </a:solidFill>
                <a:latin typeface="Calibri"/>
                <a:cs typeface="Calibri"/>
              </a:rPr>
              <a:t> </a:t>
            </a:r>
            <a:r>
              <a:rPr sz="950" i="1" dirty="0">
                <a:solidFill>
                  <a:srgbClr val="F49D0A"/>
                </a:solidFill>
                <a:latin typeface="Calibri"/>
                <a:cs typeface="Calibri"/>
              </a:rPr>
              <a:t>α[Z,Z]</a:t>
            </a:r>
            <a:r>
              <a:rPr sz="950" i="1" spc="-25" dirty="0">
                <a:solidFill>
                  <a:srgbClr val="F49D0A"/>
                </a:solidFill>
                <a:latin typeface="Calibri"/>
                <a:cs typeface="Calibri"/>
              </a:rPr>
              <a:t> </a:t>
            </a:r>
            <a:r>
              <a:rPr sz="950" i="1" dirty="0">
                <a:solidFill>
                  <a:srgbClr val="F49D0A"/>
                </a:solidFill>
                <a:latin typeface="Calibri"/>
                <a:cs typeface="Calibri"/>
              </a:rPr>
              <a:t>=</a:t>
            </a:r>
            <a:r>
              <a:rPr sz="950" i="1" spc="-30" dirty="0">
                <a:solidFill>
                  <a:srgbClr val="F49D0A"/>
                </a:solidFill>
                <a:latin typeface="Calibri"/>
                <a:cs typeface="Calibri"/>
              </a:rPr>
              <a:t> </a:t>
            </a:r>
            <a:r>
              <a:rPr sz="950" i="1" dirty="0">
                <a:solidFill>
                  <a:srgbClr val="F49D0A"/>
                </a:solidFill>
                <a:latin typeface="Calibri"/>
                <a:cs typeface="Calibri"/>
              </a:rPr>
              <a:t>0.33</a:t>
            </a:r>
            <a:r>
              <a:rPr sz="950" i="1" spc="-25" dirty="0">
                <a:solidFill>
                  <a:srgbClr val="F49D0A"/>
                </a:solidFill>
                <a:latin typeface="Calibri"/>
                <a:cs typeface="Calibri"/>
              </a:rPr>
              <a:t> </a:t>
            </a:r>
            <a:r>
              <a:rPr sz="950" i="1" dirty="0">
                <a:solidFill>
                  <a:srgbClr val="F49D0A"/>
                </a:solidFill>
                <a:latin typeface="Calibri"/>
                <a:cs typeface="Calibri"/>
              </a:rPr>
              <a:t>activa</a:t>
            </a:r>
            <a:r>
              <a:rPr sz="950" i="1" spc="-20" dirty="0">
                <a:solidFill>
                  <a:srgbClr val="F49D0A"/>
                </a:solidFill>
                <a:latin typeface="Calibri"/>
                <a:cs typeface="Calibri"/>
              </a:rPr>
              <a:t> </a:t>
            </a:r>
            <a:r>
              <a:rPr sz="950" i="1" dirty="0">
                <a:solidFill>
                  <a:srgbClr val="F49D0A"/>
                </a:solidFill>
                <a:latin typeface="Calibri"/>
                <a:cs typeface="Calibri"/>
              </a:rPr>
              <a:t>F=Z</a:t>
            </a:r>
            <a:r>
              <a:rPr sz="950" i="1" spc="150" dirty="0">
                <a:solidFill>
                  <a:srgbClr val="F49D0A"/>
                </a:solidFill>
                <a:latin typeface="Calibri"/>
                <a:cs typeface="Calibri"/>
              </a:rPr>
              <a:t> </a:t>
            </a:r>
            <a:r>
              <a:rPr sz="950" i="1" dirty="0">
                <a:solidFill>
                  <a:srgbClr val="F49D0A"/>
                </a:solidFill>
                <a:latin typeface="Calibri"/>
                <a:cs typeface="Calibri"/>
              </a:rPr>
              <a:t>|</a:t>
            </a:r>
            <a:r>
              <a:rPr sz="950" i="1" spc="165" dirty="0">
                <a:solidFill>
                  <a:srgbClr val="F49D0A"/>
                </a:solidFill>
                <a:latin typeface="Calibri"/>
                <a:cs typeface="Calibri"/>
              </a:rPr>
              <a:t> </a:t>
            </a:r>
            <a:r>
              <a:rPr sz="950" i="1" dirty="0">
                <a:solidFill>
                  <a:srgbClr val="F49D0A"/>
                </a:solidFill>
                <a:latin typeface="Calibri"/>
                <a:cs typeface="Calibri"/>
              </a:rPr>
              <a:t>α[Z,PP]</a:t>
            </a:r>
            <a:r>
              <a:rPr sz="950" i="1" spc="-25" dirty="0">
                <a:solidFill>
                  <a:srgbClr val="F49D0A"/>
                </a:solidFill>
                <a:latin typeface="Calibri"/>
                <a:cs typeface="Calibri"/>
              </a:rPr>
              <a:t> </a:t>
            </a:r>
            <a:r>
              <a:rPr sz="950" i="1" dirty="0">
                <a:solidFill>
                  <a:srgbClr val="F49D0A"/>
                </a:solidFill>
                <a:latin typeface="Calibri"/>
                <a:cs typeface="Calibri"/>
              </a:rPr>
              <a:t>=</a:t>
            </a:r>
            <a:r>
              <a:rPr sz="950" i="1" spc="-25" dirty="0">
                <a:solidFill>
                  <a:srgbClr val="F49D0A"/>
                </a:solidFill>
                <a:latin typeface="Calibri"/>
                <a:cs typeface="Calibri"/>
              </a:rPr>
              <a:t> </a:t>
            </a:r>
            <a:r>
              <a:rPr sz="950" i="1" dirty="0">
                <a:solidFill>
                  <a:srgbClr val="F49D0A"/>
                </a:solidFill>
                <a:latin typeface="Calibri"/>
                <a:cs typeface="Calibri"/>
              </a:rPr>
              <a:t>0.</a:t>
            </a:r>
            <a:r>
              <a:rPr lang="es-AR" sz="950" i="1" dirty="0">
                <a:solidFill>
                  <a:srgbClr val="F49D0A"/>
                </a:solidFill>
                <a:latin typeface="Calibri"/>
                <a:cs typeface="Calibri"/>
              </a:rPr>
              <a:t>20</a:t>
            </a:r>
            <a:r>
              <a:rPr sz="950" i="1" spc="-25" dirty="0">
                <a:solidFill>
                  <a:srgbClr val="F49D0A"/>
                </a:solidFill>
                <a:latin typeface="Calibri"/>
                <a:cs typeface="Calibri"/>
              </a:rPr>
              <a:t> </a:t>
            </a:r>
            <a:r>
              <a:rPr sz="950" i="1" dirty="0">
                <a:solidFill>
                  <a:srgbClr val="F49D0A"/>
                </a:solidFill>
                <a:latin typeface="Calibri"/>
                <a:cs typeface="Calibri"/>
              </a:rPr>
              <a:t>activa</a:t>
            </a:r>
            <a:r>
              <a:rPr sz="950" i="1" spc="-25" dirty="0">
                <a:solidFill>
                  <a:srgbClr val="F49D0A"/>
                </a:solidFill>
                <a:latin typeface="Calibri"/>
                <a:cs typeface="Calibri"/>
              </a:rPr>
              <a:t> </a:t>
            </a:r>
            <a:r>
              <a:rPr sz="950" i="1" spc="-20" dirty="0">
                <a:solidFill>
                  <a:srgbClr val="F49D0A"/>
                </a:solidFill>
                <a:latin typeface="Calibri"/>
                <a:cs typeface="Calibri"/>
              </a:rPr>
              <a:t>F=PP</a:t>
            </a:r>
            <a:endParaRPr sz="950" dirty="0">
              <a:latin typeface="Calibri"/>
              <a:cs typeface="Calibri"/>
            </a:endParaRPr>
          </a:p>
        </p:txBody>
      </p:sp>
      <p:pic>
        <p:nvPicPr>
          <p:cNvPr id="44" name="Imagen 43">
            <a:extLst>
              <a:ext uri="{FF2B5EF4-FFF2-40B4-BE49-F238E27FC236}">
                <a16:creationId xmlns:a16="http://schemas.microsoft.com/office/drawing/2014/main" id="{066B0684-5573-4539-BB31-6DB6A3A781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9985" y="2519267"/>
            <a:ext cx="4006459" cy="1624487"/>
          </a:xfrm>
          <a:prstGeom prst="rect">
            <a:avLst/>
          </a:prstGeom>
        </p:spPr>
      </p:pic>
      <p:pic>
        <p:nvPicPr>
          <p:cNvPr id="46" name="Imagen 45">
            <a:extLst>
              <a:ext uri="{FF2B5EF4-FFF2-40B4-BE49-F238E27FC236}">
                <a16:creationId xmlns:a16="http://schemas.microsoft.com/office/drawing/2014/main" id="{AD99F497-B709-4F0F-8DB2-0B99618934C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13256"/>
          <a:stretch/>
        </p:blipFill>
        <p:spPr>
          <a:xfrm>
            <a:off x="134911" y="2523936"/>
            <a:ext cx="4382871" cy="159851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Paso</a:t>
            </a:r>
            <a:r>
              <a:rPr spc="-65" dirty="0"/>
              <a:t> </a:t>
            </a:r>
            <a:r>
              <a:rPr dirty="0"/>
              <a:t>4</a:t>
            </a:r>
            <a:r>
              <a:rPr spc="-45" dirty="0"/>
              <a:t> </a:t>
            </a:r>
            <a:r>
              <a:rPr dirty="0"/>
              <a:t>—</a:t>
            </a:r>
            <a:r>
              <a:rPr spc="-60" dirty="0"/>
              <a:t> </a:t>
            </a:r>
            <a:r>
              <a:rPr lang="es-AR" spc="-10" dirty="0"/>
              <a:t>Unión</a:t>
            </a:r>
            <a:r>
              <a:rPr spc="-45" dirty="0"/>
              <a:t> </a:t>
            </a:r>
            <a:r>
              <a:rPr dirty="0"/>
              <a:t>(OR</a:t>
            </a:r>
            <a:r>
              <a:rPr spc="-60" dirty="0"/>
              <a:t> </a:t>
            </a:r>
            <a:r>
              <a:rPr spc="-10" dirty="0"/>
              <a:t>Difuso)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59409" y="743167"/>
            <a:ext cx="8333105" cy="415290"/>
            <a:chOff x="359409" y="743167"/>
            <a:chExt cx="8333105" cy="415290"/>
          </a:xfrm>
        </p:grpSpPr>
        <p:sp>
          <p:nvSpPr>
            <p:cNvPr id="4" name="object 4"/>
            <p:cNvSpPr/>
            <p:nvPr/>
          </p:nvSpPr>
          <p:spPr>
            <a:xfrm>
              <a:off x="456844" y="749517"/>
              <a:ext cx="8229600" cy="22860"/>
            </a:xfrm>
            <a:custGeom>
              <a:avLst/>
              <a:gdLst/>
              <a:ahLst/>
              <a:cxnLst/>
              <a:rect l="l" t="t" r="r" b="b"/>
              <a:pathLst>
                <a:path w="8229600" h="22859">
                  <a:moveTo>
                    <a:pt x="8229231" y="0"/>
                  </a:moveTo>
                  <a:lnTo>
                    <a:pt x="0" y="0"/>
                  </a:lnTo>
                  <a:lnTo>
                    <a:pt x="0" y="22682"/>
                  </a:lnTo>
                  <a:lnTo>
                    <a:pt x="4114800" y="22682"/>
                  </a:lnTo>
                  <a:lnTo>
                    <a:pt x="8229231" y="22682"/>
                  </a:lnTo>
                  <a:lnTo>
                    <a:pt x="8229231" y="0"/>
                  </a:lnTo>
                  <a:close/>
                </a:path>
              </a:pathLst>
            </a:custGeom>
            <a:solidFill>
              <a:srgbClr val="292C3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456844" y="749517"/>
              <a:ext cx="8229600" cy="22860"/>
            </a:xfrm>
            <a:custGeom>
              <a:avLst/>
              <a:gdLst/>
              <a:ahLst/>
              <a:cxnLst/>
              <a:rect l="l" t="t" r="r" b="b"/>
              <a:pathLst>
                <a:path w="8229600" h="22859">
                  <a:moveTo>
                    <a:pt x="4114800" y="22682"/>
                  </a:moveTo>
                  <a:lnTo>
                    <a:pt x="0" y="22682"/>
                  </a:lnTo>
                  <a:lnTo>
                    <a:pt x="0" y="0"/>
                  </a:lnTo>
                  <a:lnTo>
                    <a:pt x="8229231" y="0"/>
                  </a:lnTo>
                  <a:lnTo>
                    <a:pt x="8229231" y="22682"/>
                  </a:lnTo>
                  <a:lnTo>
                    <a:pt x="4114800" y="22682"/>
                  </a:lnTo>
                  <a:close/>
                </a:path>
              </a:pathLst>
            </a:custGeom>
            <a:ln w="12599">
              <a:solidFill>
                <a:srgbClr val="292C3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65759" y="804597"/>
              <a:ext cx="347980" cy="347980"/>
            </a:xfrm>
            <a:custGeom>
              <a:avLst/>
              <a:gdLst/>
              <a:ahLst/>
              <a:cxnLst/>
              <a:rect l="l" t="t" r="r" b="b"/>
              <a:pathLst>
                <a:path w="347980" h="347980">
                  <a:moveTo>
                    <a:pt x="173875" y="0"/>
                  </a:moveTo>
                  <a:lnTo>
                    <a:pt x="128833" y="5853"/>
                  </a:lnTo>
                  <a:lnTo>
                    <a:pt x="86753" y="23050"/>
                  </a:lnTo>
                  <a:lnTo>
                    <a:pt x="50893" y="50584"/>
                  </a:lnTo>
                  <a:lnTo>
                    <a:pt x="23406" y="86766"/>
                  </a:lnTo>
                  <a:lnTo>
                    <a:pt x="5897" y="128524"/>
                  </a:lnTo>
                  <a:lnTo>
                    <a:pt x="0" y="173520"/>
                  </a:lnTo>
                  <a:lnTo>
                    <a:pt x="1480" y="196294"/>
                  </a:lnTo>
                  <a:lnTo>
                    <a:pt x="13217" y="239948"/>
                  </a:lnTo>
                  <a:lnTo>
                    <a:pt x="35984" y="279352"/>
                  </a:lnTo>
                  <a:lnTo>
                    <a:pt x="67895" y="311416"/>
                  </a:lnTo>
                  <a:lnTo>
                    <a:pt x="107304" y="334040"/>
                  </a:lnTo>
                  <a:lnTo>
                    <a:pt x="151102" y="345878"/>
                  </a:lnTo>
                  <a:lnTo>
                    <a:pt x="173875" y="347408"/>
                  </a:lnTo>
                  <a:lnTo>
                    <a:pt x="196443" y="345878"/>
                  </a:lnTo>
                  <a:lnTo>
                    <a:pt x="240096" y="334040"/>
                  </a:lnTo>
                  <a:lnTo>
                    <a:pt x="279500" y="311416"/>
                  </a:lnTo>
                  <a:lnTo>
                    <a:pt x="311416" y="279352"/>
                  </a:lnTo>
                  <a:lnTo>
                    <a:pt x="334188" y="239948"/>
                  </a:lnTo>
                  <a:lnTo>
                    <a:pt x="345917" y="196294"/>
                  </a:lnTo>
                  <a:lnTo>
                    <a:pt x="347395" y="173520"/>
                  </a:lnTo>
                  <a:lnTo>
                    <a:pt x="345917" y="150752"/>
                  </a:lnTo>
                  <a:lnTo>
                    <a:pt x="334188" y="107104"/>
                  </a:lnTo>
                  <a:lnTo>
                    <a:pt x="311416" y="67695"/>
                  </a:lnTo>
                  <a:lnTo>
                    <a:pt x="279500" y="35635"/>
                  </a:lnTo>
                  <a:lnTo>
                    <a:pt x="240096" y="13067"/>
                  </a:lnTo>
                  <a:lnTo>
                    <a:pt x="196443" y="1474"/>
                  </a:lnTo>
                  <a:lnTo>
                    <a:pt x="173875" y="0"/>
                  </a:lnTo>
                  <a:close/>
                </a:path>
              </a:pathLst>
            </a:custGeom>
            <a:solidFill>
              <a:srgbClr val="7CD2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65759" y="804597"/>
              <a:ext cx="347980" cy="347980"/>
            </a:xfrm>
            <a:custGeom>
              <a:avLst/>
              <a:gdLst/>
              <a:ahLst/>
              <a:cxnLst/>
              <a:rect l="l" t="t" r="r" b="b"/>
              <a:pathLst>
                <a:path w="347980" h="347980">
                  <a:moveTo>
                    <a:pt x="0" y="173520"/>
                  </a:moveTo>
                  <a:lnTo>
                    <a:pt x="1480" y="150752"/>
                  </a:lnTo>
                  <a:lnTo>
                    <a:pt x="5897" y="128524"/>
                  </a:lnTo>
                  <a:lnTo>
                    <a:pt x="23406" y="86766"/>
                  </a:lnTo>
                  <a:lnTo>
                    <a:pt x="50893" y="50584"/>
                  </a:lnTo>
                  <a:lnTo>
                    <a:pt x="86753" y="23050"/>
                  </a:lnTo>
                  <a:lnTo>
                    <a:pt x="128833" y="5853"/>
                  </a:lnTo>
                  <a:lnTo>
                    <a:pt x="173875" y="0"/>
                  </a:lnTo>
                  <a:lnTo>
                    <a:pt x="218606" y="5853"/>
                  </a:lnTo>
                  <a:lnTo>
                    <a:pt x="260642" y="23050"/>
                  </a:lnTo>
                  <a:lnTo>
                    <a:pt x="296503" y="50584"/>
                  </a:lnTo>
                  <a:lnTo>
                    <a:pt x="324002" y="86766"/>
                  </a:lnTo>
                  <a:lnTo>
                    <a:pt x="341504" y="128524"/>
                  </a:lnTo>
                  <a:lnTo>
                    <a:pt x="347395" y="173520"/>
                  </a:lnTo>
                  <a:lnTo>
                    <a:pt x="345917" y="196294"/>
                  </a:lnTo>
                  <a:lnTo>
                    <a:pt x="341504" y="218527"/>
                  </a:lnTo>
                  <a:lnTo>
                    <a:pt x="324002" y="260286"/>
                  </a:lnTo>
                  <a:lnTo>
                    <a:pt x="296503" y="296464"/>
                  </a:lnTo>
                  <a:lnTo>
                    <a:pt x="260642" y="324002"/>
                  </a:lnTo>
                  <a:lnTo>
                    <a:pt x="218606" y="341377"/>
                  </a:lnTo>
                  <a:lnTo>
                    <a:pt x="173875" y="347408"/>
                  </a:lnTo>
                  <a:lnTo>
                    <a:pt x="128833" y="341377"/>
                  </a:lnTo>
                  <a:lnTo>
                    <a:pt x="86753" y="324002"/>
                  </a:lnTo>
                  <a:lnTo>
                    <a:pt x="50893" y="296464"/>
                  </a:lnTo>
                  <a:lnTo>
                    <a:pt x="23406" y="260286"/>
                  </a:lnTo>
                  <a:lnTo>
                    <a:pt x="5897" y="218527"/>
                  </a:lnTo>
                  <a:lnTo>
                    <a:pt x="1480" y="196294"/>
                  </a:lnTo>
                  <a:lnTo>
                    <a:pt x="0" y="173520"/>
                  </a:lnTo>
                  <a:close/>
                </a:path>
              </a:pathLst>
            </a:custGeom>
            <a:ln w="12599">
              <a:solidFill>
                <a:srgbClr val="7CD2F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485178" y="866421"/>
            <a:ext cx="109220" cy="224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00" b="1" spc="-50" dirty="0">
                <a:solidFill>
                  <a:srgbClr val="FFFFFF"/>
                </a:solidFill>
                <a:latin typeface="Calibri"/>
                <a:cs typeface="Calibri"/>
              </a:rPr>
              <a:t>4</a:t>
            </a:r>
            <a:endParaRPr sz="130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99896" y="867869"/>
            <a:ext cx="527113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b="1" dirty="0">
                <a:solidFill>
                  <a:srgbClr val="7CD2FB"/>
                </a:solidFill>
                <a:latin typeface="Calibri"/>
                <a:cs typeface="Calibri"/>
              </a:rPr>
              <a:t>Combinar</a:t>
            </a:r>
            <a:r>
              <a:rPr sz="1100" b="1" spc="-20" dirty="0">
                <a:solidFill>
                  <a:srgbClr val="7CD2FB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7CD2FB"/>
                </a:solidFill>
                <a:latin typeface="Calibri"/>
                <a:cs typeface="Calibri"/>
              </a:rPr>
              <a:t>todos</a:t>
            </a:r>
            <a:r>
              <a:rPr sz="1100" b="1" spc="-15" dirty="0">
                <a:solidFill>
                  <a:srgbClr val="7CD2FB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7CD2FB"/>
                </a:solidFill>
                <a:latin typeface="Calibri"/>
                <a:cs typeface="Calibri"/>
              </a:rPr>
              <a:t>los</a:t>
            </a:r>
            <a:r>
              <a:rPr sz="1100" b="1" spc="-30" dirty="0">
                <a:solidFill>
                  <a:srgbClr val="7CD2FB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7CD2FB"/>
                </a:solidFill>
                <a:latin typeface="Calibri"/>
                <a:cs typeface="Calibri"/>
              </a:rPr>
              <a:t>consecuentes</a:t>
            </a:r>
            <a:r>
              <a:rPr sz="1100" b="1" spc="-30" dirty="0">
                <a:solidFill>
                  <a:srgbClr val="7CD2FB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7CD2FB"/>
                </a:solidFill>
                <a:latin typeface="Calibri"/>
                <a:cs typeface="Calibri"/>
              </a:rPr>
              <a:t>recortados</a:t>
            </a:r>
            <a:r>
              <a:rPr sz="1100" b="1" spc="-30" dirty="0">
                <a:solidFill>
                  <a:srgbClr val="7CD2FB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7CD2FB"/>
                </a:solidFill>
                <a:latin typeface="Calibri"/>
                <a:cs typeface="Calibri"/>
              </a:rPr>
              <a:t>en</a:t>
            </a:r>
            <a:r>
              <a:rPr sz="1100" b="1" spc="-30" dirty="0">
                <a:solidFill>
                  <a:srgbClr val="7CD2FB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7CD2FB"/>
                </a:solidFill>
                <a:latin typeface="Calibri"/>
                <a:cs typeface="Calibri"/>
              </a:rPr>
              <a:t>una</a:t>
            </a:r>
            <a:r>
              <a:rPr sz="1100" b="1" spc="-10" dirty="0">
                <a:solidFill>
                  <a:srgbClr val="7CD2FB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7CD2FB"/>
                </a:solidFill>
                <a:latin typeface="Calibri"/>
                <a:cs typeface="Calibri"/>
              </a:rPr>
              <a:t>única</a:t>
            </a:r>
            <a:r>
              <a:rPr sz="1100" b="1" spc="-25" dirty="0">
                <a:solidFill>
                  <a:srgbClr val="7CD2FB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7CD2FB"/>
                </a:solidFill>
                <a:latin typeface="Calibri"/>
                <a:cs typeface="Calibri"/>
              </a:rPr>
              <a:t>función</a:t>
            </a:r>
            <a:r>
              <a:rPr sz="1100" b="1" spc="-25" dirty="0">
                <a:solidFill>
                  <a:srgbClr val="7CD2FB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7CD2FB"/>
                </a:solidFill>
                <a:latin typeface="Calibri"/>
                <a:cs typeface="Calibri"/>
              </a:rPr>
              <a:t>de</a:t>
            </a:r>
            <a:r>
              <a:rPr sz="1100" b="1" spc="-30" dirty="0">
                <a:solidFill>
                  <a:srgbClr val="7CD2FB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7CD2FB"/>
                </a:solidFill>
                <a:latin typeface="Calibri"/>
                <a:cs typeface="Calibri"/>
              </a:rPr>
              <a:t>membresía</a:t>
            </a:r>
            <a:r>
              <a:rPr sz="1100" b="1" spc="-25" dirty="0">
                <a:solidFill>
                  <a:srgbClr val="7CD2FB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7CD2FB"/>
                </a:solidFill>
                <a:latin typeface="Calibri"/>
                <a:cs typeface="Calibri"/>
              </a:rPr>
              <a:t>de</a:t>
            </a:r>
            <a:r>
              <a:rPr sz="1100" b="1" spc="-10" dirty="0">
                <a:solidFill>
                  <a:srgbClr val="7CD2FB"/>
                </a:solidFill>
                <a:latin typeface="Calibri"/>
                <a:cs typeface="Calibri"/>
              </a:rPr>
              <a:t> salida</a:t>
            </a:r>
            <a:endParaRPr sz="1100">
              <a:latin typeface="Calibri"/>
              <a:cs typeface="Calibri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239763" y="1099060"/>
            <a:ext cx="8628380" cy="1175385"/>
            <a:chOff x="239763" y="1099060"/>
            <a:chExt cx="8628380" cy="1175385"/>
          </a:xfrm>
        </p:grpSpPr>
        <p:pic>
          <p:nvPicPr>
            <p:cNvPr id="11" name="object 1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39763" y="1099060"/>
              <a:ext cx="8627757" cy="1175067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365404" y="1188722"/>
              <a:ext cx="8412480" cy="960119"/>
            </a:xfrm>
            <a:custGeom>
              <a:avLst/>
              <a:gdLst/>
              <a:ahLst/>
              <a:cxnLst/>
              <a:rect l="l" t="t" r="r" b="b"/>
              <a:pathLst>
                <a:path w="8412480" h="960119">
                  <a:moveTo>
                    <a:pt x="8412111" y="0"/>
                  </a:moveTo>
                  <a:lnTo>
                    <a:pt x="0" y="0"/>
                  </a:lnTo>
                  <a:lnTo>
                    <a:pt x="0" y="959764"/>
                  </a:lnTo>
                  <a:lnTo>
                    <a:pt x="4206240" y="959764"/>
                  </a:lnTo>
                  <a:lnTo>
                    <a:pt x="8412111" y="959764"/>
                  </a:lnTo>
                  <a:lnTo>
                    <a:pt x="8412111" y="0"/>
                  </a:lnTo>
                  <a:close/>
                </a:path>
              </a:pathLst>
            </a:custGeom>
            <a:solidFill>
              <a:srgbClr val="191C2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365404" y="1188722"/>
            <a:ext cx="8412480" cy="487313"/>
          </a:xfrm>
          <a:prstGeom prst="rect">
            <a:avLst/>
          </a:prstGeom>
          <a:ln w="12599">
            <a:solidFill>
              <a:srgbClr val="292C39"/>
            </a:solidFill>
          </a:ln>
        </p:spPr>
        <p:txBody>
          <a:bodyPr vert="horz" wrap="square" lIns="0" tIns="88900" rIns="0" bIns="0" rtlCol="0">
            <a:spAutoFit/>
          </a:bodyPr>
          <a:lstStyle/>
          <a:p>
            <a:pPr marL="226695">
              <a:lnSpc>
                <a:spcPct val="100000"/>
              </a:lnSpc>
              <a:spcBef>
                <a:spcPts val="700"/>
              </a:spcBef>
            </a:pP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Las</a:t>
            </a:r>
            <a:r>
              <a:rPr sz="10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spc="-10" dirty="0">
                <a:solidFill>
                  <a:srgbClr val="C7CFE7"/>
                </a:solidFill>
                <a:latin typeface="Calibri"/>
                <a:cs typeface="Calibri"/>
              </a:rPr>
              <a:t>contribuciones</a:t>
            </a:r>
            <a:r>
              <a:rPr sz="10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de</a:t>
            </a:r>
            <a:r>
              <a:rPr sz="1000" spc="-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las</a:t>
            </a:r>
            <a:r>
              <a:rPr sz="10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reglas</a:t>
            </a:r>
            <a:r>
              <a:rPr sz="10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activas</a:t>
            </a:r>
            <a:r>
              <a:rPr sz="10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se</a:t>
            </a:r>
            <a:r>
              <a:rPr sz="1000" spc="-10" dirty="0">
                <a:solidFill>
                  <a:srgbClr val="C7CFE7"/>
                </a:solidFill>
                <a:latin typeface="Calibri"/>
                <a:cs typeface="Calibri"/>
              </a:rPr>
              <a:t> combinan</a:t>
            </a:r>
            <a:r>
              <a:rPr sz="10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usando</a:t>
            </a:r>
            <a:r>
              <a:rPr sz="1000" spc="-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la</a:t>
            </a:r>
            <a:r>
              <a:rPr sz="10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spc="-45" dirty="0">
                <a:solidFill>
                  <a:srgbClr val="C7CFE7"/>
                </a:solidFill>
                <a:latin typeface="Calibri"/>
                <a:cs typeface="Calibri"/>
              </a:rPr>
              <a:t>T-</a:t>
            </a:r>
            <a:r>
              <a:rPr sz="1000" spc="-10" dirty="0">
                <a:solidFill>
                  <a:srgbClr val="C7CFE7"/>
                </a:solidFill>
                <a:latin typeface="Calibri"/>
                <a:cs typeface="Calibri"/>
              </a:rPr>
              <a:t>conorma máximo</a:t>
            </a:r>
            <a:r>
              <a:rPr sz="10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(OR</a:t>
            </a:r>
            <a:r>
              <a:rPr sz="10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difuso).</a:t>
            </a:r>
            <a:r>
              <a:rPr sz="1000" spc="-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endParaRPr lang="es-AR" sz="1000" spc="-10" dirty="0">
              <a:solidFill>
                <a:srgbClr val="C7CFE7"/>
              </a:solidFill>
              <a:latin typeface="Calibri"/>
              <a:cs typeface="Calibri"/>
            </a:endParaRPr>
          </a:p>
          <a:p>
            <a:pPr marL="226695">
              <a:lnSpc>
                <a:spcPct val="100000"/>
              </a:lnSpc>
              <a:spcBef>
                <a:spcPts val="700"/>
              </a:spcBef>
            </a:pPr>
            <a:r>
              <a:rPr sz="1000" dirty="0" err="1">
                <a:solidFill>
                  <a:srgbClr val="C7CFE7"/>
                </a:solidFill>
                <a:latin typeface="Calibri"/>
                <a:cs typeface="Calibri"/>
              </a:rPr>
              <a:t>En</a:t>
            </a:r>
            <a:r>
              <a:rPr sz="10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la</a:t>
            </a:r>
            <a:r>
              <a:rPr sz="1000" spc="-10" dirty="0">
                <a:solidFill>
                  <a:srgbClr val="C7CFE7"/>
                </a:solidFill>
                <a:latin typeface="Calibri"/>
                <a:cs typeface="Calibri"/>
              </a:rPr>
              <a:t> práctica,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como</a:t>
            </a:r>
            <a:r>
              <a:rPr sz="1000" spc="-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la</a:t>
            </a:r>
            <a:r>
              <a:rPr sz="10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spc="-10" dirty="0">
                <a:solidFill>
                  <a:srgbClr val="C7CFE7"/>
                </a:solidFill>
                <a:latin typeface="Calibri"/>
                <a:cs typeface="Calibri"/>
              </a:rPr>
              <a:t>mayoría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de</a:t>
            </a:r>
            <a:r>
              <a:rPr sz="1000" spc="-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las</a:t>
            </a:r>
            <a:r>
              <a:rPr sz="10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reglas</a:t>
            </a:r>
            <a:r>
              <a:rPr sz="10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tienen</a:t>
            </a:r>
            <a:r>
              <a:rPr sz="1000" spc="-2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α</a:t>
            </a:r>
            <a:r>
              <a:rPr sz="10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=</a:t>
            </a:r>
            <a:r>
              <a:rPr sz="1000" spc="-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0,</a:t>
            </a:r>
            <a:r>
              <a:rPr sz="1000" spc="-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solo</a:t>
            </a:r>
            <a:r>
              <a:rPr sz="1000" spc="-10" dirty="0">
                <a:solidFill>
                  <a:srgbClr val="C7CFE7"/>
                </a:solidFill>
                <a:latin typeface="Calibri"/>
                <a:cs typeface="Calibri"/>
              </a:rPr>
              <a:t> contribuyen </a:t>
            </a:r>
            <a:r>
              <a:rPr sz="1000" dirty="0">
                <a:solidFill>
                  <a:srgbClr val="C7CFE7"/>
                </a:solidFill>
                <a:latin typeface="Calibri"/>
                <a:cs typeface="Calibri"/>
              </a:rPr>
              <a:t>las</a:t>
            </a:r>
            <a:r>
              <a:rPr sz="10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dirty="0" err="1">
                <a:solidFill>
                  <a:srgbClr val="C7CFE7"/>
                </a:solidFill>
                <a:latin typeface="Calibri"/>
                <a:cs typeface="Calibri"/>
              </a:rPr>
              <a:t>reglas</a:t>
            </a:r>
            <a:r>
              <a:rPr sz="10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1000" spc="-10" dirty="0" err="1">
                <a:solidFill>
                  <a:srgbClr val="C7CFE7"/>
                </a:solidFill>
                <a:latin typeface="Calibri"/>
                <a:cs typeface="Calibri"/>
              </a:rPr>
              <a:t>activas</a:t>
            </a:r>
            <a:r>
              <a:rPr lang="es-AR" sz="1000" spc="-20" dirty="0">
                <a:solidFill>
                  <a:srgbClr val="C7CFE7"/>
                </a:solidFill>
                <a:latin typeface="Calibri"/>
                <a:cs typeface="Calibri"/>
              </a:rPr>
              <a:t>.</a:t>
            </a:r>
            <a:endParaRPr sz="1000" dirty="0">
              <a:latin typeface="Calibri"/>
              <a:cs typeface="Calibri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442696" y="2237297"/>
            <a:ext cx="4936490" cy="47370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50" i="1" dirty="0">
                <a:solidFill>
                  <a:srgbClr val="F49D0A"/>
                </a:solidFill>
                <a:latin typeface="Calibri"/>
                <a:cs typeface="Calibri"/>
              </a:rPr>
              <a:t>Del</a:t>
            </a:r>
            <a:r>
              <a:rPr sz="950" i="1" spc="-15" dirty="0">
                <a:solidFill>
                  <a:srgbClr val="F49D0A"/>
                </a:solidFill>
                <a:latin typeface="Calibri"/>
                <a:cs typeface="Calibri"/>
              </a:rPr>
              <a:t> </a:t>
            </a:r>
            <a:r>
              <a:rPr sz="950" i="1" dirty="0">
                <a:solidFill>
                  <a:srgbClr val="F49D0A"/>
                </a:solidFill>
                <a:latin typeface="Calibri"/>
                <a:cs typeface="Calibri"/>
              </a:rPr>
              <a:t>ejemplo:</a:t>
            </a:r>
            <a:r>
              <a:rPr sz="950" i="1" spc="-10" dirty="0">
                <a:solidFill>
                  <a:srgbClr val="F49D0A"/>
                </a:solidFill>
                <a:latin typeface="Calibri"/>
                <a:cs typeface="Calibri"/>
              </a:rPr>
              <a:t> </a:t>
            </a:r>
            <a:r>
              <a:rPr sz="950" i="1" dirty="0">
                <a:solidFill>
                  <a:srgbClr val="F49D0A"/>
                </a:solidFill>
                <a:latin typeface="Calibri"/>
                <a:cs typeface="Calibri"/>
              </a:rPr>
              <a:t>se</a:t>
            </a:r>
            <a:r>
              <a:rPr sz="950" i="1" spc="-25" dirty="0">
                <a:solidFill>
                  <a:srgbClr val="F49D0A"/>
                </a:solidFill>
                <a:latin typeface="Calibri"/>
                <a:cs typeface="Calibri"/>
              </a:rPr>
              <a:t> </a:t>
            </a:r>
            <a:r>
              <a:rPr sz="950" i="1" dirty="0">
                <a:solidFill>
                  <a:srgbClr val="F49D0A"/>
                </a:solidFill>
                <a:latin typeface="Calibri"/>
                <a:cs typeface="Calibri"/>
              </a:rPr>
              <a:t>agregan</a:t>
            </a:r>
            <a:r>
              <a:rPr sz="950" i="1" spc="-15" dirty="0">
                <a:solidFill>
                  <a:srgbClr val="F49D0A"/>
                </a:solidFill>
                <a:latin typeface="Calibri"/>
                <a:cs typeface="Calibri"/>
              </a:rPr>
              <a:t> </a:t>
            </a:r>
            <a:r>
              <a:rPr sz="950" i="1" dirty="0">
                <a:solidFill>
                  <a:srgbClr val="F49D0A"/>
                </a:solidFill>
                <a:latin typeface="Calibri"/>
                <a:cs typeface="Calibri"/>
              </a:rPr>
              <a:t>las</a:t>
            </a:r>
            <a:r>
              <a:rPr sz="950" i="1" spc="-15" dirty="0">
                <a:solidFill>
                  <a:srgbClr val="F49D0A"/>
                </a:solidFill>
                <a:latin typeface="Calibri"/>
                <a:cs typeface="Calibri"/>
              </a:rPr>
              <a:t> </a:t>
            </a:r>
            <a:r>
              <a:rPr sz="950" i="1" spc="-10" dirty="0">
                <a:solidFill>
                  <a:srgbClr val="F49D0A"/>
                </a:solidFill>
                <a:latin typeface="Calibri"/>
                <a:cs typeface="Calibri"/>
              </a:rPr>
              <a:t>contribuciones</a:t>
            </a:r>
            <a:r>
              <a:rPr sz="950" i="1" spc="-20" dirty="0">
                <a:solidFill>
                  <a:srgbClr val="F49D0A"/>
                </a:solidFill>
                <a:latin typeface="Calibri"/>
                <a:cs typeface="Calibri"/>
              </a:rPr>
              <a:t> </a:t>
            </a:r>
            <a:r>
              <a:rPr sz="950" i="1" dirty="0">
                <a:solidFill>
                  <a:srgbClr val="F49D0A"/>
                </a:solidFill>
                <a:latin typeface="Calibri"/>
                <a:cs typeface="Calibri"/>
              </a:rPr>
              <a:t>de</a:t>
            </a:r>
            <a:r>
              <a:rPr sz="950" i="1" spc="-5" dirty="0">
                <a:solidFill>
                  <a:srgbClr val="F49D0A"/>
                </a:solidFill>
                <a:latin typeface="Calibri"/>
                <a:cs typeface="Calibri"/>
              </a:rPr>
              <a:t> </a:t>
            </a:r>
            <a:r>
              <a:rPr sz="950" i="1" spc="-10" dirty="0">
                <a:solidFill>
                  <a:srgbClr val="F49D0A"/>
                </a:solidFill>
                <a:latin typeface="Calibri"/>
                <a:cs typeface="Calibri"/>
              </a:rPr>
              <a:t>(Z,Z)→Z</a:t>
            </a:r>
            <a:r>
              <a:rPr sz="950" i="1" spc="-15" dirty="0">
                <a:solidFill>
                  <a:srgbClr val="F49D0A"/>
                </a:solidFill>
                <a:latin typeface="Calibri"/>
                <a:cs typeface="Calibri"/>
              </a:rPr>
              <a:t> </a:t>
            </a:r>
            <a:r>
              <a:rPr sz="950" i="1" dirty="0">
                <a:solidFill>
                  <a:srgbClr val="F49D0A"/>
                </a:solidFill>
                <a:latin typeface="Calibri"/>
                <a:cs typeface="Calibri"/>
              </a:rPr>
              <a:t>con</a:t>
            </a:r>
            <a:r>
              <a:rPr sz="950" i="1" spc="-5" dirty="0">
                <a:solidFill>
                  <a:srgbClr val="F49D0A"/>
                </a:solidFill>
                <a:latin typeface="Calibri"/>
                <a:cs typeface="Calibri"/>
              </a:rPr>
              <a:t> </a:t>
            </a:r>
            <a:r>
              <a:rPr sz="950" i="1" spc="-10" dirty="0">
                <a:solidFill>
                  <a:srgbClr val="F49D0A"/>
                </a:solidFill>
                <a:latin typeface="Calibri"/>
                <a:cs typeface="Calibri"/>
              </a:rPr>
              <a:t>α=0.33 </a:t>
            </a:r>
            <a:r>
              <a:rPr sz="950" i="1" dirty="0">
                <a:solidFill>
                  <a:srgbClr val="F49D0A"/>
                </a:solidFill>
                <a:latin typeface="Calibri"/>
                <a:cs typeface="Calibri"/>
              </a:rPr>
              <a:t>y</a:t>
            </a:r>
            <a:r>
              <a:rPr sz="950" i="1" spc="-15" dirty="0">
                <a:solidFill>
                  <a:srgbClr val="F49D0A"/>
                </a:solidFill>
                <a:latin typeface="Calibri"/>
                <a:cs typeface="Calibri"/>
              </a:rPr>
              <a:t> </a:t>
            </a:r>
            <a:r>
              <a:rPr sz="950" i="1" dirty="0">
                <a:solidFill>
                  <a:srgbClr val="F49D0A"/>
                </a:solidFill>
                <a:latin typeface="Calibri"/>
                <a:cs typeface="Calibri"/>
              </a:rPr>
              <a:t>(Z,PP)→PP</a:t>
            </a:r>
            <a:r>
              <a:rPr sz="950" i="1" spc="-5" dirty="0">
                <a:solidFill>
                  <a:srgbClr val="F49D0A"/>
                </a:solidFill>
                <a:latin typeface="Calibri"/>
                <a:cs typeface="Calibri"/>
              </a:rPr>
              <a:t> </a:t>
            </a:r>
            <a:r>
              <a:rPr sz="950" i="1" dirty="0">
                <a:solidFill>
                  <a:srgbClr val="F49D0A"/>
                </a:solidFill>
                <a:latin typeface="Calibri"/>
                <a:cs typeface="Calibri"/>
              </a:rPr>
              <a:t>con</a:t>
            </a:r>
            <a:r>
              <a:rPr sz="950" i="1" spc="-20" dirty="0">
                <a:solidFill>
                  <a:srgbClr val="F49D0A"/>
                </a:solidFill>
                <a:latin typeface="Calibri"/>
                <a:cs typeface="Calibri"/>
              </a:rPr>
              <a:t> </a:t>
            </a:r>
            <a:r>
              <a:rPr sz="950" i="1" spc="-10" dirty="0">
                <a:solidFill>
                  <a:srgbClr val="F49D0A"/>
                </a:solidFill>
                <a:latin typeface="Calibri"/>
                <a:cs typeface="Calibri"/>
              </a:rPr>
              <a:t>α=</a:t>
            </a:r>
            <a:r>
              <a:rPr lang="es-AR" sz="950" i="1" spc="-10" dirty="0">
                <a:solidFill>
                  <a:srgbClr val="F49D0A"/>
                </a:solidFill>
                <a:latin typeface="Calibri"/>
                <a:cs typeface="Calibri"/>
              </a:rPr>
              <a:t>0.20</a:t>
            </a:r>
            <a:endParaRPr sz="95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204"/>
              </a:spcBef>
            </a:pPr>
            <a:endParaRPr sz="950" dirty="0">
              <a:latin typeface="Calibri"/>
              <a:cs typeface="Calibri"/>
            </a:endParaRPr>
          </a:p>
          <a:p>
            <a:pPr marL="149860">
              <a:lnSpc>
                <a:spcPct val="100000"/>
              </a:lnSpc>
              <a:spcBef>
                <a:spcPts val="5"/>
              </a:spcBef>
              <a:tabLst>
                <a:tab pos="3761740" algn="l"/>
              </a:tabLst>
            </a:pPr>
            <a:r>
              <a:rPr sz="850" b="1" dirty="0">
                <a:solidFill>
                  <a:srgbClr val="51C379"/>
                </a:solidFill>
                <a:latin typeface="Calibri"/>
                <a:cs typeface="Calibri"/>
              </a:rPr>
              <a:t>	</a:t>
            </a:r>
            <a:endParaRPr sz="850" dirty="0">
              <a:latin typeface="Calibri"/>
              <a:cs typeface="Calibri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354198" y="2568590"/>
            <a:ext cx="3063241" cy="507831"/>
          </a:xfrm>
          <a:prstGeom prst="rect">
            <a:avLst/>
          </a:prstGeom>
          <a:ln w="12599">
            <a:solidFill>
              <a:srgbClr val="292C39"/>
            </a:solidFill>
          </a:ln>
        </p:spPr>
        <p:txBody>
          <a:bodyPr vert="horz" wrap="square" lIns="0" tIns="91440" rIns="0" bIns="0" rtlCol="0">
            <a:spAutoFit/>
          </a:bodyPr>
          <a:lstStyle/>
          <a:p>
            <a:pPr marL="226695" marR="184150">
              <a:lnSpc>
                <a:spcPct val="100000"/>
              </a:lnSpc>
              <a:spcBef>
                <a:spcPts val="720"/>
              </a:spcBef>
            </a:pP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Resultado:</a:t>
            </a:r>
            <a:r>
              <a:rPr sz="9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μ_salida(u)</a:t>
            </a:r>
            <a:r>
              <a:rPr sz="9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=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max</a:t>
            </a:r>
            <a:r>
              <a:rPr sz="9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de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ambos</a:t>
            </a:r>
            <a:r>
              <a:rPr sz="9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recortados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→</a:t>
            </a:r>
            <a:r>
              <a:rPr sz="9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función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 compuesta</a:t>
            </a:r>
            <a:r>
              <a:rPr sz="9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que cubre</a:t>
            </a:r>
            <a:r>
              <a:rPr sz="900" spc="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Z</a:t>
            </a:r>
            <a:r>
              <a:rPr sz="900" spc="-2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spc="-250" dirty="0">
                <a:solidFill>
                  <a:srgbClr val="C7CFE7"/>
                </a:solidFill>
                <a:latin typeface="MingLiU_HKSCS-ExtB"/>
                <a:cs typeface="MingLiU_HKSCS-ExtB"/>
              </a:rPr>
              <a:t>∪</a:t>
            </a:r>
            <a:r>
              <a:rPr sz="900" spc="-229" dirty="0">
                <a:solidFill>
                  <a:srgbClr val="C7CFE7"/>
                </a:solidFill>
                <a:latin typeface="MingLiU_HKSCS-ExtB"/>
                <a:cs typeface="MingLiU_HKSCS-ExtB"/>
              </a:rPr>
              <a:t> </a:t>
            </a:r>
            <a:r>
              <a:rPr lang="es-AR" sz="900" spc="-229" dirty="0">
                <a:solidFill>
                  <a:srgbClr val="C7CFE7"/>
                </a:solidFill>
                <a:latin typeface="MingLiU_HKSCS-ExtB"/>
                <a:cs typeface="MingLiU_HKSCS-ExtB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PP.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Este es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el</a:t>
            </a:r>
            <a:r>
              <a:rPr sz="9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conjunto</a:t>
            </a:r>
            <a:r>
              <a:rPr sz="9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borroso</a:t>
            </a:r>
            <a:r>
              <a:rPr sz="9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de</a:t>
            </a:r>
            <a:r>
              <a:rPr sz="900" spc="-1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spc="-10" dirty="0" err="1">
                <a:solidFill>
                  <a:srgbClr val="C7CFE7"/>
                </a:solidFill>
                <a:latin typeface="Calibri"/>
                <a:cs typeface="Calibri"/>
              </a:rPr>
              <a:t>salida</a:t>
            </a:r>
            <a:r>
              <a:rPr lang="es-AR" sz="900" spc="500" dirty="0">
                <a:solidFill>
                  <a:srgbClr val="C7CFE7"/>
                </a:solidFill>
                <a:latin typeface="Calibri"/>
                <a:cs typeface="Calibri"/>
              </a:rPr>
              <a:t>,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que</a:t>
            </a:r>
            <a:r>
              <a:rPr sz="900" spc="-2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entra</a:t>
            </a:r>
            <a:r>
              <a:rPr sz="900" spc="-2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al</a:t>
            </a:r>
            <a:r>
              <a:rPr sz="900" spc="-3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defuzzificador.</a:t>
            </a:r>
            <a:endParaRPr sz="900" dirty="0">
              <a:latin typeface="Calibri"/>
              <a:cs typeface="Calibri"/>
            </a:endParaRPr>
          </a:p>
        </p:txBody>
      </p:sp>
      <p:pic>
        <p:nvPicPr>
          <p:cNvPr id="36" name="Imagen 35">
            <a:extLst>
              <a:ext uri="{FF2B5EF4-FFF2-40B4-BE49-F238E27FC236}">
                <a16:creationId xmlns:a16="http://schemas.microsoft.com/office/drawing/2014/main" id="{7F18C0DC-95CD-4A51-9777-022B4CD945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284" y="2094514"/>
            <a:ext cx="3657600" cy="302601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Paso</a:t>
            </a:r>
            <a:r>
              <a:rPr spc="-60" dirty="0"/>
              <a:t> </a:t>
            </a:r>
            <a:r>
              <a:rPr dirty="0"/>
              <a:t>5</a:t>
            </a:r>
            <a:r>
              <a:rPr spc="-45" dirty="0"/>
              <a:t> </a:t>
            </a:r>
            <a:r>
              <a:rPr dirty="0"/>
              <a:t>—</a:t>
            </a:r>
            <a:r>
              <a:rPr spc="-50" dirty="0"/>
              <a:t> </a:t>
            </a:r>
            <a:r>
              <a:rPr spc="-10" dirty="0"/>
              <a:t>Defuzzificación</a:t>
            </a:r>
            <a:r>
              <a:rPr spc="-50" dirty="0"/>
              <a:t> </a:t>
            </a:r>
            <a:r>
              <a:rPr dirty="0"/>
              <a:t>por</a:t>
            </a:r>
            <a:r>
              <a:rPr spc="-50" dirty="0"/>
              <a:t> </a:t>
            </a:r>
            <a:r>
              <a:rPr spc="-10" dirty="0"/>
              <a:t>Centroide</a:t>
            </a:r>
            <a:r>
              <a:rPr spc="-45" dirty="0"/>
              <a:t> </a:t>
            </a:r>
            <a:r>
              <a:rPr spc="-10" dirty="0"/>
              <a:t>(CoG)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59409" y="743167"/>
            <a:ext cx="8333105" cy="415290"/>
            <a:chOff x="359409" y="743167"/>
            <a:chExt cx="8333105" cy="415290"/>
          </a:xfrm>
        </p:grpSpPr>
        <p:sp>
          <p:nvSpPr>
            <p:cNvPr id="4" name="object 4"/>
            <p:cNvSpPr/>
            <p:nvPr/>
          </p:nvSpPr>
          <p:spPr>
            <a:xfrm>
              <a:off x="456844" y="749517"/>
              <a:ext cx="8229600" cy="22860"/>
            </a:xfrm>
            <a:custGeom>
              <a:avLst/>
              <a:gdLst/>
              <a:ahLst/>
              <a:cxnLst/>
              <a:rect l="l" t="t" r="r" b="b"/>
              <a:pathLst>
                <a:path w="8229600" h="22859">
                  <a:moveTo>
                    <a:pt x="8229231" y="0"/>
                  </a:moveTo>
                  <a:lnTo>
                    <a:pt x="0" y="0"/>
                  </a:lnTo>
                  <a:lnTo>
                    <a:pt x="0" y="22682"/>
                  </a:lnTo>
                  <a:lnTo>
                    <a:pt x="4114800" y="22682"/>
                  </a:lnTo>
                  <a:lnTo>
                    <a:pt x="8229231" y="22682"/>
                  </a:lnTo>
                  <a:lnTo>
                    <a:pt x="8229231" y="0"/>
                  </a:lnTo>
                  <a:close/>
                </a:path>
              </a:pathLst>
            </a:custGeom>
            <a:solidFill>
              <a:srgbClr val="292C3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456844" y="749517"/>
              <a:ext cx="8229600" cy="22860"/>
            </a:xfrm>
            <a:custGeom>
              <a:avLst/>
              <a:gdLst/>
              <a:ahLst/>
              <a:cxnLst/>
              <a:rect l="l" t="t" r="r" b="b"/>
              <a:pathLst>
                <a:path w="8229600" h="22859">
                  <a:moveTo>
                    <a:pt x="4114800" y="22682"/>
                  </a:moveTo>
                  <a:lnTo>
                    <a:pt x="0" y="22682"/>
                  </a:lnTo>
                  <a:lnTo>
                    <a:pt x="0" y="0"/>
                  </a:lnTo>
                  <a:lnTo>
                    <a:pt x="8229231" y="0"/>
                  </a:lnTo>
                  <a:lnTo>
                    <a:pt x="8229231" y="22682"/>
                  </a:lnTo>
                  <a:lnTo>
                    <a:pt x="4114800" y="22682"/>
                  </a:lnTo>
                  <a:close/>
                </a:path>
              </a:pathLst>
            </a:custGeom>
            <a:ln w="12599">
              <a:solidFill>
                <a:srgbClr val="292C3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65759" y="804597"/>
              <a:ext cx="347980" cy="347980"/>
            </a:xfrm>
            <a:custGeom>
              <a:avLst/>
              <a:gdLst/>
              <a:ahLst/>
              <a:cxnLst/>
              <a:rect l="l" t="t" r="r" b="b"/>
              <a:pathLst>
                <a:path w="347980" h="347980">
                  <a:moveTo>
                    <a:pt x="173875" y="0"/>
                  </a:moveTo>
                  <a:lnTo>
                    <a:pt x="128833" y="5853"/>
                  </a:lnTo>
                  <a:lnTo>
                    <a:pt x="86753" y="23050"/>
                  </a:lnTo>
                  <a:lnTo>
                    <a:pt x="50893" y="50584"/>
                  </a:lnTo>
                  <a:lnTo>
                    <a:pt x="23406" y="86766"/>
                  </a:lnTo>
                  <a:lnTo>
                    <a:pt x="5897" y="128524"/>
                  </a:lnTo>
                  <a:lnTo>
                    <a:pt x="0" y="173520"/>
                  </a:lnTo>
                  <a:lnTo>
                    <a:pt x="1480" y="196294"/>
                  </a:lnTo>
                  <a:lnTo>
                    <a:pt x="13217" y="239948"/>
                  </a:lnTo>
                  <a:lnTo>
                    <a:pt x="35984" y="279352"/>
                  </a:lnTo>
                  <a:lnTo>
                    <a:pt x="67895" y="311416"/>
                  </a:lnTo>
                  <a:lnTo>
                    <a:pt x="107304" y="334040"/>
                  </a:lnTo>
                  <a:lnTo>
                    <a:pt x="151102" y="345878"/>
                  </a:lnTo>
                  <a:lnTo>
                    <a:pt x="173875" y="347408"/>
                  </a:lnTo>
                  <a:lnTo>
                    <a:pt x="196443" y="345878"/>
                  </a:lnTo>
                  <a:lnTo>
                    <a:pt x="240096" y="334040"/>
                  </a:lnTo>
                  <a:lnTo>
                    <a:pt x="279500" y="311416"/>
                  </a:lnTo>
                  <a:lnTo>
                    <a:pt x="311416" y="279352"/>
                  </a:lnTo>
                  <a:lnTo>
                    <a:pt x="334188" y="239948"/>
                  </a:lnTo>
                  <a:lnTo>
                    <a:pt x="345917" y="196294"/>
                  </a:lnTo>
                  <a:lnTo>
                    <a:pt x="347395" y="173520"/>
                  </a:lnTo>
                  <a:lnTo>
                    <a:pt x="345917" y="150752"/>
                  </a:lnTo>
                  <a:lnTo>
                    <a:pt x="334188" y="107104"/>
                  </a:lnTo>
                  <a:lnTo>
                    <a:pt x="311416" y="67695"/>
                  </a:lnTo>
                  <a:lnTo>
                    <a:pt x="279500" y="35635"/>
                  </a:lnTo>
                  <a:lnTo>
                    <a:pt x="240096" y="13067"/>
                  </a:lnTo>
                  <a:lnTo>
                    <a:pt x="196443" y="1474"/>
                  </a:lnTo>
                  <a:lnTo>
                    <a:pt x="173875" y="0"/>
                  </a:lnTo>
                  <a:close/>
                </a:path>
              </a:pathLst>
            </a:custGeom>
            <a:solidFill>
              <a:srgbClr val="51C37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65759" y="804597"/>
              <a:ext cx="347980" cy="347980"/>
            </a:xfrm>
            <a:custGeom>
              <a:avLst/>
              <a:gdLst/>
              <a:ahLst/>
              <a:cxnLst/>
              <a:rect l="l" t="t" r="r" b="b"/>
              <a:pathLst>
                <a:path w="347980" h="347980">
                  <a:moveTo>
                    <a:pt x="0" y="173520"/>
                  </a:moveTo>
                  <a:lnTo>
                    <a:pt x="1480" y="150752"/>
                  </a:lnTo>
                  <a:lnTo>
                    <a:pt x="5897" y="128524"/>
                  </a:lnTo>
                  <a:lnTo>
                    <a:pt x="23406" y="86766"/>
                  </a:lnTo>
                  <a:lnTo>
                    <a:pt x="50893" y="50584"/>
                  </a:lnTo>
                  <a:lnTo>
                    <a:pt x="86753" y="23050"/>
                  </a:lnTo>
                  <a:lnTo>
                    <a:pt x="128833" y="5853"/>
                  </a:lnTo>
                  <a:lnTo>
                    <a:pt x="173875" y="0"/>
                  </a:lnTo>
                  <a:lnTo>
                    <a:pt x="218606" y="5853"/>
                  </a:lnTo>
                  <a:lnTo>
                    <a:pt x="260642" y="23050"/>
                  </a:lnTo>
                  <a:lnTo>
                    <a:pt x="296503" y="50584"/>
                  </a:lnTo>
                  <a:lnTo>
                    <a:pt x="324002" y="86766"/>
                  </a:lnTo>
                  <a:lnTo>
                    <a:pt x="341504" y="128524"/>
                  </a:lnTo>
                  <a:lnTo>
                    <a:pt x="347395" y="173520"/>
                  </a:lnTo>
                  <a:lnTo>
                    <a:pt x="345917" y="196294"/>
                  </a:lnTo>
                  <a:lnTo>
                    <a:pt x="341504" y="218527"/>
                  </a:lnTo>
                  <a:lnTo>
                    <a:pt x="324002" y="260286"/>
                  </a:lnTo>
                  <a:lnTo>
                    <a:pt x="296503" y="296464"/>
                  </a:lnTo>
                  <a:lnTo>
                    <a:pt x="260642" y="324002"/>
                  </a:lnTo>
                  <a:lnTo>
                    <a:pt x="218606" y="341377"/>
                  </a:lnTo>
                  <a:lnTo>
                    <a:pt x="173875" y="347408"/>
                  </a:lnTo>
                  <a:lnTo>
                    <a:pt x="128833" y="341377"/>
                  </a:lnTo>
                  <a:lnTo>
                    <a:pt x="86753" y="324002"/>
                  </a:lnTo>
                  <a:lnTo>
                    <a:pt x="50893" y="296464"/>
                  </a:lnTo>
                  <a:lnTo>
                    <a:pt x="23406" y="260286"/>
                  </a:lnTo>
                  <a:lnTo>
                    <a:pt x="5897" y="218527"/>
                  </a:lnTo>
                  <a:lnTo>
                    <a:pt x="1480" y="196294"/>
                  </a:lnTo>
                  <a:lnTo>
                    <a:pt x="0" y="173520"/>
                  </a:lnTo>
                  <a:close/>
                </a:path>
              </a:pathLst>
            </a:custGeom>
            <a:ln w="12599">
              <a:solidFill>
                <a:srgbClr val="51C37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485178" y="866421"/>
            <a:ext cx="109220" cy="224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00" b="1" spc="-50" dirty="0">
                <a:solidFill>
                  <a:srgbClr val="FFFFFF"/>
                </a:solidFill>
                <a:latin typeface="Calibri"/>
                <a:cs typeface="Calibri"/>
              </a:rPr>
              <a:t>5</a:t>
            </a:r>
            <a:endParaRPr sz="130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99896" y="867869"/>
            <a:ext cx="428942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b="1" spc="-10" dirty="0">
                <a:solidFill>
                  <a:srgbClr val="51C379"/>
                </a:solidFill>
                <a:latin typeface="Calibri"/>
                <a:cs typeface="Calibri"/>
              </a:rPr>
              <a:t>Convertir </a:t>
            </a:r>
            <a:r>
              <a:rPr sz="1100" b="1" dirty="0">
                <a:solidFill>
                  <a:srgbClr val="51C379"/>
                </a:solidFill>
                <a:latin typeface="Calibri"/>
                <a:cs typeface="Calibri"/>
              </a:rPr>
              <a:t>el</a:t>
            </a:r>
            <a:r>
              <a:rPr sz="1100" b="1" spc="-15" dirty="0">
                <a:solidFill>
                  <a:srgbClr val="51C379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51C379"/>
                </a:solidFill>
                <a:latin typeface="Calibri"/>
                <a:cs typeface="Calibri"/>
              </a:rPr>
              <a:t>conjunto</a:t>
            </a:r>
            <a:r>
              <a:rPr sz="1100" b="1" spc="-15" dirty="0">
                <a:solidFill>
                  <a:srgbClr val="51C379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51C379"/>
                </a:solidFill>
                <a:latin typeface="Calibri"/>
                <a:cs typeface="Calibri"/>
              </a:rPr>
              <a:t>borroso de</a:t>
            </a:r>
            <a:r>
              <a:rPr sz="1100" b="1" spc="-15" dirty="0">
                <a:solidFill>
                  <a:srgbClr val="51C379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51C379"/>
                </a:solidFill>
                <a:latin typeface="Calibri"/>
                <a:cs typeface="Calibri"/>
              </a:rPr>
              <a:t>salida</a:t>
            </a:r>
            <a:r>
              <a:rPr sz="1100" b="1" spc="-10" dirty="0">
                <a:solidFill>
                  <a:srgbClr val="51C379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51C379"/>
                </a:solidFill>
                <a:latin typeface="Calibri"/>
                <a:cs typeface="Calibri"/>
              </a:rPr>
              <a:t>en</a:t>
            </a:r>
            <a:r>
              <a:rPr sz="1100" b="1" spc="-10" dirty="0">
                <a:solidFill>
                  <a:srgbClr val="51C379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51C379"/>
                </a:solidFill>
                <a:latin typeface="Calibri"/>
                <a:cs typeface="Calibri"/>
              </a:rPr>
              <a:t>un</a:t>
            </a:r>
            <a:r>
              <a:rPr sz="1100" b="1" spc="-10" dirty="0">
                <a:solidFill>
                  <a:srgbClr val="51C379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51C379"/>
                </a:solidFill>
                <a:latin typeface="Calibri"/>
                <a:cs typeface="Calibri"/>
              </a:rPr>
              <a:t>valor</a:t>
            </a:r>
            <a:r>
              <a:rPr sz="1100" b="1" spc="-20" dirty="0">
                <a:solidFill>
                  <a:srgbClr val="51C379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51C379"/>
                </a:solidFill>
                <a:latin typeface="Calibri"/>
                <a:cs typeface="Calibri"/>
              </a:rPr>
              <a:t>nítido</a:t>
            </a:r>
            <a:r>
              <a:rPr sz="1100" b="1" spc="-5" dirty="0">
                <a:solidFill>
                  <a:srgbClr val="51C379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51C379"/>
                </a:solidFill>
                <a:latin typeface="Calibri"/>
                <a:cs typeface="Calibri"/>
              </a:rPr>
              <a:t>de</a:t>
            </a:r>
            <a:r>
              <a:rPr sz="1100" b="1" spc="-10" dirty="0">
                <a:solidFill>
                  <a:srgbClr val="51C379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51C379"/>
                </a:solidFill>
                <a:latin typeface="Calibri"/>
                <a:cs typeface="Calibri"/>
              </a:rPr>
              <a:t>fuerza</a:t>
            </a:r>
            <a:r>
              <a:rPr sz="1100" b="1" spc="-15" dirty="0">
                <a:solidFill>
                  <a:srgbClr val="51C379"/>
                </a:solidFill>
                <a:latin typeface="Calibri"/>
                <a:cs typeface="Calibri"/>
              </a:rPr>
              <a:t> </a:t>
            </a:r>
            <a:r>
              <a:rPr sz="1100" b="1" dirty="0">
                <a:solidFill>
                  <a:srgbClr val="51C379"/>
                </a:solidFill>
                <a:latin typeface="Calibri"/>
                <a:cs typeface="Calibri"/>
              </a:rPr>
              <a:t>F*</a:t>
            </a:r>
            <a:r>
              <a:rPr sz="1100" b="1" spc="-5" dirty="0">
                <a:solidFill>
                  <a:srgbClr val="51C379"/>
                </a:solidFill>
                <a:latin typeface="Calibri"/>
                <a:cs typeface="Calibri"/>
              </a:rPr>
              <a:t> </a:t>
            </a:r>
            <a:r>
              <a:rPr sz="1100" b="1" spc="-25" dirty="0">
                <a:solidFill>
                  <a:srgbClr val="51C379"/>
                </a:solidFill>
                <a:latin typeface="Calibri"/>
                <a:cs typeface="Calibri"/>
              </a:rPr>
              <a:t>[N]</a:t>
            </a:r>
            <a:endParaRPr sz="1100">
              <a:latin typeface="Calibri"/>
              <a:cs typeface="Calibri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239763" y="1099060"/>
            <a:ext cx="5610860" cy="1449705"/>
            <a:chOff x="239763" y="1099060"/>
            <a:chExt cx="5610860" cy="1449705"/>
          </a:xfrm>
        </p:grpSpPr>
        <p:pic>
          <p:nvPicPr>
            <p:cNvPr id="11" name="object 1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39763" y="1099060"/>
              <a:ext cx="5610237" cy="1449387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365404" y="1188722"/>
              <a:ext cx="5394960" cy="1234440"/>
            </a:xfrm>
            <a:custGeom>
              <a:avLst/>
              <a:gdLst/>
              <a:ahLst/>
              <a:cxnLst/>
              <a:rect l="l" t="t" r="r" b="b"/>
              <a:pathLst>
                <a:path w="5394960" h="1234439">
                  <a:moveTo>
                    <a:pt x="5394591" y="0"/>
                  </a:moveTo>
                  <a:lnTo>
                    <a:pt x="0" y="0"/>
                  </a:lnTo>
                  <a:lnTo>
                    <a:pt x="0" y="1234084"/>
                  </a:lnTo>
                  <a:lnTo>
                    <a:pt x="2697480" y="1234084"/>
                  </a:lnTo>
                  <a:lnTo>
                    <a:pt x="5394591" y="1234084"/>
                  </a:lnTo>
                  <a:lnTo>
                    <a:pt x="5394591" y="0"/>
                  </a:lnTo>
                  <a:close/>
                </a:path>
              </a:pathLst>
            </a:custGeom>
            <a:solidFill>
              <a:srgbClr val="191C2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365404" y="1188722"/>
            <a:ext cx="5394960" cy="1234440"/>
          </a:xfrm>
          <a:prstGeom prst="rect">
            <a:avLst/>
          </a:prstGeom>
          <a:ln w="12599">
            <a:solidFill>
              <a:srgbClr val="292C39"/>
            </a:solidFill>
          </a:ln>
        </p:spPr>
        <p:txBody>
          <a:bodyPr vert="horz" wrap="square" lIns="0" tIns="79375" rIns="0" bIns="0" rtlCol="0">
            <a:spAutoFit/>
          </a:bodyPr>
          <a:lstStyle/>
          <a:p>
            <a:pPr marL="226695">
              <a:lnSpc>
                <a:spcPct val="100000"/>
              </a:lnSpc>
              <a:spcBef>
                <a:spcPts val="625"/>
              </a:spcBef>
            </a:pPr>
            <a:r>
              <a:rPr sz="1050" b="1" spc="-10" dirty="0">
                <a:solidFill>
                  <a:srgbClr val="51C379"/>
                </a:solidFill>
                <a:latin typeface="Calibri"/>
                <a:cs typeface="Calibri"/>
              </a:rPr>
              <a:t>Centro</a:t>
            </a:r>
            <a:r>
              <a:rPr sz="1050" b="1" spc="-15" dirty="0">
                <a:solidFill>
                  <a:srgbClr val="51C379"/>
                </a:solidFill>
                <a:latin typeface="Calibri"/>
                <a:cs typeface="Calibri"/>
              </a:rPr>
              <a:t> </a:t>
            </a:r>
            <a:r>
              <a:rPr sz="1050" b="1" dirty="0">
                <a:solidFill>
                  <a:srgbClr val="51C379"/>
                </a:solidFill>
                <a:latin typeface="Calibri"/>
                <a:cs typeface="Calibri"/>
              </a:rPr>
              <a:t>de</a:t>
            </a:r>
            <a:r>
              <a:rPr sz="1050" b="1" spc="-10" dirty="0">
                <a:solidFill>
                  <a:srgbClr val="51C379"/>
                </a:solidFill>
                <a:latin typeface="Calibri"/>
                <a:cs typeface="Calibri"/>
              </a:rPr>
              <a:t> Gravedad</a:t>
            </a:r>
            <a:r>
              <a:rPr sz="1050" b="1" spc="-25" dirty="0">
                <a:solidFill>
                  <a:srgbClr val="51C379"/>
                </a:solidFill>
                <a:latin typeface="Calibri"/>
                <a:cs typeface="Calibri"/>
              </a:rPr>
              <a:t> </a:t>
            </a:r>
            <a:r>
              <a:rPr sz="1050" b="1" spc="-20" dirty="0">
                <a:solidFill>
                  <a:srgbClr val="51C379"/>
                </a:solidFill>
                <a:latin typeface="Calibri"/>
                <a:cs typeface="Calibri"/>
              </a:rPr>
              <a:t>(CoG)</a:t>
            </a:r>
            <a:endParaRPr sz="1050" dirty="0">
              <a:latin typeface="Calibri"/>
              <a:cs typeface="Calibri"/>
            </a:endParaRPr>
          </a:p>
          <a:p>
            <a:pPr marL="226695" marR="2949575" indent="684530">
              <a:lnSpc>
                <a:spcPct val="100000"/>
              </a:lnSpc>
              <a:spcBef>
                <a:spcPts val="229"/>
              </a:spcBef>
              <a:tabLst>
                <a:tab pos="530225" algn="l"/>
                <a:tab pos="835025" algn="l"/>
              </a:tabLst>
            </a:pPr>
            <a:r>
              <a:rPr sz="1000" spc="170" dirty="0">
                <a:solidFill>
                  <a:srgbClr val="FFFFFF"/>
                </a:solidFill>
                <a:latin typeface="Cambria"/>
                <a:cs typeface="Cambria"/>
              </a:rPr>
              <a:t>∫</a:t>
            </a:r>
            <a:r>
              <a:rPr sz="1000" spc="40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1000" dirty="0">
                <a:solidFill>
                  <a:srgbClr val="FFFFFF"/>
                </a:solidFill>
                <a:latin typeface="Cambria"/>
                <a:cs typeface="Cambria"/>
              </a:rPr>
              <a:t>u</a:t>
            </a:r>
            <a:r>
              <a:rPr sz="1000" spc="40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1000" spc="310" dirty="0">
                <a:solidFill>
                  <a:srgbClr val="FFFFFF"/>
                </a:solidFill>
                <a:latin typeface="Cambria"/>
                <a:cs typeface="Cambria"/>
              </a:rPr>
              <a:t>·</a:t>
            </a:r>
            <a:r>
              <a:rPr sz="1000" spc="409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1000" spc="160" dirty="0">
                <a:solidFill>
                  <a:srgbClr val="FFFFFF"/>
                </a:solidFill>
                <a:latin typeface="Cambria"/>
                <a:cs typeface="Cambria"/>
              </a:rPr>
              <a:t>μ_salida(u)</a:t>
            </a:r>
            <a:r>
              <a:rPr sz="1000" spc="405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1000" spc="-25" dirty="0">
                <a:solidFill>
                  <a:srgbClr val="FFFFFF"/>
                </a:solidFill>
                <a:latin typeface="Cambria"/>
                <a:cs typeface="Cambria"/>
              </a:rPr>
              <a:t>du</a:t>
            </a:r>
            <a:r>
              <a:rPr sz="1000" spc="80" dirty="0">
                <a:solidFill>
                  <a:srgbClr val="FFFFFF"/>
                </a:solidFill>
                <a:latin typeface="Cambria"/>
                <a:cs typeface="Cambria"/>
              </a:rPr>
              <a:t> F*</a:t>
            </a:r>
            <a:r>
              <a:rPr sz="1000" dirty="0">
                <a:solidFill>
                  <a:srgbClr val="FFFFFF"/>
                </a:solidFill>
                <a:latin typeface="Cambria"/>
                <a:cs typeface="Cambria"/>
              </a:rPr>
              <a:t>	</a:t>
            </a:r>
            <a:r>
              <a:rPr sz="1000" spc="-50" dirty="0">
                <a:solidFill>
                  <a:srgbClr val="FFFFFF"/>
                </a:solidFill>
                <a:latin typeface="Cambria"/>
                <a:cs typeface="Cambria"/>
              </a:rPr>
              <a:t>=</a:t>
            </a:r>
            <a:r>
              <a:rPr sz="1000" dirty="0">
                <a:solidFill>
                  <a:srgbClr val="FFFFFF"/>
                </a:solidFill>
                <a:latin typeface="Cambria"/>
                <a:cs typeface="Cambria"/>
              </a:rPr>
              <a:t>	</a:t>
            </a:r>
            <a:r>
              <a:rPr sz="1000" spc="-60" dirty="0">
                <a:solidFill>
                  <a:srgbClr val="FFFFFF"/>
                </a:solidFill>
                <a:latin typeface="Cambria"/>
                <a:cs typeface="Cambria"/>
              </a:rPr>
              <a:t>─────────────────────</a:t>
            </a:r>
            <a:endParaRPr sz="1000" dirty="0">
              <a:latin typeface="Cambria"/>
              <a:cs typeface="Cambria"/>
            </a:endParaRPr>
          </a:p>
          <a:p>
            <a:pPr marL="1064260">
              <a:lnSpc>
                <a:spcPct val="100000"/>
              </a:lnSpc>
              <a:spcBef>
                <a:spcPts val="5"/>
              </a:spcBef>
            </a:pPr>
            <a:r>
              <a:rPr sz="1000" spc="170" dirty="0">
                <a:solidFill>
                  <a:srgbClr val="FFFFFF"/>
                </a:solidFill>
                <a:latin typeface="Cambria"/>
                <a:cs typeface="Cambria"/>
              </a:rPr>
              <a:t>∫</a:t>
            </a:r>
            <a:r>
              <a:rPr sz="1000" spc="39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1000" spc="160" dirty="0">
                <a:solidFill>
                  <a:srgbClr val="FFFFFF"/>
                </a:solidFill>
                <a:latin typeface="Cambria"/>
                <a:cs typeface="Cambria"/>
              </a:rPr>
              <a:t>μ_salida(u)</a:t>
            </a:r>
            <a:r>
              <a:rPr sz="1000" spc="40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1000" spc="-25" dirty="0">
                <a:solidFill>
                  <a:srgbClr val="FFFFFF"/>
                </a:solidFill>
                <a:latin typeface="Cambria"/>
                <a:cs typeface="Cambria"/>
              </a:rPr>
              <a:t>du</a:t>
            </a:r>
            <a:endParaRPr sz="1000" dirty="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30"/>
              </a:spcBef>
            </a:pPr>
            <a:endParaRPr sz="1000" dirty="0">
              <a:latin typeface="Cambria"/>
              <a:cs typeface="Cambria"/>
            </a:endParaRPr>
          </a:p>
          <a:p>
            <a:pPr marL="226695" marR="1807210">
              <a:lnSpc>
                <a:spcPct val="100000"/>
              </a:lnSpc>
            </a:pPr>
            <a:r>
              <a:rPr sz="1000" spc="160" dirty="0">
                <a:solidFill>
                  <a:srgbClr val="FFFFFF"/>
                </a:solidFill>
                <a:latin typeface="Cambria"/>
                <a:cs typeface="Cambria"/>
              </a:rPr>
              <a:t>Discretizado:</a:t>
            </a:r>
            <a:r>
              <a:rPr sz="1000" spc="434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1000" dirty="0">
                <a:solidFill>
                  <a:srgbClr val="FFFFFF"/>
                </a:solidFill>
                <a:latin typeface="Cambria"/>
                <a:cs typeface="Cambria"/>
              </a:rPr>
              <a:t>60001</a:t>
            </a:r>
            <a:r>
              <a:rPr sz="1000" spc="434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1000" spc="100" dirty="0">
                <a:solidFill>
                  <a:srgbClr val="FFFFFF"/>
                </a:solidFill>
                <a:latin typeface="Cambria"/>
                <a:cs typeface="Cambria"/>
              </a:rPr>
              <a:t>puntos</a:t>
            </a:r>
            <a:r>
              <a:rPr sz="1000" spc="44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1000" spc="70" dirty="0">
                <a:solidFill>
                  <a:srgbClr val="FFFFFF"/>
                </a:solidFill>
                <a:latin typeface="Cambria"/>
                <a:cs typeface="Cambria"/>
              </a:rPr>
              <a:t>en</a:t>
            </a:r>
            <a:r>
              <a:rPr sz="1000" spc="434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1000" spc="135" dirty="0">
                <a:solidFill>
                  <a:srgbClr val="FFFFFF"/>
                </a:solidFill>
                <a:latin typeface="Cambria"/>
                <a:cs typeface="Cambria"/>
              </a:rPr>
              <a:t>[−300,</a:t>
            </a:r>
            <a:r>
              <a:rPr sz="1000" spc="44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1000" spc="85" dirty="0">
                <a:solidFill>
                  <a:srgbClr val="FFFFFF"/>
                </a:solidFill>
                <a:latin typeface="Cambria"/>
                <a:cs typeface="Cambria"/>
              </a:rPr>
              <a:t>+300]</a:t>
            </a:r>
            <a:r>
              <a:rPr sz="1000" spc="434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1000" spc="-50" dirty="0">
                <a:solidFill>
                  <a:srgbClr val="FFFFFF"/>
                </a:solidFill>
                <a:latin typeface="Cambria"/>
                <a:cs typeface="Cambria"/>
              </a:rPr>
              <a:t>N</a:t>
            </a:r>
            <a:r>
              <a:rPr sz="1000" spc="160" dirty="0">
                <a:solidFill>
                  <a:srgbClr val="FFFFFF"/>
                </a:solidFill>
                <a:latin typeface="Cambria"/>
                <a:cs typeface="Cambria"/>
              </a:rPr>
              <a:t> Integración:</a:t>
            </a:r>
            <a:r>
              <a:rPr sz="1000" spc="420" dirty="0">
                <a:solidFill>
                  <a:srgbClr val="FFFFFF"/>
                </a:solidFill>
                <a:latin typeface="Cambria"/>
                <a:cs typeface="Cambria"/>
              </a:rPr>
              <a:t> </a:t>
            </a:r>
            <a:r>
              <a:rPr sz="1000" spc="145" dirty="0">
                <a:solidFill>
                  <a:srgbClr val="FFFFFF"/>
                </a:solidFill>
                <a:latin typeface="Cambria"/>
                <a:cs typeface="Cambria"/>
              </a:rPr>
              <a:t>np.trapezoid()</a:t>
            </a:r>
            <a:endParaRPr sz="1000" dirty="0">
              <a:latin typeface="Cambria"/>
              <a:cs typeface="Cambria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5817958" y="1099060"/>
            <a:ext cx="3004820" cy="1449705"/>
            <a:chOff x="5817958" y="1099060"/>
            <a:chExt cx="3004820" cy="1449705"/>
          </a:xfrm>
        </p:grpSpPr>
        <p:pic>
          <p:nvPicPr>
            <p:cNvPr id="15" name="object 1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817958" y="1099060"/>
              <a:ext cx="3004197" cy="1449387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5943599" y="1188722"/>
              <a:ext cx="2788920" cy="1234440"/>
            </a:xfrm>
            <a:custGeom>
              <a:avLst/>
              <a:gdLst/>
              <a:ahLst/>
              <a:cxnLst/>
              <a:rect l="l" t="t" r="r" b="b"/>
              <a:pathLst>
                <a:path w="2788920" h="1234439">
                  <a:moveTo>
                    <a:pt x="2788564" y="0"/>
                  </a:moveTo>
                  <a:lnTo>
                    <a:pt x="0" y="0"/>
                  </a:lnTo>
                  <a:lnTo>
                    <a:pt x="0" y="1234084"/>
                  </a:lnTo>
                  <a:lnTo>
                    <a:pt x="1394282" y="1234084"/>
                  </a:lnTo>
                  <a:lnTo>
                    <a:pt x="2788564" y="1234084"/>
                  </a:lnTo>
                  <a:lnTo>
                    <a:pt x="2788564" y="0"/>
                  </a:lnTo>
                  <a:close/>
                </a:path>
              </a:pathLst>
            </a:custGeom>
            <a:solidFill>
              <a:srgbClr val="191C2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5943600" y="1188722"/>
            <a:ext cx="2788920" cy="1234440"/>
          </a:xfrm>
          <a:prstGeom prst="rect">
            <a:avLst/>
          </a:prstGeom>
          <a:ln w="12599">
            <a:solidFill>
              <a:srgbClr val="292C39"/>
            </a:solidFill>
          </a:ln>
        </p:spPr>
        <p:txBody>
          <a:bodyPr vert="horz" wrap="square" lIns="0" tIns="83185" rIns="0" bIns="0" rtlCol="0">
            <a:spAutoFit/>
          </a:bodyPr>
          <a:lstStyle/>
          <a:p>
            <a:pPr marL="226695">
              <a:lnSpc>
                <a:spcPct val="100000"/>
              </a:lnSpc>
              <a:spcBef>
                <a:spcPts val="655"/>
              </a:spcBef>
            </a:pPr>
            <a:r>
              <a:rPr sz="1000" b="1" dirty="0">
                <a:solidFill>
                  <a:srgbClr val="51C379"/>
                </a:solidFill>
                <a:latin typeface="Calibri"/>
                <a:cs typeface="Calibri"/>
              </a:rPr>
              <a:t>¿Por</a:t>
            </a:r>
            <a:r>
              <a:rPr sz="1000" b="1" spc="-35" dirty="0">
                <a:solidFill>
                  <a:srgbClr val="51C379"/>
                </a:solidFill>
                <a:latin typeface="Calibri"/>
                <a:cs typeface="Calibri"/>
              </a:rPr>
              <a:t> </a:t>
            </a:r>
            <a:r>
              <a:rPr sz="1000" b="1" dirty="0">
                <a:solidFill>
                  <a:srgbClr val="51C379"/>
                </a:solidFill>
                <a:latin typeface="Calibri"/>
                <a:cs typeface="Calibri"/>
              </a:rPr>
              <a:t>qué</a:t>
            </a:r>
            <a:r>
              <a:rPr sz="1000" b="1" spc="-45" dirty="0">
                <a:solidFill>
                  <a:srgbClr val="51C379"/>
                </a:solidFill>
                <a:latin typeface="Calibri"/>
                <a:cs typeface="Calibri"/>
              </a:rPr>
              <a:t> </a:t>
            </a:r>
            <a:r>
              <a:rPr sz="1000" b="1" spc="-20" dirty="0">
                <a:solidFill>
                  <a:srgbClr val="51C379"/>
                </a:solidFill>
                <a:latin typeface="Calibri"/>
                <a:cs typeface="Calibri"/>
              </a:rPr>
              <a:t>CoG?</a:t>
            </a:r>
            <a:endParaRPr sz="1000">
              <a:latin typeface="Calibri"/>
              <a:cs typeface="Calibri"/>
            </a:endParaRPr>
          </a:p>
          <a:p>
            <a:pPr marL="372745" indent="-146050">
              <a:lnSpc>
                <a:spcPct val="100000"/>
              </a:lnSpc>
              <a:spcBef>
                <a:spcPts val="840"/>
              </a:spcBef>
              <a:buFont typeface="MingLiU_HKSCS-ExtB"/>
              <a:buChar char="✓"/>
              <a:tabLst>
                <a:tab pos="372745" algn="l"/>
              </a:tabLst>
            </a:pP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Suave</a:t>
            </a:r>
            <a:r>
              <a:rPr sz="9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y 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continuo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 —</a:t>
            </a:r>
            <a:r>
              <a:rPr sz="900" spc="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no</a:t>
            </a:r>
            <a:r>
              <a:rPr sz="900" spc="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spc="-20" dirty="0">
                <a:solidFill>
                  <a:srgbClr val="C7CFE7"/>
                </a:solidFill>
                <a:latin typeface="Calibri"/>
                <a:cs typeface="Calibri"/>
              </a:rPr>
              <a:t>salta</a:t>
            </a:r>
            <a:endParaRPr sz="900">
              <a:latin typeface="Calibri"/>
              <a:cs typeface="Calibri"/>
            </a:endParaRPr>
          </a:p>
          <a:p>
            <a:pPr marL="372745" indent="-146050">
              <a:lnSpc>
                <a:spcPct val="100000"/>
              </a:lnSpc>
              <a:spcBef>
                <a:spcPts val="720"/>
              </a:spcBef>
              <a:buFont typeface="MingLiU_HKSCS-ExtB"/>
              <a:buChar char="✓"/>
              <a:tabLst>
                <a:tab pos="372745" algn="l"/>
              </a:tabLst>
            </a:pP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Considera</a:t>
            </a:r>
            <a:r>
              <a:rPr sz="9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toda</a:t>
            </a:r>
            <a:r>
              <a:rPr sz="900" spc="-2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el</a:t>
            </a:r>
            <a:r>
              <a:rPr sz="9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área</a:t>
            </a:r>
            <a:r>
              <a:rPr sz="900" spc="-5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bajo </a:t>
            </a:r>
            <a:r>
              <a:rPr sz="900" spc="-50" dirty="0">
                <a:solidFill>
                  <a:srgbClr val="C7CFE7"/>
                </a:solidFill>
                <a:latin typeface="Calibri"/>
                <a:cs typeface="Calibri"/>
              </a:rPr>
              <a:t>μ</a:t>
            </a:r>
            <a:endParaRPr sz="900">
              <a:latin typeface="Calibri"/>
              <a:cs typeface="Calibri"/>
            </a:endParaRPr>
          </a:p>
          <a:p>
            <a:pPr marL="372745" indent="-146050">
              <a:lnSpc>
                <a:spcPct val="100000"/>
              </a:lnSpc>
              <a:spcBef>
                <a:spcPts val="720"/>
              </a:spcBef>
              <a:buFont typeface="MingLiU_HKSCS-ExtB"/>
              <a:buChar char="✓"/>
              <a:tabLst>
                <a:tab pos="372745" algn="l"/>
              </a:tabLst>
            </a:pP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Robusto</a:t>
            </a:r>
            <a:r>
              <a:rPr sz="900" spc="-3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ante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 ruido</a:t>
            </a:r>
            <a:endParaRPr sz="900">
              <a:latin typeface="Calibri"/>
              <a:cs typeface="Calibri"/>
            </a:endParaRPr>
          </a:p>
          <a:p>
            <a:pPr marL="372745" indent="-146050">
              <a:lnSpc>
                <a:spcPct val="100000"/>
              </a:lnSpc>
              <a:spcBef>
                <a:spcPts val="720"/>
              </a:spcBef>
              <a:buFont typeface="MingLiU_HKSCS-ExtB"/>
              <a:buChar char="✓"/>
              <a:tabLst>
                <a:tab pos="372745" algn="l"/>
              </a:tabLst>
            </a:pPr>
            <a:r>
              <a:rPr sz="900" dirty="0">
                <a:solidFill>
                  <a:srgbClr val="C7CFE7"/>
                </a:solidFill>
                <a:latin typeface="Calibri"/>
                <a:cs typeface="Calibri"/>
              </a:rPr>
              <a:t>Estándar</a:t>
            </a:r>
            <a:r>
              <a:rPr sz="900" spc="-50" dirty="0">
                <a:solidFill>
                  <a:srgbClr val="C7CFE7"/>
                </a:solidFill>
                <a:latin typeface="Calibri"/>
                <a:cs typeface="Calibri"/>
              </a:rPr>
              <a:t> </a:t>
            </a:r>
            <a:r>
              <a:rPr sz="900" spc="-10" dirty="0">
                <a:solidFill>
                  <a:srgbClr val="C7CFE7"/>
                </a:solidFill>
                <a:latin typeface="Calibri"/>
                <a:cs typeface="Calibri"/>
              </a:rPr>
              <a:t>Mamdani</a:t>
            </a:r>
            <a:endParaRPr sz="900">
              <a:latin typeface="Calibri"/>
              <a:cs typeface="Calibri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239763" y="2653184"/>
            <a:ext cx="8628380" cy="1586865"/>
            <a:chOff x="239763" y="2653184"/>
            <a:chExt cx="8628380" cy="1586865"/>
          </a:xfrm>
        </p:grpSpPr>
        <p:pic>
          <p:nvPicPr>
            <p:cNvPr id="20" name="object 2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39763" y="2653184"/>
              <a:ext cx="8627757" cy="1586534"/>
            </a:xfrm>
            <a:prstGeom prst="rect">
              <a:avLst/>
            </a:prstGeom>
          </p:spPr>
        </p:pic>
        <p:sp>
          <p:nvSpPr>
            <p:cNvPr id="21" name="object 21"/>
            <p:cNvSpPr/>
            <p:nvPr/>
          </p:nvSpPr>
          <p:spPr>
            <a:xfrm>
              <a:off x="365404" y="2742846"/>
              <a:ext cx="8412480" cy="1371600"/>
            </a:xfrm>
            <a:custGeom>
              <a:avLst/>
              <a:gdLst/>
              <a:ahLst/>
              <a:cxnLst/>
              <a:rect l="l" t="t" r="r" b="b"/>
              <a:pathLst>
                <a:path w="8412480" h="1371600">
                  <a:moveTo>
                    <a:pt x="8412111" y="0"/>
                  </a:moveTo>
                  <a:lnTo>
                    <a:pt x="0" y="0"/>
                  </a:lnTo>
                  <a:lnTo>
                    <a:pt x="0" y="1371231"/>
                  </a:lnTo>
                  <a:lnTo>
                    <a:pt x="4206240" y="1371231"/>
                  </a:lnTo>
                  <a:lnTo>
                    <a:pt x="8412111" y="1371231"/>
                  </a:lnTo>
                  <a:lnTo>
                    <a:pt x="8412111" y="0"/>
                  </a:lnTo>
                  <a:close/>
                </a:path>
              </a:pathLst>
            </a:custGeom>
            <a:solidFill>
              <a:srgbClr val="191C2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365404" y="2742846"/>
            <a:ext cx="8412480" cy="1184940"/>
          </a:xfrm>
          <a:prstGeom prst="rect">
            <a:avLst/>
          </a:prstGeom>
          <a:ln w="12599">
            <a:solidFill>
              <a:srgbClr val="292C39"/>
            </a:solidFill>
          </a:ln>
        </p:spPr>
        <p:txBody>
          <a:bodyPr vert="horz" wrap="square" lIns="0" tIns="106680" rIns="0" bIns="0" rtlCol="0">
            <a:spAutoFit/>
          </a:bodyPr>
          <a:lstStyle/>
          <a:p>
            <a:pPr algn="l"/>
            <a:r>
              <a:rPr lang="es-AR" sz="1000" b="0" i="0" dirty="0">
                <a:solidFill>
                  <a:srgbClr val="52C47A"/>
                </a:solidFill>
                <a:effectLst/>
                <a:latin typeface="Courier New" panose="02070309020205020404" pitchFamily="49" charset="0"/>
              </a:rPr>
              <a:t>Z:</a:t>
            </a:r>
            <a:r>
              <a:rPr lang="es-AR" sz="1000" b="0" i="0" dirty="0">
                <a:solidFill>
                  <a:srgbClr val="C8D0E8"/>
                </a:solidFill>
                <a:effectLst/>
                <a:latin typeface="Courier New" panose="02070309020205020404" pitchFamily="49" charset="0"/>
              </a:rPr>
              <a:t> pico en 0 N, </a:t>
            </a:r>
            <a:r>
              <a:rPr lang="el-GR" sz="1000" b="0" i="0" dirty="0">
                <a:solidFill>
                  <a:srgbClr val="C8D0E8"/>
                </a:solidFill>
                <a:effectLst/>
                <a:latin typeface="Courier New" panose="02070309020205020404" pitchFamily="49" charset="0"/>
              </a:rPr>
              <a:t>α = 0.333 → </a:t>
            </a:r>
            <a:r>
              <a:rPr lang="es-AR" sz="1000" b="0" i="0" dirty="0">
                <a:solidFill>
                  <a:srgbClr val="C8D0E8"/>
                </a:solidFill>
                <a:effectLst/>
                <a:latin typeface="Courier New" panose="02070309020205020404" pitchFamily="49" charset="0"/>
              </a:rPr>
              <a:t>área ≈  </a:t>
            </a:r>
            <a:r>
              <a:rPr lang="es-AR" sz="1000" b="0" i="0" dirty="0">
                <a:solidFill>
                  <a:srgbClr val="52C47A"/>
                </a:solidFill>
                <a:effectLst/>
                <a:latin typeface="Courier New" panose="02070309020205020404" pitchFamily="49" charset="0"/>
              </a:rPr>
              <a:t>19.8</a:t>
            </a:r>
            <a:r>
              <a:rPr lang="es-AR" sz="1000" b="0" i="0" dirty="0">
                <a:solidFill>
                  <a:srgbClr val="C8D0E8"/>
                </a:solidFill>
                <a:effectLst/>
                <a:latin typeface="Courier New" panose="02070309020205020404" pitchFamily="49" charset="0"/>
              </a:rPr>
              <a:t> → centroide en </a:t>
            </a:r>
            <a:r>
              <a:rPr lang="es-AR" sz="1000" b="0" i="0" dirty="0">
                <a:solidFill>
                  <a:srgbClr val="52C47A"/>
                </a:solidFill>
                <a:effectLst/>
                <a:latin typeface="Courier New" panose="02070309020205020404" pitchFamily="49" charset="0"/>
              </a:rPr>
              <a:t>0 N</a:t>
            </a:r>
          </a:p>
          <a:p>
            <a:pPr algn="l"/>
            <a:endParaRPr lang="es-AR" sz="1000" b="0" i="0" dirty="0">
              <a:solidFill>
                <a:srgbClr val="C8D0E8"/>
              </a:solidFill>
              <a:effectLst/>
              <a:latin typeface="Courier New" panose="02070309020205020404" pitchFamily="49" charset="0"/>
            </a:endParaRPr>
          </a:p>
          <a:p>
            <a:pPr algn="l"/>
            <a:r>
              <a:rPr lang="es-AR" sz="1000" b="0" i="0" dirty="0">
                <a:solidFill>
                  <a:srgbClr val="52A8E0"/>
                </a:solidFill>
                <a:effectLst/>
                <a:latin typeface="Courier New" panose="02070309020205020404" pitchFamily="49" charset="0"/>
              </a:rPr>
              <a:t>PP:</a:t>
            </a:r>
            <a:r>
              <a:rPr lang="es-AR" sz="1000" b="0" i="0" dirty="0">
                <a:solidFill>
                  <a:srgbClr val="C8D0E8"/>
                </a:solidFill>
                <a:effectLst/>
                <a:latin typeface="Courier New" panose="02070309020205020404" pitchFamily="49" charset="0"/>
              </a:rPr>
              <a:t> pico en +100 N, </a:t>
            </a:r>
            <a:r>
              <a:rPr lang="el-GR" sz="1000" b="0" i="0" dirty="0">
                <a:solidFill>
                  <a:srgbClr val="C8D0E8"/>
                </a:solidFill>
                <a:effectLst/>
                <a:latin typeface="Courier New" panose="02070309020205020404" pitchFamily="49" charset="0"/>
              </a:rPr>
              <a:t>α = 0.200 → </a:t>
            </a:r>
            <a:r>
              <a:rPr lang="es-AR" sz="1000" b="0" i="0" dirty="0">
                <a:solidFill>
                  <a:srgbClr val="C8D0E8"/>
                </a:solidFill>
                <a:effectLst/>
                <a:latin typeface="Courier New" panose="02070309020205020404" pitchFamily="49" charset="0"/>
              </a:rPr>
              <a:t>área ≈ </a:t>
            </a:r>
            <a:r>
              <a:rPr lang="es-AR" sz="1000" b="0" i="0" dirty="0">
                <a:solidFill>
                  <a:srgbClr val="52A8E0"/>
                </a:solidFill>
                <a:effectLst/>
                <a:latin typeface="Courier New" panose="02070309020205020404" pitchFamily="49" charset="0"/>
              </a:rPr>
              <a:t>12.0</a:t>
            </a:r>
            <a:r>
              <a:rPr lang="es-AR" sz="1000" b="0" i="0" dirty="0">
                <a:solidFill>
                  <a:srgbClr val="C8D0E8"/>
                </a:solidFill>
                <a:effectLst/>
                <a:latin typeface="Courier New" panose="02070309020205020404" pitchFamily="49" charset="0"/>
              </a:rPr>
              <a:t> → centroide en </a:t>
            </a:r>
            <a:r>
              <a:rPr lang="es-AR" sz="1000" b="0" i="0" dirty="0">
                <a:solidFill>
                  <a:srgbClr val="52A8E0"/>
                </a:solidFill>
                <a:effectLst/>
                <a:latin typeface="Courier New" panose="02070309020205020404" pitchFamily="49" charset="0"/>
              </a:rPr>
              <a:t>+100 N</a:t>
            </a:r>
          </a:p>
          <a:p>
            <a:pPr algn="l"/>
            <a:endParaRPr lang="es-AR" sz="1000" b="0" i="0" dirty="0">
              <a:solidFill>
                <a:srgbClr val="C8D0E8"/>
              </a:solidFill>
              <a:effectLst/>
              <a:latin typeface="Courier New" panose="02070309020205020404" pitchFamily="49" charset="0"/>
            </a:endParaRPr>
          </a:p>
          <a:p>
            <a:pPr algn="l"/>
            <a:r>
              <a:rPr lang="es-AR" sz="1000" b="0" i="0" dirty="0">
                <a:solidFill>
                  <a:srgbClr val="C8D0E8"/>
                </a:solidFill>
                <a:effectLst/>
                <a:latin typeface="Courier New" panose="02070309020205020404" pitchFamily="49" charset="0"/>
              </a:rPr>
              <a:t>Z tiene más área que PP → el centroide se acerca más a Z</a:t>
            </a:r>
          </a:p>
          <a:p>
            <a:pPr algn="l"/>
            <a:r>
              <a:rPr lang="es-AR" sz="1000" b="0" i="0" dirty="0">
                <a:solidFill>
                  <a:srgbClr val="C8D0E8"/>
                </a:solidFill>
                <a:effectLst/>
                <a:latin typeface="Courier New" panose="02070309020205020404" pitchFamily="49" charset="0"/>
              </a:rPr>
              <a:t>F* ≈ (0 × </a:t>
            </a:r>
            <a:r>
              <a:rPr lang="es-AR" sz="1000" b="0" i="0" dirty="0">
                <a:solidFill>
                  <a:srgbClr val="52C47A"/>
                </a:solidFill>
                <a:effectLst/>
                <a:latin typeface="Courier New" panose="02070309020205020404" pitchFamily="49" charset="0"/>
              </a:rPr>
              <a:t> 19.8 </a:t>
            </a:r>
            <a:r>
              <a:rPr lang="es-AR" sz="1000" b="0" i="0" dirty="0">
                <a:solidFill>
                  <a:srgbClr val="C8D0E8"/>
                </a:solidFill>
                <a:effectLst/>
                <a:latin typeface="Courier New" panose="02070309020205020404" pitchFamily="49" charset="0"/>
              </a:rPr>
              <a:t> + 100 × </a:t>
            </a:r>
            <a:r>
              <a:rPr lang="es-AR" sz="1000" b="0" i="0" dirty="0">
                <a:solidFill>
                  <a:srgbClr val="52A8E0"/>
                </a:solidFill>
                <a:effectLst/>
                <a:latin typeface="Courier New" panose="02070309020205020404" pitchFamily="49" charset="0"/>
              </a:rPr>
              <a:t>12.0</a:t>
            </a:r>
            <a:r>
              <a:rPr lang="es-AR" sz="1000" b="0" i="0" dirty="0">
                <a:solidFill>
                  <a:srgbClr val="C8D0E8"/>
                </a:solidFill>
                <a:effectLst/>
                <a:latin typeface="Courier New" panose="02070309020205020404" pitchFamily="49" charset="0"/>
              </a:rPr>
              <a:t>) / (</a:t>
            </a:r>
            <a:r>
              <a:rPr lang="es-AR" sz="1000" b="0" i="0" dirty="0">
                <a:solidFill>
                  <a:srgbClr val="52C47A"/>
                </a:solidFill>
                <a:effectLst/>
                <a:latin typeface="Courier New" panose="02070309020205020404" pitchFamily="49" charset="0"/>
              </a:rPr>
              <a:t>19.8 </a:t>
            </a:r>
            <a:r>
              <a:rPr lang="es-AR" sz="1000" b="0" i="0" dirty="0">
                <a:solidFill>
                  <a:srgbClr val="C8D0E8"/>
                </a:solidFill>
                <a:effectLst/>
                <a:latin typeface="Courier New" panose="02070309020205020404" pitchFamily="49" charset="0"/>
              </a:rPr>
              <a:t> + </a:t>
            </a:r>
            <a:r>
              <a:rPr lang="es-AR" sz="1000" b="0" i="0" dirty="0">
                <a:solidFill>
                  <a:srgbClr val="52A8E0"/>
                </a:solidFill>
                <a:effectLst/>
                <a:latin typeface="Courier New" panose="02070309020205020404" pitchFamily="49" charset="0"/>
              </a:rPr>
              <a:t>12.0</a:t>
            </a:r>
            <a:r>
              <a:rPr lang="es-AR" sz="1000" b="0" i="0" dirty="0">
                <a:solidFill>
                  <a:srgbClr val="C8D0E8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pPr algn="l"/>
            <a:r>
              <a:rPr lang="es-AR" sz="1000" b="0" i="0" dirty="0">
                <a:solidFill>
                  <a:srgbClr val="C8D0E8"/>
                </a:solidFill>
                <a:effectLst/>
                <a:latin typeface="Courier New" panose="02070309020205020404" pitchFamily="49" charset="0"/>
              </a:rPr>
              <a:t>    = 1200 / </a:t>
            </a:r>
            <a:r>
              <a:rPr lang="es-AR" sz="1000" dirty="0">
                <a:solidFill>
                  <a:srgbClr val="C8D0E8"/>
                </a:solidFill>
                <a:latin typeface="Courier New" panose="02070309020205020404" pitchFamily="49" charset="0"/>
              </a:rPr>
              <a:t>31.8</a:t>
            </a:r>
            <a:r>
              <a:rPr lang="es-AR" sz="1000" b="0" i="0" dirty="0">
                <a:solidFill>
                  <a:srgbClr val="C8D0E8"/>
                </a:solidFill>
                <a:effectLst/>
                <a:latin typeface="Courier New" panose="02070309020205020404" pitchFamily="49" charset="0"/>
              </a:rPr>
              <a:t> ≈ </a:t>
            </a:r>
            <a:r>
              <a:rPr lang="es-AR" sz="1000" b="0" i="0" dirty="0">
                <a:solidFill>
                  <a:srgbClr val="F43F5E"/>
                </a:solidFill>
                <a:effectLst/>
                <a:latin typeface="Courier New" panose="02070309020205020404" pitchFamily="49" charset="0"/>
              </a:rPr>
              <a:t>+37.7 N</a:t>
            </a:r>
            <a:endParaRPr lang="es-AR" sz="1000" b="0" i="0" dirty="0">
              <a:solidFill>
                <a:srgbClr val="C8D0E8"/>
              </a:solidFill>
              <a:effectLst/>
              <a:latin typeface="Courier New" panose="02070309020205020404" pitchFamily="49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244</TotalTime>
  <Words>1874</Words>
  <Application>Microsoft Office PowerPoint</Application>
  <PresentationFormat>Personalizado</PresentationFormat>
  <Paragraphs>297</Paragraphs>
  <Slides>11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9" baseType="lpstr">
      <vt:lpstr>MingLiU_HKSCS-ExtB</vt:lpstr>
      <vt:lpstr>Calibri</vt:lpstr>
      <vt:lpstr>Cambria</vt:lpstr>
      <vt:lpstr>Consolas</vt:lpstr>
      <vt:lpstr>Courier New</vt:lpstr>
      <vt:lpstr>Segoe UI Symbol</vt:lpstr>
      <vt:lpstr>Times New Roman</vt:lpstr>
      <vt:lpstr>Office Theme</vt:lpstr>
      <vt:lpstr>Control Difuso</vt:lpstr>
      <vt:lpstr>Modelo Dinámico del Sistema</vt:lpstr>
      <vt:lpstr>Variables Lingüísticas y conjuntos borrosos</vt:lpstr>
      <vt:lpstr>Proceso de Inferencia Difusa</vt:lpstr>
      <vt:lpstr>Tabla 7×7 — Base de Reglas</vt:lpstr>
      <vt:lpstr>Supuestos, Convenciones y Detalles de Implementación</vt:lpstr>
      <vt:lpstr>Paso 1 — Fuzzificación</vt:lpstr>
      <vt:lpstr>Paso 2 — Conjunción Difusa (T-norm)</vt:lpstr>
      <vt:lpstr>Paso 3 — Truncado</vt:lpstr>
      <vt:lpstr>Paso 4 — Unión (OR Difuso)</vt:lpstr>
      <vt:lpstr>Paso 5 — Defuzzificación por Centroide (CoG)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Control Difuso — Péndulo Invertido FAM 7×7</dc:title>
  <dc:subject>PptxGenJS Presentation</dc:subject>
  <dc:creator>PptxGenJS</dc:creator>
  <cp:lastModifiedBy>juan stella</cp:lastModifiedBy>
  <cp:revision>16</cp:revision>
  <dcterms:created xsi:type="dcterms:W3CDTF">2026-04-22T21:14:07Z</dcterms:created>
  <dcterms:modified xsi:type="dcterms:W3CDTF">2026-04-23T01:21:00Z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2026-04-22T00:00:00Z</vt:filetime>
  </property>
  <property fmtid="{D5CDD505-2E9C-101B-9397-08002B2CF9AE}" pid="3" name="Creator">
    <vt:lpwstr>Impress</vt:lpwstr>
  </property>
  <property fmtid="{D5CDD505-2E9C-101B-9397-08002B2CF9AE}" pid="4" name="Producer">
    <vt:lpwstr>LibreOffice 24.2</vt:lpwstr>
  </property>
  <property fmtid="{D5CDD505-2E9C-101B-9397-08002B2CF9AE}" pid="5" name="LastSaved">
    <vt:filetime>2026-04-22T00:00:00Z</vt:filetime>
  </property>
</Properties>
</file>